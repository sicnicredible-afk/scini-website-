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tags/tag1.xml" ContentType="application/vnd.openxmlformats-officedocument.presentationml.tags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2.xml" ContentType="application/vnd.openxmlformats-officedocument.presentationml.tags+xml"/>
  <Override PartName="/ppt/charts/chart6.xml" ContentType="application/vnd.openxmlformats-officedocument.drawingml.chart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5" r:id="rId3"/>
    <p:sldId id="264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5.xlsx"/><Relationship Id="rId1" Type="http://schemas.openxmlformats.org/officeDocument/2006/relationships/themeOverride" Target="../theme/themeOverrid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238065796837834"/>
          <c:y val="3.6452182408077613E-2"/>
          <c:w val="0.7639767559815307"/>
          <c:h val="0.85592568451562434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Yes, significantly more</c:v>
                </c:pt>
              </c:strCache>
            </c:strRef>
          </c:tx>
          <c:spPr>
            <a:solidFill>
              <a:srgbClr val="70AD47">
                <a:lumMod val="50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Total</c:v>
                </c:pt>
                <c:pt idx="1">
                  <c:v>Male</c:v>
                </c:pt>
                <c:pt idx="2">
                  <c:v>Female</c:v>
                </c:pt>
                <c:pt idx="3">
                  <c:v>FCT</c:v>
                </c:pt>
                <c:pt idx="4">
                  <c:v>Bauchi</c:v>
                </c:pt>
                <c:pt idx="5">
                  <c:v>Kano</c:v>
                </c:pt>
                <c:pt idx="6">
                  <c:v>Enugu</c:v>
                </c:pt>
                <c:pt idx="7">
                  <c:v>Edo</c:v>
                </c:pt>
                <c:pt idx="8">
                  <c:v>Lagos</c:v>
                </c:pt>
                <c:pt idx="9">
                  <c:v>Urban</c:v>
                </c:pt>
                <c:pt idx="10">
                  <c:v>Rural</c:v>
                </c:pt>
              </c:strCache>
            </c:strRef>
          </c:cat>
          <c:val>
            <c:numRef>
              <c:f>Sheet1!$B$2:$B$12</c:f>
              <c:numCache>
                <c:formatCode>0%</c:formatCode>
                <c:ptCount val="11"/>
                <c:pt idx="0">
                  <c:v>0.55000000000000004</c:v>
                </c:pt>
                <c:pt idx="1">
                  <c:v>0.5</c:v>
                </c:pt>
                <c:pt idx="2">
                  <c:v>0.59</c:v>
                </c:pt>
                <c:pt idx="3">
                  <c:v>0.66</c:v>
                </c:pt>
                <c:pt idx="4">
                  <c:v>0.71</c:v>
                </c:pt>
                <c:pt idx="5">
                  <c:v>0.69</c:v>
                </c:pt>
                <c:pt idx="6">
                  <c:v>0.28999999999999998</c:v>
                </c:pt>
                <c:pt idx="7">
                  <c:v>0.51</c:v>
                </c:pt>
                <c:pt idx="8">
                  <c:v>0.44</c:v>
                </c:pt>
                <c:pt idx="9">
                  <c:v>0.5</c:v>
                </c:pt>
                <c:pt idx="10">
                  <c:v>0.65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24-4515-84DE-6868A1356F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Yes, but only in certain sectors</c:v>
                </c:pt>
              </c:strCache>
            </c:strRef>
          </c:tx>
          <c:spPr>
            <a:solidFill>
              <a:srgbClr val="70AD47">
                <a:lumMod val="40000"/>
                <a:lumOff val="60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Total</c:v>
                </c:pt>
                <c:pt idx="1">
                  <c:v>Male</c:v>
                </c:pt>
                <c:pt idx="2">
                  <c:v>Female</c:v>
                </c:pt>
                <c:pt idx="3">
                  <c:v>FCT</c:v>
                </c:pt>
                <c:pt idx="4">
                  <c:v>Bauchi</c:v>
                </c:pt>
                <c:pt idx="5">
                  <c:v>Kano</c:v>
                </c:pt>
                <c:pt idx="6">
                  <c:v>Enugu</c:v>
                </c:pt>
                <c:pt idx="7">
                  <c:v>Edo</c:v>
                </c:pt>
                <c:pt idx="8">
                  <c:v>Lagos</c:v>
                </c:pt>
                <c:pt idx="9">
                  <c:v>Urban</c:v>
                </c:pt>
                <c:pt idx="10">
                  <c:v>Rural</c:v>
                </c:pt>
              </c:strCache>
            </c:strRef>
          </c:cat>
          <c:val>
            <c:numRef>
              <c:f>Sheet1!$C$2:$C$12</c:f>
              <c:numCache>
                <c:formatCode>0%</c:formatCode>
                <c:ptCount val="11"/>
                <c:pt idx="0">
                  <c:v>0.28000000000000003</c:v>
                </c:pt>
                <c:pt idx="1">
                  <c:v>0.28999999999999998</c:v>
                </c:pt>
                <c:pt idx="2">
                  <c:v>0.27</c:v>
                </c:pt>
                <c:pt idx="3">
                  <c:v>0.16</c:v>
                </c:pt>
                <c:pt idx="4">
                  <c:v>0.14000000000000001</c:v>
                </c:pt>
                <c:pt idx="5">
                  <c:v>0.26</c:v>
                </c:pt>
                <c:pt idx="6">
                  <c:v>0.35</c:v>
                </c:pt>
                <c:pt idx="7">
                  <c:v>0.33</c:v>
                </c:pt>
                <c:pt idx="8">
                  <c:v>0.41</c:v>
                </c:pt>
                <c:pt idx="9">
                  <c:v>0.31</c:v>
                </c:pt>
                <c:pt idx="10">
                  <c:v>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24-4515-84DE-6868A1356F8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No, men and women face similar challenges</c:v>
                </c:pt>
              </c:strCache>
            </c:strRef>
          </c:tx>
          <c:spPr>
            <a:solidFill>
              <a:schemeClr val="accent2">
                <a:tint val="86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Total</c:v>
                </c:pt>
                <c:pt idx="1">
                  <c:v>Male</c:v>
                </c:pt>
                <c:pt idx="2">
                  <c:v>Female</c:v>
                </c:pt>
                <c:pt idx="3">
                  <c:v>FCT</c:v>
                </c:pt>
                <c:pt idx="4">
                  <c:v>Bauchi</c:v>
                </c:pt>
                <c:pt idx="5">
                  <c:v>Kano</c:v>
                </c:pt>
                <c:pt idx="6">
                  <c:v>Enugu</c:v>
                </c:pt>
                <c:pt idx="7">
                  <c:v>Edo</c:v>
                </c:pt>
                <c:pt idx="8">
                  <c:v>Lagos</c:v>
                </c:pt>
                <c:pt idx="9">
                  <c:v>Urban</c:v>
                </c:pt>
                <c:pt idx="10">
                  <c:v>Rural</c:v>
                </c:pt>
              </c:strCache>
            </c:strRef>
          </c:cat>
          <c:val>
            <c:numRef>
              <c:f>Sheet1!$D$2:$D$12</c:f>
              <c:numCache>
                <c:formatCode>0%</c:formatCode>
                <c:ptCount val="11"/>
                <c:pt idx="0">
                  <c:v>0.13</c:v>
                </c:pt>
                <c:pt idx="1">
                  <c:v>0.16</c:v>
                </c:pt>
                <c:pt idx="2">
                  <c:v>0.11</c:v>
                </c:pt>
                <c:pt idx="3">
                  <c:v>0.12</c:v>
                </c:pt>
                <c:pt idx="4">
                  <c:v>0.14000000000000001</c:v>
                </c:pt>
                <c:pt idx="5">
                  <c:v>0.03</c:v>
                </c:pt>
                <c:pt idx="6">
                  <c:v>0.31</c:v>
                </c:pt>
                <c:pt idx="7">
                  <c:v>0.11</c:v>
                </c:pt>
                <c:pt idx="8">
                  <c:v>0.12</c:v>
                </c:pt>
                <c:pt idx="9">
                  <c:v>0.15</c:v>
                </c:pt>
                <c:pt idx="10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A24-4515-84DE-6868A1356F8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Not sure</c:v>
                </c:pt>
              </c:strCache>
            </c:strRef>
          </c:tx>
          <c:spPr>
            <a:solidFill>
              <a:schemeClr val="accent2">
                <a:tint val="58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Total</c:v>
                </c:pt>
                <c:pt idx="1">
                  <c:v>Male</c:v>
                </c:pt>
                <c:pt idx="2">
                  <c:v>Female</c:v>
                </c:pt>
                <c:pt idx="3">
                  <c:v>FCT</c:v>
                </c:pt>
                <c:pt idx="4">
                  <c:v>Bauchi</c:v>
                </c:pt>
                <c:pt idx="5">
                  <c:v>Kano</c:v>
                </c:pt>
                <c:pt idx="6">
                  <c:v>Enugu</c:v>
                </c:pt>
                <c:pt idx="7">
                  <c:v>Edo</c:v>
                </c:pt>
                <c:pt idx="8">
                  <c:v>Lagos</c:v>
                </c:pt>
                <c:pt idx="9">
                  <c:v>Urban</c:v>
                </c:pt>
                <c:pt idx="10">
                  <c:v>Rural</c:v>
                </c:pt>
              </c:strCache>
            </c:strRef>
          </c:cat>
          <c:val>
            <c:numRef>
              <c:f>Sheet1!$E$2:$E$12</c:f>
              <c:numCache>
                <c:formatCode>0%</c:formatCode>
                <c:ptCount val="11"/>
                <c:pt idx="0">
                  <c:v>0.04</c:v>
                </c:pt>
                <c:pt idx="1">
                  <c:v>0.04</c:v>
                </c:pt>
                <c:pt idx="2">
                  <c:v>0.03</c:v>
                </c:pt>
                <c:pt idx="3">
                  <c:v>0.06</c:v>
                </c:pt>
                <c:pt idx="4">
                  <c:v>0.01</c:v>
                </c:pt>
                <c:pt idx="5">
                  <c:v>0.02</c:v>
                </c:pt>
                <c:pt idx="6">
                  <c:v>0.05</c:v>
                </c:pt>
                <c:pt idx="7">
                  <c:v>0.05</c:v>
                </c:pt>
                <c:pt idx="8">
                  <c:v>0.04</c:v>
                </c:pt>
                <c:pt idx="9">
                  <c:v>0.04</c:v>
                </c:pt>
                <c:pt idx="10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A24-4515-84DE-6868A1356F8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826811951"/>
        <c:axId val="826794479"/>
      </c:barChart>
      <c:catAx>
        <c:axId val="826811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6794479"/>
        <c:crosses val="autoZero"/>
        <c:auto val="1"/>
        <c:lblAlgn val="ctr"/>
        <c:lblOffset val="100"/>
        <c:noMultiLvlLbl val="0"/>
      </c:catAx>
      <c:valAx>
        <c:axId val="826794479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826811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6.6636350916468448E-3"/>
          <c:y val="5.2593993427196555E-2"/>
          <c:w val="0.20663329019168883"/>
          <c:h val="0.6559195787098379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solidFill>
            <a:schemeClr val="bg1"/>
          </a:solidFill>
          <a:latin typeface="MTN Brighter Sans" panose="00000500000000000000"/>
        </a:defRPr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0.12616742550188501"/>
          <c:w val="1"/>
          <c:h val="0.807164923802286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Cultural and societal norms limiting women's political engagement</c:v>
                </c:pt>
              </c:strCache>
            </c:strRef>
          </c:tx>
          <c:spPr>
            <a:solidFill>
              <a:srgbClr val="802AB7"/>
            </a:solidFill>
            <a:ln w="6350">
              <a:solidFill>
                <a:srgbClr val="FFFFFF"/>
              </a:solidFill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398A-4D4C-9AAF-B6FFED8251B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98A-4D4C-9AAF-B6FFED8251B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398A-4D4C-9AAF-B6FFED8251B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98A-4D4C-9AAF-B6FFED8251BD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398A-4D4C-9AAF-B6FFED8251BD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398A-4D4C-9AAF-B6FFED8251BD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398A-4D4C-9AAF-B6FFED8251BD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398A-4D4C-9AAF-B6FFED8251BD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398A-4D4C-9AAF-B6FFED8251BD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398A-4D4C-9AAF-B6FFED8251BD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398A-4D4C-9AAF-B6FFED8251BD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398A-4D4C-9AAF-B6FFED8251BD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398A-4D4C-9AAF-B6FFED8251BD}"/>
              </c:ext>
            </c:extLst>
          </c:dPt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Sheet1!$A$2:$A$12</c:f>
              <c:strCache>
                <c:ptCount val="11"/>
                <c:pt idx="0">
                  <c:v>Total</c:v>
                </c:pt>
                <c:pt idx="1">
                  <c:v>Male</c:v>
                </c:pt>
                <c:pt idx="2">
                  <c:v>Female</c:v>
                </c:pt>
                <c:pt idx="3">
                  <c:v>FCT</c:v>
                </c:pt>
                <c:pt idx="4">
                  <c:v>Bauchi</c:v>
                </c:pt>
                <c:pt idx="5">
                  <c:v>Kano</c:v>
                </c:pt>
                <c:pt idx="6">
                  <c:v>Enugu</c:v>
                </c:pt>
                <c:pt idx="7">
                  <c:v>Edo</c:v>
                </c:pt>
                <c:pt idx="8">
                  <c:v>Lagos</c:v>
                </c:pt>
                <c:pt idx="9">
                  <c:v>Urban</c:v>
                </c:pt>
                <c:pt idx="10">
                  <c:v>Rural</c:v>
                </c:pt>
              </c:strCache>
            </c:strRef>
          </c:cat>
          <c:val>
            <c:numRef>
              <c:f>Sheet1!$B$2:$B$12</c:f>
              <c:numCache>
                <c:formatCode>0%</c:formatCode>
                <c:ptCount val="11"/>
                <c:pt idx="0">
                  <c:v>0.34</c:v>
                </c:pt>
                <c:pt idx="1">
                  <c:v>0.35</c:v>
                </c:pt>
                <c:pt idx="2">
                  <c:v>0.33</c:v>
                </c:pt>
                <c:pt idx="3">
                  <c:v>0.1</c:v>
                </c:pt>
                <c:pt idx="4">
                  <c:v>0.59</c:v>
                </c:pt>
                <c:pt idx="5">
                  <c:v>0.6</c:v>
                </c:pt>
                <c:pt idx="6">
                  <c:v>0.28999999999999998</c:v>
                </c:pt>
                <c:pt idx="7">
                  <c:v>0.13</c:v>
                </c:pt>
                <c:pt idx="8">
                  <c:v>0.17</c:v>
                </c:pt>
                <c:pt idx="9">
                  <c:v>0.31</c:v>
                </c:pt>
                <c:pt idx="10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398A-4D4C-9AAF-B6FFED8251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Gender bias and discrimination in leadership selection</c:v>
                </c:pt>
              </c:strCache>
            </c:strRef>
          </c:tx>
          <c:spPr>
            <a:solidFill>
              <a:srgbClr val="C700D3"/>
            </a:solidFill>
            <a:ln w="6350">
              <a:solidFill>
                <a:srgbClr val="FFFFFF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Sheet1!$A$2:$A$12</c:f>
              <c:strCache>
                <c:ptCount val="11"/>
                <c:pt idx="0">
                  <c:v>Total</c:v>
                </c:pt>
                <c:pt idx="1">
                  <c:v>Male</c:v>
                </c:pt>
                <c:pt idx="2">
                  <c:v>Female</c:v>
                </c:pt>
                <c:pt idx="3">
                  <c:v>FCT</c:v>
                </c:pt>
                <c:pt idx="4">
                  <c:v>Bauchi</c:v>
                </c:pt>
                <c:pt idx="5">
                  <c:v>Kano</c:v>
                </c:pt>
                <c:pt idx="6">
                  <c:v>Enugu</c:v>
                </c:pt>
                <c:pt idx="7">
                  <c:v>Edo</c:v>
                </c:pt>
                <c:pt idx="8">
                  <c:v>Lagos</c:v>
                </c:pt>
                <c:pt idx="9">
                  <c:v>Urban</c:v>
                </c:pt>
                <c:pt idx="10">
                  <c:v>Rural</c:v>
                </c:pt>
              </c:strCache>
            </c:strRef>
          </c:cat>
          <c:val>
            <c:numRef>
              <c:f>Sheet1!$C$2:$C$12</c:f>
              <c:numCache>
                <c:formatCode>0%</c:formatCode>
                <c:ptCount val="11"/>
                <c:pt idx="0">
                  <c:v>0.28000000000000003</c:v>
                </c:pt>
                <c:pt idx="1">
                  <c:v>0.27</c:v>
                </c:pt>
                <c:pt idx="2">
                  <c:v>0.3</c:v>
                </c:pt>
                <c:pt idx="3">
                  <c:v>0.45</c:v>
                </c:pt>
                <c:pt idx="4">
                  <c:v>0.13</c:v>
                </c:pt>
                <c:pt idx="5">
                  <c:v>0.3</c:v>
                </c:pt>
                <c:pt idx="6">
                  <c:v>0.37</c:v>
                </c:pt>
                <c:pt idx="7">
                  <c:v>0.21</c:v>
                </c:pt>
                <c:pt idx="8">
                  <c:v>0.3</c:v>
                </c:pt>
                <c:pt idx="9">
                  <c:v>0.26</c:v>
                </c:pt>
                <c:pt idx="10">
                  <c:v>0.32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398A-4D4C-9AAF-B6FFED8251B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Lack of political and financial support for female candidates</c:v>
                </c:pt>
              </c:strCache>
            </c:strRef>
          </c:tx>
          <c:spPr>
            <a:solidFill>
              <a:srgbClr val="0060FF"/>
            </a:solidFill>
            <a:ln w="6350">
              <a:solidFill>
                <a:srgbClr val="FFFFFF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Sheet1!$A$2:$A$12</c:f>
              <c:strCache>
                <c:ptCount val="11"/>
                <c:pt idx="0">
                  <c:v>Total</c:v>
                </c:pt>
                <c:pt idx="1">
                  <c:v>Male</c:v>
                </c:pt>
                <c:pt idx="2">
                  <c:v>Female</c:v>
                </c:pt>
                <c:pt idx="3">
                  <c:v>FCT</c:v>
                </c:pt>
                <c:pt idx="4">
                  <c:v>Bauchi</c:v>
                </c:pt>
                <c:pt idx="5">
                  <c:v>Kano</c:v>
                </c:pt>
                <c:pt idx="6">
                  <c:v>Enugu</c:v>
                </c:pt>
                <c:pt idx="7">
                  <c:v>Edo</c:v>
                </c:pt>
                <c:pt idx="8">
                  <c:v>Lagos</c:v>
                </c:pt>
                <c:pt idx="9">
                  <c:v>Urban</c:v>
                </c:pt>
                <c:pt idx="10">
                  <c:v>Rural</c:v>
                </c:pt>
              </c:strCache>
            </c:strRef>
          </c:cat>
          <c:val>
            <c:numRef>
              <c:f>Sheet1!$D$2:$D$12</c:f>
              <c:numCache>
                <c:formatCode>0%</c:formatCode>
                <c:ptCount val="11"/>
                <c:pt idx="0">
                  <c:v>0.14000000000000001</c:v>
                </c:pt>
                <c:pt idx="1">
                  <c:v>0.14000000000000001</c:v>
                </c:pt>
                <c:pt idx="2">
                  <c:v>0.14000000000000001</c:v>
                </c:pt>
                <c:pt idx="3">
                  <c:v>0.14000000000000001</c:v>
                </c:pt>
                <c:pt idx="4">
                  <c:v>0.01</c:v>
                </c:pt>
                <c:pt idx="5">
                  <c:v>7.0000000000000007E-2</c:v>
                </c:pt>
                <c:pt idx="6">
                  <c:v>0.24</c:v>
                </c:pt>
                <c:pt idx="7">
                  <c:v>0.25</c:v>
                </c:pt>
                <c:pt idx="8">
                  <c:v>0.19</c:v>
                </c:pt>
                <c:pt idx="9">
                  <c:v>0.16</c:v>
                </c:pt>
                <c:pt idx="10">
                  <c:v>0.09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398A-4D4C-9AAF-B6FFED8251B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Gender Abuse (e.g., harassment…..)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Sheet1!$A$2:$A$12</c:f>
              <c:strCache>
                <c:ptCount val="11"/>
                <c:pt idx="0">
                  <c:v>Total</c:v>
                </c:pt>
                <c:pt idx="1">
                  <c:v>Male</c:v>
                </c:pt>
                <c:pt idx="2">
                  <c:v>Female</c:v>
                </c:pt>
                <c:pt idx="3">
                  <c:v>FCT</c:v>
                </c:pt>
                <c:pt idx="4">
                  <c:v>Bauchi</c:v>
                </c:pt>
                <c:pt idx="5">
                  <c:v>Kano</c:v>
                </c:pt>
                <c:pt idx="6">
                  <c:v>Enugu</c:v>
                </c:pt>
                <c:pt idx="7">
                  <c:v>Edo</c:v>
                </c:pt>
                <c:pt idx="8">
                  <c:v>Lagos</c:v>
                </c:pt>
                <c:pt idx="9">
                  <c:v>Urban</c:v>
                </c:pt>
                <c:pt idx="10">
                  <c:v>Rural</c:v>
                </c:pt>
              </c:strCache>
            </c:strRef>
          </c:cat>
          <c:val>
            <c:numRef>
              <c:f>Sheet1!$E$2:$E$12</c:f>
              <c:numCache>
                <c:formatCode>0%</c:formatCode>
                <c:ptCount val="11"/>
                <c:pt idx="0">
                  <c:v>0.13</c:v>
                </c:pt>
                <c:pt idx="1">
                  <c:v>0.12</c:v>
                </c:pt>
                <c:pt idx="2">
                  <c:v>0.14000000000000001</c:v>
                </c:pt>
                <c:pt idx="3">
                  <c:v>0.13</c:v>
                </c:pt>
                <c:pt idx="4">
                  <c:v>0.22</c:v>
                </c:pt>
                <c:pt idx="5">
                  <c:v>0.02</c:v>
                </c:pt>
                <c:pt idx="6">
                  <c:v>0.04</c:v>
                </c:pt>
                <c:pt idx="7">
                  <c:v>0.27</c:v>
                </c:pt>
                <c:pt idx="8">
                  <c:v>0.15</c:v>
                </c:pt>
                <c:pt idx="9">
                  <c:v>0.15</c:v>
                </c:pt>
                <c:pt idx="10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398A-4D4C-9AAF-B6FFED8251B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Economic challenges and unpaid domestic labor burden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Sheet1!$A$2:$A$12</c:f>
              <c:strCache>
                <c:ptCount val="11"/>
                <c:pt idx="0">
                  <c:v>Total</c:v>
                </c:pt>
                <c:pt idx="1">
                  <c:v>Male</c:v>
                </c:pt>
                <c:pt idx="2">
                  <c:v>Female</c:v>
                </c:pt>
                <c:pt idx="3">
                  <c:v>FCT</c:v>
                </c:pt>
                <c:pt idx="4">
                  <c:v>Bauchi</c:v>
                </c:pt>
                <c:pt idx="5">
                  <c:v>Kano</c:v>
                </c:pt>
                <c:pt idx="6">
                  <c:v>Enugu</c:v>
                </c:pt>
                <c:pt idx="7">
                  <c:v>Edo</c:v>
                </c:pt>
                <c:pt idx="8">
                  <c:v>Lagos</c:v>
                </c:pt>
                <c:pt idx="9">
                  <c:v>Urban</c:v>
                </c:pt>
                <c:pt idx="10">
                  <c:v>Rural</c:v>
                </c:pt>
              </c:strCache>
            </c:strRef>
          </c:cat>
          <c:val>
            <c:numRef>
              <c:f>Sheet1!$F$2:$F$12</c:f>
              <c:numCache>
                <c:formatCode>0%</c:formatCode>
                <c:ptCount val="11"/>
                <c:pt idx="0">
                  <c:v>7.0000000000000007E-2</c:v>
                </c:pt>
                <c:pt idx="1">
                  <c:v>0.08</c:v>
                </c:pt>
                <c:pt idx="2">
                  <c:v>0.06</c:v>
                </c:pt>
                <c:pt idx="3">
                  <c:v>0.09</c:v>
                </c:pt>
                <c:pt idx="4">
                  <c:v>0</c:v>
                </c:pt>
                <c:pt idx="5">
                  <c:v>0.02</c:v>
                </c:pt>
                <c:pt idx="6">
                  <c:v>0.06</c:v>
                </c:pt>
                <c:pt idx="7">
                  <c:v>0.13</c:v>
                </c:pt>
                <c:pt idx="8">
                  <c:v>0.14000000000000001</c:v>
                </c:pt>
                <c:pt idx="9">
                  <c:v>0.08</c:v>
                </c:pt>
                <c:pt idx="10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398A-4D4C-9AAF-B6FFED8251BD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Security Concerns (e.g., violence in political spaces…..)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Sheet1!$A$2:$A$12</c:f>
              <c:strCache>
                <c:ptCount val="11"/>
                <c:pt idx="0">
                  <c:v>Total</c:v>
                </c:pt>
                <c:pt idx="1">
                  <c:v>Male</c:v>
                </c:pt>
                <c:pt idx="2">
                  <c:v>Female</c:v>
                </c:pt>
                <c:pt idx="3">
                  <c:v>FCT</c:v>
                </c:pt>
                <c:pt idx="4">
                  <c:v>Bauchi</c:v>
                </c:pt>
                <c:pt idx="5">
                  <c:v>Kano</c:v>
                </c:pt>
                <c:pt idx="6">
                  <c:v>Enugu</c:v>
                </c:pt>
                <c:pt idx="7">
                  <c:v>Edo</c:v>
                </c:pt>
                <c:pt idx="8">
                  <c:v>Lagos</c:v>
                </c:pt>
                <c:pt idx="9">
                  <c:v>Urban</c:v>
                </c:pt>
                <c:pt idx="10">
                  <c:v>Rural</c:v>
                </c:pt>
              </c:strCache>
            </c:strRef>
          </c:cat>
          <c:val>
            <c:numRef>
              <c:f>Sheet1!$G$2:$G$12</c:f>
              <c:numCache>
                <c:formatCode>0%</c:formatCode>
                <c:ptCount val="11"/>
                <c:pt idx="0">
                  <c:v>0.03</c:v>
                </c:pt>
                <c:pt idx="1">
                  <c:v>0.04</c:v>
                </c:pt>
                <c:pt idx="2">
                  <c:v>0.02</c:v>
                </c:pt>
                <c:pt idx="3">
                  <c:v>7.0000000000000007E-2</c:v>
                </c:pt>
                <c:pt idx="4">
                  <c:v>0.03</c:v>
                </c:pt>
                <c:pt idx="5">
                  <c:v>0</c:v>
                </c:pt>
                <c:pt idx="6">
                  <c:v>0</c:v>
                </c:pt>
                <c:pt idx="7">
                  <c:v>0.02</c:v>
                </c:pt>
                <c:pt idx="8">
                  <c:v>0.05</c:v>
                </c:pt>
                <c:pt idx="9">
                  <c:v>0.04</c:v>
                </c:pt>
                <c:pt idx="10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C4-4909-92E8-3BC21CA8DB5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50"/>
        <c:overlap val="-50"/>
        <c:axId val="351810248"/>
        <c:axId val="351810640"/>
      </c:barChart>
      <c:catAx>
        <c:axId val="3518102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351810640"/>
        <c:crosses val="autoZero"/>
        <c:auto val="1"/>
        <c:lblAlgn val="ctr"/>
        <c:lblOffset val="100"/>
        <c:noMultiLvlLbl val="0"/>
      </c:catAx>
      <c:valAx>
        <c:axId val="351810640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3518102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1.3225650672785916E-2"/>
          <c:y val="4.3620211780635354E-2"/>
          <c:w val="0.98677434932721408"/>
          <c:h val="0.17146641505526625"/>
        </c:manualLayout>
      </c:layout>
      <c:overlay val="0"/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333333"/>
          </a:solidFill>
          <a:latin typeface="+mn-lt"/>
        </a:defRPr>
      </a:pPr>
      <a:endParaRPr lang="en-US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105736407230199"/>
          <c:y val="7.4400833333333347E-2"/>
          <c:w val="0.81581935923092441"/>
          <c:h val="0.81102888888888891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Yes, affirmative action is necessary to ensure equal opportunities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Total</c:v>
                </c:pt>
                <c:pt idx="1">
                  <c:v>Male</c:v>
                </c:pt>
                <c:pt idx="2">
                  <c:v>Female</c:v>
                </c:pt>
                <c:pt idx="3">
                  <c:v>FCT</c:v>
                </c:pt>
                <c:pt idx="4">
                  <c:v>Bauchi</c:v>
                </c:pt>
                <c:pt idx="5">
                  <c:v>Kano</c:v>
                </c:pt>
                <c:pt idx="6">
                  <c:v>Enugu</c:v>
                </c:pt>
                <c:pt idx="7">
                  <c:v>Edo</c:v>
                </c:pt>
                <c:pt idx="8">
                  <c:v>Lagos</c:v>
                </c:pt>
                <c:pt idx="9">
                  <c:v>Urban</c:v>
                </c:pt>
                <c:pt idx="10">
                  <c:v>Rural</c:v>
                </c:pt>
              </c:strCache>
            </c:strRef>
          </c:cat>
          <c:val>
            <c:numRef>
              <c:f>Sheet1!$B$2:$B$12</c:f>
              <c:numCache>
                <c:formatCode>0%</c:formatCode>
                <c:ptCount val="11"/>
                <c:pt idx="0">
                  <c:v>0.7</c:v>
                </c:pt>
                <c:pt idx="1">
                  <c:v>0.66</c:v>
                </c:pt>
                <c:pt idx="2">
                  <c:v>0.74</c:v>
                </c:pt>
                <c:pt idx="3">
                  <c:v>0.77</c:v>
                </c:pt>
                <c:pt idx="4">
                  <c:v>0.82</c:v>
                </c:pt>
                <c:pt idx="5">
                  <c:v>0.77</c:v>
                </c:pt>
                <c:pt idx="6">
                  <c:v>0.49</c:v>
                </c:pt>
                <c:pt idx="7">
                  <c:v>0.76</c:v>
                </c:pt>
                <c:pt idx="8">
                  <c:v>0.61</c:v>
                </c:pt>
                <c:pt idx="9">
                  <c:v>0.64</c:v>
                </c:pt>
                <c:pt idx="10">
                  <c:v>0.82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6D-4EDB-B47E-EF404DE4DA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No, leadership should be based solely on merit without gender-based policies</c:v>
                </c:pt>
              </c:strCache>
            </c:strRef>
          </c:tx>
          <c:spPr>
            <a:solidFill>
              <a:srgbClr val="FF7C8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Total</c:v>
                </c:pt>
                <c:pt idx="1">
                  <c:v>Male</c:v>
                </c:pt>
                <c:pt idx="2">
                  <c:v>Female</c:v>
                </c:pt>
                <c:pt idx="3">
                  <c:v>FCT</c:v>
                </c:pt>
                <c:pt idx="4">
                  <c:v>Bauchi</c:v>
                </c:pt>
                <c:pt idx="5">
                  <c:v>Kano</c:v>
                </c:pt>
                <c:pt idx="6">
                  <c:v>Enugu</c:v>
                </c:pt>
                <c:pt idx="7">
                  <c:v>Edo</c:v>
                </c:pt>
                <c:pt idx="8">
                  <c:v>Lagos</c:v>
                </c:pt>
                <c:pt idx="9">
                  <c:v>Urban</c:v>
                </c:pt>
                <c:pt idx="10">
                  <c:v>Rural</c:v>
                </c:pt>
              </c:strCache>
            </c:strRef>
          </c:cat>
          <c:val>
            <c:numRef>
              <c:f>Sheet1!$C$2:$C$12</c:f>
              <c:numCache>
                <c:formatCode>0%</c:formatCode>
                <c:ptCount val="11"/>
                <c:pt idx="0">
                  <c:v>0.25</c:v>
                </c:pt>
                <c:pt idx="1">
                  <c:v>0.3</c:v>
                </c:pt>
                <c:pt idx="2">
                  <c:v>0.21</c:v>
                </c:pt>
                <c:pt idx="3">
                  <c:v>0.16</c:v>
                </c:pt>
                <c:pt idx="4">
                  <c:v>0.15</c:v>
                </c:pt>
                <c:pt idx="5">
                  <c:v>0.22</c:v>
                </c:pt>
                <c:pt idx="6">
                  <c:v>0.45</c:v>
                </c:pt>
                <c:pt idx="7">
                  <c:v>0.11</c:v>
                </c:pt>
                <c:pt idx="8">
                  <c:v>0.35</c:v>
                </c:pt>
                <c:pt idx="9">
                  <c:v>0.31</c:v>
                </c:pt>
                <c:pt idx="10">
                  <c:v>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06D-4EDB-B47E-EF404DE4DAD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sure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Total</c:v>
                </c:pt>
                <c:pt idx="1">
                  <c:v>Male</c:v>
                </c:pt>
                <c:pt idx="2">
                  <c:v>Female</c:v>
                </c:pt>
                <c:pt idx="3">
                  <c:v>FCT</c:v>
                </c:pt>
                <c:pt idx="4">
                  <c:v>Bauchi</c:v>
                </c:pt>
                <c:pt idx="5">
                  <c:v>Kano</c:v>
                </c:pt>
                <c:pt idx="6">
                  <c:v>Enugu</c:v>
                </c:pt>
                <c:pt idx="7">
                  <c:v>Edo</c:v>
                </c:pt>
                <c:pt idx="8">
                  <c:v>Lagos</c:v>
                </c:pt>
                <c:pt idx="9">
                  <c:v>Urban</c:v>
                </c:pt>
                <c:pt idx="10">
                  <c:v>Rural</c:v>
                </c:pt>
              </c:strCache>
            </c:strRef>
          </c:cat>
          <c:val>
            <c:numRef>
              <c:f>Sheet1!$D$2:$D$12</c:f>
              <c:numCache>
                <c:formatCode>0%</c:formatCode>
                <c:ptCount val="11"/>
                <c:pt idx="0">
                  <c:v>0.05</c:v>
                </c:pt>
                <c:pt idx="1">
                  <c:v>0.04</c:v>
                </c:pt>
                <c:pt idx="2">
                  <c:v>0.05</c:v>
                </c:pt>
                <c:pt idx="3">
                  <c:v>0.06</c:v>
                </c:pt>
                <c:pt idx="4">
                  <c:v>0.03</c:v>
                </c:pt>
                <c:pt idx="5">
                  <c:v>0.01</c:v>
                </c:pt>
                <c:pt idx="6">
                  <c:v>0.06</c:v>
                </c:pt>
                <c:pt idx="7">
                  <c:v>0.13</c:v>
                </c:pt>
                <c:pt idx="8">
                  <c:v>0.04</c:v>
                </c:pt>
                <c:pt idx="9">
                  <c:v>0.05</c:v>
                </c:pt>
                <c:pt idx="10">
                  <c:v>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06D-4EDB-B47E-EF404DE4DAD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184411968"/>
        <c:axId val="187267840"/>
      </c:barChart>
      <c:catAx>
        <c:axId val="184411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267840"/>
        <c:crosses val="autoZero"/>
        <c:auto val="1"/>
        <c:lblAlgn val="ctr"/>
        <c:lblOffset val="100"/>
        <c:noMultiLvlLbl val="0"/>
      </c:catAx>
      <c:valAx>
        <c:axId val="187267840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844119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7.8395061728395062E-3"/>
          <c:y val="0.10047055555555554"/>
          <c:w val="0.16711828186017988"/>
          <c:h val="0.799376388888888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238065796837834"/>
          <c:y val="3.6452182408077613E-2"/>
          <c:w val="0.7639767559815307"/>
          <c:h val="0.85592568451562434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 improves governance by increasing diversity and inclusivity</c:v>
                </c:pt>
              </c:strCache>
            </c:strRef>
          </c:tx>
          <c:spPr>
            <a:solidFill>
              <a:srgbClr val="70AD47">
                <a:lumMod val="50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Total</c:v>
                </c:pt>
                <c:pt idx="1">
                  <c:v>Male</c:v>
                </c:pt>
                <c:pt idx="2">
                  <c:v>Female</c:v>
                </c:pt>
                <c:pt idx="3">
                  <c:v>FCT</c:v>
                </c:pt>
                <c:pt idx="4">
                  <c:v>Bauchi</c:v>
                </c:pt>
                <c:pt idx="5">
                  <c:v>Kano</c:v>
                </c:pt>
                <c:pt idx="6">
                  <c:v>Enugu</c:v>
                </c:pt>
                <c:pt idx="7">
                  <c:v>Edo</c:v>
                </c:pt>
                <c:pt idx="8">
                  <c:v>Lagos</c:v>
                </c:pt>
                <c:pt idx="9">
                  <c:v>Urban</c:v>
                </c:pt>
                <c:pt idx="10">
                  <c:v>Rural</c:v>
                </c:pt>
              </c:strCache>
            </c:strRef>
          </c:cat>
          <c:val>
            <c:numRef>
              <c:f>Sheet1!$B$2:$B$12</c:f>
              <c:numCache>
                <c:formatCode>0%</c:formatCode>
                <c:ptCount val="11"/>
                <c:pt idx="0">
                  <c:v>0.55000000000000004</c:v>
                </c:pt>
                <c:pt idx="1">
                  <c:v>0.46</c:v>
                </c:pt>
                <c:pt idx="2">
                  <c:v>0.64</c:v>
                </c:pt>
                <c:pt idx="3">
                  <c:v>0.51</c:v>
                </c:pt>
                <c:pt idx="4">
                  <c:v>0.53</c:v>
                </c:pt>
                <c:pt idx="5">
                  <c:v>0.57999999999999996</c:v>
                </c:pt>
                <c:pt idx="6">
                  <c:v>0.47</c:v>
                </c:pt>
                <c:pt idx="7">
                  <c:v>0.78</c:v>
                </c:pt>
                <c:pt idx="8">
                  <c:v>0.52</c:v>
                </c:pt>
                <c:pt idx="9">
                  <c:v>0.52</c:v>
                </c:pt>
                <c:pt idx="10">
                  <c:v>0.62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24-4515-84DE-6868A1356F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It has no significant impact on governance quality</c:v>
                </c:pt>
              </c:strCache>
            </c:strRef>
          </c:tx>
          <c:spPr>
            <a:solidFill>
              <a:srgbClr val="70AD47">
                <a:lumMod val="40000"/>
                <a:lumOff val="60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Total</c:v>
                </c:pt>
                <c:pt idx="1">
                  <c:v>Male</c:v>
                </c:pt>
                <c:pt idx="2">
                  <c:v>Female</c:v>
                </c:pt>
                <c:pt idx="3">
                  <c:v>FCT</c:v>
                </c:pt>
                <c:pt idx="4">
                  <c:v>Bauchi</c:v>
                </c:pt>
                <c:pt idx="5">
                  <c:v>Kano</c:v>
                </c:pt>
                <c:pt idx="6">
                  <c:v>Enugu</c:v>
                </c:pt>
                <c:pt idx="7">
                  <c:v>Edo</c:v>
                </c:pt>
                <c:pt idx="8">
                  <c:v>Lagos</c:v>
                </c:pt>
                <c:pt idx="9">
                  <c:v>Urban</c:v>
                </c:pt>
                <c:pt idx="10">
                  <c:v>Rural</c:v>
                </c:pt>
              </c:strCache>
            </c:strRef>
          </c:cat>
          <c:val>
            <c:numRef>
              <c:f>Sheet1!$C$2:$C$12</c:f>
              <c:numCache>
                <c:formatCode>0%</c:formatCode>
                <c:ptCount val="11"/>
                <c:pt idx="0">
                  <c:v>0.25</c:v>
                </c:pt>
                <c:pt idx="1">
                  <c:v>0.28999999999999998</c:v>
                </c:pt>
                <c:pt idx="2">
                  <c:v>0.21</c:v>
                </c:pt>
                <c:pt idx="3">
                  <c:v>0.14000000000000001</c:v>
                </c:pt>
                <c:pt idx="4">
                  <c:v>0.27</c:v>
                </c:pt>
                <c:pt idx="5">
                  <c:v>0.09</c:v>
                </c:pt>
                <c:pt idx="6">
                  <c:v>0.38</c:v>
                </c:pt>
                <c:pt idx="7">
                  <c:v>0.16</c:v>
                </c:pt>
                <c:pt idx="8">
                  <c:v>0.37</c:v>
                </c:pt>
                <c:pt idx="9">
                  <c:v>0.28999999999999998</c:v>
                </c:pt>
                <c:pt idx="10">
                  <c:v>0.17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24-4515-84DE-6868A1356F8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It could negatively impact governance if not based on merit</c:v>
                </c:pt>
              </c:strCache>
            </c:strRef>
          </c:tx>
          <c:spPr>
            <a:solidFill>
              <a:schemeClr val="accent2">
                <a:tint val="86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Total</c:v>
                </c:pt>
                <c:pt idx="1">
                  <c:v>Male</c:v>
                </c:pt>
                <c:pt idx="2">
                  <c:v>Female</c:v>
                </c:pt>
                <c:pt idx="3">
                  <c:v>FCT</c:v>
                </c:pt>
                <c:pt idx="4">
                  <c:v>Bauchi</c:v>
                </c:pt>
                <c:pt idx="5">
                  <c:v>Kano</c:v>
                </c:pt>
                <c:pt idx="6">
                  <c:v>Enugu</c:v>
                </c:pt>
                <c:pt idx="7">
                  <c:v>Edo</c:v>
                </c:pt>
                <c:pt idx="8">
                  <c:v>Lagos</c:v>
                </c:pt>
                <c:pt idx="9">
                  <c:v>Urban</c:v>
                </c:pt>
                <c:pt idx="10">
                  <c:v>Rural</c:v>
                </c:pt>
              </c:strCache>
            </c:strRef>
          </c:cat>
          <c:val>
            <c:numRef>
              <c:f>Sheet1!$D$2:$D$12</c:f>
              <c:numCache>
                <c:formatCode>0%</c:formatCode>
                <c:ptCount val="11"/>
                <c:pt idx="0">
                  <c:v>0.2</c:v>
                </c:pt>
                <c:pt idx="1">
                  <c:v>0.24</c:v>
                </c:pt>
                <c:pt idx="2">
                  <c:v>0.15</c:v>
                </c:pt>
                <c:pt idx="3">
                  <c:v>0.32</c:v>
                </c:pt>
                <c:pt idx="4">
                  <c:v>0.2</c:v>
                </c:pt>
                <c:pt idx="5">
                  <c:v>0.33</c:v>
                </c:pt>
                <c:pt idx="6">
                  <c:v>0.15</c:v>
                </c:pt>
                <c:pt idx="7">
                  <c:v>0.05</c:v>
                </c:pt>
                <c:pt idx="8">
                  <c:v>0.11</c:v>
                </c:pt>
                <c:pt idx="9">
                  <c:v>0.19</c:v>
                </c:pt>
                <c:pt idx="10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A24-4515-84DE-6868A1356F8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chemeClr val="accent2">
                <a:tint val="58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Total</c:v>
                </c:pt>
                <c:pt idx="1">
                  <c:v>Male</c:v>
                </c:pt>
                <c:pt idx="2">
                  <c:v>Female</c:v>
                </c:pt>
                <c:pt idx="3">
                  <c:v>FCT</c:v>
                </c:pt>
                <c:pt idx="4">
                  <c:v>Bauchi</c:v>
                </c:pt>
                <c:pt idx="5">
                  <c:v>Kano</c:v>
                </c:pt>
                <c:pt idx="6">
                  <c:v>Enugu</c:v>
                </c:pt>
                <c:pt idx="7">
                  <c:v>Edo</c:v>
                </c:pt>
                <c:pt idx="8">
                  <c:v>Lagos</c:v>
                </c:pt>
                <c:pt idx="9">
                  <c:v>Urban</c:v>
                </c:pt>
                <c:pt idx="10">
                  <c:v>Rural</c:v>
                </c:pt>
              </c:strCache>
            </c:strRef>
          </c:cat>
          <c:val>
            <c:numRef>
              <c:f>Sheet1!$E$2:$E$12</c:f>
              <c:numCache>
                <c:formatCode>0%</c:formatCode>
                <c:ptCount val="11"/>
                <c:pt idx="0">
                  <c:v>0</c:v>
                </c:pt>
                <c:pt idx="1">
                  <c:v>0.01</c:v>
                </c:pt>
                <c:pt idx="2">
                  <c:v>0</c:v>
                </c:pt>
                <c:pt idx="3">
                  <c:v>0.02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0.01</c:v>
                </c:pt>
                <c:pt idx="8">
                  <c:v>0</c:v>
                </c:pt>
                <c:pt idx="9">
                  <c:v>0</c:v>
                </c:pt>
                <c:pt idx="10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A24-4515-84DE-6868A1356F8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826811951"/>
        <c:axId val="826794479"/>
      </c:barChart>
      <c:catAx>
        <c:axId val="82681195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6794479"/>
        <c:crosses val="autoZero"/>
        <c:auto val="1"/>
        <c:lblAlgn val="ctr"/>
        <c:lblOffset val="100"/>
        <c:noMultiLvlLbl val="0"/>
      </c:catAx>
      <c:valAx>
        <c:axId val="826794479"/>
        <c:scaling>
          <c:orientation val="minMax"/>
        </c:scaling>
        <c:delete val="0"/>
        <c:axPos val="l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MTN Brighter Sans" panose="00000500000000000000"/>
                <a:ea typeface="+mn-ea"/>
                <a:cs typeface="+mn-cs"/>
              </a:defRPr>
            </a:pPr>
            <a:endParaRPr lang="en-US"/>
          </a:p>
        </c:txPr>
        <c:crossAx val="826811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6.6636350916468448E-3"/>
          <c:y val="5.2593993427196555E-2"/>
          <c:w val="0.14554996851825941"/>
          <c:h val="0.9177125250951225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solidFill>
            <a:schemeClr val="bg1"/>
          </a:solidFill>
          <a:latin typeface="MTN Brighter Sans" panose="00000500000000000000"/>
        </a:defRPr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232907381346407"/>
          <c:y val="7.4400833333333347E-2"/>
          <c:w val="0.84454770591173378"/>
          <c:h val="0.81102888888888891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Yes, women leaders receive equal and fair media coverage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Total</c:v>
                </c:pt>
                <c:pt idx="1">
                  <c:v>Male</c:v>
                </c:pt>
                <c:pt idx="2">
                  <c:v>Female</c:v>
                </c:pt>
                <c:pt idx="3">
                  <c:v>FCT</c:v>
                </c:pt>
                <c:pt idx="4">
                  <c:v>Bauchi</c:v>
                </c:pt>
                <c:pt idx="5">
                  <c:v>Kano</c:v>
                </c:pt>
                <c:pt idx="6">
                  <c:v>Enugu</c:v>
                </c:pt>
                <c:pt idx="7">
                  <c:v>Edo</c:v>
                </c:pt>
                <c:pt idx="8">
                  <c:v>Lagos</c:v>
                </c:pt>
                <c:pt idx="9">
                  <c:v>Urban</c:v>
                </c:pt>
                <c:pt idx="10">
                  <c:v>Rural</c:v>
                </c:pt>
              </c:strCache>
            </c:strRef>
          </c:cat>
          <c:val>
            <c:numRef>
              <c:f>Sheet1!$B$2:$B$12</c:f>
              <c:numCache>
                <c:formatCode>0%</c:formatCode>
                <c:ptCount val="11"/>
                <c:pt idx="0">
                  <c:v>0.44</c:v>
                </c:pt>
                <c:pt idx="1">
                  <c:v>0.42</c:v>
                </c:pt>
                <c:pt idx="2">
                  <c:v>0.46</c:v>
                </c:pt>
                <c:pt idx="3">
                  <c:v>0.71</c:v>
                </c:pt>
                <c:pt idx="4">
                  <c:v>0.19</c:v>
                </c:pt>
                <c:pt idx="5">
                  <c:v>0.62</c:v>
                </c:pt>
                <c:pt idx="6">
                  <c:v>0.35</c:v>
                </c:pt>
                <c:pt idx="7">
                  <c:v>0.27</c:v>
                </c:pt>
                <c:pt idx="8">
                  <c:v>0.52</c:v>
                </c:pt>
                <c:pt idx="9">
                  <c:v>0.42</c:v>
                </c:pt>
                <c:pt idx="10">
                  <c:v>0.48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6D-4EDB-B47E-EF404DE4DA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No, women leaders face more scrutiny and negative stereotypes</c:v>
                </c:pt>
              </c:strCache>
            </c:strRef>
          </c:tx>
          <c:spPr>
            <a:solidFill>
              <a:srgbClr val="FF7C8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Total</c:v>
                </c:pt>
                <c:pt idx="1">
                  <c:v>Male</c:v>
                </c:pt>
                <c:pt idx="2">
                  <c:v>Female</c:v>
                </c:pt>
                <c:pt idx="3">
                  <c:v>FCT</c:v>
                </c:pt>
                <c:pt idx="4">
                  <c:v>Bauchi</c:v>
                </c:pt>
                <c:pt idx="5">
                  <c:v>Kano</c:v>
                </c:pt>
                <c:pt idx="6">
                  <c:v>Enugu</c:v>
                </c:pt>
                <c:pt idx="7">
                  <c:v>Edo</c:v>
                </c:pt>
                <c:pt idx="8">
                  <c:v>Lagos</c:v>
                </c:pt>
                <c:pt idx="9">
                  <c:v>Urban</c:v>
                </c:pt>
                <c:pt idx="10">
                  <c:v>Rural</c:v>
                </c:pt>
              </c:strCache>
            </c:strRef>
          </c:cat>
          <c:val>
            <c:numRef>
              <c:f>Sheet1!$C$2:$C$12</c:f>
              <c:numCache>
                <c:formatCode>0%</c:formatCode>
                <c:ptCount val="11"/>
                <c:pt idx="0">
                  <c:v>0.44</c:v>
                </c:pt>
                <c:pt idx="1">
                  <c:v>0.46</c:v>
                </c:pt>
                <c:pt idx="2">
                  <c:v>0.42</c:v>
                </c:pt>
                <c:pt idx="3">
                  <c:v>0.21</c:v>
                </c:pt>
                <c:pt idx="4">
                  <c:v>0.68</c:v>
                </c:pt>
                <c:pt idx="5">
                  <c:v>0.28999999999999998</c:v>
                </c:pt>
                <c:pt idx="6">
                  <c:v>0.59</c:v>
                </c:pt>
                <c:pt idx="7">
                  <c:v>0.45</c:v>
                </c:pt>
                <c:pt idx="8">
                  <c:v>0.39</c:v>
                </c:pt>
                <c:pt idx="9">
                  <c:v>0.46</c:v>
                </c:pt>
                <c:pt idx="10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06D-4EDB-B47E-EF404DE4DAD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sure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Total</c:v>
                </c:pt>
                <c:pt idx="1">
                  <c:v>Male</c:v>
                </c:pt>
                <c:pt idx="2">
                  <c:v>Female</c:v>
                </c:pt>
                <c:pt idx="3">
                  <c:v>FCT</c:v>
                </c:pt>
                <c:pt idx="4">
                  <c:v>Bauchi</c:v>
                </c:pt>
                <c:pt idx="5">
                  <c:v>Kano</c:v>
                </c:pt>
                <c:pt idx="6">
                  <c:v>Enugu</c:v>
                </c:pt>
                <c:pt idx="7">
                  <c:v>Edo</c:v>
                </c:pt>
                <c:pt idx="8">
                  <c:v>Lagos</c:v>
                </c:pt>
                <c:pt idx="9">
                  <c:v>Urban</c:v>
                </c:pt>
                <c:pt idx="10">
                  <c:v>Rural</c:v>
                </c:pt>
              </c:strCache>
            </c:strRef>
          </c:cat>
          <c:val>
            <c:numRef>
              <c:f>Sheet1!$D$2:$D$12</c:f>
              <c:numCache>
                <c:formatCode>0%</c:formatCode>
                <c:ptCount val="11"/>
                <c:pt idx="0">
                  <c:v>0.12</c:v>
                </c:pt>
                <c:pt idx="1">
                  <c:v>0.12</c:v>
                </c:pt>
                <c:pt idx="2">
                  <c:v>0.12</c:v>
                </c:pt>
                <c:pt idx="3">
                  <c:v>0.09</c:v>
                </c:pt>
                <c:pt idx="4">
                  <c:v>0.13</c:v>
                </c:pt>
                <c:pt idx="5">
                  <c:v>0.1</c:v>
                </c:pt>
                <c:pt idx="6">
                  <c:v>7.0000000000000007E-2</c:v>
                </c:pt>
                <c:pt idx="7">
                  <c:v>0.28000000000000003</c:v>
                </c:pt>
                <c:pt idx="8">
                  <c:v>0.09</c:v>
                </c:pt>
                <c:pt idx="9">
                  <c:v>0.12</c:v>
                </c:pt>
                <c:pt idx="10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06D-4EDB-B47E-EF404DE4DAD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184411968"/>
        <c:axId val="187267840"/>
      </c:barChart>
      <c:catAx>
        <c:axId val="184411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267840"/>
        <c:crosses val="autoZero"/>
        <c:auto val="1"/>
        <c:lblAlgn val="ctr"/>
        <c:lblOffset val="100"/>
        <c:noMultiLvlLbl val="0"/>
      </c:catAx>
      <c:valAx>
        <c:axId val="187267840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844119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7.8395061728395062E-3"/>
          <c:y val="0.10047055555555554"/>
          <c:w val="0.15562695460011852"/>
          <c:h val="0.799376388888888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0.19042273142869318"/>
          <c:w val="1"/>
          <c:h val="0.7348077602861394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Public awareness campaigns to change gender perceptions</c:v>
                </c:pt>
              </c:strCache>
            </c:strRef>
          </c:tx>
          <c:spPr>
            <a:solidFill>
              <a:srgbClr val="802AB7"/>
            </a:solidFill>
            <a:ln w="6350">
              <a:solidFill>
                <a:srgbClr val="FFFFFF"/>
              </a:solidFill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398A-4D4C-9AAF-B6FFED8251B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98A-4D4C-9AAF-B6FFED8251B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398A-4D4C-9AAF-B6FFED8251B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98A-4D4C-9AAF-B6FFED8251BD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398A-4D4C-9AAF-B6FFED8251BD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398A-4D4C-9AAF-B6FFED8251BD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398A-4D4C-9AAF-B6FFED8251BD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398A-4D4C-9AAF-B6FFED8251BD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398A-4D4C-9AAF-B6FFED8251BD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398A-4D4C-9AAF-B6FFED8251BD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398A-4D4C-9AAF-B6FFED8251BD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398A-4D4C-9AAF-B6FFED8251BD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398A-4D4C-9AAF-B6FFED8251B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Sheet1!$A$2:$A$12</c:f>
              <c:strCache>
                <c:ptCount val="11"/>
                <c:pt idx="0">
                  <c:v>Total</c:v>
                </c:pt>
                <c:pt idx="1">
                  <c:v>Male</c:v>
                </c:pt>
                <c:pt idx="2">
                  <c:v>Female</c:v>
                </c:pt>
                <c:pt idx="3">
                  <c:v>FCT</c:v>
                </c:pt>
                <c:pt idx="4">
                  <c:v>Bauchi</c:v>
                </c:pt>
                <c:pt idx="5">
                  <c:v>Kano</c:v>
                </c:pt>
                <c:pt idx="6">
                  <c:v>Enugu</c:v>
                </c:pt>
                <c:pt idx="7">
                  <c:v>Edo</c:v>
                </c:pt>
                <c:pt idx="8">
                  <c:v>Lagos</c:v>
                </c:pt>
                <c:pt idx="9">
                  <c:v>Urban</c:v>
                </c:pt>
                <c:pt idx="10">
                  <c:v>Rural</c:v>
                </c:pt>
              </c:strCache>
            </c:strRef>
          </c:cat>
          <c:val>
            <c:numRef>
              <c:f>Sheet1!$B$2:$B$12</c:f>
              <c:numCache>
                <c:formatCode>0%</c:formatCode>
                <c:ptCount val="11"/>
                <c:pt idx="0">
                  <c:v>0.59</c:v>
                </c:pt>
                <c:pt idx="1">
                  <c:v>0.6</c:v>
                </c:pt>
                <c:pt idx="2">
                  <c:v>0.57999999999999996</c:v>
                </c:pt>
                <c:pt idx="3">
                  <c:v>0.56000000000000005</c:v>
                </c:pt>
                <c:pt idx="4">
                  <c:v>0.3</c:v>
                </c:pt>
                <c:pt idx="5">
                  <c:v>0.83</c:v>
                </c:pt>
                <c:pt idx="6">
                  <c:v>0.71</c:v>
                </c:pt>
                <c:pt idx="7">
                  <c:v>0.56000000000000005</c:v>
                </c:pt>
                <c:pt idx="8">
                  <c:v>0.59</c:v>
                </c:pt>
                <c:pt idx="9">
                  <c:v>0.6</c:v>
                </c:pt>
                <c:pt idx="10">
                  <c:v>0.56999999999999995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398A-4D4C-9AAF-B6FFED8251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Leadership training and mentorship for women</c:v>
                </c:pt>
              </c:strCache>
            </c:strRef>
          </c:tx>
          <c:spPr>
            <a:solidFill>
              <a:srgbClr val="C700D3"/>
            </a:solidFill>
            <a:ln w="6350">
              <a:solidFill>
                <a:srgbClr val="FFFFFF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Sheet1!$A$2:$A$12</c:f>
              <c:strCache>
                <c:ptCount val="11"/>
                <c:pt idx="0">
                  <c:v>Total</c:v>
                </c:pt>
                <c:pt idx="1">
                  <c:v>Male</c:v>
                </c:pt>
                <c:pt idx="2">
                  <c:v>Female</c:v>
                </c:pt>
                <c:pt idx="3">
                  <c:v>FCT</c:v>
                </c:pt>
                <c:pt idx="4">
                  <c:v>Bauchi</c:v>
                </c:pt>
                <c:pt idx="5">
                  <c:v>Kano</c:v>
                </c:pt>
                <c:pt idx="6">
                  <c:v>Enugu</c:v>
                </c:pt>
                <c:pt idx="7">
                  <c:v>Edo</c:v>
                </c:pt>
                <c:pt idx="8">
                  <c:v>Lagos</c:v>
                </c:pt>
                <c:pt idx="9">
                  <c:v>Urban</c:v>
                </c:pt>
                <c:pt idx="10">
                  <c:v>Rural</c:v>
                </c:pt>
              </c:strCache>
            </c:strRef>
          </c:cat>
          <c:val>
            <c:numRef>
              <c:f>Sheet1!$C$2:$C$12</c:f>
              <c:numCache>
                <c:formatCode>0%</c:formatCode>
                <c:ptCount val="11"/>
                <c:pt idx="0">
                  <c:v>0.52</c:v>
                </c:pt>
                <c:pt idx="1">
                  <c:v>0.51</c:v>
                </c:pt>
                <c:pt idx="2">
                  <c:v>0.53</c:v>
                </c:pt>
                <c:pt idx="3">
                  <c:v>0.55000000000000004</c:v>
                </c:pt>
                <c:pt idx="4">
                  <c:v>0.74</c:v>
                </c:pt>
                <c:pt idx="5">
                  <c:v>0.48</c:v>
                </c:pt>
                <c:pt idx="6">
                  <c:v>0.38</c:v>
                </c:pt>
                <c:pt idx="7">
                  <c:v>0.59</c:v>
                </c:pt>
                <c:pt idx="8">
                  <c:v>0.42</c:v>
                </c:pt>
                <c:pt idx="9">
                  <c:v>0.48</c:v>
                </c:pt>
                <c:pt idx="10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398A-4D4C-9AAF-B6FFED8251B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Economic empowerment programs to support female candidates</c:v>
                </c:pt>
              </c:strCache>
            </c:strRef>
          </c:tx>
          <c:spPr>
            <a:solidFill>
              <a:srgbClr val="0060FF"/>
            </a:solidFill>
            <a:ln w="6350">
              <a:solidFill>
                <a:srgbClr val="FFFFFF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Sheet1!$A$2:$A$12</c:f>
              <c:strCache>
                <c:ptCount val="11"/>
                <c:pt idx="0">
                  <c:v>Total</c:v>
                </c:pt>
                <c:pt idx="1">
                  <c:v>Male</c:v>
                </c:pt>
                <c:pt idx="2">
                  <c:v>Female</c:v>
                </c:pt>
                <c:pt idx="3">
                  <c:v>FCT</c:v>
                </c:pt>
                <c:pt idx="4">
                  <c:v>Bauchi</c:v>
                </c:pt>
                <c:pt idx="5">
                  <c:v>Kano</c:v>
                </c:pt>
                <c:pt idx="6">
                  <c:v>Enugu</c:v>
                </c:pt>
                <c:pt idx="7">
                  <c:v>Edo</c:v>
                </c:pt>
                <c:pt idx="8">
                  <c:v>Lagos</c:v>
                </c:pt>
                <c:pt idx="9">
                  <c:v>Urban</c:v>
                </c:pt>
                <c:pt idx="10">
                  <c:v>Rural</c:v>
                </c:pt>
              </c:strCache>
            </c:strRef>
          </c:cat>
          <c:val>
            <c:numRef>
              <c:f>Sheet1!$D$2:$D$12</c:f>
              <c:numCache>
                <c:formatCode>0%</c:formatCode>
                <c:ptCount val="11"/>
                <c:pt idx="0">
                  <c:v>0.51</c:v>
                </c:pt>
                <c:pt idx="1">
                  <c:v>0.53</c:v>
                </c:pt>
                <c:pt idx="2">
                  <c:v>0.5</c:v>
                </c:pt>
                <c:pt idx="3">
                  <c:v>0.52</c:v>
                </c:pt>
                <c:pt idx="4">
                  <c:v>0.84</c:v>
                </c:pt>
                <c:pt idx="5">
                  <c:v>0.6</c:v>
                </c:pt>
                <c:pt idx="6">
                  <c:v>0.26</c:v>
                </c:pt>
                <c:pt idx="7">
                  <c:v>0.42</c:v>
                </c:pt>
                <c:pt idx="8">
                  <c:v>0.35</c:v>
                </c:pt>
                <c:pt idx="9">
                  <c:v>0.47</c:v>
                </c:pt>
                <c:pt idx="10">
                  <c:v>0.59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398A-4D4C-9AAF-B6FFED8251B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Legal reforms to ensure equal political participation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Sheet1!$A$2:$A$12</c:f>
              <c:strCache>
                <c:ptCount val="11"/>
                <c:pt idx="0">
                  <c:v>Total</c:v>
                </c:pt>
                <c:pt idx="1">
                  <c:v>Male</c:v>
                </c:pt>
                <c:pt idx="2">
                  <c:v>Female</c:v>
                </c:pt>
                <c:pt idx="3">
                  <c:v>FCT</c:v>
                </c:pt>
                <c:pt idx="4">
                  <c:v>Bauchi</c:v>
                </c:pt>
                <c:pt idx="5">
                  <c:v>Kano</c:v>
                </c:pt>
                <c:pt idx="6">
                  <c:v>Enugu</c:v>
                </c:pt>
                <c:pt idx="7">
                  <c:v>Edo</c:v>
                </c:pt>
                <c:pt idx="8">
                  <c:v>Lagos</c:v>
                </c:pt>
                <c:pt idx="9">
                  <c:v>Urban</c:v>
                </c:pt>
                <c:pt idx="10">
                  <c:v>Rural</c:v>
                </c:pt>
              </c:strCache>
            </c:strRef>
          </c:cat>
          <c:val>
            <c:numRef>
              <c:f>Sheet1!$E$2:$E$12</c:f>
              <c:numCache>
                <c:formatCode>0%</c:formatCode>
                <c:ptCount val="11"/>
                <c:pt idx="0">
                  <c:v>0.35</c:v>
                </c:pt>
                <c:pt idx="1">
                  <c:v>0.36</c:v>
                </c:pt>
                <c:pt idx="2">
                  <c:v>0.34</c:v>
                </c:pt>
                <c:pt idx="3">
                  <c:v>0.65</c:v>
                </c:pt>
                <c:pt idx="4">
                  <c:v>0.1</c:v>
                </c:pt>
                <c:pt idx="5">
                  <c:v>0.13</c:v>
                </c:pt>
                <c:pt idx="6">
                  <c:v>0.57999999999999996</c:v>
                </c:pt>
                <c:pt idx="7">
                  <c:v>0.42</c:v>
                </c:pt>
                <c:pt idx="8">
                  <c:v>0.43</c:v>
                </c:pt>
                <c:pt idx="9">
                  <c:v>0.33</c:v>
                </c:pt>
                <c:pt idx="10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398A-4D4C-9AAF-B6FFED8251B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50"/>
        <c:overlap val="-50"/>
        <c:axId val="351810248"/>
        <c:axId val="351810640"/>
      </c:barChart>
      <c:catAx>
        <c:axId val="3518102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351810640"/>
        <c:crosses val="autoZero"/>
        <c:auto val="1"/>
        <c:lblAlgn val="ctr"/>
        <c:lblOffset val="100"/>
        <c:noMultiLvlLbl val="0"/>
      </c:catAx>
      <c:valAx>
        <c:axId val="351810640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3518102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1.2112985139694719E-2"/>
          <c:y val="2.7226249364303862E-3"/>
          <c:w val="0.98677434932721408"/>
          <c:h val="0.17146641505526625"/>
        </c:manualLayout>
      </c:layout>
      <c:overlay val="0"/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333333"/>
          </a:solidFill>
          <a:latin typeface="+mn-lt"/>
        </a:defRPr>
      </a:pPr>
      <a:endParaRPr lang="en-US"/>
    </a:p>
  </c:txPr>
  <c:externalData r:id="rId2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DF77-90AD-42B6-8E2B-1D68BEC1FF1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F3F6F-C218-4224-879A-BADED4594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762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DF77-90AD-42B6-8E2B-1D68BEC1FF1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F3F6F-C218-4224-879A-BADED4594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353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DF77-90AD-42B6-8E2B-1D68BEC1FF1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F3F6F-C218-4224-879A-BADED4594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668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DF77-90AD-42B6-8E2B-1D68BEC1FF1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F3F6F-C218-4224-879A-BADED4594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905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DF77-90AD-42B6-8E2B-1D68BEC1FF1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F3F6F-C218-4224-879A-BADED4594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866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DF77-90AD-42B6-8E2B-1D68BEC1FF1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F3F6F-C218-4224-879A-BADED4594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981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DF77-90AD-42B6-8E2B-1D68BEC1FF1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F3F6F-C218-4224-879A-BADED4594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819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DF77-90AD-42B6-8E2B-1D68BEC1FF1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F3F6F-C218-4224-879A-BADED4594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238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DF77-90AD-42B6-8E2B-1D68BEC1FF1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F3F6F-C218-4224-879A-BADED4594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65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DF77-90AD-42B6-8E2B-1D68BEC1FF1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F3F6F-C218-4224-879A-BADED4594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942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DF77-90AD-42B6-8E2B-1D68BEC1FF1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F3F6F-C218-4224-879A-BADED4594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751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347E771-EB9F-4EB8-2EA9-A987D8CFAD87}"/>
              </a:ext>
            </a:extLst>
          </p:cNvPr>
          <p:cNvCxnSpPr/>
          <p:nvPr userDrawn="1"/>
        </p:nvCxnSpPr>
        <p:spPr>
          <a:xfrm>
            <a:off x="0" y="6087291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AC7338-2D9C-CC2E-67E8-BC0F7780F8B7}"/>
              </a:ext>
            </a:extLst>
          </p:cNvPr>
          <p:cNvCxnSpPr>
            <a:cxnSpLocks/>
          </p:cNvCxnSpPr>
          <p:nvPr userDrawn="1"/>
        </p:nvCxnSpPr>
        <p:spPr>
          <a:xfrm>
            <a:off x="655950" y="6234099"/>
            <a:ext cx="0" cy="4076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1794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DF77-90AD-42B6-8E2B-1D68BEC1FF1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2F3F6F-C218-4224-879A-BADED4594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228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58F015C-7888-47FF-94E1-AAFD2FF0A6F9}"/>
              </a:ext>
            </a:extLst>
          </p:cNvPr>
          <p:cNvSpPr/>
          <p:nvPr/>
        </p:nvSpPr>
        <p:spPr>
          <a:xfrm>
            <a:off x="1099930" y="2093843"/>
            <a:ext cx="119270" cy="2186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Arial Unicode MS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6930B5-D1D4-4B84-B5E9-75FAB6A02795}"/>
              </a:ext>
            </a:extLst>
          </p:cNvPr>
          <p:cNvSpPr txBox="1"/>
          <p:nvPr/>
        </p:nvSpPr>
        <p:spPr>
          <a:xfrm>
            <a:off x="1219200" y="2769701"/>
            <a:ext cx="32335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 Antiqua" panose="02040602050305030304" pitchFamily="18" charset="0"/>
                <a:ea typeface="Arial Unicode MS"/>
                <a:cs typeface="+mn-cs"/>
              </a:rPr>
              <a:t>Introduction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54A76E-BEA5-C0B8-DE40-62735FA7D360}"/>
              </a:ext>
            </a:extLst>
          </p:cNvPr>
          <p:cNvSpPr/>
          <p:nvPr/>
        </p:nvSpPr>
        <p:spPr>
          <a:xfrm>
            <a:off x="12953" y="-152956"/>
            <a:ext cx="12192000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2F3758-F0F1-F337-BD5D-6C7273D21C89}"/>
              </a:ext>
            </a:extLst>
          </p:cNvPr>
          <p:cNvSpPr/>
          <p:nvPr/>
        </p:nvSpPr>
        <p:spPr>
          <a:xfrm>
            <a:off x="1764546" y="2336307"/>
            <a:ext cx="119270" cy="2186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Arial Unicode MS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D82129-3E60-46C5-CCA2-CF985EF1F19B}"/>
              </a:ext>
            </a:extLst>
          </p:cNvPr>
          <p:cNvSpPr txBox="1"/>
          <p:nvPr/>
        </p:nvSpPr>
        <p:spPr>
          <a:xfrm>
            <a:off x="271668" y="2392017"/>
            <a:ext cx="21574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Book Antiqua" panose="02040602050305030304" pitchFamily="18" charset="0"/>
                <a:ea typeface="Arial Unicode MS"/>
                <a:cs typeface="+mn-cs"/>
              </a:rPr>
              <a:t>10</a:t>
            </a:r>
            <a:endParaRPr kumimoji="0" lang="en-US" sz="96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Book Antiqua" panose="02040602050305030304" pitchFamily="18" charset="0"/>
              <a:ea typeface="Arial Unicode MS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2E45AF-1059-6CBD-D3DA-7061C5289790}"/>
              </a:ext>
            </a:extLst>
          </p:cNvPr>
          <p:cNvSpPr txBox="1"/>
          <p:nvPr/>
        </p:nvSpPr>
        <p:spPr>
          <a:xfrm>
            <a:off x="1899374" y="2922101"/>
            <a:ext cx="32335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 smtClean="0">
                <a:solidFill>
                  <a:prstClr val="white"/>
                </a:solidFill>
                <a:latin typeface="Book Antiqua" panose="02040602050305030304" pitchFamily="18" charset="0"/>
                <a:ea typeface="Arial Unicode MS"/>
              </a:rPr>
              <a:t>Women in Leadership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Arial Unicode M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7225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F5642B-83A0-CD7B-E2BA-8E492D002397}"/>
              </a:ext>
            </a:extLst>
          </p:cNvPr>
          <p:cNvSpPr txBox="1"/>
          <p:nvPr/>
        </p:nvSpPr>
        <p:spPr>
          <a:xfrm>
            <a:off x="312991" y="119838"/>
            <a:ext cx="56056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000" b="1" dirty="0">
                <a:solidFill>
                  <a:prstClr val="black"/>
                </a:solidFill>
                <a:latin typeface="Book Antiqua" panose="02040602050305030304" pitchFamily="18" charset="0"/>
                <a:ea typeface="Arial Unicode MS"/>
              </a:rPr>
              <a:t>Key Section Highlights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049F7E-35CE-4670-8378-19404ED66C7E}"/>
              </a:ext>
            </a:extLst>
          </p:cNvPr>
          <p:cNvSpPr txBox="1"/>
          <p:nvPr/>
        </p:nvSpPr>
        <p:spPr>
          <a:xfrm>
            <a:off x="265111" y="609600"/>
            <a:ext cx="8455144" cy="58939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1600" b="1" dirty="0" smtClean="0">
                <a:solidFill>
                  <a:srgbClr val="002060"/>
                </a:solidFill>
              </a:rPr>
              <a:t>Women’s </a:t>
            </a:r>
            <a:r>
              <a:rPr lang="en-US" sz="1600" b="1" dirty="0">
                <a:solidFill>
                  <a:srgbClr val="002060"/>
                </a:solidFill>
              </a:rPr>
              <a:t>challenges in leadership:</a:t>
            </a:r>
            <a:r>
              <a:rPr lang="en-US" sz="1600" dirty="0">
                <a:solidFill>
                  <a:srgbClr val="002060"/>
                </a:solidFill>
              </a:rPr>
              <a:t> Most of the people (55%), especially in Bauchi (71%), believed that women face significantly more challenges in leadership than men. A significant proportion in Enugu (31%) believed that men and women face similar challenges in leadership.</a:t>
            </a:r>
          </a:p>
          <a:p>
            <a:pPr algn="just">
              <a:spcAft>
                <a:spcPts val="600"/>
              </a:spcAft>
            </a:pPr>
            <a:r>
              <a:rPr lang="en-US" sz="1600" b="1" dirty="0">
                <a:solidFill>
                  <a:srgbClr val="002060"/>
                </a:solidFill>
              </a:rPr>
              <a:t>Barriers to women’s advancement in leadership roles:</a:t>
            </a:r>
            <a:r>
              <a:rPr lang="en-US" sz="1600" dirty="0">
                <a:solidFill>
                  <a:srgbClr val="002060"/>
                </a:solidFill>
              </a:rPr>
              <a:t> Perceived barriers preventing women from advancing into leadership roles are cultural and societal norms limiting women's political engagement (34%) and gender bias and discrimination in leadership selection (28%). Others include lack of political and financial support for female candidates (14%) and gender Abuse, such as harassment (13%).</a:t>
            </a:r>
          </a:p>
          <a:p>
            <a:pPr algn="just">
              <a:spcAft>
                <a:spcPts val="600"/>
              </a:spcAft>
            </a:pPr>
            <a:r>
              <a:rPr lang="en-US" sz="1600" b="1" dirty="0">
                <a:solidFill>
                  <a:srgbClr val="002060"/>
                </a:solidFill>
              </a:rPr>
              <a:t>Policies to promote women’s leadership:</a:t>
            </a:r>
            <a:r>
              <a:rPr lang="en-US" sz="1600" dirty="0">
                <a:solidFill>
                  <a:srgbClr val="002060"/>
                </a:solidFill>
              </a:rPr>
              <a:t> Overall, 70% would support policies that actively promote women’s leadership. Close to half (45%) in Enugu suggest that leadership should be based solely on merit without gender-based policies.</a:t>
            </a:r>
          </a:p>
          <a:p>
            <a:pPr algn="just">
              <a:spcAft>
                <a:spcPts val="600"/>
              </a:spcAft>
            </a:pPr>
            <a:r>
              <a:rPr lang="en-US" sz="1600" b="1" dirty="0">
                <a:solidFill>
                  <a:srgbClr val="002060"/>
                </a:solidFill>
              </a:rPr>
              <a:t>Women in leadership in governance:</a:t>
            </a:r>
            <a:r>
              <a:rPr lang="en-US" sz="1600" dirty="0">
                <a:solidFill>
                  <a:srgbClr val="002060"/>
                </a:solidFill>
              </a:rPr>
              <a:t> Having more women in leadership in governance is believed to improve governance by increasing diversity and inclusivity, as mentioned by 55% respondents. However, about one-third each in FCT and Kano believed that it could negatively impact governance if not based on merit.</a:t>
            </a:r>
            <a:endParaRPr lang="en-US" sz="1600" b="1" dirty="0">
              <a:solidFill>
                <a:srgbClr val="002060"/>
              </a:solidFill>
            </a:endParaRPr>
          </a:p>
          <a:p>
            <a:pPr algn="just">
              <a:spcAft>
                <a:spcPts val="600"/>
              </a:spcAft>
            </a:pPr>
            <a:r>
              <a:rPr lang="en-US" sz="1600" b="1" dirty="0">
                <a:solidFill>
                  <a:srgbClr val="002060"/>
                </a:solidFill>
              </a:rPr>
              <a:t>Women leaders’ media coverage:</a:t>
            </a:r>
            <a:r>
              <a:rPr lang="en-US" sz="1600" dirty="0">
                <a:solidFill>
                  <a:srgbClr val="002060"/>
                </a:solidFill>
              </a:rPr>
              <a:t> Overall, 44% believed that women leaders receive equal and fair media coverage, while 44%, especially in Bauchi (68%), also believed that women leaders face more scrutiny and negative stereotypes.</a:t>
            </a:r>
          </a:p>
          <a:p>
            <a:pPr algn="just">
              <a:spcAft>
                <a:spcPts val="600"/>
              </a:spcAft>
            </a:pPr>
            <a:r>
              <a:rPr lang="en-US" sz="1600" b="1" dirty="0">
                <a:solidFill>
                  <a:srgbClr val="002060"/>
                </a:solidFill>
              </a:rPr>
              <a:t>Strategies to increase women’s leadership participation:</a:t>
            </a:r>
            <a:r>
              <a:rPr lang="en-US" sz="1600" dirty="0">
                <a:solidFill>
                  <a:srgbClr val="002060"/>
                </a:solidFill>
              </a:rPr>
              <a:t> Suggested effective strategies include public awareness campaigns to change gender perceptions (59%), leadership training and mentorship for women (52%), economic empowerment programs for female candidates (51%), and Legal reforms for equal political participation (35%).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F90E93-6D7A-4676-8D0E-F64DA0EC7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3704" y="609600"/>
            <a:ext cx="3438296" cy="521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209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766E826-311A-9A1F-A6A0-AE81500AC62E}"/>
              </a:ext>
            </a:extLst>
          </p:cNvPr>
          <p:cNvSpPr txBox="1"/>
          <p:nvPr/>
        </p:nvSpPr>
        <p:spPr>
          <a:xfrm>
            <a:off x="832513" y="6171744"/>
            <a:ext cx="106452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  <a:latin typeface="Book Antiqua" panose="02040602050305030304" pitchFamily="18" charset="0"/>
              </a:rPr>
              <a:t>Q49. Do you believe women face more challenges in leadership compared to men?</a:t>
            </a:r>
            <a:endParaRPr lang="en-US" sz="1000" dirty="0">
              <a:latin typeface="Book Antiqua" panose="0204060205030503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F5642B-83A0-CD7B-E2BA-8E492D002397}"/>
              </a:ext>
            </a:extLst>
          </p:cNvPr>
          <p:cNvSpPr txBox="1"/>
          <p:nvPr/>
        </p:nvSpPr>
        <p:spPr>
          <a:xfrm>
            <a:off x="312990" y="119838"/>
            <a:ext cx="86191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000" b="1" dirty="0">
                <a:solidFill>
                  <a:prstClr val="black"/>
                </a:solidFill>
                <a:latin typeface="Book Antiqua" panose="02040602050305030304" pitchFamily="18" charset="0"/>
                <a:ea typeface="Arial Unicode MS"/>
              </a:rPr>
              <a:t>Comparing Women and Men challenges in leadership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 panose="02040602050305030304" pitchFamily="18" charset="0"/>
              <a:ea typeface="Arial Unicode MS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EE3164-36BE-1169-158F-AC5F91216B94}"/>
              </a:ext>
            </a:extLst>
          </p:cNvPr>
          <p:cNvSpPr txBox="1"/>
          <p:nvPr/>
        </p:nvSpPr>
        <p:spPr>
          <a:xfrm>
            <a:off x="331302" y="675740"/>
            <a:ext cx="11714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Book Antiqua" panose="02040602050305030304" pitchFamily="18" charset="0"/>
                <a:ea typeface="Arial Unicode MS"/>
                <a:cs typeface="+mn-cs"/>
              </a:rPr>
              <a:t>Most of the people (55%), especially in Bauchi (71%) believed that women face significantly more challenges in leadership more than men. A significant proportion in Enugu (31%) believed that men and women face similar challenges in leadership.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37185882-AD21-4D95-BD3C-7EAEACA184AD}"/>
              </a:ext>
            </a:extLst>
          </p:cNvPr>
          <p:cNvGraphicFramePr/>
          <p:nvPr>
            <p:extLst/>
          </p:nvPr>
        </p:nvGraphicFramePr>
        <p:xfrm>
          <a:off x="379413" y="2073913"/>
          <a:ext cx="11435200" cy="38324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984E0B6-13BB-4F21-9374-0EBD0BED7F1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921621" y="5830759"/>
          <a:ext cx="8776009" cy="2534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7819">
                  <a:extLst>
                    <a:ext uri="{9D8B030D-6E8A-4147-A177-3AD203B41FA5}">
                      <a16:colId xmlns:a16="http://schemas.microsoft.com/office/drawing/2014/main" val="2379250083"/>
                    </a:ext>
                  </a:extLst>
                </a:gridCol>
                <a:gridCol w="797819">
                  <a:extLst>
                    <a:ext uri="{9D8B030D-6E8A-4147-A177-3AD203B41FA5}">
                      <a16:colId xmlns:a16="http://schemas.microsoft.com/office/drawing/2014/main" val="3707767684"/>
                    </a:ext>
                  </a:extLst>
                </a:gridCol>
                <a:gridCol w="797819">
                  <a:extLst>
                    <a:ext uri="{9D8B030D-6E8A-4147-A177-3AD203B41FA5}">
                      <a16:colId xmlns:a16="http://schemas.microsoft.com/office/drawing/2014/main" val="2497172989"/>
                    </a:ext>
                  </a:extLst>
                </a:gridCol>
                <a:gridCol w="797819">
                  <a:extLst>
                    <a:ext uri="{9D8B030D-6E8A-4147-A177-3AD203B41FA5}">
                      <a16:colId xmlns:a16="http://schemas.microsoft.com/office/drawing/2014/main" val="848469032"/>
                    </a:ext>
                  </a:extLst>
                </a:gridCol>
                <a:gridCol w="797819">
                  <a:extLst>
                    <a:ext uri="{9D8B030D-6E8A-4147-A177-3AD203B41FA5}">
                      <a16:colId xmlns:a16="http://schemas.microsoft.com/office/drawing/2014/main" val="2303936815"/>
                    </a:ext>
                  </a:extLst>
                </a:gridCol>
                <a:gridCol w="797819">
                  <a:extLst>
                    <a:ext uri="{9D8B030D-6E8A-4147-A177-3AD203B41FA5}">
                      <a16:colId xmlns:a16="http://schemas.microsoft.com/office/drawing/2014/main" val="460349122"/>
                    </a:ext>
                  </a:extLst>
                </a:gridCol>
                <a:gridCol w="797819">
                  <a:extLst>
                    <a:ext uri="{9D8B030D-6E8A-4147-A177-3AD203B41FA5}">
                      <a16:colId xmlns:a16="http://schemas.microsoft.com/office/drawing/2014/main" val="704838673"/>
                    </a:ext>
                  </a:extLst>
                </a:gridCol>
                <a:gridCol w="797819">
                  <a:extLst>
                    <a:ext uri="{9D8B030D-6E8A-4147-A177-3AD203B41FA5}">
                      <a16:colId xmlns:a16="http://schemas.microsoft.com/office/drawing/2014/main" val="2575188808"/>
                    </a:ext>
                  </a:extLst>
                </a:gridCol>
                <a:gridCol w="797819">
                  <a:extLst>
                    <a:ext uri="{9D8B030D-6E8A-4147-A177-3AD203B41FA5}">
                      <a16:colId xmlns:a16="http://schemas.microsoft.com/office/drawing/2014/main" val="2501854814"/>
                    </a:ext>
                  </a:extLst>
                </a:gridCol>
                <a:gridCol w="797819">
                  <a:extLst>
                    <a:ext uri="{9D8B030D-6E8A-4147-A177-3AD203B41FA5}">
                      <a16:colId xmlns:a16="http://schemas.microsoft.com/office/drawing/2014/main" val="2179463999"/>
                    </a:ext>
                  </a:extLst>
                </a:gridCol>
                <a:gridCol w="797819">
                  <a:extLst>
                    <a:ext uri="{9D8B030D-6E8A-4147-A177-3AD203B41FA5}">
                      <a16:colId xmlns:a16="http://schemas.microsoft.com/office/drawing/2014/main" val="1997916844"/>
                    </a:ext>
                  </a:extLst>
                </a:gridCol>
              </a:tblGrid>
              <a:tr h="253484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1456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681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775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170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290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284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210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158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344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937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519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280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6655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766E826-311A-9A1F-A6A0-AE81500AC62E}"/>
              </a:ext>
            </a:extLst>
          </p:cNvPr>
          <p:cNvSpPr txBox="1"/>
          <p:nvPr/>
        </p:nvSpPr>
        <p:spPr>
          <a:xfrm>
            <a:off x="832513" y="6171744"/>
            <a:ext cx="106452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  <a:latin typeface="Book Antiqua" panose="02040602050305030304" pitchFamily="18" charset="0"/>
              </a:rPr>
              <a:t>Q50. What is the biggest barrier preventing women from advancing into leadership roles?</a:t>
            </a:r>
            <a:endParaRPr lang="en-US" sz="1000" dirty="0">
              <a:latin typeface="Book Antiqua" panose="0204060205030503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F5642B-83A0-CD7B-E2BA-8E492D002397}"/>
              </a:ext>
            </a:extLst>
          </p:cNvPr>
          <p:cNvSpPr txBox="1"/>
          <p:nvPr/>
        </p:nvSpPr>
        <p:spPr>
          <a:xfrm>
            <a:off x="312990" y="119838"/>
            <a:ext cx="86191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000" b="1" dirty="0">
                <a:solidFill>
                  <a:prstClr val="black"/>
                </a:solidFill>
                <a:latin typeface="Book Antiqua" panose="02040602050305030304" pitchFamily="18" charset="0"/>
                <a:ea typeface="Arial Unicode MS"/>
              </a:rPr>
              <a:t>Barriers preventing women from advancing into leadership roles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 panose="02040602050305030304" pitchFamily="18" charset="0"/>
              <a:ea typeface="Arial Unicode MS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EE3164-36BE-1169-158F-AC5F91216B94}"/>
              </a:ext>
            </a:extLst>
          </p:cNvPr>
          <p:cNvSpPr txBox="1"/>
          <p:nvPr/>
        </p:nvSpPr>
        <p:spPr>
          <a:xfrm>
            <a:off x="331302" y="675740"/>
            <a:ext cx="1171492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400" b="1" dirty="0">
                <a:solidFill>
                  <a:srgbClr val="0070C0"/>
                </a:solidFill>
                <a:latin typeface="Book Antiqua" panose="02040602050305030304" pitchFamily="18" charset="0"/>
                <a:ea typeface="Arial Unicode MS"/>
              </a:rPr>
              <a:t>Perceived barriers preventing women from advancing into leadership roles are cultural and societal norms limiting women's political engagement (34%) and gender bias and discrimination in leadership selection (28%). Others include lack of political and financial support for female candidates (14%) and gender Abuse, such as harassment (13%).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F90D2156-8571-44C8-9EC7-938FF15D699E}"/>
              </a:ext>
            </a:extLst>
          </p:cNvPr>
          <p:cNvGraphicFramePr/>
          <p:nvPr>
            <p:custDataLst>
              <p:tags r:id="rId1"/>
            </p:custDataLst>
            <p:extLst/>
          </p:nvPr>
        </p:nvGraphicFramePr>
        <p:xfrm>
          <a:off x="391161" y="1592982"/>
          <a:ext cx="11414032" cy="40369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20651D-F259-4994-BE92-52F9E51B10EE}"/>
              </a:ext>
            </a:extLst>
          </p:cNvPr>
          <p:cNvGraphicFramePr>
            <a:graphicFrameLocks noGrp="1"/>
          </p:cNvGraphicFramePr>
          <p:nvPr/>
        </p:nvGraphicFramePr>
        <p:xfrm>
          <a:off x="391160" y="5786155"/>
          <a:ext cx="11414029" cy="2534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7639">
                  <a:extLst>
                    <a:ext uri="{9D8B030D-6E8A-4147-A177-3AD203B41FA5}">
                      <a16:colId xmlns:a16="http://schemas.microsoft.com/office/drawing/2014/main" val="2379250083"/>
                    </a:ext>
                  </a:extLst>
                </a:gridCol>
                <a:gridCol w="1037639">
                  <a:extLst>
                    <a:ext uri="{9D8B030D-6E8A-4147-A177-3AD203B41FA5}">
                      <a16:colId xmlns:a16="http://schemas.microsoft.com/office/drawing/2014/main" val="3707767684"/>
                    </a:ext>
                  </a:extLst>
                </a:gridCol>
                <a:gridCol w="1037639">
                  <a:extLst>
                    <a:ext uri="{9D8B030D-6E8A-4147-A177-3AD203B41FA5}">
                      <a16:colId xmlns:a16="http://schemas.microsoft.com/office/drawing/2014/main" val="2497172989"/>
                    </a:ext>
                  </a:extLst>
                </a:gridCol>
                <a:gridCol w="1037639">
                  <a:extLst>
                    <a:ext uri="{9D8B030D-6E8A-4147-A177-3AD203B41FA5}">
                      <a16:colId xmlns:a16="http://schemas.microsoft.com/office/drawing/2014/main" val="848469032"/>
                    </a:ext>
                  </a:extLst>
                </a:gridCol>
                <a:gridCol w="1037639">
                  <a:extLst>
                    <a:ext uri="{9D8B030D-6E8A-4147-A177-3AD203B41FA5}">
                      <a16:colId xmlns:a16="http://schemas.microsoft.com/office/drawing/2014/main" val="2303936815"/>
                    </a:ext>
                  </a:extLst>
                </a:gridCol>
                <a:gridCol w="1037639">
                  <a:extLst>
                    <a:ext uri="{9D8B030D-6E8A-4147-A177-3AD203B41FA5}">
                      <a16:colId xmlns:a16="http://schemas.microsoft.com/office/drawing/2014/main" val="460349122"/>
                    </a:ext>
                  </a:extLst>
                </a:gridCol>
                <a:gridCol w="1037639">
                  <a:extLst>
                    <a:ext uri="{9D8B030D-6E8A-4147-A177-3AD203B41FA5}">
                      <a16:colId xmlns:a16="http://schemas.microsoft.com/office/drawing/2014/main" val="704838673"/>
                    </a:ext>
                  </a:extLst>
                </a:gridCol>
                <a:gridCol w="1037639">
                  <a:extLst>
                    <a:ext uri="{9D8B030D-6E8A-4147-A177-3AD203B41FA5}">
                      <a16:colId xmlns:a16="http://schemas.microsoft.com/office/drawing/2014/main" val="2575188808"/>
                    </a:ext>
                  </a:extLst>
                </a:gridCol>
                <a:gridCol w="1037639">
                  <a:extLst>
                    <a:ext uri="{9D8B030D-6E8A-4147-A177-3AD203B41FA5}">
                      <a16:colId xmlns:a16="http://schemas.microsoft.com/office/drawing/2014/main" val="2501854814"/>
                    </a:ext>
                  </a:extLst>
                </a:gridCol>
                <a:gridCol w="1037639">
                  <a:extLst>
                    <a:ext uri="{9D8B030D-6E8A-4147-A177-3AD203B41FA5}">
                      <a16:colId xmlns:a16="http://schemas.microsoft.com/office/drawing/2014/main" val="2179463999"/>
                    </a:ext>
                  </a:extLst>
                </a:gridCol>
                <a:gridCol w="1037639">
                  <a:extLst>
                    <a:ext uri="{9D8B030D-6E8A-4147-A177-3AD203B41FA5}">
                      <a16:colId xmlns:a16="http://schemas.microsoft.com/office/drawing/2014/main" val="1997916844"/>
                    </a:ext>
                  </a:extLst>
                </a:gridCol>
              </a:tblGrid>
              <a:tr h="253484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1456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681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775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170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290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284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210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158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344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937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519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280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4629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766E826-311A-9A1F-A6A0-AE81500AC62E}"/>
              </a:ext>
            </a:extLst>
          </p:cNvPr>
          <p:cNvSpPr txBox="1"/>
          <p:nvPr/>
        </p:nvSpPr>
        <p:spPr>
          <a:xfrm>
            <a:off x="832513" y="6171744"/>
            <a:ext cx="106452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  <a:latin typeface="Book Antiqua" panose="02040602050305030304" pitchFamily="18" charset="0"/>
              </a:rPr>
              <a:t>Q51. Would you support policies that actively promote women’s leadership?</a:t>
            </a:r>
            <a:endParaRPr lang="en-US" sz="1000" dirty="0">
              <a:latin typeface="Book Antiqua" panose="0204060205030503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F5642B-83A0-CD7B-E2BA-8E492D002397}"/>
              </a:ext>
            </a:extLst>
          </p:cNvPr>
          <p:cNvSpPr txBox="1"/>
          <p:nvPr/>
        </p:nvSpPr>
        <p:spPr>
          <a:xfrm>
            <a:off x="312990" y="119838"/>
            <a:ext cx="813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000" b="1" dirty="0">
                <a:solidFill>
                  <a:srgbClr val="000000"/>
                </a:solidFill>
                <a:latin typeface="Book Antiqua" panose="02040602050305030304" pitchFamily="18" charset="0"/>
              </a:rPr>
              <a:t>Support for policies that actively promote women’s leadership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 panose="02040602050305030304" pitchFamily="18" charset="0"/>
              <a:ea typeface="Arial Unicode MS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EE3164-36BE-1169-158F-AC5F91216B94}"/>
              </a:ext>
            </a:extLst>
          </p:cNvPr>
          <p:cNvSpPr txBox="1"/>
          <p:nvPr/>
        </p:nvSpPr>
        <p:spPr>
          <a:xfrm>
            <a:off x="331302" y="675740"/>
            <a:ext cx="11714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400" b="1" dirty="0">
                <a:solidFill>
                  <a:srgbClr val="0070C0"/>
                </a:solidFill>
                <a:latin typeface="Book Antiqua" panose="02040602050305030304" pitchFamily="18" charset="0"/>
                <a:ea typeface="Arial Unicode MS"/>
              </a:rPr>
              <a:t>Overall, 70% would support policies that actively promote women’s leadership. However, 45% said no in Enugu, suggesting that leadership should be based solely on merit without gender-based policies.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8FE322D5-99B6-487C-B2DD-8D56D25FF0AD}"/>
              </a:ext>
            </a:extLst>
          </p:cNvPr>
          <p:cNvGraphicFramePr/>
          <p:nvPr>
            <p:extLst/>
          </p:nvPr>
        </p:nvGraphicFramePr>
        <p:xfrm>
          <a:off x="679269" y="1514700"/>
          <a:ext cx="11051813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52544F1-8E00-474D-A528-2EBD7D2F903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564779" y="5652343"/>
          <a:ext cx="8999034" cy="2534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8094">
                  <a:extLst>
                    <a:ext uri="{9D8B030D-6E8A-4147-A177-3AD203B41FA5}">
                      <a16:colId xmlns:a16="http://schemas.microsoft.com/office/drawing/2014/main" val="2379250083"/>
                    </a:ext>
                  </a:extLst>
                </a:gridCol>
                <a:gridCol w="818094">
                  <a:extLst>
                    <a:ext uri="{9D8B030D-6E8A-4147-A177-3AD203B41FA5}">
                      <a16:colId xmlns:a16="http://schemas.microsoft.com/office/drawing/2014/main" val="3707767684"/>
                    </a:ext>
                  </a:extLst>
                </a:gridCol>
                <a:gridCol w="818094">
                  <a:extLst>
                    <a:ext uri="{9D8B030D-6E8A-4147-A177-3AD203B41FA5}">
                      <a16:colId xmlns:a16="http://schemas.microsoft.com/office/drawing/2014/main" val="2497172989"/>
                    </a:ext>
                  </a:extLst>
                </a:gridCol>
                <a:gridCol w="818094">
                  <a:extLst>
                    <a:ext uri="{9D8B030D-6E8A-4147-A177-3AD203B41FA5}">
                      <a16:colId xmlns:a16="http://schemas.microsoft.com/office/drawing/2014/main" val="848469032"/>
                    </a:ext>
                  </a:extLst>
                </a:gridCol>
                <a:gridCol w="818094">
                  <a:extLst>
                    <a:ext uri="{9D8B030D-6E8A-4147-A177-3AD203B41FA5}">
                      <a16:colId xmlns:a16="http://schemas.microsoft.com/office/drawing/2014/main" val="2303936815"/>
                    </a:ext>
                  </a:extLst>
                </a:gridCol>
                <a:gridCol w="818094">
                  <a:extLst>
                    <a:ext uri="{9D8B030D-6E8A-4147-A177-3AD203B41FA5}">
                      <a16:colId xmlns:a16="http://schemas.microsoft.com/office/drawing/2014/main" val="460349122"/>
                    </a:ext>
                  </a:extLst>
                </a:gridCol>
                <a:gridCol w="818094">
                  <a:extLst>
                    <a:ext uri="{9D8B030D-6E8A-4147-A177-3AD203B41FA5}">
                      <a16:colId xmlns:a16="http://schemas.microsoft.com/office/drawing/2014/main" val="704838673"/>
                    </a:ext>
                  </a:extLst>
                </a:gridCol>
                <a:gridCol w="818094">
                  <a:extLst>
                    <a:ext uri="{9D8B030D-6E8A-4147-A177-3AD203B41FA5}">
                      <a16:colId xmlns:a16="http://schemas.microsoft.com/office/drawing/2014/main" val="2575188808"/>
                    </a:ext>
                  </a:extLst>
                </a:gridCol>
                <a:gridCol w="818094">
                  <a:extLst>
                    <a:ext uri="{9D8B030D-6E8A-4147-A177-3AD203B41FA5}">
                      <a16:colId xmlns:a16="http://schemas.microsoft.com/office/drawing/2014/main" val="2501854814"/>
                    </a:ext>
                  </a:extLst>
                </a:gridCol>
                <a:gridCol w="818094">
                  <a:extLst>
                    <a:ext uri="{9D8B030D-6E8A-4147-A177-3AD203B41FA5}">
                      <a16:colId xmlns:a16="http://schemas.microsoft.com/office/drawing/2014/main" val="2179463999"/>
                    </a:ext>
                  </a:extLst>
                </a:gridCol>
                <a:gridCol w="818094">
                  <a:extLst>
                    <a:ext uri="{9D8B030D-6E8A-4147-A177-3AD203B41FA5}">
                      <a16:colId xmlns:a16="http://schemas.microsoft.com/office/drawing/2014/main" val="1997916844"/>
                    </a:ext>
                  </a:extLst>
                </a:gridCol>
              </a:tblGrid>
              <a:tr h="253484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1456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681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775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170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290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284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210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158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344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937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519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280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5793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766E826-311A-9A1F-A6A0-AE81500AC62E}"/>
              </a:ext>
            </a:extLst>
          </p:cNvPr>
          <p:cNvSpPr txBox="1"/>
          <p:nvPr/>
        </p:nvSpPr>
        <p:spPr>
          <a:xfrm>
            <a:off x="832513" y="6171744"/>
            <a:ext cx="106452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  <a:latin typeface="Book Antiqua" panose="02040602050305030304" pitchFamily="18" charset="0"/>
              </a:rPr>
              <a:t>Q52. In your opinion, how does having more women in leadership impact governance?</a:t>
            </a:r>
            <a:endParaRPr lang="en-US" sz="1000" dirty="0">
              <a:latin typeface="Book Antiqua" panose="0204060205030503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F5642B-83A0-CD7B-E2BA-8E492D002397}"/>
              </a:ext>
            </a:extLst>
          </p:cNvPr>
          <p:cNvSpPr txBox="1"/>
          <p:nvPr/>
        </p:nvSpPr>
        <p:spPr>
          <a:xfrm>
            <a:off x="312990" y="119838"/>
            <a:ext cx="86191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000" b="1" dirty="0">
                <a:solidFill>
                  <a:prstClr val="black"/>
                </a:solidFill>
                <a:latin typeface="Book Antiqua" panose="02040602050305030304" pitchFamily="18" charset="0"/>
                <a:ea typeface="Arial Unicode MS"/>
              </a:rPr>
              <a:t>Impact of more women in leadership in governance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 panose="02040602050305030304" pitchFamily="18" charset="0"/>
              <a:ea typeface="Arial Unicode MS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EE3164-36BE-1169-158F-AC5F91216B94}"/>
              </a:ext>
            </a:extLst>
          </p:cNvPr>
          <p:cNvSpPr txBox="1"/>
          <p:nvPr/>
        </p:nvSpPr>
        <p:spPr>
          <a:xfrm>
            <a:off x="331302" y="675740"/>
            <a:ext cx="11714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Book Antiqua" panose="02040602050305030304" pitchFamily="18" charset="0"/>
                <a:ea typeface="Arial Unicode MS"/>
                <a:cs typeface="+mn-cs"/>
              </a:rPr>
              <a:t>Overall, 55% believed that having more women in leadership in governance would </a:t>
            </a:r>
            <a:r>
              <a:rPr lang="en-US" sz="1400" b="1" dirty="0">
                <a:solidFill>
                  <a:srgbClr val="0070C0"/>
                </a:solidFill>
                <a:latin typeface="Book Antiqua" panose="02040602050305030304" pitchFamily="18" charset="0"/>
                <a:ea typeface="Arial Unicode MS"/>
              </a:rPr>
              <a:t>improve governance by increasing diversity and inclusivity. However, 32% and 33% respectively in FCT and Kano believed that it could negatively impact governance if not based on merit.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37185882-AD21-4D95-BD3C-7EAEACA184AD}"/>
              </a:ext>
            </a:extLst>
          </p:cNvPr>
          <p:cNvGraphicFramePr/>
          <p:nvPr>
            <p:extLst/>
          </p:nvPr>
        </p:nvGraphicFramePr>
        <p:xfrm>
          <a:off x="379413" y="2073913"/>
          <a:ext cx="11435200" cy="38324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984E0B6-13BB-4F21-9374-0EBD0BED7F11}"/>
              </a:ext>
            </a:extLst>
          </p:cNvPr>
          <p:cNvGraphicFramePr>
            <a:graphicFrameLocks noGrp="1"/>
          </p:cNvGraphicFramePr>
          <p:nvPr/>
        </p:nvGraphicFramePr>
        <p:xfrm>
          <a:off x="2921621" y="5830759"/>
          <a:ext cx="8776009" cy="2534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7819">
                  <a:extLst>
                    <a:ext uri="{9D8B030D-6E8A-4147-A177-3AD203B41FA5}">
                      <a16:colId xmlns:a16="http://schemas.microsoft.com/office/drawing/2014/main" val="2379250083"/>
                    </a:ext>
                  </a:extLst>
                </a:gridCol>
                <a:gridCol w="797819">
                  <a:extLst>
                    <a:ext uri="{9D8B030D-6E8A-4147-A177-3AD203B41FA5}">
                      <a16:colId xmlns:a16="http://schemas.microsoft.com/office/drawing/2014/main" val="3707767684"/>
                    </a:ext>
                  </a:extLst>
                </a:gridCol>
                <a:gridCol w="797819">
                  <a:extLst>
                    <a:ext uri="{9D8B030D-6E8A-4147-A177-3AD203B41FA5}">
                      <a16:colId xmlns:a16="http://schemas.microsoft.com/office/drawing/2014/main" val="2497172989"/>
                    </a:ext>
                  </a:extLst>
                </a:gridCol>
                <a:gridCol w="797819">
                  <a:extLst>
                    <a:ext uri="{9D8B030D-6E8A-4147-A177-3AD203B41FA5}">
                      <a16:colId xmlns:a16="http://schemas.microsoft.com/office/drawing/2014/main" val="848469032"/>
                    </a:ext>
                  </a:extLst>
                </a:gridCol>
                <a:gridCol w="797819">
                  <a:extLst>
                    <a:ext uri="{9D8B030D-6E8A-4147-A177-3AD203B41FA5}">
                      <a16:colId xmlns:a16="http://schemas.microsoft.com/office/drawing/2014/main" val="2303936815"/>
                    </a:ext>
                  </a:extLst>
                </a:gridCol>
                <a:gridCol w="797819">
                  <a:extLst>
                    <a:ext uri="{9D8B030D-6E8A-4147-A177-3AD203B41FA5}">
                      <a16:colId xmlns:a16="http://schemas.microsoft.com/office/drawing/2014/main" val="460349122"/>
                    </a:ext>
                  </a:extLst>
                </a:gridCol>
                <a:gridCol w="797819">
                  <a:extLst>
                    <a:ext uri="{9D8B030D-6E8A-4147-A177-3AD203B41FA5}">
                      <a16:colId xmlns:a16="http://schemas.microsoft.com/office/drawing/2014/main" val="704838673"/>
                    </a:ext>
                  </a:extLst>
                </a:gridCol>
                <a:gridCol w="797819">
                  <a:extLst>
                    <a:ext uri="{9D8B030D-6E8A-4147-A177-3AD203B41FA5}">
                      <a16:colId xmlns:a16="http://schemas.microsoft.com/office/drawing/2014/main" val="2575188808"/>
                    </a:ext>
                  </a:extLst>
                </a:gridCol>
                <a:gridCol w="797819">
                  <a:extLst>
                    <a:ext uri="{9D8B030D-6E8A-4147-A177-3AD203B41FA5}">
                      <a16:colId xmlns:a16="http://schemas.microsoft.com/office/drawing/2014/main" val="2501854814"/>
                    </a:ext>
                  </a:extLst>
                </a:gridCol>
                <a:gridCol w="797819">
                  <a:extLst>
                    <a:ext uri="{9D8B030D-6E8A-4147-A177-3AD203B41FA5}">
                      <a16:colId xmlns:a16="http://schemas.microsoft.com/office/drawing/2014/main" val="2179463999"/>
                    </a:ext>
                  </a:extLst>
                </a:gridCol>
                <a:gridCol w="797819">
                  <a:extLst>
                    <a:ext uri="{9D8B030D-6E8A-4147-A177-3AD203B41FA5}">
                      <a16:colId xmlns:a16="http://schemas.microsoft.com/office/drawing/2014/main" val="1997916844"/>
                    </a:ext>
                  </a:extLst>
                </a:gridCol>
              </a:tblGrid>
              <a:tr h="253484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1456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681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775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170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290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284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210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158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344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937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519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280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6261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766E826-311A-9A1F-A6A0-AE81500AC62E}"/>
              </a:ext>
            </a:extLst>
          </p:cNvPr>
          <p:cNvSpPr txBox="1"/>
          <p:nvPr/>
        </p:nvSpPr>
        <p:spPr>
          <a:xfrm>
            <a:off x="832513" y="6171744"/>
            <a:ext cx="106452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  <a:latin typeface="Book Antiqua" panose="02040602050305030304" pitchFamily="18" charset="0"/>
              </a:rPr>
              <a:t>Q53. Do you think the media fairly represents women in leadership</a:t>
            </a:r>
            <a:endParaRPr lang="en-US" sz="1000" dirty="0">
              <a:latin typeface="Book Antiqua" panose="0204060205030503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F5642B-83A0-CD7B-E2BA-8E492D002397}"/>
              </a:ext>
            </a:extLst>
          </p:cNvPr>
          <p:cNvSpPr txBox="1"/>
          <p:nvPr/>
        </p:nvSpPr>
        <p:spPr>
          <a:xfrm>
            <a:off x="312990" y="119838"/>
            <a:ext cx="813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000" b="1" dirty="0">
                <a:solidFill>
                  <a:srgbClr val="000000"/>
                </a:solidFill>
                <a:latin typeface="Book Antiqua" panose="02040602050305030304" pitchFamily="18" charset="0"/>
              </a:rPr>
              <a:t>The media fairness of women’s representation in leadership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 panose="02040602050305030304" pitchFamily="18" charset="0"/>
              <a:ea typeface="Arial Unicode MS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3691" y="3592286"/>
            <a:ext cx="535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EE3164-36BE-1169-158F-AC5F91216B94}"/>
              </a:ext>
            </a:extLst>
          </p:cNvPr>
          <p:cNvSpPr txBox="1"/>
          <p:nvPr/>
        </p:nvSpPr>
        <p:spPr>
          <a:xfrm>
            <a:off x="331302" y="675740"/>
            <a:ext cx="11714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400" b="1" dirty="0">
                <a:solidFill>
                  <a:srgbClr val="0070C0"/>
                </a:solidFill>
                <a:latin typeface="Book Antiqua" panose="02040602050305030304" pitchFamily="18" charset="0"/>
                <a:ea typeface="Arial Unicode MS"/>
              </a:rPr>
              <a:t>Overall, 44% believed that women leaders receive equal and fair media coverage, while 44%, especially in Bauchi (68%) also believed that women leaders face more scrutiny and negative stereotypes.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8FE322D5-99B6-487C-B2DD-8D56D25FF0AD}"/>
              </a:ext>
            </a:extLst>
          </p:cNvPr>
          <p:cNvGraphicFramePr/>
          <p:nvPr>
            <p:extLst/>
          </p:nvPr>
        </p:nvGraphicFramePr>
        <p:xfrm>
          <a:off x="679269" y="1514700"/>
          <a:ext cx="11051813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52544F1-8E00-474D-A528-2EBD7D2F9035}"/>
              </a:ext>
            </a:extLst>
          </p:cNvPr>
          <p:cNvGraphicFramePr>
            <a:graphicFrameLocks noGrp="1"/>
          </p:cNvGraphicFramePr>
          <p:nvPr/>
        </p:nvGraphicFramePr>
        <p:xfrm>
          <a:off x="2261099" y="5652343"/>
          <a:ext cx="9302722" cy="2534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5702">
                  <a:extLst>
                    <a:ext uri="{9D8B030D-6E8A-4147-A177-3AD203B41FA5}">
                      <a16:colId xmlns:a16="http://schemas.microsoft.com/office/drawing/2014/main" val="2379250083"/>
                    </a:ext>
                  </a:extLst>
                </a:gridCol>
                <a:gridCol w="845702">
                  <a:extLst>
                    <a:ext uri="{9D8B030D-6E8A-4147-A177-3AD203B41FA5}">
                      <a16:colId xmlns:a16="http://schemas.microsoft.com/office/drawing/2014/main" val="3707767684"/>
                    </a:ext>
                  </a:extLst>
                </a:gridCol>
                <a:gridCol w="845702">
                  <a:extLst>
                    <a:ext uri="{9D8B030D-6E8A-4147-A177-3AD203B41FA5}">
                      <a16:colId xmlns:a16="http://schemas.microsoft.com/office/drawing/2014/main" val="2497172989"/>
                    </a:ext>
                  </a:extLst>
                </a:gridCol>
                <a:gridCol w="845702">
                  <a:extLst>
                    <a:ext uri="{9D8B030D-6E8A-4147-A177-3AD203B41FA5}">
                      <a16:colId xmlns:a16="http://schemas.microsoft.com/office/drawing/2014/main" val="848469032"/>
                    </a:ext>
                  </a:extLst>
                </a:gridCol>
                <a:gridCol w="845702">
                  <a:extLst>
                    <a:ext uri="{9D8B030D-6E8A-4147-A177-3AD203B41FA5}">
                      <a16:colId xmlns:a16="http://schemas.microsoft.com/office/drawing/2014/main" val="2303936815"/>
                    </a:ext>
                  </a:extLst>
                </a:gridCol>
                <a:gridCol w="845702">
                  <a:extLst>
                    <a:ext uri="{9D8B030D-6E8A-4147-A177-3AD203B41FA5}">
                      <a16:colId xmlns:a16="http://schemas.microsoft.com/office/drawing/2014/main" val="460349122"/>
                    </a:ext>
                  </a:extLst>
                </a:gridCol>
                <a:gridCol w="845702">
                  <a:extLst>
                    <a:ext uri="{9D8B030D-6E8A-4147-A177-3AD203B41FA5}">
                      <a16:colId xmlns:a16="http://schemas.microsoft.com/office/drawing/2014/main" val="704838673"/>
                    </a:ext>
                  </a:extLst>
                </a:gridCol>
                <a:gridCol w="845702">
                  <a:extLst>
                    <a:ext uri="{9D8B030D-6E8A-4147-A177-3AD203B41FA5}">
                      <a16:colId xmlns:a16="http://schemas.microsoft.com/office/drawing/2014/main" val="2575188808"/>
                    </a:ext>
                  </a:extLst>
                </a:gridCol>
                <a:gridCol w="845702">
                  <a:extLst>
                    <a:ext uri="{9D8B030D-6E8A-4147-A177-3AD203B41FA5}">
                      <a16:colId xmlns:a16="http://schemas.microsoft.com/office/drawing/2014/main" val="2501854814"/>
                    </a:ext>
                  </a:extLst>
                </a:gridCol>
                <a:gridCol w="845702">
                  <a:extLst>
                    <a:ext uri="{9D8B030D-6E8A-4147-A177-3AD203B41FA5}">
                      <a16:colId xmlns:a16="http://schemas.microsoft.com/office/drawing/2014/main" val="2179463999"/>
                    </a:ext>
                  </a:extLst>
                </a:gridCol>
                <a:gridCol w="845702">
                  <a:extLst>
                    <a:ext uri="{9D8B030D-6E8A-4147-A177-3AD203B41FA5}">
                      <a16:colId xmlns:a16="http://schemas.microsoft.com/office/drawing/2014/main" val="1997916844"/>
                    </a:ext>
                  </a:extLst>
                </a:gridCol>
              </a:tblGrid>
              <a:tr h="253484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1456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681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775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170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290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284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210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158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344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937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519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280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2922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766E826-311A-9A1F-A6A0-AE81500AC62E}"/>
              </a:ext>
            </a:extLst>
          </p:cNvPr>
          <p:cNvSpPr txBox="1"/>
          <p:nvPr/>
        </p:nvSpPr>
        <p:spPr>
          <a:xfrm>
            <a:off x="832513" y="6171744"/>
            <a:ext cx="106452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  <a:latin typeface="Book Antiqua" panose="02040602050305030304" pitchFamily="18" charset="0"/>
              </a:rPr>
              <a:t>Q54. What strategies would be most effective in increasing women’s leadership participation?</a:t>
            </a:r>
            <a:endParaRPr lang="en-US" sz="1000" dirty="0">
              <a:latin typeface="Book Antiqua" panose="0204060205030503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F5642B-83A0-CD7B-E2BA-8E492D002397}"/>
              </a:ext>
            </a:extLst>
          </p:cNvPr>
          <p:cNvSpPr txBox="1"/>
          <p:nvPr/>
        </p:nvSpPr>
        <p:spPr>
          <a:xfrm>
            <a:off x="312990" y="119838"/>
            <a:ext cx="86191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000" b="1" dirty="0">
                <a:solidFill>
                  <a:prstClr val="black"/>
                </a:solidFill>
                <a:latin typeface="Book Antiqua" panose="02040602050305030304" pitchFamily="18" charset="0"/>
                <a:ea typeface="Arial Unicode MS"/>
              </a:rPr>
              <a:t>Effective strategies to increase women’s leadership participation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 panose="02040602050305030304" pitchFamily="18" charset="0"/>
              <a:ea typeface="Arial Unicode MS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EE3164-36BE-1169-158F-AC5F91216B94}"/>
              </a:ext>
            </a:extLst>
          </p:cNvPr>
          <p:cNvSpPr txBox="1"/>
          <p:nvPr/>
        </p:nvSpPr>
        <p:spPr>
          <a:xfrm>
            <a:off x="331302" y="675740"/>
            <a:ext cx="1171492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sz="1400" b="1" dirty="0">
                <a:solidFill>
                  <a:srgbClr val="0070C0"/>
                </a:solidFill>
                <a:latin typeface="Book Antiqua" panose="02040602050305030304" pitchFamily="18" charset="0"/>
                <a:ea typeface="Arial Unicode MS"/>
              </a:rPr>
              <a:t>Suggested effective strategies to increase women’s leadership participation are public awareness campaigns to change gender perceptions (59%), leadership training and mentorship for women (52%), economic empowerment programs to support female candidates (51%), and Legal reforms to ensure equal political participation (35%).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F90D2156-8571-44C8-9EC7-938FF15D699E}"/>
              </a:ext>
            </a:extLst>
          </p:cNvPr>
          <p:cNvGraphicFramePr/>
          <p:nvPr>
            <p:custDataLst>
              <p:tags r:id="rId1"/>
            </p:custDataLst>
            <p:extLst/>
          </p:nvPr>
        </p:nvGraphicFramePr>
        <p:xfrm>
          <a:off x="391161" y="1592982"/>
          <a:ext cx="11414032" cy="40369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20651D-F259-4994-BE92-52F9E51B10EE}"/>
              </a:ext>
            </a:extLst>
          </p:cNvPr>
          <p:cNvGraphicFramePr>
            <a:graphicFrameLocks noGrp="1"/>
          </p:cNvGraphicFramePr>
          <p:nvPr/>
        </p:nvGraphicFramePr>
        <p:xfrm>
          <a:off x="391160" y="5786155"/>
          <a:ext cx="11414029" cy="2534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7639">
                  <a:extLst>
                    <a:ext uri="{9D8B030D-6E8A-4147-A177-3AD203B41FA5}">
                      <a16:colId xmlns:a16="http://schemas.microsoft.com/office/drawing/2014/main" val="2379250083"/>
                    </a:ext>
                  </a:extLst>
                </a:gridCol>
                <a:gridCol w="1037639">
                  <a:extLst>
                    <a:ext uri="{9D8B030D-6E8A-4147-A177-3AD203B41FA5}">
                      <a16:colId xmlns:a16="http://schemas.microsoft.com/office/drawing/2014/main" val="3707767684"/>
                    </a:ext>
                  </a:extLst>
                </a:gridCol>
                <a:gridCol w="1037639">
                  <a:extLst>
                    <a:ext uri="{9D8B030D-6E8A-4147-A177-3AD203B41FA5}">
                      <a16:colId xmlns:a16="http://schemas.microsoft.com/office/drawing/2014/main" val="2497172989"/>
                    </a:ext>
                  </a:extLst>
                </a:gridCol>
                <a:gridCol w="1037639">
                  <a:extLst>
                    <a:ext uri="{9D8B030D-6E8A-4147-A177-3AD203B41FA5}">
                      <a16:colId xmlns:a16="http://schemas.microsoft.com/office/drawing/2014/main" val="848469032"/>
                    </a:ext>
                  </a:extLst>
                </a:gridCol>
                <a:gridCol w="1037639">
                  <a:extLst>
                    <a:ext uri="{9D8B030D-6E8A-4147-A177-3AD203B41FA5}">
                      <a16:colId xmlns:a16="http://schemas.microsoft.com/office/drawing/2014/main" val="2303936815"/>
                    </a:ext>
                  </a:extLst>
                </a:gridCol>
                <a:gridCol w="1037639">
                  <a:extLst>
                    <a:ext uri="{9D8B030D-6E8A-4147-A177-3AD203B41FA5}">
                      <a16:colId xmlns:a16="http://schemas.microsoft.com/office/drawing/2014/main" val="460349122"/>
                    </a:ext>
                  </a:extLst>
                </a:gridCol>
                <a:gridCol w="1037639">
                  <a:extLst>
                    <a:ext uri="{9D8B030D-6E8A-4147-A177-3AD203B41FA5}">
                      <a16:colId xmlns:a16="http://schemas.microsoft.com/office/drawing/2014/main" val="704838673"/>
                    </a:ext>
                  </a:extLst>
                </a:gridCol>
                <a:gridCol w="1037639">
                  <a:extLst>
                    <a:ext uri="{9D8B030D-6E8A-4147-A177-3AD203B41FA5}">
                      <a16:colId xmlns:a16="http://schemas.microsoft.com/office/drawing/2014/main" val="2575188808"/>
                    </a:ext>
                  </a:extLst>
                </a:gridCol>
                <a:gridCol w="1037639">
                  <a:extLst>
                    <a:ext uri="{9D8B030D-6E8A-4147-A177-3AD203B41FA5}">
                      <a16:colId xmlns:a16="http://schemas.microsoft.com/office/drawing/2014/main" val="2501854814"/>
                    </a:ext>
                  </a:extLst>
                </a:gridCol>
                <a:gridCol w="1037639">
                  <a:extLst>
                    <a:ext uri="{9D8B030D-6E8A-4147-A177-3AD203B41FA5}">
                      <a16:colId xmlns:a16="http://schemas.microsoft.com/office/drawing/2014/main" val="2179463999"/>
                    </a:ext>
                  </a:extLst>
                </a:gridCol>
                <a:gridCol w="1037639">
                  <a:extLst>
                    <a:ext uri="{9D8B030D-6E8A-4147-A177-3AD203B41FA5}">
                      <a16:colId xmlns:a16="http://schemas.microsoft.com/office/drawing/2014/main" val="1997916844"/>
                    </a:ext>
                  </a:extLst>
                </a:gridCol>
              </a:tblGrid>
              <a:tr h="253484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1456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681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775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170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290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284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210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158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344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937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519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280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15057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MAGEDIMENSIONPROPERTIES" val="{&quot;height&quot;:&quot;317.8672&quot;,&quot;width&quot;:&quot;898.7427&quot;,&quot;top&quot;:&quot;135.09&quot;,&quot;left&quot;:&quot;30.80008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MAGEDIMENSIONPROPERTIES" val="{&quot;height&quot;:&quot;317.8672&quot;,&quot;width&quot;:&quot;898.7427&quot;,&quot;top&quot;:&quot;135.09&quot;,&quot;left&quot;:&quot;30.80008&quot;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MTN 8">
    <a:dk1>
      <a:srgbClr val="000000"/>
    </a:dk1>
    <a:lt1>
      <a:srgbClr val="FFFFFF"/>
    </a:lt1>
    <a:dk2>
      <a:srgbClr val="E6E6E6"/>
    </a:dk2>
    <a:lt2>
      <a:srgbClr val="969696"/>
    </a:lt2>
    <a:accent1>
      <a:srgbClr val="FFCB05"/>
    </a:accent1>
    <a:accent2>
      <a:srgbClr val="5A1E59"/>
    </a:accent2>
    <a:accent3>
      <a:srgbClr val="F5821D"/>
    </a:accent3>
    <a:accent4>
      <a:srgbClr val="0E6886"/>
    </a:accent4>
    <a:accent5>
      <a:srgbClr val="D72578"/>
    </a:accent5>
    <a:accent6>
      <a:srgbClr val="0EAF4B"/>
    </a:accent6>
    <a:hlink>
      <a:srgbClr val="0000FF"/>
    </a:hlink>
    <a:folHlink>
      <a:srgbClr val="FF00FF"/>
    </a:folHlink>
  </a:clrScheme>
  <a:fontScheme name="Office Theme">
    <a:majorFont>
      <a:latin typeface="Helvetica"/>
      <a:ea typeface="Helvetica"/>
      <a:cs typeface="Helvetica"/>
    </a:majorFont>
    <a:minorFont>
      <a:latin typeface="Calibri"/>
      <a:ea typeface="Calibri"/>
      <a:cs typeface="Calibri"/>
    </a:minorFont>
  </a:fontScheme>
  <a:fmtScheme name="Office Them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29999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4999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/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MTN 8">
    <a:dk1>
      <a:srgbClr val="000000"/>
    </a:dk1>
    <a:lt1>
      <a:srgbClr val="FFFFFF"/>
    </a:lt1>
    <a:dk2>
      <a:srgbClr val="E6E6E6"/>
    </a:dk2>
    <a:lt2>
      <a:srgbClr val="969696"/>
    </a:lt2>
    <a:accent1>
      <a:srgbClr val="FFCB05"/>
    </a:accent1>
    <a:accent2>
      <a:srgbClr val="5A1E59"/>
    </a:accent2>
    <a:accent3>
      <a:srgbClr val="F5821D"/>
    </a:accent3>
    <a:accent4>
      <a:srgbClr val="0E6886"/>
    </a:accent4>
    <a:accent5>
      <a:srgbClr val="D72578"/>
    </a:accent5>
    <a:accent6>
      <a:srgbClr val="0EAF4B"/>
    </a:accent6>
    <a:hlink>
      <a:srgbClr val="0000FF"/>
    </a:hlink>
    <a:folHlink>
      <a:srgbClr val="FF00FF"/>
    </a:folHlink>
  </a:clrScheme>
  <a:fontScheme name="Office Theme">
    <a:majorFont>
      <a:latin typeface="Helvetica"/>
      <a:ea typeface="Helvetica"/>
      <a:cs typeface="Helvetica"/>
    </a:majorFont>
    <a:minorFont>
      <a:latin typeface="Calibri"/>
      <a:ea typeface="Calibri"/>
      <a:cs typeface="Calibri"/>
    </a:minorFont>
  </a:fontScheme>
  <a:fmtScheme name="Office Them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29999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4999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/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MTN 8">
    <a:dk1>
      <a:srgbClr val="000000"/>
    </a:dk1>
    <a:lt1>
      <a:srgbClr val="FFFFFF"/>
    </a:lt1>
    <a:dk2>
      <a:srgbClr val="E6E6E6"/>
    </a:dk2>
    <a:lt2>
      <a:srgbClr val="969696"/>
    </a:lt2>
    <a:accent1>
      <a:srgbClr val="FFCB05"/>
    </a:accent1>
    <a:accent2>
      <a:srgbClr val="5A1E59"/>
    </a:accent2>
    <a:accent3>
      <a:srgbClr val="F5821D"/>
    </a:accent3>
    <a:accent4>
      <a:srgbClr val="0E6886"/>
    </a:accent4>
    <a:accent5>
      <a:srgbClr val="D72578"/>
    </a:accent5>
    <a:accent6>
      <a:srgbClr val="0EAF4B"/>
    </a:accent6>
    <a:hlink>
      <a:srgbClr val="0000FF"/>
    </a:hlink>
    <a:folHlink>
      <a:srgbClr val="FF00FF"/>
    </a:folHlink>
  </a:clrScheme>
  <a:fontScheme name="Office Theme">
    <a:majorFont>
      <a:latin typeface="Helvetica"/>
      <a:ea typeface="Helvetica"/>
      <a:cs typeface="Helvetica"/>
    </a:majorFont>
    <a:minorFont>
      <a:latin typeface="Calibri"/>
      <a:ea typeface="Calibri"/>
      <a:cs typeface="Calibri"/>
    </a:minorFont>
  </a:fontScheme>
  <a:fmtScheme name="Office Them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29999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4999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/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MTN 8">
    <a:dk1>
      <a:srgbClr val="000000"/>
    </a:dk1>
    <a:lt1>
      <a:srgbClr val="FFFFFF"/>
    </a:lt1>
    <a:dk2>
      <a:srgbClr val="E6E6E6"/>
    </a:dk2>
    <a:lt2>
      <a:srgbClr val="969696"/>
    </a:lt2>
    <a:accent1>
      <a:srgbClr val="FFCB05"/>
    </a:accent1>
    <a:accent2>
      <a:srgbClr val="5A1E59"/>
    </a:accent2>
    <a:accent3>
      <a:srgbClr val="F5821D"/>
    </a:accent3>
    <a:accent4>
      <a:srgbClr val="0E6886"/>
    </a:accent4>
    <a:accent5>
      <a:srgbClr val="D72578"/>
    </a:accent5>
    <a:accent6>
      <a:srgbClr val="0EAF4B"/>
    </a:accent6>
    <a:hlink>
      <a:srgbClr val="0000FF"/>
    </a:hlink>
    <a:folHlink>
      <a:srgbClr val="FF00FF"/>
    </a:folHlink>
  </a:clrScheme>
  <a:fontScheme name="Office Theme">
    <a:majorFont>
      <a:latin typeface="Helvetica"/>
      <a:ea typeface="Helvetica"/>
      <a:cs typeface="Helvetica"/>
    </a:majorFont>
    <a:minorFont>
      <a:latin typeface="Calibri"/>
      <a:ea typeface="Calibri"/>
      <a:cs typeface="Calibri"/>
    </a:minorFont>
  </a:fontScheme>
  <a:fmtScheme name="Office Them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29999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4999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/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770</Words>
  <Application>Microsoft Office PowerPoint</Application>
  <PresentationFormat>Widescreen</PresentationFormat>
  <Paragraphs>95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Unicode MS</vt:lpstr>
      <vt:lpstr>Book Antiqua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PSI</dc:creator>
  <cp:lastModifiedBy>PSI</cp:lastModifiedBy>
  <cp:revision>3</cp:revision>
  <dcterms:created xsi:type="dcterms:W3CDTF">2025-07-28T09:49:25Z</dcterms:created>
  <dcterms:modified xsi:type="dcterms:W3CDTF">2025-07-28T10:42:49Z</dcterms:modified>
</cp:coreProperties>
</file>