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993091506925981"/>
          <c:y val="3.6452182408077613E-2"/>
          <c:w val="0.81785242059605434"/>
          <c:h val="0.855925684515624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Presidency</c:v>
                </c:pt>
              </c:strCache>
            </c:strRef>
          </c:tx>
          <c:spPr>
            <a:solidFill>
              <a:srgbClr val="70AD47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Sheet1!$B$2:$B$12</c:f>
              <c:numCache>
                <c:formatCode>0%</c:formatCode>
                <c:ptCount val="11"/>
                <c:pt idx="0">
                  <c:v>0.68</c:v>
                </c:pt>
                <c:pt idx="1">
                  <c:v>0.65</c:v>
                </c:pt>
                <c:pt idx="2">
                  <c:v>0.7</c:v>
                </c:pt>
                <c:pt idx="3">
                  <c:v>0.79</c:v>
                </c:pt>
                <c:pt idx="4">
                  <c:v>0.59</c:v>
                </c:pt>
                <c:pt idx="5">
                  <c:v>0.77</c:v>
                </c:pt>
                <c:pt idx="6">
                  <c:v>0.73</c:v>
                </c:pt>
                <c:pt idx="7">
                  <c:v>0.99</c:v>
                </c:pt>
                <c:pt idx="8">
                  <c:v>0.42</c:v>
                </c:pt>
                <c:pt idx="9">
                  <c:v>0.66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B-427B-A9D0-3B6923B9E7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State Governors</c:v>
                </c:pt>
              </c:strCache>
            </c:strRef>
          </c:tx>
          <c:spPr>
            <a:solidFill>
              <a:srgbClr val="44546A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0.08</c:v>
                </c:pt>
                <c:pt idx="1">
                  <c:v>0.09</c:v>
                </c:pt>
                <c:pt idx="2">
                  <c:v>0.08</c:v>
                </c:pt>
                <c:pt idx="3">
                  <c:v>0.01</c:v>
                </c:pt>
                <c:pt idx="4">
                  <c:v>0.04</c:v>
                </c:pt>
                <c:pt idx="5">
                  <c:v>0.03</c:v>
                </c:pt>
                <c:pt idx="6">
                  <c:v>0.21</c:v>
                </c:pt>
                <c:pt idx="7">
                  <c:v>0.01</c:v>
                </c:pt>
                <c:pt idx="8">
                  <c:v>0.14000000000000001</c:v>
                </c:pt>
                <c:pt idx="9">
                  <c:v>0.08</c:v>
                </c:pt>
                <c:pt idx="1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B-427B-A9D0-3B6923B9E7E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National Assembly (Senators &amp; Representatives)</c:v>
                </c:pt>
              </c:strCache>
            </c:strRef>
          </c:tx>
          <c:spPr>
            <a:solidFill>
              <a:srgbClr val="ED7D31">
                <a:lumMod val="60000"/>
                <a:lumOff val="4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Sheet1!$D$2:$D$12</c:f>
              <c:numCache>
                <c:formatCode>0%</c:formatCode>
                <c:ptCount val="11"/>
                <c:pt idx="0">
                  <c:v>0.16</c:v>
                </c:pt>
                <c:pt idx="1">
                  <c:v>0.17</c:v>
                </c:pt>
                <c:pt idx="2">
                  <c:v>0.14000000000000001</c:v>
                </c:pt>
                <c:pt idx="3">
                  <c:v>0.15</c:v>
                </c:pt>
                <c:pt idx="4">
                  <c:v>0.2</c:v>
                </c:pt>
                <c:pt idx="5">
                  <c:v>0.15</c:v>
                </c:pt>
                <c:pt idx="6">
                  <c:v>0.05</c:v>
                </c:pt>
                <c:pt idx="7">
                  <c:v>0</c:v>
                </c:pt>
                <c:pt idx="8">
                  <c:v>0.26</c:v>
                </c:pt>
                <c:pt idx="9">
                  <c:v>0.16</c:v>
                </c:pt>
                <c:pt idx="1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1B-427B-A9D0-3B6923B9E7E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Local Government</c:v>
                </c:pt>
              </c:strCache>
            </c:strRef>
          </c:tx>
          <c:spPr>
            <a:solidFill>
              <a:schemeClr val="accent2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Total</c:v>
                </c:pt>
                <c:pt idx="1">
                  <c:v>Male</c:v>
                </c:pt>
                <c:pt idx="2">
                  <c:v>Female</c:v>
                </c:pt>
                <c:pt idx="3">
                  <c:v>FCT</c:v>
                </c:pt>
                <c:pt idx="4">
                  <c:v>Bauchi</c:v>
                </c:pt>
                <c:pt idx="5">
                  <c:v>Kano</c:v>
                </c:pt>
                <c:pt idx="6">
                  <c:v>Enugu</c:v>
                </c:pt>
                <c:pt idx="7">
                  <c:v>Edo</c:v>
                </c:pt>
                <c:pt idx="8">
                  <c:v>Lagos</c:v>
                </c:pt>
                <c:pt idx="9">
                  <c:v>Urban</c:v>
                </c:pt>
                <c:pt idx="10">
                  <c:v>Rural</c:v>
                </c:pt>
              </c:strCache>
            </c:strRef>
          </c:cat>
          <c:val>
            <c:numRef>
              <c:f>Sheet1!$E$2:$E$12</c:f>
              <c:numCache>
                <c:formatCode>0%</c:formatCode>
                <c:ptCount val="11"/>
                <c:pt idx="0">
                  <c:v>0.09</c:v>
                </c:pt>
                <c:pt idx="1">
                  <c:v>0.09</c:v>
                </c:pt>
                <c:pt idx="2">
                  <c:v>0.09</c:v>
                </c:pt>
                <c:pt idx="3">
                  <c:v>0.05</c:v>
                </c:pt>
                <c:pt idx="4">
                  <c:v>0.16</c:v>
                </c:pt>
                <c:pt idx="5">
                  <c:v>0.05</c:v>
                </c:pt>
                <c:pt idx="6">
                  <c:v>0</c:v>
                </c:pt>
                <c:pt idx="7">
                  <c:v>0</c:v>
                </c:pt>
                <c:pt idx="8">
                  <c:v>0.18</c:v>
                </c:pt>
                <c:pt idx="9">
                  <c:v>0.1</c:v>
                </c:pt>
                <c:pt idx="10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B1B-427B-A9D0-3B6923B9E7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826811951"/>
        <c:axId val="826794479"/>
      </c:barChart>
      <c:catAx>
        <c:axId val="826811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6794479"/>
        <c:crosses val="autoZero"/>
        <c:auto val="1"/>
        <c:lblAlgn val="ctr"/>
        <c:lblOffset val="100"/>
        <c:noMultiLvlLbl val="0"/>
      </c:catAx>
      <c:valAx>
        <c:axId val="826794479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8268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6.6636350916468448E-3"/>
          <c:y val="5.2593993427196555E-2"/>
          <c:w val="0.15221360360990624"/>
          <c:h val="0.844808260421806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bg1"/>
          </a:solidFill>
          <a:latin typeface="+mn-lt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4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50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0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0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5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67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8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4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4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5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27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347E771-EB9F-4EB8-2EA9-A987D8CFAD87}"/>
              </a:ext>
            </a:extLst>
          </p:cNvPr>
          <p:cNvCxnSpPr/>
          <p:nvPr userDrawn="1"/>
        </p:nvCxnSpPr>
        <p:spPr>
          <a:xfrm>
            <a:off x="0" y="6087291"/>
            <a:ext cx="1219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AC7338-2D9C-CC2E-67E8-BC0F7780F8B7}"/>
              </a:ext>
            </a:extLst>
          </p:cNvPr>
          <p:cNvCxnSpPr>
            <a:cxnSpLocks/>
          </p:cNvCxnSpPr>
          <p:nvPr userDrawn="1"/>
        </p:nvCxnSpPr>
        <p:spPr>
          <a:xfrm>
            <a:off x="655950" y="6234099"/>
            <a:ext cx="0" cy="407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12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90C54-C1EB-4E81-9455-C0ADFF4665FD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F58693-CA16-4C8D-B3CE-51B132495F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38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8F015C-7888-47FF-94E1-AAFD2FF0A6F9}"/>
              </a:ext>
            </a:extLst>
          </p:cNvPr>
          <p:cNvSpPr/>
          <p:nvPr/>
        </p:nvSpPr>
        <p:spPr>
          <a:xfrm>
            <a:off x="1099930" y="2093843"/>
            <a:ext cx="119270" cy="2186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930B5-D1D4-4B84-B5E9-75FAB6A02795}"/>
              </a:ext>
            </a:extLst>
          </p:cNvPr>
          <p:cNvSpPr txBox="1"/>
          <p:nvPr/>
        </p:nvSpPr>
        <p:spPr>
          <a:xfrm>
            <a:off x="1219200" y="2769701"/>
            <a:ext cx="32335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Introduction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4A76E-BEA5-C0B8-DE40-62735FA7D360}"/>
              </a:ext>
            </a:extLst>
          </p:cNvPr>
          <p:cNvSpPr/>
          <p:nvPr/>
        </p:nvSpPr>
        <p:spPr>
          <a:xfrm>
            <a:off x="6322" y="612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 Unicode MS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2F3758-F0F1-F337-BD5D-6C7273D21C89}"/>
              </a:ext>
            </a:extLst>
          </p:cNvPr>
          <p:cNvSpPr/>
          <p:nvPr/>
        </p:nvSpPr>
        <p:spPr>
          <a:xfrm>
            <a:off x="1252330" y="2246243"/>
            <a:ext cx="119270" cy="2186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D82129-3E60-46C5-CCA2-CF985EF1F19B}"/>
              </a:ext>
            </a:extLst>
          </p:cNvPr>
          <p:cNvSpPr txBox="1"/>
          <p:nvPr/>
        </p:nvSpPr>
        <p:spPr>
          <a:xfrm>
            <a:off x="271670" y="2392017"/>
            <a:ext cx="715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8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E45AF-1059-6CBD-D3DA-7061C5289790}"/>
              </a:ext>
            </a:extLst>
          </p:cNvPr>
          <p:cNvSpPr txBox="1"/>
          <p:nvPr/>
        </p:nvSpPr>
        <p:spPr>
          <a:xfrm>
            <a:off x="1371600" y="2922101"/>
            <a:ext cx="472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Future Leadership Expectations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159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86882" y="652836"/>
            <a:ext cx="5605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200" b="1" dirty="0">
                <a:solidFill>
                  <a:prstClr val="black"/>
                </a:solidFill>
                <a:latin typeface="Book Antiqua" panose="02040602050305030304" pitchFamily="18" charset="0"/>
                <a:ea typeface="Arial Unicode MS"/>
              </a:rPr>
              <a:t>Key Section Highlights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049F7E-35CE-4670-8378-19404ED66C7E}"/>
              </a:ext>
            </a:extLst>
          </p:cNvPr>
          <p:cNvSpPr txBox="1"/>
          <p:nvPr/>
        </p:nvSpPr>
        <p:spPr>
          <a:xfrm>
            <a:off x="298560" y="1496291"/>
            <a:ext cx="8455144" cy="21082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b="1" dirty="0">
                <a:solidFill>
                  <a:srgbClr val="002060"/>
                </a:solidFill>
              </a:rPr>
              <a:t>Reforms in Nigerian leadership selection:</a:t>
            </a:r>
            <a:r>
              <a:rPr lang="en-US" dirty="0">
                <a:solidFill>
                  <a:srgbClr val="002060"/>
                </a:solidFill>
              </a:rPr>
              <a:t> Election transparency (68%), better candidate screening (55%), improved public engagement (38%), INEC chairmanship selection criteria (38%), and Stricter accountability laws (36%) are key reforms people would like to see in Nigerian leadership selection.</a:t>
            </a:r>
          </a:p>
          <a:p>
            <a:pPr algn="just">
              <a:spcAft>
                <a:spcPts val="600"/>
              </a:spcAft>
            </a:pPr>
            <a:r>
              <a:rPr lang="en-US" b="1" dirty="0">
                <a:solidFill>
                  <a:srgbClr val="002060"/>
                </a:solidFill>
              </a:rPr>
              <a:t>Leadership level that needs the most improvement:</a:t>
            </a:r>
            <a:r>
              <a:rPr lang="en-US" dirty="0">
                <a:solidFill>
                  <a:srgbClr val="002060"/>
                </a:solidFill>
              </a:rPr>
              <a:t> As mentioned by 68%, the presidency is regarded as the level of leadership in Nigeria that needs the most improvement. This is particularly high in Edo (99%) and low in Lagos (42%).</a:t>
            </a: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90E93-6D7A-4676-8D0E-F64DA0EC7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704" y="609600"/>
            <a:ext cx="3438296" cy="521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5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Q40. What reforms would you like to see in Nigerian leadership selection?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1" y="119838"/>
            <a:ext cx="5605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Reforms in Leadership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61BC18-310F-2C12-2964-9D55F9ED287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4898" y="1486936"/>
          <a:ext cx="11273877" cy="4289390"/>
        </p:xfrm>
        <a:graphic>
          <a:graphicData uri="http://schemas.openxmlformats.org/drawingml/2006/table">
            <a:tbl>
              <a:tblPr>
                <a:tableStyleId>{5A111915-BE36-4E01-A7E5-04B1672EAD32}</a:tableStyleId>
              </a:tblPr>
              <a:tblGrid>
                <a:gridCol w="2374173">
                  <a:extLst>
                    <a:ext uri="{9D8B030D-6E8A-4147-A177-3AD203B41FA5}">
                      <a16:colId xmlns:a16="http://schemas.microsoft.com/office/drawing/2014/main" val="2939921072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240042294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1471018050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2631900519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3445961416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1157888105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542496135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2908582105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1141895410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2088834717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2450593191"/>
                    </a:ext>
                  </a:extLst>
                </a:gridCol>
                <a:gridCol w="809064">
                  <a:extLst>
                    <a:ext uri="{9D8B030D-6E8A-4147-A177-3AD203B41FA5}">
                      <a16:colId xmlns:a16="http://schemas.microsoft.com/office/drawing/2014/main" val="1571396105"/>
                    </a:ext>
                  </a:extLst>
                </a:gridCol>
              </a:tblGrid>
              <a:tr h="612770">
                <a:tc>
                  <a:txBody>
                    <a:bodyPr/>
                    <a:lstStyle/>
                    <a:p>
                      <a:pPr algn="ctr" fontAlgn="b"/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Female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FCT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Bauchi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Kano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Enugu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Edo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Lagos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Rural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205756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5218639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More transparency in elections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795074112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Better candidate screening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53%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26683108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Improved public engagement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39%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7245604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INEC chairmanship should be based on public votes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47%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82069644"/>
                  </a:ext>
                </a:extLst>
              </a:tr>
              <a:tr h="61277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Stricter accountability laws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36%</a:t>
                      </a:r>
                    </a:p>
                  </a:txBody>
                  <a:tcPr marL="9525" marR="9525" marT="9525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729973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AF01C8-F445-42ED-8AB9-B600F569D7E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More transparency in elections (68%), Better candidate screening (55%), Improved public engagement (38%), INEC chairmanship should be based on public votes (38%),and Stricter accountability laws (36%) are reforms people would you like to see in Nigerian leadership selection.</a:t>
            </a:r>
          </a:p>
        </p:txBody>
      </p:sp>
    </p:spTree>
    <p:extLst>
      <p:ext uri="{BB962C8B-B14F-4D97-AF65-F5344CB8AC3E}">
        <p14:creationId xmlns:p14="http://schemas.microsoft.com/office/powerpoint/2010/main" val="80540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1766E826-311A-9A1F-A6A0-AE81500AC62E}"/>
              </a:ext>
            </a:extLst>
          </p:cNvPr>
          <p:cNvSpPr txBox="1"/>
          <p:nvPr/>
        </p:nvSpPr>
        <p:spPr>
          <a:xfrm>
            <a:off x="832513" y="6171744"/>
            <a:ext cx="106452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Book Antiqua" panose="02040602050305030304" pitchFamily="18" charset="0"/>
              </a:rPr>
              <a:t>Q41. Which level of leadership in Nigeria needs the most improvement?</a:t>
            </a:r>
            <a:endParaRPr lang="en-US" sz="10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5642B-83A0-CD7B-E2BA-8E492D002397}"/>
              </a:ext>
            </a:extLst>
          </p:cNvPr>
          <p:cNvSpPr txBox="1"/>
          <p:nvPr/>
        </p:nvSpPr>
        <p:spPr>
          <a:xfrm>
            <a:off x="312991" y="119838"/>
            <a:ext cx="5605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Leaderships Improvements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AF01C8-F445-42ED-8AB9-B600F569D7E4}"/>
              </a:ext>
            </a:extLst>
          </p:cNvPr>
          <p:cNvSpPr txBox="1"/>
          <p:nvPr/>
        </p:nvSpPr>
        <p:spPr>
          <a:xfrm>
            <a:off x="331302" y="675740"/>
            <a:ext cx="11714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 Antiqua" panose="02040602050305030304" pitchFamily="18" charset="0"/>
                <a:ea typeface="Arial Unicode MS"/>
                <a:cs typeface="+mn-cs"/>
              </a:rPr>
              <a:t>The majority (68%) see the pre</a:t>
            </a:r>
            <a:r>
              <a:rPr lang="en-US" sz="1400" b="1" dirty="0" err="1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sidency</a:t>
            </a:r>
            <a:r>
              <a:rPr lang="en-US" sz="1400" b="1" dirty="0">
                <a:solidFill>
                  <a:srgbClr val="0070C0"/>
                </a:solidFill>
                <a:latin typeface="Book Antiqua" panose="02040602050305030304" pitchFamily="18" charset="0"/>
                <a:ea typeface="Arial Unicode MS"/>
              </a:rPr>
              <a:t> as the level of leadership in Nigeria that needs the most improvement. While 99% focused on the presidency in Edo, only 42% focused on the presidency in Lagos.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ook Antiqua" panose="02040602050305030304" pitchFamily="18" charset="0"/>
              <a:ea typeface="Arial Unicode MS"/>
              <a:cs typeface="+mn-cs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CF0F27C-E34B-40F6-ABC7-519A611BD326}"/>
              </a:ext>
            </a:extLst>
          </p:cNvPr>
          <p:cNvGraphicFramePr/>
          <p:nvPr>
            <p:extLst/>
          </p:nvPr>
        </p:nvGraphicFramePr>
        <p:xfrm>
          <a:off x="379413" y="1951252"/>
          <a:ext cx="11435200" cy="3832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D994FB-684F-40B9-86E3-B8A5D0E6864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272250" y="5830759"/>
          <a:ext cx="9439980" cy="2534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8180">
                  <a:extLst>
                    <a:ext uri="{9D8B030D-6E8A-4147-A177-3AD203B41FA5}">
                      <a16:colId xmlns:a16="http://schemas.microsoft.com/office/drawing/2014/main" val="2379250083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3707767684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2497172989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848469032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2303936815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460349122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704838673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2575188808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2501854814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2179463999"/>
                    </a:ext>
                  </a:extLst>
                </a:gridCol>
                <a:gridCol w="858180">
                  <a:extLst>
                    <a:ext uri="{9D8B030D-6E8A-4147-A177-3AD203B41FA5}">
                      <a16:colId xmlns:a16="http://schemas.microsoft.com/office/drawing/2014/main" val="1997916844"/>
                    </a:ext>
                  </a:extLst>
                </a:gridCol>
              </a:tblGrid>
              <a:tr h="25348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1456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681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775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290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284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210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158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344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937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280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9314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MTN 8">
    <a:dk1>
      <a:srgbClr val="000000"/>
    </a:dk1>
    <a:lt1>
      <a:srgbClr val="FFFFFF"/>
    </a:lt1>
    <a:dk2>
      <a:srgbClr val="E6E6E6"/>
    </a:dk2>
    <a:lt2>
      <a:srgbClr val="969696"/>
    </a:lt2>
    <a:accent1>
      <a:srgbClr val="FFCB05"/>
    </a:accent1>
    <a:accent2>
      <a:srgbClr val="5A1E59"/>
    </a:accent2>
    <a:accent3>
      <a:srgbClr val="F5821D"/>
    </a:accent3>
    <a:accent4>
      <a:srgbClr val="0E6886"/>
    </a:accent4>
    <a:accent5>
      <a:srgbClr val="D72578"/>
    </a:accent5>
    <a:accent6>
      <a:srgbClr val="0EAF4B"/>
    </a:accent6>
    <a:hlink>
      <a:srgbClr val="0000FF"/>
    </a:hlink>
    <a:folHlink>
      <a:srgbClr val="FF00FF"/>
    </a:folHlink>
  </a:clrScheme>
  <a:fontScheme name="Office Theme">
    <a:majorFont>
      <a:latin typeface="Helvetica"/>
      <a:ea typeface="Helvetica"/>
      <a:cs typeface="Helvetica"/>
    </a:majorFont>
    <a:minorFont>
      <a:latin typeface="Calibri"/>
      <a:ea typeface="Calibri"/>
      <a:cs typeface="Calibri"/>
    </a:minorFont>
  </a:fontScheme>
  <a:fmtScheme name="Office Them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29999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4999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</Words>
  <Application>Microsoft Office PowerPoint</Application>
  <PresentationFormat>Widescreen</PresentationFormat>
  <Paragraphs>106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Unicode MS</vt:lpstr>
      <vt:lpstr>Book Antiqua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PSI</dc:creator>
  <cp:lastModifiedBy>PSI</cp:lastModifiedBy>
  <cp:revision>3</cp:revision>
  <dcterms:created xsi:type="dcterms:W3CDTF">2025-07-28T09:47:12Z</dcterms:created>
  <dcterms:modified xsi:type="dcterms:W3CDTF">2025-07-28T10:40:43Z</dcterms:modified>
</cp:coreProperties>
</file>