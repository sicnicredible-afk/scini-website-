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4.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5.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4.xml" ContentType="application/vnd.openxmlformats-officedocument.themeOverr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5.xml" ContentType="application/vnd.openxmlformats-officedocument.themeOverr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6.xml" ContentType="application/vnd.openxmlformats-officedocument.themeOverr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theme/themeOverride7.xml" ContentType="application/vnd.openxmlformats-officedocument.themeOverr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theme/themeOverride8.xml" ContentType="application/vnd.openxmlformats-officedocument.themeOverr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9.xml" ContentType="application/vnd.openxmlformats-officedocument.themeOverrid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theme/themeOverride10.xml" ContentType="application/vnd.openxmlformats-officedocument.themeOverrid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theme/themeOverride11.xml" ContentType="application/vnd.openxmlformats-officedocument.themeOverrid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theme/themeOverride12.xml" ContentType="application/vnd.openxmlformats-officedocument.themeOverrid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22.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3.xml" ContentType="application/vnd.openxmlformats-officedocument.drawingml.chart+xml"/>
  <Override PartName="/ppt/charts/style23.xml" ContentType="application/vnd.ms-office.chartstyle+xml"/>
  <Override PartName="/ppt/charts/colors23.xml" ContentType="application/vnd.ms-office.chartcolorstyle+xml"/>
  <Override PartName="/ppt/charts/chart24.xml" ContentType="application/vnd.openxmlformats-officedocument.drawingml.chart+xml"/>
  <Override PartName="/ppt/charts/style24.xml" ContentType="application/vnd.ms-office.chartstyle+xml"/>
  <Override PartName="/ppt/charts/colors24.xml" ContentType="application/vnd.ms-office.chartcolorstyle+xml"/>
  <Override PartName="/ppt/charts/chart25.xml" ContentType="application/vnd.openxmlformats-officedocument.drawingml.chart+xml"/>
  <Override PartName="/ppt/charts/style25.xml" ContentType="application/vnd.ms-office.chartstyle+xml"/>
  <Override PartName="/ppt/charts/colors25.xml" ContentType="application/vnd.ms-office.chartcolorstyle+xml"/>
  <Override PartName="/ppt/charts/chart26.xml" ContentType="application/vnd.openxmlformats-officedocument.drawingml.chart+xml"/>
  <Override PartName="/ppt/charts/style26.xml" ContentType="application/vnd.ms-office.chartstyle+xml"/>
  <Override PartName="/ppt/charts/colors26.xml" ContentType="application/vnd.ms-office.chartcolorstyle+xml"/>
  <Override PartName="/ppt/charts/chart27.xml" ContentType="application/vnd.openxmlformats-officedocument.drawingml.chart+xml"/>
  <Override PartName="/ppt/charts/style27.xml" ContentType="application/vnd.ms-office.chartstyle+xml"/>
  <Override PartName="/ppt/charts/colors27.xml" ContentType="application/vnd.ms-office.chartcolorstyle+xml"/>
  <Override PartName="/ppt/charts/chart28.xml" ContentType="application/vnd.openxmlformats-officedocument.drawingml.chart+xml"/>
  <Override PartName="/ppt/charts/style28.xml" ContentType="application/vnd.ms-office.chartstyle+xml"/>
  <Override PartName="/ppt/charts/colors28.xml" ContentType="application/vnd.ms-office.chartcolorstyle+xml"/>
  <Override PartName="/ppt/charts/chart29.xml" ContentType="application/vnd.openxmlformats-officedocument.drawingml.chart+xml"/>
  <Override PartName="/ppt/charts/style29.xml" ContentType="application/vnd.ms-office.chartstyle+xml"/>
  <Override PartName="/ppt/charts/colors29.xml" ContentType="application/vnd.ms-office.chartcolorstyle+xml"/>
  <Override PartName="/ppt/charts/chart30.xml" ContentType="application/vnd.openxmlformats-officedocument.drawingml.chart+xml"/>
  <Override PartName="/ppt/charts/style30.xml" ContentType="application/vnd.ms-office.chartstyle+xml"/>
  <Override PartName="/ppt/charts/colors30.xml" ContentType="application/vnd.ms-office.chartcolorstyle+xml"/>
  <Override PartName="/ppt/charts/chart31.xml" ContentType="application/vnd.openxmlformats-officedocument.drawingml.chart+xml"/>
  <Override PartName="/ppt/charts/style31.xml" ContentType="application/vnd.ms-office.chartstyle+xml"/>
  <Override PartName="/ppt/charts/colors31.xml" ContentType="application/vnd.ms-office.chartcolorstyle+xml"/>
  <Override PartName="/ppt/charts/chart32.xml" ContentType="application/vnd.openxmlformats-officedocument.drawingml.chart+xml"/>
  <Override PartName="/ppt/charts/style32.xml" ContentType="application/vnd.ms-office.chartstyle+xml"/>
  <Override PartName="/ppt/charts/colors32.xml" ContentType="application/vnd.ms-office.chartcolorstyle+xml"/>
  <Override PartName="/ppt/charts/chart33.xml" ContentType="application/vnd.openxmlformats-officedocument.drawingml.chart+xml"/>
  <Override PartName="/ppt/charts/style33.xml" ContentType="application/vnd.ms-office.chartstyle+xml"/>
  <Override PartName="/ppt/charts/colors33.xml" ContentType="application/vnd.ms-office.chartcolorstyle+xml"/>
  <Override PartName="/ppt/charts/chart34.xml" ContentType="application/vnd.openxmlformats-officedocument.drawingml.chart+xml"/>
  <Override PartName="/ppt/charts/style34.xml" ContentType="application/vnd.ms-office.chartstyle+xml"/>
  <Override PartName="/ppt/charts/colors34.xml" ContentType="application/vnd.ms-office.chartcolorstyle+xml"/>
  <Override PartName="/ppt/charts/chart35.xml" ContentType="application/vnd.openxmlformats-officedocument.drawingml.chart+xml"/>
  <Override PartName="/ppt/charts/style35.xml" ContentType="application/vnd.ms-office.chartstyle+xml"/>
  <Override PartName="/ppt/charts/colors35.xml" ContentType="application/vnd.ms-office.chartcolorstyle+xml"/>
  <Override PartName="/ppt/charts/chart36.xml" ContentType="application/vnd.openxmlformats-officedocument.drawingml.chart+xml"/>
  <Override PartName="/ppt/charts/style36.xml" ContentType="application/vnd.ms-office.chartstyle+xml"/>
  <Override PartName="/ppt/charts/colors36.xml" ContentType="application/vnd.ms-office.chartcolorstyle+xml"/>
  <Override PartName="/ppt/charts/chart37.xml" ContentType="application/vnd.openxmlformats-officedocument.drawingml.chart+xml"/>
  <Override PartName="/ppt/charts/style37.xml" ContentType="application/vnd.ms-office.chartstyle+xml"/>
  <Override PartName="/ppt/charts/colors37.xml" ContentType="application/vnd.ms-office.chartcolorstyle+xml"/>
  <Override PartName="/ppt/charts/chart38.xml" ContentType="application/vnd.openxmlformats-officedocument.drawingml.chart+xml"/>
  <Override PartName="/ppt/charts/style38.xml" ContentType="application/vnd.ms-office.chartstyle+xml"/>
  <Override PartName="/ppt/charts/colors38.xml" ContentType="application/vnd.ms-office.chartcolorstyle+xml"/>
  <Override PartName="/ppt/charts/chart39.xml" ContentType="application/vnd.openxmlformats-officedocument.drawingml.chart+xml"/>
  <Override PartName="/ppt/charts/style39.xml" ContentType="application/vnd.ms-office.chartstyle+xml"/>
  <Override PartName="/ppt/charts/colors39.xml" ContentType="application/vnd.ms-office.chartcolorstyle+xml"/>
  <Override PartName="/ppt/theme/themeOverride13.xml" ContentType="application/vnd.openxmlformats-officedocument.themeOverride+xml"/>
  <Override PartName="/ppt/charts/chart40.xml" ContentType="application/vnd.openxmlformats-officedocument.drawingml.chart+xml"/>
  <Override PartName="/ppt/charts/style40.xml" ContentType="application/vnd.ms-office.chartstyle+xml"/>
  <Override PartName="/ppt/charts/colors40.xml" ContentType="application/vnd.ms-office.chartcolorstyle+xml"/>
  <Override PartName="/ppt/theme/themeOverride14.xml" ContentType="application/vnd.openxmlformats-officedocument.themeOverride+xml"/>
  <Override PartName="/ppt/charts/chart41.xml" ContentType="application/vnd.openxmlformats-officedocument.drawingml.chart+xml"/>
  <Override PartName="/ppt/charts/style41.xml" ContentType="application/vnd.ms-office.chartstyle+xml"/>
  <Override PartName="/ppt/charts/colors41.xml" ContentType="application/vnd.ms-office.chartcolorstyle+xml"/>
  <Override PartName="/ppt/theme/themeOverride15.xml" ContentType="application/vnd.openxmlformats-officedocument.themeOverride+xml"/>
  <Override PartName="/ppt/charts/chart42.xml" ContentType="application/vnd.openxmlformats-officedocument.drawingml.chart+xml"/>
  <Override PartName="/ppt/charts/style42.xml" ContentType="application/vnd.ms-office.chartstyle+xml"/>
  <Override PartName="/ppt/charts/colors42.xml" ContentType="application/vnd.ms-office.chartcolorstyle+xml"/>
  <Override PartName="/ppt/theme/themeOverride16.xml" ContentType="application/vnd.openxmlformats-officedocument.themeOverride+xml"/>
  <Override PartName="/ppt/charts/chart43.xml" ContentType="application/vnd.openxmlformats-officedocument.drawingml.chart+xml"/>
  <Override PartName="/ppt/charts/style43.xml" ContentType="application/vnd.ms-office.chartstyle+xml"/>
  <Override PartName="/ppt/charts/colors43.xml" ContentType="application/vnd.ms-office.chartcolorstyle+xml"/>
  <Override PartName="/ppt/theme/themeOverride17.xml" ContentType="application/vnd.openxmlformats-officedocument.themeOverride+xml"/>
  <Override PartName="/ppt/charts/chart44.xml" ContentType="application/vnd.openxmlformats-officedocument.drawingml.chart+xml"/>
  <Override PartName="/ppt/charts/style44.xml" ContentType="application/vnd.ms-office.chartstyle+xml"/>
  <Override PartName="/ppt/charts/colors44.xml" ContentType="application/vnd.ms-office.chartcolorstyle+xml"/>
  <Override PartName="/ppt/theme/themeOverride18.xml" ContentType="application/vnd.openxmlformats-officedocument.themeOverride+xml"/>
  <Override PartName="/ppt/charts/chart45.xml" ContentType="application/vnd.openxmlformats-officedocument.drawingml.chart+xml"/>
  <Override PartName="/ppt/charts/style45.xml" ContentType="application/vnd.ms-office.chartstyle+xml"/>
  <Override PartName="/ppt/charts/colors45.xml" ContentType="application/vnd.ms-office.chartcolorstyle+xml"/>
  <Override PartName="/ppt/charts/chart46.xml" ContentType="application/vnd.openxmlformats-officedocument.drawingml.chart+xml"/>
  <Override PartName="/ppt/charts/style46.xml" ContentType="application/vnd.ms-office.chartstyle+xml"/>
  <Override PartName="/ppt/charts/colors46.xml" ContentType="application/vnd.ms-office.chartcolorstyle+xml"/>
  <Override PartName="/ppt/charts/chart47.xml" ContentType="application/vnd.openxmlformats-officedocument.drawingml.chart+xml"/>
  <Override PartName="/ppt/charts/style47.xml" ContentType="application/vnd.ms-office.chartstyle+xml"/>
  <Override PartName="/ppt/charts/colors47.xml" ContentType="application/vnd.ms-office.chartcolorstyle+xml"/>
  <Override PartName="/ppt/theme/themeOverride19.xml" ContentType="application/vnd.openxmlformats-officedocument.themeOverride+xml"/>
  <Override PartName="/ppt/tags/tag1.xml" ContentType="application/vnd.openxmlformats-officedocument.presentationml.tags+xml"/>
  <Override PartName="/ppt/charts/chart48.xml" ContentType="application/vnd.openxmlformats-officedocument.drawingml.chart+xml"/>
  <Override PartName="/ppt/theme/themeOverride20.xml" ContentType="application/vnd.openxmlformats-officedocument.themeOverride+xml"/>
  <Override PartName="/ppt/charts/chart49.xml" ContentType="application/vnd.openxmlformats-officedocument.drawingml.chart+xml"/>
  <Override PartName="/ppt/charts/style48.xml" ContentType="application/vnd.ms-office.chartstyle+xml"/>
  <Override PartName="/ppt/charts/colors48.xml" ContentType="application/vnd.ms-office.chartcolorstyle+xml"/>
  <Override PartName="/ppt/theme/themeOverride21.xml" ContentType="application/vnd.openxmlformats-officedocument.themeOverride+xml"/>
  <Override PartName="/ppt/tags/tag2.xml" ContentType="application/vnd.openxmlformats-officedocument.presentationml.tags+xml"/>
  <Override PartName="/ppt/charts/chart50.xml" ContentType="application/vnd.openxmlformats-officedocument.drawingml.chart+xml"/>
  <Override PartName="/ppt/theme/themeOverride22.xml" ContentType="application/vnd.openxmlformats-officedocument.themeOverride+xml"/>
  <Override PartName="/ppt/charts/chart51.xml" ContentType="application/vnd.openxmlformats-officedocument.drawingml.chart+xml"/>
  <Override PartName="/ppt/charts/style49.xml" ContentType="application/vnd.ms-office.chartstyle+xml"/>
  <Override PartName="/ppt/charts/colors49.xml" ContentType="application/vnd.ms-office.chartcolorstyle+xml"/>
  <Override PartName="/ppt/charts/chart52.xml" ContentType="application/vnd.openxmlformats-officedocument.drawingml.chart+xml"/>
  <Override PartName="/ppt/charts/style50.xml" ContentType="application/vnd.ms-office.chartstyle+xml"/>
  <Override PartName="/ppt/charts/colors50.xml" ContentType="application/vnd.ms-office.chartcolorstyle+xml"/>
  <Override PartName="/ppt/theme/themeOverride23.xml" ContentType="application/vnd.openxmlformats-officedocument.themeOverride+xml"/>
  <Override PartName="/ppt/charts/chart53.xml" ContentType="application/vnd.openxmlformats-officedocument.drawingml.chart+xml"/>
  <Override PartName="/ppt/charts/style51.xml" ContentType="application/vnd.ms-office.chartstyle+xml"/>
  <Override PartName="/ppt/charts/colors51.xml" ContentType="application/vnd.ms-office.chartcolorstyle+xml"/>
  <Override PartName="/ppt/tags/tag3.xml" ContentType="application/vnd.openxmlformats-officedocument.presentationml.tags+xml"/>
  <Override PartName="/ppt/charts/chart54.xml" ContentType="application/vnd.openxmlformats-officedocument.drawingml.chart+xml"/>
  <Override PartName="/ppt/theme/themeOverride24.xml" ContentType="application/vnd.openxmlformats-officedocument.themeOverride+xml"/>
  <Override PartName="/ppt/charts/chart55.xml" ContentType="application/vnd.openxmlformats-officedocument.drawingml.chart+xml"/>
  <Override PartName="/ppt/charts/style52.xml" ContentType="application/vnd.ms-office.chartstyle+xml"/>
  <Override PartName="/ppt/charts/colors52.xml" ContentType="application/vnd.ms-office.chartcolorstyle+xml"/>
  <Override PartName="/ppt/theme/themeOverride25.xml" ContentType="application/vnd.openxmlformats-officedocument.themeOverride+xml"/>
  <Override PartName="/ppt/charts/chart56.xml" ContentType="application/vnd.openxmlformats-officedocument.drawingml.chart+xml"/>
  <Override PartName="/ppt/charts/style53.xml" ContentType="application/vnd.ms-office.chartstyle+xml"/>
  <Override PartName="/ppt/charts/colors53.xml" ContentType="application/vnd.ms-office.chartcolorstyle+xml"/>
  <Override PartName="/ppt/theme/themeOverride26.xml" ContentType="application/vnd.openxmlformats-officedocument.themeOverride+xml"/>
  <Override PartName="/ppt/charts/chart57.xml" ContentType="application/vnd.openxmlformats-officedocument.drawingml.chart+xml"/>
  <Override PartName="/ppt/charts/style54.xml" ContentType="application/vnd.ms-office.chartstyle+xml"/>
  <Override PartName="/ppt/charts/colors54.xml" ContentType="application/vnd.ms-office.chartcolorstyle+xml"/>
  <Override PartName="/ppt/tags/tag4.xml" ContentType="application/vnd.openxmlformats-officedocument.presentationml.tags+xml"/>
  <Override PartName="/ppt/charts/chart58.xml" ContentType="application/vnd.openxmlformats-officedocument.drawingml.chart+xml"/>
  <Override PartName="/ppt/theme/themeOverride27.xml" ContentType="application/vnd.openxmlformats-officedocument.themeOverride+xml"/>
  <Override PartName="/ppt/tags/tag5.xml" ContentType="application/vnd.openxmlformats-officedocument.presentationml.tags+xml"/>
  <Override PartName="/ppt/charts/chart59.xml" ContentType="application/vnd.openxmlformats-officedocument.drawingml.chart+xml"/>
  <Override PartName="/ppt/theme/themeOverride28.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2" r:id="rId2"/>
    <p:sldMasterId id="2147483664" r:id="rId3"/>
    <p:sldMasterId id="2147483666" r:id="rId4"/>
    <p:sldMasterId id="2147483702" r:id="rId5"/>
  </p:sldMasterIdLst>
  <p:sldIdLst>
    <p:sldId id="420" r:id="rId6"/>
    <p:sldId id="1333" r:id="rId7"/>
    <p:sldId id="418" r:id="rId8"/>
    <p:sldId id="1415" r:id="rId9"/>
    <p:sldId id="1416" r:id="rId10"/>
    <p:sldId id="1417" r:id="rId11"/>
    <p:sldId id="1418" r:id="rId12"/>
    <p:sldId id="1419" r:id="rId13"/>
    <p:sldId id="1420" r:id="rId14"/>
    <p:sldId id="1421" r:id="rId15"/>
    <p:sldId id="1422" r:id="rId16"/>
    <p:sldId id="1414" r:id="rId17"/>
    <p:sldId id="1342" r:id="rId18"/>
    <p:sldId id="1343" r:id="rId19"/>
    <p:sldId id="1345" r:id="rId20"/>
    <p:sldId id="1346" r:id="rId21"/>
    <p:sldId id="1347" r:id="rId22"/>
    <p:sldId id="1348" r:id="rId23"/>
    <p:sldId id="1349" r:id="rId24"/>
    <p:sldId id="1350" r:id="rId25"/>
    <p:sldId id="1351" r:id="rId26"/>
    <p:sldId id="1352" r:id="rId27"/>
    <p:sldId id="1353" r:id="rId28"/>
    <p:sldId id="1354" r:id="rId29"/>
    <p:sldId id="1355" r:id="rId30"/>
    <p:sldId id="1356" r:id="rId31"/>
    <p:sldId id="1360" r:id="rId32"/>
    <p:sldId id="1361" r:id="rId33"/>
    <p:sldId id="1362" r:id="rId34"/>
    <p:sldId id="1363" r:id="rId35"/>
    <p:sldId id="1364" r:id="rId36"/>
    <p:sldId id="1365" r:id="rId37"/>
    <p:sldId id="1366" r:id="rId38"/>
    <p:sldId id="1367" r:id="rId39"/>
    <p:sldId id="1368" r:id="rId40"/>
    <p:sldId id="1369" r:id="rId41"/>
    <p:sldId id="1370" r:id="rId42"/>
    <p:sldId id="1371" r:id="rId43"/>
    <p:sldId id="1372" r:id="rId44"/>
    <p:sldId id="1373" r:id="rId45"/>
    <p:sldId id="1374" r:id="rId46"/>
    <p:sldId id="1375" r:id="rId47"/>
    <p:sldId id="1376" r:id="rId48"/>
    <p:sldId id="1377" r:id="rId49"/>
    <p:sldId id="1413" r:id="rId50"/>
    <p:sldId id="1412" r:id="rId51"/>
    <p:sldId id="1379" r:id="rId52"/>
    <p:sldId id="1380" r:id="rId53"/>
    <p:sldId id="1381" r:id="rId54"/>
    <p:sldId id="1382" r:id="rId55"/>
    <p:sldId id="1307" r:id="rId56"/>
    <p:sldId id="1383" r:id="rId57"/>
    <p:sldId id="1308" r:id="rId58"/>
    <p:sldId id="1384" r:id="rId59"/>
    <p:sldId id="1385" r:id="rId60"/>
    <p:sldId id="1386" r:id="rId61"/>
    <p:sldId id="1387" r:id="rId62"/>
    <p:sldId id="1388" r:id="rId63"/>
    <p:sldId id="1389" r:id="rId64"/>
    <p:sldId id="1390" r:id="rId65"/>
    <p:sldId id="1391" r:id="rId66"/>
    <p:sldId id="1394" r:id="rId67"/>
    <p:sldId id="1395" r:id="rId68"/>
    <p:sldId id="1396" r:id="rId69"/>
    <p:sldId id="1397" r:id="rId70"/>
    <p:sldId id="1398" r:id="rId71"/>
    <p:sldId id="1399" r:id="rId72"/>
    <p:sldId id="1400" r:id="rId73"/>
    <p:sldId id="1401" r:id="rId74"/>
    <p:sldId id="1402" r:id="rId75"/>
    <p:sldId id="1403" r:id="rId76"/>
    <p:sldId id="1404" r:id="rId77"/>
    <p:sldId id="1405" r:id="rId78"/>
    <p:sldId id="1406" r:id="rId79"/>
    <p:sldId id="1407" r:id="rId80"/>
    <p:sldId id="1408" r:id="rId81"/>
    <p:sldId id="1409" r:id="rId82"/>
    <p:sldId id="1410" r:id="rId83"/>
    <p:sldId id="1411" r:id="rId84"/>
    <p:sldId id="277" r:id="rId8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FDC7090-A4BD-4CF2-A657-12D9573E59A6}">
          <p14:sldIdLst>
            <p14:sldId id="420"/>
            <p14:sldId id="1333"/>
            <p14:sldId id="418"/>
            <p14:sldId id="1415"/>
            <p14:sldId id="1416"/>
            <p14:sldId id="1417"/>
            <p14:sldId id="1418"/>
            <p14:sldId id="1419"/>
            <p14:sldId id="1420"/>
            <p14:sldId id="1421"/>
            <p14:sldId id="1422"/>
            <p14:sldId id="1414"/>
            <p14:sldId id="1342"/>
            <p14:sldId id="1343"/>
            <p14:sldId id="1345"/>
            <p14:sldId id="1346"/>
            <p14:sldId id="1347"/>
            <p14:sldId id="1348"/>
            <p14:sldId id="1349"/>
            <p14:sldId id="1350"/>
            <p14:sldId id="1351"/>
            <p14:sldId id="1352"/>
            <p14:sldId id="1353"/>
            <p14:sldId id="1354"/>
            <p14:sldId id="1355"/>
            <p14:sldId id="1356"/>
            <p14:sldId id="1360"/>
            <p14:sldId id="1361"/>
            <p14:sldId id="1362"/>
            <p14:sldId id="1363"/>
            <p14:sldId id="1364"/>
            <p14:sldId id="1365"/>
            <p14:sldId id="1366"/>
            <p14:sldId id="1367"/>
            <p14:sldId id="1368"/>
            <p14:sldId id="1369"/>
            <p14:sldId id="1370"/>
            <p14:sldId id="1371"/>
            <p14:sldId id="1372"/>
            <p14:sldId id="1373"/>
            <p14:sldId id="1374"/>
            <p14:sldId id="1375"/>
            <p14:sldId id="1376"/>
            <p14:sldId id="1377"/>
            <p14:sldId id="1413"/>
            <p14:sldId id="1412"/>
            <p14:sldId id="1379"/>
            <p14:sldId id="1380"/>
            <p14:sldId id="1381"/>
            <p14:sldId id="1382"/>
            <p14:sldId id="1307"/>
            <p14:sldId id="1383"/>
            <p14:sldId id="1308"/>
            <p14:sldId id="1384"/>
            <p14:sldId id="1385"/>
            <p14:sldId id="1386"/>
            <p14:sldId id="1387"/>
            <p14:sldId id="1388"/>
            <p14:sldId id="1389"/>
            <p14:sldId id="1390"/>
            <p14:sldId id="1391"/>
            <p14:sldId id="1394"/>
            <p14:sldId id="1395"/>
            <p14:sldId id="1396"/>
            <p14:sldId id="1397"/>
            <p14:sldId id="1398"/>
            <p14:sldId id="1399"/>
            <p14:sldId id="1400"/>
            <p14:sldId id="1401"/>
            <p14:sldId id="1402"/>
            <p14:sldId id="1403"/>
            <p14:sldId id="1404"/>
            <p14:sldId id="1405"/>
            <p14:sldId id="1406"/>
            <p14:sldId id="1407"/>
            <p14:sldId id="1408"/>
            <p14:sldId id="1409"/>
            <p14:sldId id="1410"/>
            <p14:sldId id="1411"/>
          </p14:sldIdLst>
        </p14:section>
        <p14:section name="Untitled Section" id="{9FB73688-F74D-4E6B-A31F-16261802B655}">
          <p14:sldIdLst>
            <p14:sldId id="277"/>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SI" initials="PSI" lastIdx="1" clrIdx="0">
    <p:extLst>
      <p:ext uri="{19B8F6BF-5375-455C-9EA6-DF929625EA0E}">
        <p15:presenceInfo xmlns:p15="http://schemas.microsoft.com/office/powerpoint/2012/main" userId="PS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286C"/>
    <a:srgbClr val="6AF7A9"/>
    <a:srgbClr val="FF7C80"/>
    <a:srgbClr val="FF5050"/>
    <a:srgbClr val="66CCFF"/>
    <a:srgbClr val="99FFCC"/>
    <a:srgbClr val="F6CCCA"/>
    <a:srgbClr val="FF3300"/>
    <a:srgbClr val="F86A6B"/>
    <a:srgbClr val="5CB7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9" d="100"/>
          <a:sy n="69" d="100"/>
        </p:scale>
        <p:origin x="564" y="44"/>
      </p:cViewPr>
      <p:guideLst>
        <p:guide orient="horz" pos="2160"/>
        <p:guide pos="3840"/>
      </p:guideLst>
    </p:cSldViewPr>
  </p:slideViewPr>
  <p:notesTextViewPr>
    <p:cViewPr>
      <p:scale>
        <a:sx n="1" d="1"/>
        <a:sy n="1" d="1"/>
      </p:scale>
      <p:origin x="0" y="0"/>
    </p:cViewPr>
  </p:notesTextViewPr>
  <p:sorterViewPr>
    <p:cViewPr>
      <p:scale>
        <a:sx n="100" d="100"/>
        <a:sy n="100" d="100"/>
      </p:scale>
      <p:origin x="0" y="-471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theme" Target="theme/theme1.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5" Type="http://schemas.openxmlformats.org/officeDocument/2006/relationships/slideMaster" Target="slideMasters/slideMaster5.xml"/><Relationship Id="rId90" Type="http://schemas.openxmlformats.org/officeDocument/2006/relationships/tableStyles" Target="tableStyles.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slide" Target="slides/slide80.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commentAuthors" Target="commentAuthors.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presProps" Target="presProps.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6.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3" Type="http://schemas.openxmlformats.org/officeDocument/2006/relationships/themeOverride" Target="../theme/themeOverride7.xml"/><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themeOverride" Target="../theme/themeOverride8.xm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3" Type="http://schemas.openxmlformats.org/officeDocument/2006/relationships/themeOverride" Target="../theme/themeOverride9.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themeOverride" Target="../theme/themeOverride10.xml"/><Relationship Id="rId2" Type="http://schemas.microsoft.com/office/2011/relationships/chartColorStyle" Target="colors12.xml"/><Relationship Id="rId1" Type="http://schemas.microsoft.com/office/2011/relationships/chartStyle" Target="style12.xml"/><Relationship Id="rId4"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themeOverride" Target="../theme/themeOverride11.xml"/><Relationship Id="rId2" Type="http://schemas.microsoft.com/office/2011/relationships/chartColorStyle" Target="colors15.xml"/><Relationship Id="rId1" Type="http://schemas.microsoft.com/office/2011/relationships/chartStyle" Target="style15.xml"/><Relationship Id="rId4"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themeOverride" Target="../theme/themeOverride12.xml"/><Relationship Id="rId2" Type="http://schemas.microsoft.com/office/2011/relationships/chartColorStyle" Target="colors18.xml"/><Relationship Id="rId1" Type="http://schemas.microsoft.com/office/2011/relationships/chartStyle" Target="style18.xml"/><Relationship Id="rId4"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18.xlsx"/><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package" Target="../embeddings/Microsoft_Excel_Worksheet19.xlsx"/><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3" Type="http://schemas.openxmlformats.org/officeDocument/2006/relationships/package" Target="../embeddings/Microsoft_Excel_Worksheet20.xlsx"/><Relationship Id="rId2" Type="http://schemas.microsoft.com/office/2011/relationships/chartColorStyle" Target="colors21.xml"/><Relationship Id="rId1" Type="http://schemas.microsoft.com/office/2011/relationships/chartStyle" Target="style21.xml"/></Relationships>
</file>

<file path=ppt/charts/_rels/chart22.xml.rels><?xml version="1.0" encoding="UTF-8" standalone="yes"?>
<Relationships xmlns="http://schemas.openxmlformats.org/package/2006/relationships"><Relationship Id="rId3" Type="http://schemas.openxmlformats.org/officeDocument/2006/relationships/package" Target="../embeddings/Microsoft_Excel_Worksheet21.xlsx"/><Relationship Id="rId2" Type="http://schemas.microsoft.com/office/2011/relationships/chartColorStyle" Target="colors22.xml"/><Relationship Id="rId1" Type="http://schemas.microsoft.com/office/2011/relationships/chartStyle" Target="style22.xml"/></Relationships>
</file>

<file path=ppt/charts/_rels/chart23.xml.rels><?xml version="1.0" encoding="UTF-8" standalone="yes"?>
<Relationships xmlns="http://schemas.openxmlformats.org/package/2006/relationships"><Relationship Id="rId3" Type="http://schemas.openxmlformats.org/officeDocument/2006/relationships/package" Target="../embeddings/Microsoft_Excel_Worksheet22.xlsx"/><Relationship Id="rId2" Type="http://schemas.microsoft.com/office/2011/relationships/chartColorStyle" Target="colors23.xml"/><Relationship Id="rId1" Type="http://schemas.microsoft.com/office/2011/relationships/chartStyle" Target="style23.xml"/></Relationships>
</file>

<file path=ppt/charts/_rels/chart24.xml.rels><?xml version="1.0" encoding="UTF-8" standalone="yes"?>
<Relationships xmlns="http://schemas.openxmlformats.org/package/2006/relationships"><Relationship Id="rId3" Type="http://schemas.openxmlformats.org/officeDocument/2006/relationships/package" Target="../embeddings/Microsoft_Excel_Worksheet23.xlsx"/><Relationship Id="rId2" Type="http://schemas.microsoft.com/office/2011/relationships/chartColorStyle" Target="colors24.xml"/><Relationship Id="rId1" Type="http://schemas.microsoft.com/office/2011/relationships/chartStyle" Target="style24.xml"/></Relationships>
</file>

<file path=ppt/charts/_rels/chart25.xml.rels><?xml version="1.0" encoding="UTF-8" standalone="yes"?>
<Relationships xmlns="http://schemas.openxmlformats.org/package/2006/relationships"><Relationship Id="rId3" Type="http://schemas.openxmlformats.org/officeDocument/2006/relationships/package" Target="../embeddings/Microsoft_Excel_Worksheet24.xlsx"/><Relationship Id="rId2" Type="http://schemas.microsoft.com/office/2011/relationships/chartColorStyle" Target="colors25.xml"/><Relationship Id="rId1" Type="http://schemas.microsoft.com/office/2011/relationships/chartStyle" Target="style25.xml"/></Relationships>
</file>

<file path=ppt/charts/_rels/chart26.xml.rels><?xml version="1.0" encoding="UTF-8" standalone="yes"?>
<Relationships xmlns="http://schemas.openxmlformats.org/package/2006/relationships"><Relationship Id="rId3" Type="http://schemas.openxmlformats.org/officeDocument/2006/relationships/package" Target="../embeddings/Microsoft_Excel_Worksheet25.xlsx"/><Relationship Id="rId2" Type="http://schemas.microsoft.com/office/2011/relationships/chartColorStyle" Target="colors26.xml"/><Relationship Id="rId1" Type="http://schemas.microsoft.com/office/2011/relationships/chartStyle" Target="style26.xml"/></Relationships>
</file>

<file path=ppt/charts/_rels/chart27.xml.rels><?xml version="1.0" encoding="UTF-8" standalone="yes"?>
<Relationships xmlns="http://schemas.openxmlformats.org/package/2006/relationships"><Relationship Id="rId3" Type="http://schemas.openxmlformats.org/officeDocument/2006/relationships/package" Target="../embeddings/Microsoft_Excel_Worksheet26.xlsx"/><Relationship Id="rId2" Type="http://schemas.microsoft.com/office/2011/relationships/chartColorStyle" Target="colors27.xml"/><Relationship Id="rId1" Type="http://schemas.microsoft.com/office/2011/relationships/chartStyle" Target="style27.xml"/></Relationships>
</file>

<file path=ppt/charts/_rels/chart28.xml.rels><?xml version="1.0" encoding="UTF-8" standalone="yes"?>
<Relationships xmlns="http://schemas.openxmlformats.org/package/2006/relationships"><Relationship Id="rId3" Type="http://schemas.openxmlformats.org/officeDocument/2006/relationships/package" Target="../embeddings/Microsoft_Excel_Worksheet27.xlsx"/><Relationship Id="rId2" Type="http://schemas.microsoft.com/office/2011/relationships/chartColorStyle" Target="colors28.xml"/><Relationship Id="rId1" Type="http://schemas.microsoft.com/office/2011/relationships/chartStyle" Target="style28.xml"/></Relationships>
</file>

<file path=ppt/charts/_rels/chart29.xml.rels><?xml version="1.0" encoding="UTF-8" standalone="yes"?>
<Relationships xmlns="http://schemas.openxmlformats.org/package/2006/relationships"><Relationship Id="rId3" Type="http://schemas.openxmlformats.org/officeDocument/2006/relationships/package" Target="../embeddings/Microsoft_Excel_Worksheet28.xlsx"/><Relationship Id="rId2" Type="http://schemas.microsoft.com/office/2011/relationships/chartColorStyle" Target="colors29.xml"/><Relationship Id="rId1" Type="http://schemas.microsoft.com/office/2011/relationships/chartStyle" Target="style29.xml"/></Relationships>
</file>

<file path=ppt/charts/_rels/chart30.xml.rels><?xml version="1.0" encoding="UTF-8" standalone="yes"?>
<Relationships xmlns="http://schemas.openxmlformats.org/package/2006/relationships"><Relationship Id="rId3" Type="http://schemas.openxmlformats.org/officeDocument/2006/relationships/package" Target="../embeddings/Microsoft_Excel_Worksheet29.xlsx"/><Relationship Id="rId2" Type="http://schemas.microsoft.com/office/2011/relationships/chartColorStyle" Target="colors30.xml"/><Relationship Id="rId1" Type="http://schemas.microsoft.com/office/2011/relationships/chartStyle" Target="style30.xml"/></Relationships>
</file>

<file path=ppt/charts/_rels/chart31.xml.rels><?xml version="1.0" encoding="UTF-8" standalone="yes"?>
<Relationships xmlns="http://schemas.openxmlformats.org/package/2006/relationships"><Relationship Id="rId3" Type="http://schemas.openxmlformats.org/officeDocument/2006/relationships/package" Target="../embeddings/Microsoft_Excel_Worksheet30.xlsx"/><Relationship Id="rId2" Type="http://schemas.microsoft.com/office/2011/relationships/chartColorStyle" Target="colors31.xml"/><Relationship Id="rId1" Type="http://schemas.microsoft.com/office/2011/relationships/chartStyle" Target="style31.xml"/></Relationships>
</file>

<file path=ppt/charts/_rels/chart32.xml.rels><?xml version="1.0" encoding="UTF-8" standalone="yes"?>
<Relationships xmlns="http://schemas.openxmlformats.org/package/2006/relationships"><Relationship Id="rId3" Type="http://schemas.openxmlformats.org/officeDocument/2006/relationships/package" Target="../embeddings/Microsoft_Excel_Worksheet31.xlsx"/><Relationship Id="rId2" Type="http://schemas.microsoft.com/office/2011/relationships/chartColorStyle" Target="colors32.xml"/><Relationship Id="rId1" Type="http://schemas.microsoft.com/office/2011/relationships/chartStyle" Target="style32.xml"/></Relationships>
</file>

<file path=ppt/charts/_rels/chart33.xml.rels><?xml version="1.0" encoding="UTF-8" standalone="yes"?>
<Relationships xmlns="http://schemas.openxmlformats.org/package/2006/relationships"><Relationship Id="rId3" Type="http://schemas.openxmlformats.org/officeDocument/2006/relationships/package" Target="../embeddings/Microsoft_Excel_Worksheet32.xlsx"/><Relationship Id="rId2" Type="http://schemas.microsoft.com/office/2011/relationships/chartColorStyle" Target="colors33.xml"/><Relationship Id="rId1" Type="http://schemas.microsoft.com/office/2011/relationships/chartStyle" Target="style33.xml"/></Relationships>
</file>

<file path=ppt/charts/_rels/chart34.xml.rels><?xml version="1.0" encoding="UTF-8" standalone="yes"?>
<Relationships xmlns="http://schemas.openxmlformats.org/package/2006/relationships"><Relationship Id="rId3" Type="http://schemas.openxmlformats.org/officeDocument/2006/relationships/package" Target="../embeddings/Microsoft_Excel_Worksheet33.xlsx"/><Relationship Id="rId2" Type="http://schemas.microsoft.com/office/2011/relationships/chartColorStyle" Target="colors34.xml"/><Relationship Id="rId1" Type="http://schemas.microsoft.com/office/2011/relationships/chartStyle" Target="style34.xml"/></Relationships>
</file>

<file path=ppt/charts/_rels/chart35.xml.rels><?xml version="1.0" encoding="UTF-8" standalone="yes"?>
<Relationships xmlns="http://schemas.openxmlformats.org/package/2006/relationships"><Relationship Id="rId3" Type="http://schemas.openxmlformats.org/officeDocument/2006/relationships/package" Target="../embeddings/Microsoft_Excel_Worksheet34.xlsx"/><Relationship Id="rId2" Type="http://schemas.microsoft.com/office/2011/relationships/chartColorStyle" Target="colors35.xml"/><Relationship Id="rId1" Type="http://schemas.microsoft.com/office/2011/relationships/chartStyle" Target="style35.xml"/></Relationships>
</file>

<file path=ppt/charts/_rels/chart36.xml.rels><?xml version="1.0" encoding="UTF-8" standalone="yes"?>
<Relationships xmlns="http://schemas.openxmlformats.org/package/2006/relationships"><Relationship Id="rId3" Type="http://schemas.openxmlformats.org/officeDocument/2006/relationships/package" Target="../embeddings/Microsoft_Excel_Worksheet35.xlsx"/><Relationship Id="rId2" Type="http://schemas.microsoft.com/office/2011/relationships/chartColorStyle" Target="colors36.xml"/><Relationship Id="rId1" Type="http://schemas.microsoft.com/office/2011/relationships/chartStyle" Target="style36.xml"/></Relationships>
</file>

<file path=ppt/charts/_rels/chart37.xml.rels><?xml version="1.0" encoding="UTF-8" standalone="yes"?>
<Relationships xmlns="http://schemas.openxmlformats.org/package/2006/relationships"><Relationship Id="rId3" Type="http://schemas.openxmlformats.org/officeDocument/2006/relationships/package" Target="../embeddings/Microsoft_Excel_Worksheet36.xlsx"/><Relationship Id="rId2" Type="http://schemas.microsoft.com/office/2011/relationships/chartColorStyle" Target="colors37.xml"/><Relationship Id="rId1" Type="http://schemas.microsoft.com/office/2011/relationships/chartStyle" Target="style37.xml"/></Relationships>
</file>

<file path=ppt/charts/_rels/chart38.xml.rels><?xml version="1.0" encoding="UTF-8" standalone="yes"?>
<Relationships xmlns="http://schemas.openxmlformats.org/package/2006/relationships"><Relationship Id="rId3" Type="http://schemas.openxmlformats.org/officeDocument/2006/relationships/package" Target="../embeddings/Microsoft_Excel_Worksheet37.xlsx"/><Relationship Id="rId2" Type="http://schemas.microsoft.com/office/2011/relationships/chartColorStyle" Target="colors38.xml"/><Relationship Id="rId1" Type="http://schemas.microsoft.com/office/2011/relationships/chartStyle" Target="style38.xml"/></Relationships>
</file>

<file path=ppt/charts/_rels/chart39.xml.rels><?xml version="1.0" encoding="UTF-8" standalone="yes"?>
<Relationships xmlns="http://schemas.openxmlformats.org/package/2006/relationships"><Relationship Id="rId3" Type="http://schemas.openxmlformats.org/officeDocument/2006/relationships/themeOverride" Target="../theme/themeOverride13.xml"/><Relationship Id="rId2" Type="http://schemas.microsoft.com/office/2011/relationships/chartColorStyle" Target="colors39.xml"/><Relationship Id="rId1" Type="http://schemas.microsoft.com/office/2011/relationships/chartStyle" Target="style39.xml"/><Relationship Id="rId4" Type="http://schemas.openxmlformats.org/officeDocument/2006/relationships/package" Target="../embeddings/Microsoft_Excel_Worksheet38.xlsx"/></Relationships>
</file>

<file path=ppt/charts/_rels/chart40.xml.rels><?xml version="1.0" encoding="UTF-8" standalone="yes"?>
<Relationships xmlns="http://schemas.openxmlformats.org/package/2006/relationships"><Relationship Id="rId3" Type="http://schemas.openxmlformats.org/officeDocument/2006/relationships/themeOverride" Target="../theme/themeOverride14.xml"/><Relationship Id="rId2" Type="http://schemas.microsoft.com/office/2011/relationships/chartColorStyle" Target="colors40.xml"/><Relationship Id="rId1" Type="http://schemas.microsoft.com/office/2011/relationships/chartStyle" Target="style40.xml"/><Relationship Id="rId4" Type="http://schemas.openxmlformats.org/officeDocument/2006/relationships/package" Target="../embeddings/Microsoft_Excel_Worksheet39.xlsx"/></Relationships>
</file>

<file path=ppt/charts/_rels/chart41.xml.rels><?xml version="1.0" encoding="UTF-8" standalone="yes"?>
<Relationships xmlns="http://schemas.openxmlformats.org/package/2006/relationships"><Relationship Id="rId3" Type="http://schemas.openxmlformats.org/officeDocument/2006/relationships/themeOverride" Target="../theme/themeOverride15.xml"/><Relationship Id="rId2" Type="http://schemas.microsoft.com/office/2011/relationships/chartColorStyle" Target="colors41.xml"/><Relationship Id="rId1" Type="http://schemas.microsoft.com/office/2011/relationships/chartStyle" Target="style41.xml"/><Relationship Id="rId4" Type="http://schemas.openxmlformats.org/officeDocument/2006/relationships/package" Target="../embeddings/Microsoft_Excel_Worksheet40.xlsx"/></Relationships>
</file>

<file path=ppt/charts/_rels/chart42.xml.rels><?xml version="1.0" encoding="UTF-8" standalone="yes"?>
<Relationships xmlns="http://schemas.openxmlformats.org/package/2006/relationships"><Relationship Id="rId3" Type="http://schemas.openxmlformats.org/officeDocument/2006/relationships/themeOverride" Target="../theme/themeOverride16.xml"/><Relationship Id="rId2" Type="http://schemas.microsoft.com/office/2011/relationships/chartColorStyle" Target="colors42.xml"/><Relationship Id="rId1" Type="http://schemas.microsoft.com/office/2011/relationships/chartStyle" Target="style42.xml"/><Relationship Id="rId4" Type="http://schemas.openxmlformats.org/officeDocument/2006/relationships/package" Target="../embeddings/Microsoft_Excel_Worksheet41.xlsx"/></Relationships>
</file>

<file path=ppt/charts/_rels/chart43.xml.rels><?xml version="1.0" encoding="UTF-8" standalone="yes"?>
<Relationships xmlns="http://schemas.openxmlformats.org/package/2006/relationships"><Relationship Id="rId3" Type="http://schemas.openxmlformats.org/officeDocument/2006/relationships/themeOverride" Target="../theme/themeOverride17.xml"/><Relationship Id="rId2" Type="http://schemas.microsoft.com/office/2011/relationships/chartColorStyle" Target="colors43.xml"/><Relationship Id="rId1" Type="http://schemas.microsoft.com/office/2011/relationships/chartStyle" Target="style43.xml"/><Relationship Id="rId4" Type="http://schemas.openxmlformats.org/officeDocument/2006/relationships/package" Target="../embeddings/Microsoft_Excel_Worksheet42.xlsx"/></Relationships>
</file>

<file path=ppt/charts/_rels/chart44.xml.rels><?xml version="1.0" encoding="UTF-8" standalone="yes"?>
<Relationships xmlns="http://schemas.openxmlformats.org/package/2006/relationships"><Relationship Id="rId3" Type="http://schemas.openxmlformats.org/officeDocument/2006/relationships/themeOverride" Target="../theme/themeOverride18.xml"/><Relationship Id="rId2" Type="http://schemas.microsoft.com/office/2011/relationships/chartColorStyle" Target="colors44.xml"/><Relationship Id="rId1" Type="http://schemas.microsoft.com/office/2011/relationships/chartStyle" Target="style44.xml"/><Relationship Id="rId4" Type="http://schemas.openxmlformats.org/officeDocument/2006/relationships/package" Target="../embeddings/Microsoft_Excel_Worksheet43.xlsx"/></Relationships>
</file>

<file path=ppt/charts/_rels/chart45.xml.rels><?xml version="1.0" encoding="UTF-8" standalone="yes"?>
<Relationships xmlns="http://schemas.openxmlformats.org/package/2006/relationships"><Relationship Id="rId3" Type="http://schemas.openxmlformats.org/officeDocument/2006/relationships/package" Target="../embeddings/Microsoft_Excel_Worksheet44.xlsx"/><Relationship Id="rId2" Type="http://schemas.microsoft.com/office/2011/relationships/chartColorStyle" Target="colors45.xml"/><Relationship Id="rId1" Type="http://schemas.microsoft.com/office/2011/relationships/chartStyle" Target="style45.xml"/></Relationships>
</file>

<file path=ppt/charts/_rels/chart46.xml.rels><?xml version="1.0" encoding="UTF-8" standalone="yes"?>
<Relationships xmlns="http://schemas.openxmlformats.org/package/2006/relationships"><Relationship Id="rId3" Type="http://schemas.openxmlformats.org/officeDocument/2006/relationships/package" Target="../embeddings/Microsoft_Excel_Worksheet45.xlsx"/><Relationship Id="rId2" Type="http://schemas.microsoft.com/office/2011/relationships/chartColorStyle" Target="colors46.xml"/><Relationship Id="rId1" Type="http://schemas.microsoft.com/office/2011/relationships/chartStyle" Target="style46.xml"/></Relationships>
</file>

<file path=ppt/charts/_rels/chart47.xml.rels><?xml version="1.0" encoding="UTF-8" standalone="yes"?>
<Relationships xmlns="http://schemas.openxmlformats.org/package/2006/relationships"><Relationship Id="rId3" Type="http://schemas.openxmlformats.org/officeDocument/2006/relationships/themeOverride" Target="../theme/themeOverride19.xml"/><Relationship Id="rId2" Type="http://schemas.microsoft.com/office/2011/relationships/chartColorStyle" Target="colors47.xml"/><Relationship Id="rId1" Type="http://schemas.microsoft.com/office/2011/relationships/chartStyle" Target="style47.xml"/><Relationship Id="rId4" Type="http://schemas.openxmlformats.org/officeDocument/2006/relationships/package" Target="../embeddings/Microsoft_Excel_Worksheet46.xlsx"/></Relationships>
</file>

<file path=ppt/charts/_rels/chart48.xml.rels><?xml version="1.0" encoding="UTF-8" standalone="yes"?>
<Relationships xmlns="http://schemas.openxmlformats.org/package/2006/relationships"><Relationship Id="rId2" Type="http://schemas.openxmlformats.org/officeDocument/2006/relationships/package" Target="../embeddings/Microsoft_Excel_Worksheet47.xlsx"/><Relationship Id="rId1" Type="http://schemas.openxmlformats.org/officeDocument/2006/relationships/themeOverride" Target="../theme/themeOverride20.xml"/></Relationships>
</file>

<file path=ppt/charts/_rels/chart49.xml.rels><?xml version="1.0" encoding="UTF-8" standalone="yes"?>
<Relationships xmlns="http://schemas.openxmlformats.org/package/2006/relationships"><Relationship Id="rId3" Type="http://schemas.openxmlformats.org/officeDocument/2006/relationships/themeOverride" Target="../theme/themeOverride21.xml"/><Relationship Id="rId2" Type="http://schemas.microsoft.com/office/2011/relationships/chartColorStyle" Target="colors48.xml"/><Relationship Id="rId1" Type="http://schemas.microsoft.com/office/2011/relationships/chartStyle" Target="style48.xml"/><Relationship Id="rId4" Type="http://schemas.openxmlformats.org/officeDocument/2006/relationships/package" Target="../embeddings/Microsoft_Excel_Worksheet48.xlsx"/></Relationships>
</file>

<file path=ppt/charts/_rels/chart50.xml.rels><?xml version="1.0" encoding="UTF-8" standalone="yes"?>
<Relationships xmlns="http://schemas.openxmlformats.org/package/2006/relationships"><Relationship Id="rId2" Type="http://schemas.openxmlformats.org/officeDocument/2006/relationships/package" Target="../embeddings/Microsoft_Excel_Worksheet49.xlsx"/><Relationship Id="rId1" Type="http://schemas.openxmlformats.org/officeDocument/2006/relationships/themeOverride" Target="../theme/themeOverride22.xml"/></Relationships>
</file>

<file path=ppt/charts/_rels/chart51.xml.rels><?xml version="1.0" encoding="UTF-8" standalone="yes"?>
<Relationships xmlns="http://schemas.openxmlformats.org/package/2006/relationships"><Relationship Id="rId3" Type="http://schemas.openxmlformats.org/officeDocument/2006/relationships/package" Target="../embeddings/Microsoft_Excel_Worksheet50.xlsx"/><Relationship Id="rId2" Type="http://schemas.microsoft.com/office/2011/relationships/chartColorStyle" Target="colors49.xml"/><Relationship Id="rId1" Type="http://schemas.microsoft.com/office/2011/relationships/chartStyle" Target="style49.xml"/></Relationships>
</file>

<file path=ppt/charts/_rels/chart52.xml.rels><?xml version="1.0" encoding="UTF-8" standalone="yes"?>
<Relationships xmlns="http://schemas.openxmlformats.org/package/2006/relationships"><Relationship Id="rId3" Type="http://schemas.openxmlformats.org/officeDocument/2006/relationships/themeOverride" Target="../theme/themeOverride23.xml"/><Relationship Id="rId2" Type="http://schemas.microsoft.com/office/2011/relationships/chartColorStyle" Target="colors50.xml"/><Relationship Id="rId1" Type="http://schemas.microsoft.com/office/2011/relationships/chartStyle" Target="style50.xml"/><Relationship Id="rId4" Type="http://schemas.openxmlformats.org/officeDocument/2006/relationships/package" Target="../embeddings/Microsoft_Excel_Worksheet51.xlsx"/></Relationships>
</file>

<file path=ppt/charts/_rels/chart53.xml.rels><?xml version="1.0" encoding="UTF-8" standalone="yes"?>
<Relationships xmlns="http://schemas.openxmlformats.org/package/2006/relationships"><Relationship Id="rId3" Type="http://schemas.openxmlformats.org/officeDocument/2006/relationships/package" Target="../embeddings/Microsoft_Excel_Worksheet52.xlsx"/><Relationship Id="rId2" Type="http://schemas.microsoft.com/office/2011/relationships/chartColorStyle" Target="colors51.xml"/><Relationship Id="rId1" Type="http://schemas.microsoft.com/office/2011/relationships/chartStyle" Target="style51.xml"/></Relationships>
</file>

<file path=ppt/charts/_rels/chart54.xml.rels><?xml version="1.0" encoding="UTF-8" standalone="yes"?>
<Relationships xmlns="http://schemas.openxmlformats.org/package/2006/relationships"><Relationship Id="rId2" Type="http://schemas.openxmlformats.org/officeDocument/2006/relationships/package" Target="../embeddings/Microsoft_Excel_Worksheet53.xlsx"/><Relationship Id="rId1" Type="http://schemas.openxmlformats.org/officeDocument/2006/relationships/themeOverride" Target="../theme/themeOverride24.xml"/></Relationships>
</file>

<file path=ppt/charts/_rels/chart55.xml.rels><?xml version="1.0" encoding="UTF-8" standalone="yes"?>
<Relationships xmlns="http://schemas.openxmlformats.org/package/2006/relationships"><Relationship Id="rId3" Type="http://schemas.openxmlformats.org/officeDocument/2006/relationships/themeOverride" Target="../theme/themeOverride25.xml"/><Relationship Id="rId2" Type="http://schemas.microsoft.com/office/2011/relationships/chartColorStyle" Target="colors52.xml"/><Relationship Id="rId1" Type="http://schemas.microsoft.com/office/2011/relationships/chartStyle" Target="style52.xml"/><Relationship Id="rId4" Type="http://schemas.openxmlformats.org/officeDocument/2006/relationships/package" Target="../embeddings/Microsoft_Excel_Worksheet54.xlsx"/></Relationships>
</file>

<file path=ppt/charts/_rels/chart56.xml.rels><?xml version="1.0" encoding="UTF-8" standalone="yes"?>
<Relationships xmlns="http://schemas.openxmlformats.org/package/2006/relationships"><Relationship Id="rId3" Type="http://schemas.openxmlformats.org/officeDocument/2006/relationships/themeOverride" Target="../theme/themeOverride26.xml"/><Relationship Id="rId2" Type="http://schemas.microsoft.com/office/2011/relationships/chartColorStyle" Target="colors53.xml"/><Relationship Id="rId1" Type="http://schemas.microsoft.com/office/2011/relationships/chartStyle" Target="style53.xml"/><Relationship Id="rId4" Type="http://schemas.openxmlformats.org/officeDocument/2006/relationships/package" Target="../embeddings/Microsoft_Excel_Worksheet55.xlsx"/></Relationships>
</file>

<file path=ppt/charts/_rels/chart57.xml.rels><?xml version="1.0" encoding="UTF-8" standalone="yes"?>
<Relationships xmlns="http://schemas.openxmlformats.org/package/2006/relationships"><Relationship Id="rId3" Type="http://schemas.openxmlformats.org/officeDocument/2006/relationships/package" Target="../embeddings/Microsoft_Excel_Worksheet56.xlsx"/><Relationship Id="rId2" Type="http://schemas.microsoft.com/office/2011/relationships/chartColorStyle" Target="colors54.xml"/><Relationship Id="rId1" Type="http://schemas.microsoft.com/office/2011/relationships/chartStyle" Target="style54.xml"/></Relationships>
</file>

<file path=ppt/charts/_rels/chart58.xml.rels><?xml version="1.0" encoding="UTF-8" standalone="yes"?>
<Relationships xmlns="http://schemas.openxmlformats.org/package/2006/relationships"><Relationship Id="rId2" Type="http://schemas.openxmlformats.org/officeDocument/2006/relationships/package" Target="../embeddings/Microsoft_Excel_Worksheet57.xlsx"/><Relationship Id="rId1" Type="http://schemas.openxmlformats.org/officeDocument/2006/relationships/themeOverride" Target="../theme/themeOverride27.xml"/></Relationships>
</file>

<file path=ppt/charts/_rels/chart59.xml.rels><?xml version="1.0" encoding="UTF-8" standalone="yes"?>
<Relationships xmlns="http://schemas.openxmlformats.org/package/2006/relationships"><Relationship Id="rId2" Type="http://schemas.openxmlformats.org/officeDocument/2006/relationships/package" Target="../embeddings/Microsoft_Excel_Worksheet58.xlsx"/><Relationship Id="rId1" Type="http://schemas.openxmlformats.org/officeDocument/2006/relationships/themeOverride" Target="../theme/themeOverride2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6956266788177052"/>
          <c:y val="0"/>
          <c:w val="0.72334442387203657"/>
          <c:h val="1"/>
        </c:manualLayout>
      </c:layout>
      <c:doughnutChart>
        <c:varyColors val="1"/>
        <c:ser>
          <c:idx val="0"/>
          <c:order val="0"/>
          <c:tx>
            <c:strRef>
              <c:f>Sheet1!$B$1</c:f>
              <c:strCache>
                <c:ptCount val="1"/>
                <c:pt idx="0">
                  <c:v>Column1</c:v>
                </c:pt>
              </c:strCache>
            </c:strRef>
          </c:tx>
          <c:spPr>
            <a:solidFill>
              <a:srgbClr val="62268A"/>
            </a:solidFill>
            <a:ln>
              <a:noFill/>
            </a:ln>
          </c:spPr>
          <c:dPt>
            <c:idx val="0"/>
            <c:bubble3D val="0"/>
            <c:spPr>
              <a:solidFill>
                <a:srgbClr val="4472C4">
                  <a:lumMod val="60000"/>
                  <a:lumOff val="40000"/>
                </a:srgbClr>
              </a:solidFill>
              <a:ln w="19050">
                <a:noFill/>
              </a:ln>
              <a:effectLst/>
            </c:spPr>
            <c:extLst>
              <c:ext xmlns:c16="http://schemas.microsoft.com/office/drawing/2014/chart" uri="{C3380CC4-5D6E-409C-BE32-E72D297353CC}">
                <c16:uniqueId val="{00000001-3413-49D1-B8AD-349C4B6E40E0}"/>
              </c:ext>
            </c:extLst>
          </c:dPt>
          <c:dPt>
            <c:idx val="1"/>
            <c:bubble3D val="0"/>
            <c:spPr>
              <a:solidFill>
                <a:srgbClr val="FFC000">
                  <a:lumMod val="20000"/>
                  <a:lumOff val="80000"/>
                </a:srgbClr>
              </a:solidFill>
              <a:ln w="19050">
                <a:noFill/>
              </a:ln>
              <a:effectLst/>
            </c:spPr>
            <c:extLst>
              <c:ext xmlns:c16="http://schemas.microsoft.com/office/drawing/2014/chart" uri="{C3380CC4-5D6E-409C-BE32-E72D297353CC}">
                <c16:uniqueId val="{00000003-3413-49D1-B8AD-349C4B6E40E0}"/>
              </c:ext>
            </c:extLst>
          </c:dPt>
          <c:cat>
            <c:strRef>
              <c:f>Sheet1!$A$2:$A$3</c:f>
              <c:strCache>
                <c:ptCount val="2"/>
                <c:pt idx="0">
                  <c:v>Random (In-home)</c:v>
                </c:pt>
                <c:pt idx="1">
                  <c:v>Intercept (Mall)</c:v>
                </c:pt>
              </c:strCache>
            </c:strRef>
          </c:cat>
          <c:val>
            <c:numRef>
              <c:f>Sheet1!$B$2:$B$3</c:f>
              <c:numCache>
                <c:formatCode>0%</c:formatCode>
                <c:ptCount val="2"/>
                <c:pt idx="0">
                  <c:v>1</c:v>
                </c:pt>
                <c:pt idx="1">
                  <c:v>0</c:v>
                </c:pt>
              </c:numCache>
            </c:numRef>
          </c:val>
          <c:extLst>
            <c:ext xmlns:c16="http://schemas.microsoft.com/office/drawing/2014/chart" uri="{C3380CC4-5D6E-409C-BE32-E72D297353CC}">
              <c16:uniqueId val="{00000004-3413-49D1-B8AD-349C4B6E40E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28988882283142153"/>
          <c:y val="0"/>
          <c:w val="0.65428729152068132"/>
          <c:h val="1"/>
        </c:manualLayout>
      </c:layout>
      <c:barChart>
        <c:barDir val="bar"/>
        <c:grouping val="clustered"/>
        <c:varyColors val="0"/>
        <c:ser>
          <c:idx val="0"/>
          <c:order val="0"/>
          <c:tx>
            <c:strRef>
              <c:f>Sheet1!$B$1</c:f>
              <c:strCache>
                <c:ptCount val="1"/>
                <c:pt idx="0">
                  <c:v>Series 1</c:v>
                </c:pt>
              </c:strCache>
            </c:strRef>
          </c:tx>
          <c:spPr>
            <a:solidFill>
              <a:srgbClr val="D6D6D6"/>
            </a:solidFill>
            <a:ln>
              <a:noFill/>
            </a:ln>
            <a:effectLst/>
          </c:spPr>
          <c:invertIfNegative val="0"/>
          <c:dPt>
            <c:idx val="0"/>
            <c:invertIfNegative val="0"/>
            <c:bubble3D val="0"/>
            <c:spPr>
              <a:solidFill>
                <a:srgbClr val="D6D6D6"/>
              </a:solidFill>
              <a:ln>
                <a:noFill/>
              </a:ln>
              <a:effectLst/>
            </c:spPr>
            <c:extLst>
              <c:ext xmlns:c16="http://schemas.microsoft.com/office/drawing/2014/chart" uri="{C3380CC4-5D6E-409C-BE32-E72D297353CC}">
                <c16:uniqueId val="{00000001-DA98-46BF-93CF-9AFA80F7D721}"/>
              </c:ext>
            </c:extLst>
          </c:dPt>
          <c:dLbls>
            <c:dLbl>
              <c:idx val="0"/>
              <c:layout/>
              <c:tx>
                <c:rich>
                  <a:bodyPr/>
                  <a:lstStyle/>
                  <a:p>
                    <a:fld id="{A55CE8F6-9242-4C7D-AD77-DADC27FFE234}" type="VALUE">
                      <a:rPr lang="en-US" b="0">
                        <a:solidFill>
                          <a:schemeClr val="tx1"/>
                        </a:solidFill>
                      </a:rPr>
                      <a:pPr/>
                      <a:t>[VALUE]</a:t>
                    </a:fld>
                    <a:endParaRPr lang="en-US"/>
                  </a:p>
                </c:rich>
              </c:tx>
              <c:dLblPos val="outEnd"/>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1-DA98-46BF-93CF-9AFA80F7D721}"/>
                </c:ext>
              </c:extLst>
            </c:dLbl>
            <c:spPr>
              <a:noFill/>
              <a:ln>
                <a:noFill/>
              </a:ln>
              <a:effectLst/>
            </c:spPr>
            <c:txPr>
              <a:bodyPr rot="0" spcFirstLastPara="1" vertOverflow="ellipsis" vert="horz" wrap="square" anchor="ctr" anchorCtr="1"/>
              <a:lstStyle/>
              <a:p>
                <a:pPr>
                  <a:defRPr sz="1197" b="0" i="0" u="none" strike="noStrike" kern="1200" baseline="0">
                    <a:solidFill>
                      <a:schemeClr val="tx1">
                        <a:lumMod val="75000"/>
                        <a:lumOff val="25000"/>
                      </a:schemeClr>
                    </a:solidFill>
                    <a:latin typeface="MTN Brighter Sans"/>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Lagos</c:v>
                </c:pt>
                <c:pt idx="1">
                  <c:v>Bauchi</c:v>
                </c:pt>
                <c:pt idx="2">
                  <c:v>Kano</c:v>
                </c:pt>
                <c:pt idx="3">
                  <c:v>Enugu</c:v>
                </c:pt>
                <c:pt idx="4">
                  <c:v>FCT</c:v>
                </c:pt>
                <c:pt idx="5">
                  <c:v>Edo</c:v>
                </c:pt>
              </c:strCache>
            </c:strRef>
          </c:cat>
          <c:val>
            <c:numRef>
              <c:f>Sheet1!$B$2:$B$7</c:f>
              <c:numCache>
                <c:formatCode>0%</c:formatCode>
                <c:ptCount val="6"/>
                <c:pt idx="0">
                  <c:v>0.24</c:v>
                </c:pt>
                <c:pt idx="1">
                  <c:v>0.2</c:v>
                </c:pt>
                <c:pt idx="2">
                  <c:v>0.2</c:v>
                </c:pt>
                <c:pt idx="3">
                  <c:v>0.14000000000000001</c:v>
                </c:pt>
                <c:pt idx="4">
                  <c:v>0.12</c:v>
                </c:pt>
                <c:pt idx="5">
                  <c:v>0.11</c:v>
                </c:pt>
              </c:numCache>
            </c:numRef>
          </c:val>
          <c:extLst>
            <c:ext xmlns:c16="http://schemas.microsoft.com/office/drawing/2014/chart" uri="{C3380CC4-5D6E-409C-BE32-E72D297353CC}">
              <c16:uniqueId val="{00000002-DA98-46BF-93CF-9AFA80F7D721}"/>
            </c:ext>
          </c:extLst>
        </c:ser>
        <c:dLbls>
          <c:showLegendKey val="0"/>
          <c:showVal val="0"/>
          <c:showCatName val="0"/>
          <c:showSerName val="0"/>
          <c:showPercent val="0"/>
          <c:showBubbleSize val="0"/>
        </c:dLbls>
        <c:gapWidth val="92"/>
        <c:axId val="2021072815"/>
        <c:axId val="2021074063"/>
      </c:barChart>
      <c:catAx>
        <c:axId val="2021072815"/>
        <c:scaling>
          <c:orientation val="maxMin"/>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TN Brighter Sans"/>
                <a:ea typeface="+mn-ea"/>
                <a:cs typeface="+mn-cs"/>
              </a:defRPr>
            </a:pPr>
            <a:endParaRPr lang="en-US"/>
          </a:p>
        </c:txPr>
        <c:crossAx val="2021074063"/>
        <c:crosses val="autoZero"/>
        <c:auto val="1"/>
        <c:lblAlgn val="ctr"/>
        <c:lblOffset val="100"/>
        <c:noMultiLvlLbl val="0"/>
      </c:catAx>
      <c:valAx>
        <c:axId val="2021074063"/>
        <c:scaling>
          <c:orientation val="minMax"/>
        </c:scaling>
        <c:delete val="1"/>
        <c:axPos val="t"/>
        <c:numFmt formatCode="0%" sourceLinked="1"/>
        <c:majorTickMark val="none"/>
        <c:minorTickMark val="none"/>
        <c:tickLblPos val="nextTo"/>
        <c:crossAx val="202107281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MTN Brighter Sans"/>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3130891555213981"/>
          <c:y val="0.10034169242310002"/>
          <c:w val="0.62688285342114292"/>
          <c:h val="0.88973501674891153"/>
        </c:manualLayout>
      </c:layout>
      <c:barChart>
        <c:barDir val="bar"/>
        <c:grouping val="clustered"/>
        <c:varyColors val="0"/>
        <c:ser>
          <c:idx val="0"/>
          <c:order val="0"/>
          <c:tx>
            <c:strRef>
              <c:f>Sheet1!$B$1</c:f>
              <c:strCache>
                <c:ptCount val="1"/>
                <c:pt idx="0">
                  <c:v>Series 1</c:v>
                </c:pt>
              </c:strCache>
            </c:strRef>
          </c:tx>
          <c:spPr>
            <a:solidFill>
              <a:srgbClr val="44546A">
                <a:lumMod val="40000"/>
                <a:lumOff val="60000"/>
              </a:srgbClr>
            </a:solidFill>
            <a:ln>
              <a:noFill/>
            </a:ln>
            <a:effectLst/>
          </c:spPr>
          <c:invertIfNegative val="0"/>
          <c:dPt>
            <c:idx val="1"/>
            <c:invertIfNegative val="0"/>
            <c:bubble3D val="0"/>
            <c:spPr>
              <a:solidFill>
                <a:srgbClr val="44546A">
                  <a:lumMod val="40000"/>
                  <a:lumOff val="60000"/>
                </a:srgbClr>
              </a:solidFill>
              <a:ln>
                <a:noFill/>
              </a:ln>
              <a:effectLst/>
            </c:spPr>
            <c:extLst>
              <c:ext xmlns:c16="http://schemas.microsoft.com/office/drawing/2014/chart" uri="{C3380CC4-5D6E-409C-BE32-E72D297353CC}">
                <c16:uniqueId val="{00000001-ABAE-406A-9580-533A7EB7181A}"/>
              </c:ext>
            </c:extLst>
          </c:dPt>
          <c:dLbls>
            <c:dLbl>
              <c:idx val="1"/>
              <c:layout/>
              <c:tx>
                <c:rich>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fld id="{59C68AE2-83BB-4B32-9FAB-8299ED6A9216}" type="VALUE">
                      <a:rPr lang="en-US" b="0">
                        <a:solidFill>
                          <a:schemeClr val="tx1"/>
                        </a:solidFill>
                      </a:rPr>
                      <a:pPr>
                        <a:defRPr>
                          <a:solidFill>
                            <a:schemeClr val="tx1"/>
                          </a:solidFill>
                        </a:defRPr>
                      </a:pPr>
                      <a:t>[VALUE]</a:t>
                    </a:fld>
                    <a:endParaRPr lang="en-US"/>
                  </a:p>
                </c:rich>
              </c:tx>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1-ABAE-406A-9580-533A7EB7181A}"/>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18-24years</c:v>
                </c:pt>
                <c:pt idx="1">
                  <c:v>25-34years</c:v>
                </c:pt>
                <c:pt idx="2">
                  <c:v>35-44years</c:v>
                </c:pt>
                <c:pt idx="3">
                  <c:v>45-54years</c:v>
                </c:pt>
                <c:pt idx="4">
                  <c:v>55 years and above</c:v>
                </c:pt>
              </c:strCache>
            </c:strRef>
          </c:cat>
          <c:val>
            <c:numRef>
              <c:f>Sheet1!$B$2:$B$6</c:f>
              <c:numCache>
                <c:formatCode>0%</c:formatCode>
                <c:ptCount val="5"/>
                <c:pt idx="0">
                  <c:v>0.16</c:v>
                </c:pt>
                <c:pt idx="1">
                  <c:v>0.44</c:v>
                </c:pt>
                <c:pt idx="2">
                  <c:v>0.31</c:v>
                </c:pt>
                <c:pt idx="3">
                  <c:v>0.06</c:v>
                </c:pt>
                <c:pt idx="4">
                  <c:v>0.02</c:v>
                </c:pt>
              </c:numCache>
            </c:numRef>
          </c:val>
          <c:extLst>
            <c:ext xmlns:c16="http://schemas.microsoft.com/office/drawing/2014/chart" uri="{C3380CC4-5D6E-409C-BE32-E72D297353CC}">
              <c16:uniqueId val="{00000002-ABAE-406A-9580-533A7EB7181A}"/>
            </c:ext>
          </c:extLst>
        </c:ser>
        <c:dLbls>
          <c:showLegendKey val="0"/>
          <c:showVal val="0"/>
          <c:showCatName val="0"/>
          <c:showSerName val="0"/>
          <c:showPercent val="0"/>
          <c:showBubbleSize val="0"/>
        </c:dLbls>
        <c:gapWidth val="182"/>
        <c:axId val="2021072815"/>
        <c:axId val="2021074063"/>
      </c:barChart>
      <c:catAx>
        <c:axId val="2021072815"/>
        <c:scaling>
          <c:orientation val="maxMin"/>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rgbClr val="000000"/>
                </a:solidFill>
                <a:latin typeface="MTN Brighter Sans"/>
                <a:ea typeface="+mn-ea"/>
                <a:cs typeface="+mn-cs"/>
              </a:defRPr>
            </a:pPr>
            <a:endParaRPr lang="en-US"/>
          </a:p>
        </c:txPr>
        <c:crossAx val="2021074063"/>
        <c:crosses val="autoZero"/>
        <c:auto val="1"/>
        <c:lblAlgn val="ctr"/>
        <c:lblOffset val="100"/>
        <c:noMultiLvlLbl val="0"/>
      </c:catAx>
      <c:valAx>
        <c:axId val="2021074063"/>
        <c:scaling>
          <c:orientation val="minMax"/>
        </c:scaling>
        <c:delete val="1"/>
        <c:axPos val="t"/>
        <c:numFmt formatCode="0%" sourceLinked="1"/>
        <c:majorTickMark val="none"/>
        <c:minorTickMark val="none"/>
        <c:tickLblPos val="nextTo"/>
        <c:crossAx val="202107281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49229523137597875"/>
          <c:y val="5.1610712374023704E-2"/>
          <c:w val="0.47892812714527477"/>
          <c:h val="0.88973501674891153"/>
        </c:manualLayout>
      </c:layout>
      <c:barChart>
        <c:barDir val="bar"/>
        <c:grouping val="clustered"/>
        <c:varyColors val="0"/>
        <c:ser>
          <c:idx val="0"/>
          <c:order val="0"/>
          <c:tx>
            <c:strRef>
              <c:f>Sheet1!$B$1</c:f>
              <c:strCache>
                <c:ptCount val="1"/>
                <c:pt idx="0">
                  <c:v>Series 1</c:v>
                </c:pt>
              </c:strCache>
            </c:strRef>
          </c:tx>
          <c:spPr>
            <a:solidFill>
              <a:srgbClr val="44546A">
                <a:lumMod val="40000"/>
                <a:lumOff val="60000"/>
              </a:srgbClr>
            </a:solidFill>
            <a:ln>
              <a:noFill/>
            </a:ln>
            <a:effectLst/>
          </c:spPr>
          <c:invertIfNegative val="0"/>
          <c:dPt>
            <c:idx val="1"/>
            <c:invertIfNegative val="0"/>
            <c:bubble3D val="0"/>
            <c:spPr>
              <a:solidFill>
                <a:srgbClr val="44546A">
                  <a:lumMod val="40000"/>
                  <a:lumOff val="60000"/>
                </a:srgbClr>
              </a:solidFill>
              <a:ln>
                <a:noFill/>
              </a:ln>
              <a:effectLst/>
            </c:spPr>
            <c:extLst>
              <c:ext xmlns:c16="http://schemas.microsoft.com/office/drawing/2014/chart" uri="{C3380CC4-5D6E-409C-BE32-E72D297353CC}">
                <c16:uniqueId val="{00000001-35A1-4883-9087-2006D5522D6F}"/>
              </c:ext>
            </c:extLst>
          </c:dPt>
          <c:dLbls>
            <c:dLbl>
              <c:idx val="1"/>
              <c:layout/>
              <c:tx>
                <c:rich>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fld id="{59C68AE2-83BB-4B32-9FAB-8299ED6A9216}" type="VALUE">
                      <a:rPr lang="en-US" b="0">
                        <a:solidFill>
                          <a:schemeClr val="tx1"/>
                        </a:solidFill>
                      </a:rPr>
                      <a:pPr>
                        <a:defRPr>
                          <a:solidFill>
                            <a:schemeClr val="tx1"/>
                          </a:solidFill>
                        </a:defRPr>
                      </a:pPr>
                      <a:t>[VALUE]</a:t>
                    </a:fld>
                    <a:endParaRPr lang="en-US"/>
                  </a:p>
                </c:rich>
              </c:tx>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1-35A1-4883-9087-2006D5522D6F}"/>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None</c:v>
                </c:pt>
                <c:pt idx="1">
                  <c:v>Religious school only</c:v>
                </c:pt>
                <c:pt idx="2">
                  <c:v>Primary</c:v>
                </c:pt>
                <c:pt idx="3">
                  <c:v>Secondary</c:v>
                </c:pt>
                <c:pt idx="4">
                  <c:v>Post-secondary (other than university)</c:v>
                </c:pt>
                <c:pt idx="5">
                  <c:v>Tetriary</c:v>
                </c:pt>
                <c:pt idx="6">
                  <c:v>Post Graduate</c:v>
                </c:pt>
              </c:strCache>
            </c:strRef>
          </c:cat>
          <c:val>
            <c:numRef>
              <c:f>Sheet1!$B$2:$B$8</c:f>
              <c:numCache>
                <c:formatCode>0%</c:formatCode>
                <c:ptCount val="7"/>
                <c:pt idx="0">
                  <c:v>0.01</c:v>
                </c:pt>
                <c:pt idx="1">
                  <c:v>0.01</c:v>
                </c:pt>
                <c:pt idx="2">
                  <c:v>0.03</c:v>
                </c:pt>
                <c:pt idx="3">
                  <c:v>0.4</c:v>
                </c:pt>
                <c:pt idx="4">
                  <c:v>0.19</c:v>
                </c:pt>
                <c:pt idx="5">
                  <c:v>0.34</c:v>
                </c:pt>
                <c:pt idx="6">
                  <c:v>0.02</c:v>
                </c:pt>
              </c:numCache>
            </c:numRef>
          </c:val>
          <c:extLst>
            <c:ext xmlns:c16="http://schemas.microsoft.com/office/drawing/2014/chart" uri="{C3380CC4-5D6E-409C-BE32-E72D297353CC}">
              <c16:uniqueId val="{00000002-35A1-4883-9087-2006D5522D6F}"/>
            </c:ext>
          </c:extLst>
        </c:ser>
        <c:dLbls>
          <c:showLegendKey val="0"/>
          <c:showVal val="0"/>
          <c:showCatName val="0"/>
          <c:showSerName val="0"/>
          <c:showPercent val="0"/>
          <c:showBubbleSize val="0"/>
        </c:dLbls>
        <c:gapWidth val="182"/>
        <c:axId val="2021072815"/>
        <c:axId val="2021074063"/>
      </c:barChart>
      <c:catAx>
        <c:axId val="2021072815"/>
        <c:scaling>
          <c:orientation val="maxMin"/>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rgbClr val="000000"/>
                </a:solidFill>
                <a:latin typeface="MTN Brighter Sans"/>
                <a:ea typeface="+mn-ea"/>
                <a:cs typeface="+mn-cs"/>
              </a:defRPr>
            </a:pPr>
            <a:endParaRPr lang="en-US"/>
          </a:p>
        </c:txPr>
        <c:crossAx val="2021074063"/>
        <c:crosses val="autoZero"/>
        <c:auto val="1"/>
        <c:lblAlgn val="ctr"/>
        <c:lblOffset val="100"/>
        <c:noMultiLvlLbl val="0"/>
      </c:catAx>
      <c:valAx>
        <c:axId val="2021074063"/>
        <c:scaling>
          <c:orientation val="minMax"/>
        </c:scaling>
        <c:delete val="1"/>
        <c:axPos val="t"/>
        <c:numFmt formatCode="0%" sourceLinked="1"/>
        <c:majorTickMark val="none"/>
        <c:minorTickMark val="none"/>
        <c:tickLblPos val="nextTo"/>
        <c:crossAx val="202107281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3140180201574776"/>
          <c:y val="0"/>
          <c:w val="0.47929484777313469"/>
          <c:h val="1"/>
        </c:manualLayout>
      </c:layout>
      <c:doughnutChart>
        <c:varyColors val="1"/>
        <c:ser>
          <c:idx val="0"/>
          <c:order val="0"/>
          <c:tx>
            <c:strRef>
              <c:f>Sheet1!$B$1</c:f>
              <c:strCache>
                <c:ptCount val="1"/>
                <c:pt idx="0">
                  <c:v>Column1</c:v>
                </c:pt>
              </c:strCache>
            </c:strRef>
          </c:tx>
          <c:spPr>
            <a:solidFill>
              <a:srgbClr val="62268A"/>
            </a:solidFill>
            <a:ln>
              <a:noFill/>
            </a:ln>
          </c:spPr>
          <c:dPt>
            <c:idx val="0"/>
            <c:bubble3D val="0"/>
            <c:spPr>
              <a:solidFill>
                <a:srgbClr val="62268A"/>
              </a:solidFill>
              <a:ln w="19050">
                <a:noFill/>
              </a:ln>
              <a:effectLst/>
            </c:spPr>
            <c:extLst>
              <c:ext xmlns:c16="http://schemas.microsoft.com/office/drawing/2014/chart" uri="{C3380CC4-5D6E-409C-BE32-E72D297353CC}">
                <c16:uniqueId val="{00000001-C111-4ABF-AB11-C7A45E6402CD}"/>
              </c:ext>
            </c:extLst>
          </c:dPt>
          <c:dPt>
            <c:idx val="1"/>
            <c:bubble3D val="0"/>
            <c:spPr>
              <a:solidFill>
                <a:srgbClr val="D6D6D6"/>
              </a:solidFill>
              <a:ln w="19050">
                <a:noFill/>
              </a:ln>
              <a:effectLst/>
            </c:spPr>
            <c:extLst>
              <c:ext xmlns:c16="http://schemas.microsoft.com/office/drawing/2014/chart" uri="{C3380CC4-5D6E-409C-BE32-E72D297353CC}">
                <c16:uniqueId val="{00000003-C111-4ABF-AB11-C7A45E6402CD}"/>
              </c:ext>
            </c:extLst>
          </c:dPt>
          <c:dLbls>
            <c:dLbl>
              <c:idx val="0"/>
              <c:layout>
                <c:manualLayout>
                  <c:x val="5.2248325656991716E-2"/>
                  <c:y val="-0.35221179174604639"/>
                </c:manualLayout>
              </c:layout>
              <c:tx>
                <c:rich>
                  <a:bodyPr/>
                  <a:lstStyle/>
                  <a:p>
                    <a:fld id="{220EE36A-4AE4-4CBE-A681-239C65457F1E}" type="VALUE">
                      <a:rPr lang="en-US"/>
                      <a:pPr/>
                      <a:t>[VALUE]</a:t>
                    </a:fld>
                    <a:endParaRPr lang="en-US"/>
                  </a:p>
                </c:rich>
              </c:tx>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1-C111-4ABF-AB11-C7A45E6402CD}"/>
                </c:ext>
              </c:extLst>
            </c:dLbl>
            <c:dLbl>
              <c:idx val="1"/>
              <c:layout>
                <c:manualLayout>
                  <c:x val="-4.2657074507719189E-2"/>
                  <c:y val="-0.33475497334185167"/>
                </c:manualLayout>
              </c:layout>
              <c:tx>
                <c:rich>
                  <a:bodyPr/>
                  <a:lstStyle/>
                  <a:p>
                    <a:fld id="{13623D31-8539-4E26-9DA3-2C757CDA05A5}" type="VALUE">
                      <a:rPr lang="en-US"/>
                      <a:pPr/>
                      <a:t>[VALUE]</a:t>
                    </a:fld>
                    <a:endParaRPr lang="en-US"/>
                  </a:p>
                </c:rich>
              </c:tx>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3-C111-4ABF-AB11-C7A45E6402CD}"/>
                </c:ext>
              </c:extLst>
            </c:dLbl>
            <c:spPr>
              <a:noFill/>
              <a:ln>
                <a:noFill/>
              </a:ln>
              <a:effectLst/>
            </c:spPr>
            <c:txPr>
              <a:bodyPr rot="0" spcFirstLastPara="1" vertOverflow="ellipsis" vert="horz" wrap="square" anchor="ctr" anchorCtr="1"/>
              <a:lstStyle/>
              <a:p>
                <a:pPr>
                  <a:defRPr sz="1197" b="1" i="0" u="none" strike="noStrike" kern="1200" baseline="0">
                    <a:solidFill>
                      <a:schemeClr val="tx1">
                        <a:lumMod val="75000"/>
                        <a:lumOff val="25000"/>
                      </a:schemeClr>
                    </a:solidFill>
                    <a:latin typeface="MTN Brighter Sans"/>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extLst>
          </c:dLbls>
          <c:cat>
            <c:strRef>
              <c:f>Sheet1!$A$2:$A$3</c:f>
              <c:strCache>
                <c:ptCount val="2"/>
                <c:pt idx="0">
                  <c:v>Male</c:v>
                </c:pt>
                <c:pt idx="1">
                  <c:v>Female</c:v>
                </c:pt>
              </c:strCache>
            </c:strRef>
          </c:cat>
          <c:val>
            <c:numRef>
              <c:f>Sheet1!$B$2:$B$3</c:f>
              <c:numCache>
                <c:formatCode>0%</c:formatCode>
                <c:ptCount val="2"/>
                <c:pt idx="0">
                  <c:v>0.47</c:v>
                </c:pt>
                <c:pt idx="1">
                  <c:v>0.53</c:v>
                </c:pt>
              </c:numCache>
            </c:numRef>
          </c:val>
          <c:extLst>
            <c:ext xmlns:c16="http://schemas.microsoft.com/office/drawing/2014/chart" uri="{C3380CC4-5D6E-409C-BE32-E72D297353CC}">
              <c16:uniqueId val="{00000004-C111-4ABF-AB11-C7A45E6402CD}"/>
            </c:ext>
          </c:extLst>
        </c:ser>
        <c:dLbls>
          <c:showLegendKey val="0"/>
          <c:showVal val="0"/>
          <c:showCatName val="0"/>
          <c:showSerName val="0"/>
          <c:showPercent val="0"/>
          <c:showBubbleSize val="0"/>
          <c:showLeaderLines val="0"/>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MTN Brighter Sans"/>
        </a:defRPr>
      </a:pPr>
      <a:endParaRPr lang="en-US"/>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3140180201574776"/>
          <c:y val="0"/>
          <c:w val="0.47929484777313469"/>
          <c:h val="1"/>
        </c:manualLayout>
      </c:layout>
      <c:doughnutChart>
        <c:varyColors val="1"/>
        <c:ser>
          <c:idx val="0"/>
          <c:order val="0"/>
          <c:tx>
            <c:strRef>
              <c:f>Sheet1!$B$1</c:f>
              <c:strCache>
                <c:ptCount val="1"/>
                <c:pt idx="0">
                  <c:v>Column1</c:v>
                </c:pt>
              </c:strCache>
            </c:strRef>
          </c:tx>
          <c:spPr>
            <a:solidFill>
              <a:srgbClr val="62268A"/>
            </a:solidFill>
            <a:ln>
              <a:noFill/>
            </a:ln>
          </c:spPr>
          <c:dPt>
            <c:idx val="0"/>
            <c:bubble3D val="0"/>
            <c:spPr>
              <a:solidFill>
                <a:srgbClr val="62268A"/>
              </a:solidFill>
              <a:ln w="19050">
                <a:noFill/>
              </a:ln>
              <a:effectLst/>
            </c:spPr>
            <c:extLst>
              <c:ext xmlns:c16="http://schemas.microsoft.com/office/drawing/2014/chart" uri="{C3380CC4-5D6E-409C-BE32-E72D297353CC}">
                <c16:uniqueId val="{00000001-3A31-441E-AC86-DFD382FEFB6B}"/>
              </c:ext>
            </c:extLst>
          </c:dPt>
          <c:dPt>
            <c:idx val="1"/>
            <c:bubble3D val="0"/>
            <c:spPr>
              <a:solidFill>
                <a:srgbClr val="D6D6D6"/>
              </a:solidFill>
              <a:ln w="19050">
                <a:noFill/>
              </a:ln>
              <a:effectLst/>
            </c:spPr>
            <c:extLst>
              <c:ext xmlns:c16="http://schemas.microsoft.com/office/drawing/2014/chart" uri="{C3380CC4-5D6E-409C-BE32-E72D297353CC}">
                <c16:uniqueId val="{00000003-3A31-441E-AC86-DFD382FEFB6B}"/>
              </c:ext>
            </c:extLst>
          </c:dPt>
          <c:dLbls>
            <c:dLbl>
              <c:idx val="0"/>
              <c:layout>
                <c:manualLayout>
                  <c:x val="5.2248325656991716E-2"/>
                  <c:y val="-0.35221179174604639"/>
                </c:manualLayout>
              </c:layout>
              <c:tx>
                <c:rich>
                  <a:bodyPr/>
                  <a:lstStyle/>
                  <a:p>
                    <a:fld id="{220EE36A-4AE4-4CBE-A681-239C65457F1E}" type="VALUE">
                      <a:rPr lang="en-US"/>
                      <a:pPr/>
                      <a:t>[VALUE]</a:t>
                    </a:fld>
                    <a:endParaRPr lang="en-US"/>
                  </a:p>
                </c:rich>
              </c:tx>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1-3A31-441E-AC86-DFD382FEFB6B}"/>
                </c:ext>
              </c:extLst>
            </c:dLbl>
            <c:dLbl>
              <c:idx val="1"/>
              <c:layout>
                <c:manualLayout>
                  <c:x val="-4.2657074507719189E-2"/>
                  <c:y val="-0.33475497334185167"/>
                </c:manualLayout>
              </c:layout>
              <c:tx>
                <c:rich>
                  <a:bodyPr/>
                  <a:lstStyle/>
                  <a:p>
                    <a:fld id="{13623D31-8539-4E26-9DA3-2C757CDA05A5}" type="VALUE">
                      <a:rPr lang="en-US"/>
                      <a:pPr/>
                      <a:t>[VALUE]</a:t>
                    </a:fld>
                    <a:endParaRPr lang="en-US"/>
                  </a:p>
                </c:rich>
              </c:tx>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3-3A31-441E-AC86-DFD382FEFB6B}"/>
                </c:ext>
              </c:extLst>
            </c:dLbl>
            <c:spPr>
              <a:noFill/>
              <a:ln>
                <a:noFill/>
              </a:ln>
              <a:effectLst/>
            </c:spPr>
            <c:txPr>
              <a:bodyPr rot="0" spcFirstLastPara="1" vertOverflow="ellipsis" vert="horz" wrap="square" anchor="ctr" anchorCtr="1"/>
              <a:lstStyle/>
              <a:p>
                <a:pPr>
                  <a:defRPr sz="1197" b="1" i="0" u="none" strike="noStrike" kern="1200" baseline="0">
                    <a:solidFill>
                      <a:schemeClr val="tx1">
                        <a:lumMod val="75000"/>
                        <a:lumOff val="25000"/>
                      </a:schemeClr>
                    </a:solidFill>
                    <a:latin typeface="MTN Brighter Sans"/>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extLst>
          </c:dLbls>
          <c:cat>
            <c:strRef>
              <c:f>Sheet1!$A$2:$A$3</c:f>
              <c:strCache>
                <c:ptCount val="2"/>
                <c:pt idx="0">
                  <c:v>Urban</c:v>
                </c:pt>
                <c:pt idx="1">
                  <c:v>Rural</c:v>
                </c:pt>
              </c:strCache>
            </c:strRef>
          </c:cat>
          <c:val>
            <c:numRef>
              <c:f>Sheet1!$B$2:$B$3</c:f>
              <c:numCache>
                <c:formatCode>0%</c:formatCode>
                <c:ptCount val="2"/>
                <c:pt idx="0">
                  <c:v>0.64</c:v>
                </c:pt>
                <c:pt idx="1">
                  <c:v>0.36</c:v>
                </c:pt>
              </c:numCache>
            </c:numRef>
          </c:val>
          <c:extLst>
            <c:ext xmlns:c16="http://schemas.microsoft.com/office/drawing/2014/chart" uri="{C3380CC4-5D6E-409C-BE32-E72D297353CC}">
              <c16:uniqueId val="{00000004-3A31-441E-AC86-DFD382FEFB6B}"/>
            </c:ext>
          </c:extLst>
        </c:ser>
        <c:dLbls>
          <c:showLegendKey val="0"/>
          <c:showVal val="0"/>
          <c:showCatName val="0"/>
          <c:showSerName val="0"/>
          <c:showPercent val="0"/>
          <c:showBubbleSize val="0"/>
          <c:showLeaderLines val="0"/>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MTN Brighter Sans"/>
        </a:defRPr>
      </a:pPr>
      <a:endParaRPr lang="en-US"/>
    </a:p>
  </c:txPr>
  <c:externalData r:id="rId4">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a:t>Political Interest Level</a:t>
            </a: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7161597222222222"/>
          <c:y val="0.13084527777777777"/>
          <c:w val="0.81452490079365092"/>
          <c:h val="0.75458444444444439"/>
        </c:manualLayout>
      </c:layout>
      <c:barChart>
        <c:barDir val="col"/>
        <c:grouping val="percentStacked"/>
        <c:varyColors val="0"/>
        <c:ser>
          <c:idx val="0"/>
          <c:order val="0"/>
          <c:tx>
            <c:strRef>
              <c:f>Sheet1!$B$1</c:f>
              <c:strCache>
                <c:ptCount val="1"/>
                <c:pt idx="0">
                  <c:v>Not interested at all (1.0)</c:v>
                </c:pt>
              </c:strCache>
            </c:strRef>
          </c:tx>
          <c:spPr>
            <a:solidFill>
              <a:srgbClr val="FF5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Sheet1!$B$2:$B$12</c:f>
              <c:numCache>
                <c:formatCode>0%</c:formatCode>
                <c:ptCount val="11"/>
                <c:pt idx="0">
                  <c:v>0.27</c:v>
                </c:pt>
                <c:pt idx="1">
                  <c:v>0.22</c:v>
                </c:pt>
                <c:pt idx="2">
                  <c:v>0.32</c:v>
                </c:pt>
                <c:pt idx="3">
                  <c:v>0.51</c:v>
                </c:pt>
                <c:pt idx="4">
                  <c:v>0.28000000000000003</c:v>
                </c:pt>
                <c:pt idx="5">
                  <c:v>0.24</c:v>
                </c:pt>
                <c:pt idx="6">
                  <c:v>0.14000000000000001</c:v>
                </c:pt>
                <c:pt idx="7">
                  <c:v>0.43</c:v>
                </c:pt>
                <c:pt idx="8">
                  <c:v>0.18</c:v>
                </c:pt>
                <c:pt idx="9">
                  <c:v>0.23</c:v>
                </c:pt>
                <c:pt idx="10">
                  <c:v>0.34</c:v>
                </c:pt>
              </c:numCache>
            </c:numRef>
          </c:val>
          <c:extLst>
            <c:ext xmlns:c16="http://schemas.microsoft.com/office/drawing/2014/chart" uri="{C3380CC4-5D6E-409C-BE32-E72D297353CC}">
              <c16:uniqueId val="{00000000-4D43-452D-8C7A-609B99D91909}"/>
            </c:ext>
          </c:extLst>
        </c:ser>
        <c:ser>
          <c:idx val="1"/>
          <c:order val="1"/>
          <c:tx>
            <c:strRef>
              <c:f>Sheet1!$C$1</c:f>
              <c:strCache>
                <c:ptCount val="1"/>
                <c:pt idx="0">
                  <c:v>Not interested (2.0)</c:v>
                </c:pt>
              </c:strCache>
            </c:strRef>
          </c:tx>
          <c:spPr>
            <a:solidFill>
              <a:srgbClr val="FFC000">
                <a:lumMod val="60000"/>
                <a:lumOff val="40000"/>
              </a:srgb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Sheet1!$C$2:$C$12</c:f>
              <c:numCache>
                <c:formatCode>0%</c:formatCode>
                <c:ptCount val="11"/>
                <c:pt idx="0">
                  <c:v>0.33</c:v>
                </c:pt>
                <c:pt idx="1">
                  <c:v>0.25</c:v>
                </c:pt>
                <c:pt idx="2">
                  <c:v>0.4</c:v>
                </c:pt>
                <c:pt idx="3">
                  <c:v>0.2</c:v>
                </c:pt>
                <c:pt idx="4">
                  <c:v>0.46</c:v>
                </c:pt>
                <c:pt idx="5">
                  <c:v>0.18</c:v>
                </c:pt>
                <c:pt idx="6">
                  <c:v>0.23</c:v>
                </c:pt>
                <c:pt idx="7">
                  <c:v>0.42</c:v>
                </c:pt>
                <c:pt idx="8">
                  <c:v>0.43</c:v>
                </c:pt>
                <c:pt idx="9">
                  <c:v>0.37</c:v>
                </c:pt>
                <c:pt idx="10">
                  <c:v>0.26</c:v>
                </c:pt>
              </c:numCache>
            </c:numRef>
          </c:val>
          <c:extLst>
            <c:ext xmlns:c16="http://schemas.microsoft.com/office/drawing/2014/chart" uri="{C3380CC4-5D6E-409C-BE32-E72D297353CC}">
              <c16:uniqueId val="{00000001-4D43-452D-8C7A-609B99D91909}"/>
            </c:ext>
          </c:extLst>
        </c:ser>
        <c:ser>
          <c:idx val="2"/>
          <c:order val="2"/>
          <c:tx>
            <c:strRef>
              <c:f>Sheet1!$D$1</c:f>
              <c:strCache>
                <c:ptCount val="1"/>
                <c:pt idx="0">
                  <c:v>Neither (3.0)</c:v>
                </c:pt>
              </c:strCache>
            </c:strRef>
          </c:tx>
          <c:spPr>
            <a:solidFill>
              <a:schemeClr val="accent2">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Sheet1!$D$2:$D$12</c:f>
              <c:numCache>
                <c:formatCode>0%</c:formatCode>
                <c:ptCount val="11"/>
                <c:pt idx="0">
                  <c:v>7.0000000000000007E-2</c:v>
                </c:pt>
                <c:pt idx="1">
                  <c:v>0.06</c:v>
                </c:pt>
                <c:pt idx="2">
                  <c:v>7.0000000000000007E-2</c:v>
                </c:pt>
                <c:pt idx="3">
                  <c:v>0.05</c:v>
                </c:pt>
                <c:pt idx="4">
                  <c:v>0.04</c:v>
                </c:pt>
                <c:pt idx="5">
                  <c:v>0.19</c:v>
                </c:pt>
                <c:pt idx="6">
                  <c:v>0</c:v>
                </c:pt>
                <c:pt idx="7">
                  <c:v>7.0000000000000007E-2</c:v>
                </c:pt>
                <c:pt idx="8">
                  <c:v>0.03</c:v>
                </c:pt>
                <c:pt idx="9">
                  <c:v>0.06</c:v>
                </c:pt>
                <c:pt idx="10">
                  <c:v>0.09</c:v>
                </c:pt>
              </c:numCache>
            </c:numRef>
          </c:val>
          <c:extLst>
            <c:ext xmlns:c16="http://schemas.microsoft.com/office/drawing/2014/chart" uri="{C3380CC4-5D6E-409C-BE32-E72D297353CC}">
              <c16:uniqueId val="{00000002-4D43-452D-8C7A-609B99D91909}"/>
            </c:ext>
          </c:extLst>
        </c:ser>
        <c:ser>
          <c:idx val="3"/>
          <c:order val="3"/>
          <c:tx>
            <c:strRef>
              <c:f>Sheet1!$E$1</c:f>
              <c:strCache>
                <c:ptCount val="1"/>
                <c:pt idx="0">
                  <c:v>Somewhat interested (4.0)</c:v>
                </c:pt>
              </c:strCache>
            </c:strRef>
          </c:tx>
          <c:spPr>
            <a:solidFill>
              <a:srgbClr val="6AF7A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Sheet1!$E$2:$E$12</c:f>
              <c:numCache>
                <c:formatCode>0%</c:formatCode>
                <c:ptCount val="11"/>
                <c:pt idx="0">
                  <c:v>0.23</c:v>
                </c:pt>
                <c:pt idx="1">
                  <c:v>0.31</c:v>
                </c:pt>
                <c:pt idx="2">
                  <c:v>0.16</c:v>
                </c:pt>
                <c:pt idx="3">
                  <c:v>0.1</c:v>
                </c:pt>
                <c:pt idx="4">
                  <c:v>0.16</c:v>
                </c:pt>
                <c:pt idx="5">
                  <c:v>0.31</c:v>
                </c:pt>
                <c:pt idx="6">
                  <c:v>0.5</c:v>
                </c:pt>
                <c:pt idx="7">
                  <c:v>0.06</c:v>
                </c:pt>
                <c:pt idx="8">
                  <c:v>0.2</c:v>
                </c:pt>
                <c:pt idx="9">
                  <c:v>0.24</c:v>
                </c:pt>
                <c:pt idx="10">
                  <c:v>0.21</c:v>
                </c:pt>
              </c:numCache>
            </c:numRef>
          </c:val>
          <c:extLst>
            <c:ext xmlns:c16="http://schemas.microsoft.com/office/drawing/2014/chart" uri="{C3380CC4-5D6E-409C-BE32-E72D297353CC}">
              <c16:uniqueId val="{00000003-4D43-452D-8C7A-609B99D91909}"/>
            </c:ext>
          </c:extLst>
        </c:ser>
        <c:ser>
          <c:idx val="4"/>
          <c:order val="4"/>
          <c:tx>
            <c:strRef>
              <c:f>Sheet1!$F$1</c:f>
              <c:strCache>
                <c:ptCount val="1"/>
                <c:pt idx="0">
                  <c:v>Very interested (5.0)</c:v>
                </c:pt>
              </c:strCache>
            </c:strRef>
          </c:tx>
          <c:spPr>
            <a:solidFill>
              <a:srgbClr val="92D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Sheet1!$F$2:$F$12</c:f>
              <c:numCache>
                <c:formatCode>0%</c:formatCode>
                <c:ptCount val="11"/>
                <c:pt idx="0">
                  <c:v>0.1</c:v>
                </c:pt>
                <c:pt idx="1">
                  <c:v>0.16</c:v>
                </c:pt>
                <c:pt idx="2">
                  <c:v>0.05</c:v>
                </c:pt>
                <c:pt idx="3">
                  <c:v>0.14000000000000001</c:v>
                </c:pt>
                <c:pt idx="4">
                  <c:v>0.06</c:v>
                </c:pt>
                <c:pt idx="5">
                  <c:v>0.09</c:v>
                </c:pt>
                <c:pt idx="6">
                  <c:v>0.12</c:v>
                </c:pt>
                <c:pt idx="7">
                  <c:v>0.01</c:v>
                </c:pt>
                <c:pt idx="8">
                  <c:v>0.16</c:v>
                </c:pt>
                <c:pt idx="9">
                  <c:v>0.1</c:v>
                </c:pt>
                <c:pt idx="10">
                  <c:v>0.1</c:v>
                </c:pt>
              </c:numCache>
            </c:numRef>
          </c:val>
          <c:extLst>
            <c:ext xmlns:c16="http://schemas.microsoft.com/office/drawing/2014/chart" uri="{C3380CC4-5D6E-409C-BE32-E72D297353CC}">
              <c16:uniqueId val="{00000004-4D43-452D-8C7A-609B99D91909}"/>
            </c:ext>
          </c:extLst>
        </c:ser>
        <c:dLbls>
          <c:dLblPos val="ctr"/>
          <c:showLegendKey val="0"/>
          <c:showVal val="1"/>
          <c:showCatName val="0"/>
          <c:showSerName val="0"/>
          <c:showPercent val="0"/>
          <c:showBubbleSize val="0"/>
        </c:dLbls>
        <c:gapWidth val="50"/>
        <c:overlap val="100"/>
        <c:axId val="184411968"/>
        <c:axId val="187267840"/>
      </c:barChart>
      <c:catAx>
        <c:axId val="184411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87267840"/>
        <c:crosses val="autoZero"/>
        <c:auto val="1"/>
        <c:lblAlgn val="ctr"/>
        <c:lblOffset val="100"/>
        <c:noMultiLvlLbl val="0"/>
      </c:catAx>
      <c:valAx>
        <c:axId val="187267840"/>
        <c:scaling>
          <c:orientation val="minMax"/>
        </c:scaling>
        <c:delete val="1"/>
        <c:axPos val="l"/>
        <c:numFmt formatCode="0%" sourceLinked="1"/>
        <c:majorTickMark val="none"/>
        <c:minorTickMark val="none"/>
        <c:tickLblPos val="nextTo"/>
        <c:crossAx val="184411968"/>
        <c:crosses val="autoZero"/>
        <c:crossBetween val="between"/>
      </c:valAx>
      <c:spPr>
        <a:noFill/>
        <a:ln>
          <a:noFill/>
        </a:ln>
        <a:effectLst/>
      </c:spPr>
    </c:plotArea>
    <c:legend>
      <c:legendPos val="l"/>
      <c:layout>
        <c:manualLayout>
          <c:xMode val="edge"/>
          <c:yMode val="edge"/>
          <c:x val="7.8395061728395062E-3"/>
          <c:y val="0.10047055555555554"/>
          <c:w val="0.14068827160493827"/>
          <c:h val="0.79937638888888884"/>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chart>
  <c:spPr>
    <a:noFill/>
    <a:ln>
      <a:noFill/>
    </a:ln>
    <a:effectLst/>
  </c:spPr>
  <c:txPr>
    <a:bodyPr/>
    <a:lstStyle/>
    <a:p>
      <a:pPr>
        <a:defRPr/>
      </a:pPr>
      <a:endParaRPr lang="en-US"/>
    </a:p>
  </c:txPr>
  <c:externalData r:id="rId4">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effectLst/>
              </a:rPr>
              <a:t>Trust in Nigeria’s current leadership</a:t>
            </a:r>
            <a:endParaRPr lang="en-GB" sz="1400" dirty="0">
              <a:effectLst/>
            </a:endParaRP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percentStacked"/>
        <c:varyColors val="0"/>
        <c:ser>
          <c:idx val="0"/>
          <c:order val="0"/>
          <c:tx>
            <c:strRef>
              <c:f>Sheet1!$B$1</c:f>
              <c:strCache>
                <c:ptCount val="1"/>
                <c:pt idx="0">
                  <c:v>Least Trust 1 (1.0)</c:v>
                </c:pt>
              </c:strCache>
            </c:strRef>
          </c:tx>
          <c:spPr>
            <a:solidFill>
              <a:srgbClr val="FF7C8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Sheet1!$B$2:$B$12</c:f>
              <c:numCache>
                <c:formatCode>0%</c:formatCode>
                <c:ptCount val="11"/>
                <c:pt idx="0">
                  <c:v>0.26</c:v>
                </c:pt>
                <c:pt idx="1">
                  <c:v>0.25</c:v>
                </c:pt>
                <c:pt idx="2">
                  <c:v>0.26</c:v>
                </c:pt>
                <c:pt idx="3">
                  <c:v>0.56000000000000005</c:v>
                </c:pt>
                <c:pt idx="4">
                  <c:v>0.24</c:v>
                </c:pt>
                <c:pt idx="5">
                  <c:v>0.18</c:v>
                </c:pt>
                <c:pt idx="6">
                  <c:v>0.08</c:v>
                </c:pt>
                <c:pt idx="7">
                  <c:v>0.56000000000000005</c:v>
                </c:pt>
                <c:pt idx="8">
                  <c:v>0.16</c:v>
                </c:pt>
                <c:pt idx="9">
                  <c:v>0.24</c:v>
                </c:pt>
                <c:pt idx="10">
                  <c:v>0.3</c:v>
                </c:pt>
              </c:numCache>
            </c:numRef>
          </c:val>
          <c:extLst>
            <c:ext xmlns:c16="http://schemas.microsoft.com/office/drawing/2014/chart" uri="{C3380CC4-5D6E-409C-BE32-E72D297353CC}">
              <c16:uniqueId val="{00000000-4D43-452D-8C7A-609B99D91909}"/>
            </c:ext>
          </c:extLst>
        </c:ser>
        <c:ser>
          <c:idx val="1"/>
          <c:order val="1"/>
          <c:tx>
            <c:strRef>
              <c:f>Sheet1!$C$1</c:f>
              <c:strCache>
                <c:ptCount val="1"/>
                <c:pt idx="0">
                  <c:v>2 (2.0)</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Sheet1!$C$2:$C$12</c:f>
              <c:numCache>
                <c:formatCode>0%</c:formatCode>
                <c:ptCount val="11"/>
                <c:pt idx="0">
                  <c:v>0.2</c:v>
                </c:pt>
                <c:pt idx="1">
                  <c:v>0.18</c:v>
                </c:pt>
                <c:pt idx="2">
                  <c:v>0.21</c:v>
                </c:pt>
                <c:pt idx="3">
                  <c:v>0.18</c:v>
                </c:pt>
                <c:pt idx="4">
                  <c:v>0.42</c:v>
                </c:pt>
                <c:pt idx="5">
                  <c:v>0.08</c:v>
                </c:pt>
                <c:pt idx="6">
                  <c:v>0.27</c:v>
                </c:pt>
                <c:pt idx="7">
                  <c:v>0.21</c:v>
                </c:pt>
                <c:pt idx="8">
                  <c:v>0.06</c:v>
                </c:pt>
                <c:pt idx="9">
                  <c:v>0.17</c:v>
                </c:pt>
                <c:pt idx="10">
                  <c:v>0.25</c:v>
                </c:pt>
              </c:numCache>
            </c:numRef>
          </c:val>
          <c:extLst>
            <c:ext xmlns:c16="http://schemas.microsoft.com/office/drawing/2014/chart" uri="{C3380CC4-5D6E-409C-BE32-E72D297353CC}">
              <c16:uniqueId val="{00000001-4D43-452D-8C7A-609B99D91909}"/>
            </c:ext>
          </c:extLst>
        </c:ser>
        <c:ser>
          <c:idx val="2"/>
          <c:order val="2"/>
          <c:tx>
            <c:strRef>
              <c:f>Sheet1!$D$1</c:f>
              <c:strCache>
                <c:ptCount val="1"/>
                <c:pt idx="0">
                  <c:v>3 (3.0)</c:v>
                </c:pt>
              </c:strCache>
            </c:strRef>
          </c:tx>
          <c:spPr>
            <a:solidFill>
              <a:schemeClr val="accent2">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Sheet1!$D$2:$D$12</c:f>
              <c:numCache>
                <c:formatCode>0%</c:formatCode>
                <c:ptCount val="11"/>
                <c:pt idx="0">
                  <c:v>0.17</c:v>
                </c:pt>
                <c:pt idx="1">
                  <c:v>0.15</c:v>
                </c:pt>
                <c:pt idx="2">
                  <c:v>0.18</c:v>
                </c:pt>
                <c:pt idx="3">
                  <c:v>0.08</c:v>
                </c:pt>
                <c:pt idx="4">
                  <c:v>0.17</c:v>
                </c:pt>
                <c:pt idx="5">
                  <c:v>0.13</c:v>
                </c:pt>
                <c:pt idx="6">
                  <c:v>0.33</c:v>
                </c:pt>
                <c:pt idx="7">
                  <c:v>0.13</c:v>
                </c:pt>
                <c:pt idx="8">
                  <c:v>0.16</c:v>
                </c:pt>
                <c:pt idx="9">
                  <c:v>0.18</c:v>
                </c:pt>
                <c:pt idx="10">
                  <c:v>0.14000000000000001</c:v>
                </c:pt>
              </c:numCache>
            </c:numRef>
          </c:val>
          <c:extLst>
            <c:ext xmlns:c16="http://schemas.microsoft.com/office/drawing/2014/chart" uri="{C3380CC4-5D6E-409C-BE32-E72D297353CC}">
              <c16:uniqueId val="{00000002-4D43-452D-8C7A-609B99D91909}"/>
            </c:ext>
          </c:extLst>
        </c:ser>
        <c:ser>
          <c:idx val="3"/>
          <c:order val="3"/>
          <c:tx>
            <c:strRef>
              <c:f>Sheet1!$E$1</c:f>
              <c:strCache>
                <c:ptCount val="1"/>
                <c:pt idx="0">
                  <c:v>4 (4.0)</c:v>
                </c:pt>
              </c:strCache>
            </c:strRef>
          </c:tx>
          <c:spPr>
            <a:solidFill>
              <a:schemeClr val="accent6">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Sheet1!$E$2:$E$12</c:f>
              <c:numCache>
                <c:formatCode>0%</c:formatCode>
                <c:ptCount val="11"/>
                <c:pt idx="0">
                  <c:v>0.13</c:v>
                </c:pt>
                <c:pt idx="1">
                  <c:v>0.14000000000000001</c:v>
                </c:pt>
                <c:pt idx="2">
                  <c:v>0.13</c:v>
                </c:pt>
                <c:pt idx="3">
                  <c:v>0.06</c:v>
                </c:pt>
                <c:pt idx="4">
                  <c:v>7.0000000000000007E-2</c:v>
                </c:pt>
                <c:pt idx="5">
                  <c:v>0.08</c:v>
                </c:pt>
                <c:pt idx="6">
                  <c:v>0.2</c:v>
                </c:pt>
                <c:pt idx="7">
                  <c:v>0.04</c:v>
                </c:pt>
                <c:pt idx="8">
                  <c:v>0.26</c:v>
                </c:pt>
                <c:pt idx="9">
                  <c:v>0.16</c:v>
                </c:pt>
                <c:pt idx="10">
                  <c:v>7.0000000000000007E-2</c:v>
                </c:pt>
              </c:numCache>
            </c:numRef>
          </c:val>
          <c:extLst>
            <c:ext xmlns:c16="http://schemas.microsoft.com/office/drawing/2014/chart" uri="{C3380CC4-5D6E-409C-BE32-E72D297353CC}">
              <c16:uniqueId val="{00000003-4D43-452D-8C7A-609B99D91909}"/>
            </c:ext>
          </c:extLst>
        </c:ser>
        <c:ser>
          <c:idx val="4"/>
          <c:order val="4"/>
          <c:tx>
            <c:strRef>
              <c:f>Sheet1!$F$1</c:f>
              <c:strCache>
                <c:ptCount val="1"/>
                <c:pt idx="0">
                  <c:v>5 (5.0)</c:v>
                </c:pt>
              </c:strCache>
            </c:strRef>
          </c:tx>
          <c:spPr>
            <a:solidFill>
              <a:schemeClr val="accent6">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Sheet1!$F$2:$F$12</c:f>
              <c:numCache>
                <c:formatCode>0%</c:formatCode>
                <c:ptCount val="11"/>
                <c:pt idx="0">
                  <c:v>0.14000000000000001</c:v>
                </c:pt>
                <c:pt idx="1">
                  <c:v>0.16</c:v>
                </c:pt>
                <c:pt idx="2">
                  <c:v>0.12</c:v>
                </c:pt>
                <c:pt idx="3">
                  <c:v>0.05</c:v>
                </c:pt>
                <c:pt idx="4">
                  <c:v>0.05</c:v>
                </c:pt>
                <c:pt idx="5">
                  <c:v>0.37</c:v>
                </c:pt>
                <c:pt idx="6">
                  <c:v>0.09</c:v>
                </c:pt>
                <c:pt idx="7">
                  <c:v>0.02</c:v>
                </c:pt>
                <c:pt idx="8">
                  <c:v>0.16</c:v>
                </c:pt>
                <c:pt idx="9">
                  <c:v>0.14000000000000001</c:v>
                </c:pt>
                <c:pt idx="10">
                  <c:v>0.15</c:v>
                </c:pt>
              </c:numCache>
            </c:numRef>
          </c:val>
          <c:extLst>
            <c:ext xmlns:c16="http://schemas.microsoft.com/office/drawing/2014/chart" uri="{C3380CC4-5D6E-409C-BE32-E72D297353CC}">
              <c16:uniqueId val="{00000004-4D43-452D-8C7A-609B99D91909}"/>
            </c:ext>
          </c:extLst>
        </c:ser>
        <c:ser>
          <c:idx val="5"/>
          <c:order val="5"/>
          <c:tx>
            <c:strRef>
              <c:f>Sheet1!$G$1</c:f>
              <c:strCache>
                <c:ptCount val="1"/>
                <c:pt idx="0">
                  <c:v>6 (6.0)</c:v>
                </c:pt>
              </c:strCache>
            </c:strRef>
          </c:tx>
          <c:spPr>
            <a:solidFill>
              <a:schemeClr val="accent5">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Sheet1!$G$2:$G$12</c:f>
              <c:numCache>
                <c:formatCode>0%</c:formatCode>
                <c:ptCount val="11"/>
                <c:pt idx="0">
                  <c:v>0.06</c:v>
                </c:pt>
                <c:pt idx="1">
                  <c:v>0.06</c:v>
                </c:pt>
                <c:pt idx="2">
                  <c:v>0.06</c:v>
                </c:pt>
                <c:pt idx="3">
                  <c:v>0.01</c:v>
                </c:pt>
                <c:pt idx="4">
                  <c:v>0.03</c:v>
                </c:pt>
                <c:pt idx="5">
                  <c:v>0.1</c:v>
                </c:pt>
                <c:pt idx="6">
                  <c:v>0.01</c:v>
                </c:pt>
                <c:pt idx="7">
                  <c:v>0.03</c:v>
                </c:pt>
                <c:pt idx="8">
                  <c:v>0.12</c:v>
                </c:pt>
                <c:pt idx="9">
                  <c:v>0.06</c:v>
                </c:pt>
                <c:pt idx="10">
                  <c:v>0.05</c:v>
                </c:pt>
              </c:numCache>
            </c:numRef>
          </c:val>
          <c:extLst>
            <c:ext xmlns:c16="http://schemas.microsoft.com/office/drawing/2014/chart" uri="{C3380CC4-5D6E-409C-BE32-E72D297353CC}">
              <c16:uniqueId val="{00000000-F90E-4E2D-BA6C-DD06E8254BE7}"/>
            </c:ext>
          </c:extLst>
        </c:ser>
        <c:ser>
          <c:idx val="6"/>
          <c:order val="6"/>
          <c:tx>
            <c:strRef>
              <c:f>Sheet1!$H$1</c:f>
              <c:strCache>
                <c:ptCount val="1"/>
                <c:pt idx="0">
                  <c:v>7 (7.0)</c:v>
                </c:pt>
              </c:strCache>
            </c:strRef>
          </c:tx>
          <c:spPr>
            <a:solidFill>
              <a:schemeClr val="accent5">
                <a:lumMod val="40000"/>
                <a:lumOff val="60000"/>
              </a:schemeClr>
            </a:solidFill>
            <a:ln>
              <a:noFill/>
            </a:ln>
            <a:effectLst/>
          </c:spPr>
          <c:invertIfNegative val="0"/>
          <c:dLbls>
            <c:delete val="1"/>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Sheet1!$H$2:$H$12</c:f>
              <c:numCache>
                <c:formatCode>0%</c:formatCode>
                <c:ptCount val="11"/>
                <c:pt idx="0">
                  <c:v>0.01</c:v>
                </c:pt>
                <c:pt idx="1">
                  <c:v>0.02</c:v>
                </c:pt>
                <c:pt idx="2">
                  <c:v>0.01</c:v>
                </c:pt>
                <c:pt idx="3">
                  <c:v>0.01</c:v>
                </c:pt>
                <c:pt idx="4">
                  <c:v>0</c:v>
                </c:pt>
                <c:pt idx="5">
                  <c:v>0.01</c:v>
                </c:pt>
                <c:pt idx="6">
                  <c:v>0.01</c:v>
                </c:pt>
                <c:pt idx="7">
                  <c:v>0</c:v>
                </c:pt>
                <c:pt idx="8">
                  <c:v>0.03</c:v>
                </c:pt>
                <c:pt idx="9">
                  <c:v>0.01</c:v>
                </c:pt>
                <c:pt idx="10">
                  <c:v>0.01</c:v>
                </c:pt>
              </c:numCache>
            </c:numRef>
          </c:val>
          <c:extLst>
            <c:ext xmlns:c16="http://schemas.microsoft.com/office/drawing/2014/chart" uri="{C3380CC4-5D6E-409C-BE32-E72D297353CC}">
              <c16:uniqueId val="{00000001-F90E-4E2D-BA6C-DD06E8254BE7}"/>
            </c:ext>
          </c:extLst>
        </c:ser>
        <c:ser>
          <c:idx val="7"/>
          <c:order val="7"/>
          <c:tx>
            <c:strRef>
              <c:f>Sheet1!$I$1</c:f>
              <c:strCache>
                <c:ptCount val="1"/>
                <c:pt idx="0">
                  <c:v>8 (8.0)</c:v>
                </c:pt>
              </c:strCache>
            </c:strRef>
          </c:tx>
          <c:spPr>
            <a:solidFill>
              <a:schemeClr val="accent5">
                <a:lumMod val="60000"/>
                <a:lumOff val="40000"/>
              </a:schemeClr>
            </a:solidFill>
            <a:ln>
              <a:noFill/>
            </a:ln>
            <a:effectLst/>
          </c:spPr>
          <c:invertIfNegative val="0"/>
          <c:dLbls>
            <c:delete val="1"/>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Sheet1!$I$2:$I$12</c:f>
              <c:numCache>
                <c:formatCode>0%</c:formatCode>
                <c:ptCount val="11"/>
                <c:pt idx="0">
                  <c:v>0.01</c:v>
                </c:pt>
                <c:pt idx="1">
                  <c:v>0.01</c:v>
                </c:pt>
                <c:pt idx="2">
                  <c:v>0.01</c:v>
                </c:pt>
                <c:pt idx="3">
                  <c:v>0.01</c:v>
                </c:pt>
                <c:pt idx="4">
                  <c:v>0</c:v>
                </c:pt>
                <c:pt idx="5">
                  <c:v>0.02</c:v>
                </c:pt>
                <c:pt idx="6">
                  <c:v>0.01</c:v>
                </c:pt>
                <c:pt idx="7">
                  <c:v>0</c:v>
                </c:pt>
                <c:pt idx="8">
                  <c:v>0.01</c:v>
                </c:pt>
                <c:pt idx="9">
                  <c:v>0.01</c:v>
                </c:pt>
                <c:pt idx="10">
                  <c:v>0</c:v>
                </c:pt>
              </c:numCache>
            </c:numRef>
          </c:val>
          <c:extLst>
            <c:ext xmlns:c16="http://schemas.microsoft.com/office/drawing/2014/chart" uri="{C3380CC4-5D6E-409C-BE32-E72D297353CC}">
              <c16:uniqueId val="{00000002-F90E-4E2D-BA6C-DD06E8254BE7}"/>
            </c:ext>
          </c:extLst>
        </c:ser>
        <c:ser>
          <c:idx val="8"/>
          <c:order val="8"/>
          <c:tx>
            <c:strRef>
              <c:f>Sheet1!$J$1</c:f>
              <c:strCache>
                <c:ptCount val="1"/>
                <c:pt idx="0">
                  <c:v>9 (9.0)</c:v>
                </c:pt>
              </c:strCache>
            </c:strRef>
          </c:tx>
          <c:spPr>
            <a:solidFill>
              <a:schemeClr val="accent5">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Sheet1!$J$2:$J$12</c:f>
              <c:numCache>
                <c:formatCode>0%</c:formatCode>
                <c:ptCount val="11"/>
                <c:pt idx="0">
                  <c:v>0</c:v>
                </c:pt>
                <c:pt idx="1">
                  <c:v>0.01</c:v>
                </c:pt>
                <c:pt idx="2">
                  <c:v>0</c:v>
                </c:pt>
                <c:pt idx="3">
                  <c:v>0.01</c:v>
                </c:pt>
                <c:pt idx="4">
                  <c:v>0</c:v>
                </c:pt>
                <c:pt idx="5">
                  <c:v>0</c:v>
                </c:pt>
                <c:pt idx="6">
                  <c:v>0</c:v>
                </c:pt>
                <c:pt idx="7">
                  <c:v>0</c:v>
                </c:pt>
                <c:pt idx="8">
                  <c:v>0.01</c:v>
                </c:pt>
                <c:pt idx="9">
                  <c:v>0.01</c:v>
                </c:pt>
                <c:pt idx="10">
                  <c:v>0</c:v>
                </c:pt>
              </c:numCache>
            </c:numRef>
          </c:val>
          <c:extLst>
            <c:ext xmlns:c16="http://schemas.microsoft.com/office/drawing/2014/chart" uri="{C3380CC4-5D6E-409C-BE32-E72D297353CC}">
              <c16:uniqueId val="{00000003-F90E-4E2D-BA6C-DD06E8254BE7}"/>
            </c:ext>
          </c:extLst>
        </c:ser>
        <c:ser>
          <c:idx val="9"/>
          <c:order val="9"/>
          <c:tx>
            <c:strRef>
              <c:f>Sheet1!$K$1</c:f>
              <c:strCache>
                <c:ptCount val="1"/>
                <c:pt idx="0">
                  <c:v>Most Trust 10 (10.0)</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Sheet1!$K$2:$K$12</c:f>
              <c:numCache>
                <c:formatCode>0%</c:formatCode>
                <c:ptCount val="11"/>
                <c:pt idx="0">
                  <c:v>0.02</c:v>
                </c:pt>
                <c:pt idx="1">
                  <c:v>0.03</c:v>
                </c:pt>
                <c:pt idx="2">
                  <c:v>0.01</c:v>
                </c:pt>
                <c:pt idx="3">
                  <c:v>0.04</c:v>
                </c:pt>
                <c:pt idx="4">
                  <c:v>0.01</c:v>
                </c:pt>
                <c:pt idx="5">
                  <c:v>0.04</c:v>
                </c:pt>
                <c:pt idx="6">
                  <c:v>0</c:v>
                </c:pt>
                <c:pt idx="7">
                  <c:v>0</c:v>
                </c:pt>
                <c:pt idx="8">
                  <c:v>0.02</c:v>
                </c:pt>
                <c:pt idx="9">
                  <c:v>0.02</c:v>
                </c:pt>
                <c:pt idx="10">
                  <c:v>0.03</c:v>
                </c:pt>
              </c:numCache>
            </c:numRef>
          </c:val>
          <c:extLst>
            <c:ext xmlns:c16="http://schemas.microsoft.com/office/drawing/2014/chart" uri="{C3380CC4-5D6E-409C-BE32-E72D297353CC}">
              <c16:uniqueId val="{00000004-F90E-4E2D-BA6C-DD06E8254BE7}"/>
            </c:ext>
          </c:extLst>
        </c:ser>
        <c:dLbls>
          <c:dLblPos val="ctr"/>
          <c:showLegendKey val="0"/>
          <c:showVal val="1"/>
          <c:showCatName val="0"/>
          <c:showSerName val="0"/>
          <c:showPercent val="0"/>
          <c:showBubbleSize val="0"/>
        </c:dLbls>
        <c:gapWidth val="80"/>
        <c:overlap val="100"/>
        <c:axId val="184411968"/>
        <c:axId val="187267840"/>
      </c:barChart>
      <c:catAx>
        <c:axId val="184411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87267840"/>
        <c:crosses val="autoZero"/>
        <c:auto val="1"/>
        <c:lblAlgn val="ctr"/>
        <c:lblOffset val="100"/>
        <c:noMultiLvlLbl val="0"/>
      </c:catAx>
      <c:valAx>
        <c:axId val="187267840"/>
        <c:scaling>
          <c:orientation val="minMax"/>
        </c:scaling>
        <c:delete val="1"/>
        <c:axPos val="l"/>
        <c:numFmt formatCode="0%" sourceLinked="1"/>
        <c:majorTickMark val="none"/>
        <c:minorTickMark val="none"/>
        <c:tickLblPos val="nextTo"/>
        <c:crossAx val="184411968"/>
        <c:crosses val="autoZero"/>
        <c:crossBetween val="between"/>
      </c:valAx>
      <c:spPr>
        <a:noFill/>
        <a:ln>
          <a:noFill/>
        </a:ln>
        <a:effectLst/>
      </c:spPr>
    </c:plotArea>
    <c:legend>
      <c:legendPos val="l"/>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Credibility of elected officials in Nigeria</a:t>
            </a: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percentStacked"/>
        <c:varyColors val="0"/>
        <c:ser>
          <c:idx val="0"/>
          <c:order val="0"/>
          <c:tx>
            <c:strRef>
              <c:f>Sheet1!$B$1</c:f>
              <c:strCache>
                <c:ptCount val="1"/>
                <c:pt idx="0">
                  <c:v>Very low (1.0)</c:v>
                </c:pt>
              </c:strCache>
            </c:strRef>
          </c:tx>
          <c:spPr>
            <a:solidFill>
              <a:srgbClr val="FF5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Sheet1!$B$2:$B$12</c:f>
              <c:numCache>
                <c:formatCode>0%</c:formatCode>
                <c:ptCount val="11"/>
                <c:pt idx="0">
                  <c:v>0.35</c:v>
                </c:pt>
                <c:pt idx="1">
                  <c:v>0.35</c:v>
                </c:pt>
                <c:pt idx="2">
                  <c:v>0.35</c:v>
                </c:pt>
                <c:pt idx="3">
                  <c:v>0.53</c:v>
                </c:pt>
                <c:pt idx="4">
                  <c:v>0.45</c:v>
                </c:pt>
                <c:pt idx="5">
                  <c:v>0.17</c:v>
                </c:pt>
                <c:pt idx="6">
                  <c:v>0.28000000000000003</c:v>
                </c:pt>
                <c:pt idx="7">
                  <c:v>0.52</c:v>
                </c:pt>
                <c:pt idx="8">
                  <c:v>0.3</c:v>
                </c:pt>
                <c:pt idx="9">
                  <c:v>0.33</c:v>
                </c:pt>
                <c:pt idx="10">
                  <c:v>0.39</c:v>
                </c:pt>
              </c:numCache>
            </c:numRef>
          </c:val>
          <c:extLst>
            <c:ext xmlns:c16="http://schemas.microsoft.com/office/drawing/2014/chart" uri="{C3380CC4-5D6E-409C-BE32-E72D297353CC}">
              <c16:uniqueId val="{00000000-4D43-452D-8C7A-609B99D91909}"/>
            </c:ext>
          </c:extLst>
        </c:ser>
        <c:ser>
          <c:idx val="1"/>
          <c:order val="1"/>
          <c:tx>
            <c:strRef>
              <c:f>Sheet1!$C$1</c:f>
              <c:strCache>
                <c:ptCount val="1"/>
                <c:pt idx="0">
                  <c:v>Low (2.0)</c:v>
                </c:pt>
              </c:strCache>
            </c:strRef>
          </c:tx>
          <c:spPr>
            <a:solidFill>
              <a:srgbClr val="FFC000">
                <a:lumMod val="60000"/>
                <a:lumOff val="40000"/>
              </a:srgb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Sheet1!$C$2:$C$12</c:f>
              <c:numCache>
                <c:formatCode>0%</c:formatCode>
                <c:ptCount val="11"/>
                <c:pt idx="0">
                  <c:v>0.35</c:v>
                </c:pt>
                <c:pt idx="1">
                  <c:v>0.31</c:v>
                </c:pt>
                <c:pt idx="2">
                  <c:v>0.37</c:v>
                </c:pt>
                <c:pt idx="3">
                  <c:v>0.28999999999999998</c:v>
                </c:pt>
                <c:pt idx="4">
                  <c:v>0.4</c:v>
                </c:pt>
                <c:pt idx="5">
                  <c:v>0.16</c:v>
                </c:pt>
                <c:pt idx="6">
                  <c:v>0.51</c:v>
                </c:pt>
                <c:pt idx="7">
                  <c:v>0.35</c:v>
                </c:pt>
                <c:pt idx="8">
                  <c:v>0.38</c:v>
                </c:pt>
                <c:pt idx="9">
                  <c:v>0.36</c:v>
                </c:pt>
                <c:pt idx="10">
                  <c:v>0.31</c:v>
                </c:pt>
              </c:numCache>
            </c:numRef>
          </c:val>
          <c:extLst>
            <c:ext xmlns:c16="http://schemas.microsoft.com/office/drawing/2014/chart" uri="{C3380CC4-5D6E-409C-BE32-E72D297353CC}">
              <c16:uniqueId val="{00000001-4D43-452D-8C7A-609B99D91909}"/>
            </c:ext>
          </c:extLst>
        </c:ser>
        <c:ser>
          <c:idx val="2"/>
          <c:order val="2"/>
          <c:tx>
            <c:strRef>
              <c:f>Sheet1!$D$1</c:f>
              <c:strCache>
                <c:ptCount val="1"/>
                <c:pt idx="0">
                  <c:v>Moderate (3.0)</c:v>
                </c:pt>
              </c:strCache>
            </c:strRef>
          </c:tx>
          <c:spPr>
            <a:solidFill>
              <a:schemeClr val="accent2">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Sheet1!$D$2:$D$12</c:f>
              <c:numCache>
                <c:formatCode>0%</c:formatCode>
                <c:ptCount val="11"/>
                <c:pt idx="0">
                  <c:v>0.26</c:v>
                </c:pt>
                <c:pt idx="1">
                  <c:v>0.28000000000000003</c:v>
                </c:pt>
                <c:pt idx="2">
                  <c:v>0.24</c:v>
                </c:pt>
                <c:pt idx="3">
                  <c:v>0.13</c:v>
                </c:pt>
                <c:pt idx="4">
                  <c:v>0.13</c:v>
                </c:pt>
                <c:pt idx="5">
                  <c:v>0.61</c:v>
                </c:pt>
                <c:pt idx="6">
                  <c:v>0.2</c:v>
                </c:pt>
                <c:pt idx="7">
                  <c:v>0.13</c:v>
                </c:pt>
                <c:pt idx="8">
                  <c:v>0.24</c:v>
                </c:pt>
                <c:pt idx="9">
                  <c:v>0.26</c:v>
                </c:pt>
                <c:pt idx="10">
                  <c:v>0.25</c:v>
                </c:pt>
              </c:numCache>
            </c:numRef>
          </c:val>
          <c:extLst>
            <c:ext xmlns:c16="http://schemas.microsoft.com/office/drawing/2014/chart" uri="{C3380CC4-5D6E-409C-BE32-E72D297353CC}">
              <c16:uniqueId val="{00000002-4D43-452D-8C7A-609B99D91909}"/>
            </c:ext>
          </c:extLst>
        </c:ser>
        <c:ser>
          <c:idx val="3"/>
          <c:order val="3"/>
          <c:tx>
            <c:strRef>
              <c:f>Sheet1!$E$1</c:f>
              <c:strCache>
                <c:ptCount val="1"/>
                <c:pt idx="0">
                  <c:v>High (4.0)</c:v>
                </c:pt>
              </c:strCache>
            </c:strRef>
          </c:tx>
          <c:spPr>
            <a:solidFill>
              <a:srgbClr val="6AF7A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Sheet1!$E$2:$E$12</c:f>
              <c:numCache>
                <c:formatCode>0%</c:formatCode>
                <c:ptCount val="11"/>
                <c:pt idx="0">
                  <c:v>0.03</c:v>
                </c:pt>
                <c:pt idx="1">
                  <c:v>0.04</c:v>
                </c:pt>
                <c:pt idx="2">
                  <c:v>0.02</c:v>
                </c:pt>
                <c:pt idx="3">
                  <c:v>0.04</c:v>
                </c:pt>
                <c:pt idx="4">
                  <c:v>0.02</c:v>
                </c:pt>
                <c:pt idx="5">
                  <c:v>0.05</c:v>
                </c:pt>
                <c:pt idx="6">
                  <c:v>0.01</c:v>
                </c:pt>
                <c:pt idx="7">
                  <c:v>0</c:v>
                </c:pt>
                <c:pt idx="8">
                  <c:v>0.05</c:v>
                </c:pt>
                <c:pt idx="9">
                  <c:v>0.02</c:v>
                </c:pt>
                <c:pt idx="10">
                  <c:v>0.04</c:v>
                </c:pt>
              </c:numCache>
            </c:numRef>
          </c:val>
          <c:extLst>
            <c:ext xmlns:c16="http://schemas.microsoft.com/office/drawing/2014/chart" uri="{C3380CC4-5D6E-409C-BE32-E72D297353CC}">
              <c16:uniqueId val="{00000003-4D43-452D-8C7A-609B99D91909}"/>
            </c:ext>
          </c:extLst>
        </c:ser>
        <c:ser>
          <c:idx val="4"/>
          <c:order val="4"/>
          <c:tx>
            <c:strRef>
              <c:f>Sheet1!$F$1</c:f>
              <c:strCache>
                <c:ptCount val="1"/>
                <c:pt idx="0">
                  <c:v>Very high (5.0)</c:v>
                </c:pt>
              </c:strCache>
            </c:strRef>
          </c:tx>
          <c:spPr>
            <a:solidFill>
              <a:srgbClr val="92D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Sheet1!$F$2:$F$12</c:f>
              <c:numCache>
                <c:formatCode>0%</c:formatCode>
                <c:ptCount val="11"/>
                <c:pt idx="0">
                  <c:v>0.01</c:v>
                </c:pt>
                <c:pt idx="1">
                  <c:v>0.02</c:v>
                </c:pt>
                <c:pt idx="2">
                  <c:v>0.01</c:v>
                </c:pt>
                <c:pt idx="3">
                  <c:v>0.01</c:v>
                </c:pt>
                <c:pt idx="4">
                  <c:v>0</c:v>
                </c:pt>
                <c:pt idx="5">
                  <c:v>0.01</c:v>
                </c:pt>
                <c:pt idx="6">
                  <c:v>0.01</c:v>
                </c:pt>
                <c:pt idx="7">
                  <c:v>0</c:v>
                </c:pt>
                <c:pt idx="8">
                  <c:v>0.04</c:v>
                </c:pt>
                <c:pt idx="9">
                  <c:v>0.02</c:v>
                </c:pt>
                <c:pt idx="10">
                  <c:v>0.01</c:v>
                </c:pt>
              </c:numCache>
            </c:numRef>
          </c:val>
          <c:extLst>
            <c:ext xmlns:c16="http://schemas.microsoft.com/office/drawing/2014/chart" uri="{C3380CC4-5D6E-409C-BE32-E72D297353CC}">
              <c16:uniqueId val="{00000004-4D43-452D-8C7A-609B99D91909}"/>
            </c:ext>
          </c:extLst>
        </c:ser>
        <c:dLbls>
          <c:dLblPos val="ctr"/>
          <c:showLegendKey val="0"/>
          <c:showVal val="1"/>
          <c:showCatName val="0"/>
          <c:showSerName val="0"/>
          <c:showPercent val="0"/>
          <c:showBubbleSize val="0"/>
        </c:dLbls>
        <c:gapWidth val="50"/>
        <c:overlap val="100"/>
        <c:axId val="184411968"/>
        <c:axId val="187267840"/>
      </c:barChart>
      <c:catAx>
        <c:axId val="184411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87267840"/>
        <c:crosses val="autoZero"/>
        <c:auto val="1"/>
        <c:lblAlgn val="ctr"/>
        <c:lblOffset val="100"/>
        <c:noMultiLvlLbl val="0"/>
      </c:catAx>
      <c:valAx>
        <c:axId val="187267840"/>
        <c:scaling>
          <c:orientation val="minMax"/>
        </c:scaling>
        <c:delete val="1"/>
        <c:axPos val="l"/>
        <c:numFmt formatCode="0%" sourceLinked="1"/>
        <c:majorTickMark val="none"/>
        <c:minorTickMark val="none"/>
        <c:tickLblPos val="nextTo"/>
        <c:crossAx val="184411968"/>
        <c:crosses val="autoZero"/>
        <c:crossBetween val="between"/>
      </c:valAx>
      <c:spPr>
        <a:noFill/>
        <a:ln>
          <a:noFill/>
        </a:ln>
        <a:effectLst/>
      </c:spPr>
    </c:plotArea>
    <c:legend>
      <c:legendPos val="l"/>
      <c:layout>
        <c:manualLayout>
          <c:xMode val="edge"/>
          <c:yMode val="edge"/>
          <c:x val="7.8395061728395062E-3"/>
          <c:y val="0.10047055555555554"/>
          <c:w val="0.14068827160493827"/>
          <c:h val="0.79937638888888884"/>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chart>
  <c:spPr>
    <a:noFill/>
    <a:ln>
      <a:noFill/>
    </a:ln>
    <a:effectLst/>
  </c:spPr>
  <c:txPr>
    <a:bodyPr/>
    <a:lstStyle/>
    <a:p>
      <a:pPr>
        <a:defRPr/>
      </a:pPr>
      <a:endParaRPr lang="en-US"/>
    </a:p>
  </c:txPr>
  <c:externalData r:id="rId4">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Decisions in the best interest of the general public</a:t>
            </a: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percentStacked"/>
        <c:varyColors val="0"/>
        <c:ser>
          <c:idx val="0"/>
          <c:order val="0"/>
          <c:tx>
            <c:strRef>
              <c:f>Sheet1!$B$1</c:f>
              <c:strCache>
                <c:ptCount val="1"/>
                <c:pt idx="0">
                  <c:v>Never (1.0)</c:v>
                </c:pt>
              </c:strCache>
            </c:strRef>
          </c:tx>
          <c:spPr>
            <a:solidFill>
              <a:srgbClr val="FF5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Sheet1!$B$2:$B$12</c:f>
              <c:numCache>
                <c:formatCode>0%</c:formatCode>
                <c:ptCount val="11"/>
                <c:pt idx="0">
                  <c:v>0.35</c:v>
                </c:pt>
                <c:pt idx="1">
                  <c:v>0.35</c:v>
                </c:pt>
                <c:pt idx="2">
                  <c:v>0.35</c:v>
                </c:pt>
                <c:pt idx="3">
                  <c:v>0.39</c:v>
                </c:pt>
                <c:pt idx="4">
                  <c:v>0.56000000000000005</c:v>
                </c:pt>
                <c:pt idx="5">
                  <c:v>0.23</c:v>
                </c:pt>
                <c:pt idx="6">
                  <c:v>0.3</c:v>
                </c:pt>
                <c:pt idx="7">
                  <c:v>0.42</c:v>
                </c:pt>
                <c:pt idx="8">
                  <c:v>0.24</c:v>
                </c:pt>
                <c:pt idx="9">
                  <c:v>0.33</c:v>
                </c:pt>
                <c:pt idx="10">
                  <c:v>0.38</c:v>
                </c:pt>
              </c:numCache>
            </c:numRef>
          </c:val>
          <c:extLst>
            <c:ext xmlns:c16="http://schemas.microsoft.com/office/drawing/2014/chart" uri="{C3380CC4-5D6E-409C-BE32-E72D297353CC}">
              <c16:uniqueId val="{00000000-4D43-452D-8C7A-609B99D91909}"/>
            </c:ext>
          </c:extLst>
        </c:ser>
        <c:ser>
          <c:idx val="1"/>
          <c:order val="1"/>
          <c:tx>
            <c:strRef>
              <c:f>Sheet1!$C$1</c:f>
              <c:strCache>
                <c:ptCount val="1"/>
                <c:pt idx="0">
                  <c:v>Rarely (2.0)</c:v>
                </c:pt>
              </c:strCache>
            </c:strRef>
          </c:tx>
          <c:spPr>
            <a:solidFill>
              <a:srgbClr val="FFC000">
                <a:lumMod val="60000"/>
                <a:lumOff val="40000"/>
              </a:srgb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Sheet1!$C$2:$C$12</c:f>
              <c:numCache>
                <c:formatCode>0%</c:formatCode>
                <c:ptCount val="11"/>
                <c:pt idx="0">
                  <c:v>0.28000000000000003</c:v>
                </c:pt>
                <c:pt idx="1">
                  <c:v>0.26</c:v>
                </c:pt>
                <c:pt idx="2">
                  <c:v>0.3</c:v>
                </c:pt>
                <c:pt idx="3">
                  <c:v>0.27</c:v>
                </c:pt>
                <c:pt idx="4">
                  <c:v>0.21</c:v>
                </c:pt>
                <c:pt idx="5">
                  <c:v>0.14000000000000001</c:v>
                </c:pt>
                <c:pt idx="6">
                  <c:v>0.48</c:v>
                </c:pt>
                <c:pt idx="7">
                  <c:v>0.2</c:v>
                </c:pt>
                <c:pt idx="8">
                  <c:v>0.39</c:v>
                </c:pt>
                <c:pt idx="9">
                  <c:v>0.3</c:v>
                </c:pt>
                <c:pt idx="10">
                  <c:v>0.26</c:v>
                </c:pt>
              </c:numCache>
            </c:numRef>
          </c:val>
          <c:extLst>
            <c:ext xmlns:c16="http://schemas.microsoft.com/office/drawing/2014/chart" uri="{C3380CC4-5D6E-409C-BE32-E72D297353CC}">
              <c16:uniqueId val="{00000001-4D43-452D-8C7A-609B99D91909}"/>
            </c:ext>
          </c:extLst>
        </c:ser>
        <c:ser>
          <c:idx val="2"/>
          <c:order val="2"/>
          <c:tx>
            <c:strRef>
              <c:f>Sheet1!$D$1</c:f>
              <c:strCache>
                <c:ptCount val="1"/>
                <c:pt idx="0">
                  <c:v>Sometimes (3.0)</c:v>
                </c:pt>
              </c:strCache>
            </c:strRef>
          </c:tx>
          <c:spPr>
            <a:solidFill>
              <a:schemeClr val="accent2">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Sheet1!$D$2:$D$12</c:f>
              <c:numCache>
                <c:formatCode>0%</c:formatCode>
                <c:ptCount val="11"/>
                <c:pt idx="0">
                  <c:v>0.32</c:v>
                </c:pt>
                <c:pt idx="1">
                  <c:v>0.34</c:v>
                </c:pt>
                <c:pt idx="2">
                  <c:v>0.31</c:v>
                </c:pt>
                <c:pt idx="3">
                  <c:v>0.26</c:v>
                </c:pt>
                <c:pt idx="4">
                  <c:v>0.23</c:v>
                </c:pt>
                <c:pt idx="5">
                  <c:v>0.61</c:v>
                </c:pt>
                <c:pt idx="6">
                  <c:v>0.2</c:v>
                </c:pt>
                <c:pt idx="7">
                  <c:v>0.26</c:v>
                </c:pt>
                <c:pt idx="8">
                  <c:v>0.28999999999999998</c:v>
                </c:pt>
                <c:pt idx="9">
                  <c:v>0.32</c:v>
                </c:pt>
                <c:pt idx="10">
                  <c:v>0.33</c:v>
                </c:pt>
              </c:numCache>
            </c:numRef>
          </c:val>
          <c:extLst>
            <c:ext xmlns:c16="http://schemas.microsoft.com/office/drawing/2014/chart" uri="{C3380CC4-5D6E-409C-BE32-E72D297353CC}">
              <c16:uniqueId val="{00000002-4D43-452D-8C7A-609B99D91909}"/>
            </c:ext>
          </c:extLst>
        </c:ser>
        <c:ser>
          <c:idx val="3"/>
          <c:order val="3"/>
          <c:tx>
            <c:strRef>
              <c:f>Sheet1!$E$1</c:f>
              <c:strCache>
                <c:ptCount val="1"/>
                <c:pt idx="0">
                  <c:v>Often (4.0)</c:v>
                </c:pt>
              </c:strCache>
            </c:strRef>
          </c:tx>
          <c:spPr>
            <a:solidFill>
              <a:srgbClr val="6AF7A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Sheet1!$E$2:$E$12</c:f>
              <c:numCache>
                <c:formatCode>0%</c:formatCode>
                <c:ptCount val="11"/>
                <c:pt idx="0">
                  <c:v>0.04</c:v>
                </c:pt>
                <c:pt idx="1">
                  <c:v>0.04</c:v>
                </c:pt>
                <c:pt idx="2">
                  <c:v>0.04</c:v>
                </c:pt>
                <c:pt idx="3">
                  <c:v>0.05</c:v>
                </c:pt>
                <c:pt idx="4">
                  <c:v>0</c:v>
                </c:pt>
                <c:pt idx="5">
                  <c:v>0.02</c:v>
                </c:pt>
                <c:pt idx="6">
                  <c:v>0.01</c:v>
                </c:pt>
                <c:pt idx="7">
                  <c:v>0.12</c:v>
                </c:pt>
                <c:pt idx="8">
                  <c:v>0.05</c:v>
                </c:pt>
                <c:pt idx="9">
                  <c:v>0.04</c:v>
                </c:pt>
                <c:pt idx="10">
                  <c:v>0.03</c:v>
                </c:pt>
              </c:numCache>
            </c:numRef>
          </c:val>
          <c:extLst>
            <c:ext xmlns:c16="http://schemas.microsoft.com/office/drawing/2014/chart" uri="{C3380CC4-5D6E-409C-BE32-E72D297353CC}">
              <c16:uniqueId val="{00000003-4D43-452D-8C7A-609B99D91909}"/>
            </c:ext>
          </c:extLst>
        </c:ser>
        <c:ser>
          <c:idx val="4"/>
          <c:order val="4"/>
          <c:tx>
            <c:strRef>
              <c:f>Sheet1!$F$1</c:f>
              <c:strCache>
                <c:ptCount val="1"/>
                <c:pt idx="0">
                  <c:v>Always (5.0)</c:v>
                </c:pt>
              </c:strCache>
            </c:strRef>
          </c:tx>
          <c:spPr>
            <a:solidFill>
              <a:srgbClr val="92D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Sheet1!$F$2:$F$12</c:f>
              <c:numCache>
                <c:formatCode>0%</c:formatCode>
                <c:ptCount val="11"/>
                <c:pt idx="0">
                  <c:v>0.01</c:v>
                </c:pt>
                <c:pt idx="1">
                  <c:v>0.02</c:v>
                </c:pt>
                <c:pt idx="2">
                  <c:v>0.01</c:v>
                </c:pt>
                <c:pt idx="3">
                  <c:v>0.02</c:v>
                </c:pt>
                <c:pt idx="4">
                  <c:v>0</c:v>
                </c:pt>
                <c:pt idx="5">
                  <c:v>0</c:v>
                </c:pt>
                <c:pt idx="6">
                  <c:v>0</c:v>
                </c:pt>
                <c:pt idx="7">
                  <c:v>0</c:v>
                </c:pt>
                <c:pt idx="8">
                  <c:v>0.03</c:v>
                </c:pt>
                <c:pt idx="9">
                  <c:v>0.01</c:v>
                </c:pt>
                <c:pt idx="10">
                  <c:v>0.01</c:v>
                </c:pt>
              </c:numCache>
            </c:numRef>
          </c:val>
          <c:extLst>
            <c:ext xmlns:c16="http://schemas.microsoft.com/office/drawing/2014/chart" uri="{C3380CC4-5D6E-409C-BE32-E72D297353CC}">
              <c16:uniqueId val="{00000004-4D43-452D-8C7A-609B99D91909}"/>
            </c:ext>
          </c:extLst>
        </c:ser>
        <c:dLbls>
          <c:dLblPos val="ctr"/>
          <c:showLegendKey val="0"/>
          <c:showVal val="1"/>
          <c:showCatName val="0"/>
          <c:showSerName val="0"/>
          <c:showPercent val="0"/>
          <c:showBubbleSize val="0"/>
        </c:dLbls>
        <c:gapWidth val="50"/>
        <c:overlap val="100"/>
        <c:axId val="184411968"/>
        <c:axId val="187267840"/>
      </c:barChart>
      <c:catAx>
        <c:axId val="184411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87267840"/>
        <c:crosses val="autoZero"/>
        <c:auto val="1"/>
        <c:lblAlgn val="ctr"/>
        <c:lblOffset val="100"/>
        <c:noMultiLvlLbl val="0"/>
      </c:catAx>
      <c:valAx>
        <c:axId val="187267840"/>
        <c:scaling>
          <c:orientation val="minMax"/>
        </c:scaling>
        <c:delete val="1"/>
        <c:axPos val="l"/>
        <c:numFmt formatCode="0%" sourceLinked="1"/>
        <c:majorTickMark val="none"/>
        <c:minorTickMark val="none"/>
        <c:tickLblPos val="nextTo"/>
        <c:crossAx val="184411968"/>
        <c:crosses val="autoZero"/>
        <c:crossBetween val="between"/>
      </c:valAx>
      <c:spPr>
        <a:noFill/>
        <a:ln>
          <a:noFill/>
        </a:ln>
        <a:effectLst/>
      </c:spPr>
    </c:plotArea>
    <c:legend>
      <c:legendPos val="l"/>
      <c:layout>
        <c:manualLayout>
          <c:xMode val="edge"/>
          <c:yMode val="edge"/>
          <c:x val="7.8395061728395062E-3"/>
          <c:y val="0.10047055555555554"/>
          <c:w val="0.14068827160493827"/>
          <c:h val="0.79937638888888884"/>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chart>
  <c:spPr>
    <a:noFill/>
    <a:ln>
      <a:noFill/>
    </a:ln>
    <a:effectLst/>
  </c:spPr>
  <c:txPr>
    <a:bodyPr/>
    <a:lstStyle/>
    <a:p>
      <a:pPr>
        <a:defRPr/>
      </a:pPr>
      <a:endParaRPr lang="en-US"/>
    </a:p>
  </c:txPr>
  <c:externalData r:id="rId4">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Accountability</c:v>
                </c:pt>
              </c:strCache>
            </c:strRef>
          </c:tx>
          <c:spPr>
            <a:ln w="22225" cap="rnd">
              <a:solidFill>
                <a:srgbClr val="7030A0"/>
              </a:solidFill>
              <a:round/>
            </a:ln>
            <a:effectLst/>
          </c:spPr>
          <c:marker>
            <c:symbol val="diamond"/>
            <c:size val="6"/>
            <c:spPr>
              <a:solidFill>
                <a:srgbClr val="7030A0"/>
              </a:solidFill>
              <a:ln w="9525">
                <a:solidFill>
                  <a:srgbClr val="7030A0"/>
                </a:solidFill>
                <a:round/>
              </a:ln>
              <a:effectLst/>
            </c:spPr>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TN Brighter Sans" panose="00000500000000000000"/>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Sheet1!$B$2:$B$12</c:f>
              <c:numCache>
                <c:formatCode>0%</c:formatCode>
                <c:ptCount val="11"/>
                <c:pt idx="0">
                  <c:v>0.66</c:v>
                </c:pt>
                <c:pt idx="1">
                  <c:v>0.66</c:v>
                </c:pt>
                <c:pt idx="2">
                  <c:v>0.67</c:v>
                </c:pt>
                <c:pt idx="3">
                  <c:v>0.63</c:v>
                </c:pt>
                <c:pt idx="4">
                  <c:v>0.73</c:v>
                </c:pt>
                <c:pt idx="5">
                  <c:v>0.67</c:v>
                </c:pt>
                <c:pt idx="6">
                  <c:v>0.77</c:v>
                </c:pt>
                <c:pt idx="7">
                  <c:v>0.56000000000000005</c:v>
                </c:pt>
                <c:pt idx="8">
                  <c:v>0.6</c:v>
                </c:pt>
                <c:pt idx="9">
                  <c:v>0.68</c:v>
                </c:pt>
                <c:pt idx="10">
                  <c:v>0.64</c:v>
                </c:pt>
              </c:numCache>
            </c:numRef>
          </c:val>
          <c:smooth val="0"/>
          <c:extLst>
            <c:ext xmlns:c16="http://schemas.microsoft.com/office/drawing/2014/chart" uri="{C3380CC4-5D6E-409C-BE32-E72D297353CC}">
              <c16:uniqueId val="{00000000-ACD8-4094-B456-232E1B6B2AF8}"/>
            </c:ext>
          </c:extLst>
        </c:ser>
        <c:ser>
          <c:idx val="1"/>
          <c:order val="1"/>
          <c:tx>
            <c:strRef>
              <c:f>Sheet1!$C$1</c:f>
              <c:strCache>
                <c:ptCount val="1"/>
                <c:pt idx="0">
                  <c:v>Integrity</c:v>
                </c:pt>
              </c:strCache>
            </c:strRef>
          </c:tx>
          <c:spPr>
            <a:ln w="22225" cap="rnd">
              <a:solidFill>
                <a:schemeClr val="accent2"/>
              </a:solidFill>
              <a:round/>
            </a:ln>
            <a:effectLst/>
          </c:spPr>
          <c:marker>
            <c:symbol val="square"/>
            <c:size val="6"/>
            <c:spPr>
              <a:solidFill>
                <a:schemeClr val="accent2"/>
              </a:solidFill>
              <a:ln w="9525">
                <a:solidFill>
                  <a:schemeClr val="accent2"/>
                </a:solidFill>
                <a:round/>
              </a:ln>
              <a:effectLst/>
            </c:spPr>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TN Brighter Sans" panose="00000500000000000000"/>
                    <a:ea typeface="+mn-ea"/>
                    <a:cs typeface="+mn-cs"/>
                  </a:defRPr>
                </a:pPr>
                <a:endParaRPr lang="en-US"/>
              </a:p>
            </c:txPr>
            <c:dLblPos val="l"/>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Sheet1!$C$2:$C$12</c:f>
              <c:numCache>
                <c:formatCode>0%</c:formatCode>
                <c:ptCount val="11"/>
                <c:pt idx="0">
                  <c:v>0.64</c:v>
                </c:pt>
                <c:pt idx="1">
                  <c:v>0.66</c:v>
                </c:pt>
                <c:pt idx="2">
                  <c:v>0.63</c:v>
                </c:pt>
                <c:pt idx="3">
                  <c:v>0.61</c:v>
                </c:pt>
                <c:pt idx="4">
                  <c:v>0.82</c:v>
                </c:pt>
                <c:pt idx="5">
                  <c:v>0.63</c:v>
                </c:pt>
                <c:pt idx="6">
                  <c:v>0.41</c:v>
                </c:pt>
                <c:pt idx="7">
                  <c:v>0.57999999999999996</c:v>
                </c:pt>
                <c:pt idx="8">
                  <c:v>0.69</c:v>
                </c:pt>
                <c:pt idx="9">
                  <c:v>0.65</c:v>
                </c:pt>
                <c:pt idx="10">
                  <c:v>0.63</c:v>
                </c:pt>
              </c:numCache>
            </c:numRef>
          </c:val>
          <c:smooth val="0"/>
          <c:extLst>
            <c:ext xmlns:c16="http://schemas.microsoft.com/office/drawing/2014/chart" uri="{C3380CC4-5D6E-409C-BE32-E72D297353CC}">
              <c16:uniqueId val="{00000001-ACD8-4094-B456-232E1B6B2AF8}"/>
            </c:ext>
          </c:extLst>
        </c:ser>
        <c:ser>
          <c:idx val="2"/>
          <c:order val="2"/>
          <c:tx>
            <c:strRef>
              <c:f>Sheet1!$D$1</c:f>
              <c:strCache>
                <c:ptCount val="1"/>
                <c:pt idx="0">
                  <c:v>Competence</c:v>
                </c:pt>
              </c:strCache>
            </c:strRef>
          </c:tx>
          <c:spPr>
            <a:ln w="22225" cap="rnd">
              <a:solidFill>
                <a:schemeClr val="accent3"/>
              </a:solidFill>
              <a:round/>
            </a:ln>
            <a:effectLst/>
          </c:spPr>
          <c:marker>
            <c:symbol val="triangle"/>
            <c:size val="6"/>
            <c:spPr>
              <a:solidFill>
                <a:schemeClr val="accent3"/>
              </a:solidFill>
              <a:ln w="9525">
                <a:solidFill>
                  <a:schemeClr val="accent3"/>
                </a:solidFill>
                <a:round/>
              </a:ln>
              <a:effectLst/>
            </c:spPr>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TN Brighter Sans" panose="00000500000000000000"/>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Sheet1!$D$2:$D$12</c:f>
              <c:numCache>
                <c:formatCode>0%</c:formatCode>
                <c:ptCount val="11"/>
                <c:pt idx="0">
                  <c:v>0.56000000000000005</c:v>
                </c:pt>
                <c:pt idx="1">
                  <c:v>0.55000000000000004</c:v>
                </c:pt>
                <c:pt idx="2">
                  <c:v>0.56000000000000005</c:v>
                </c:pt>
                <c:pt idx="3">
                  <c:v>0.52</c:v>
                </c:pt>
                <c:pt idx="4">
                  <c:v>0.39</c:v>
                </c:pt>
                <c:pt idx="5">
                  <c:v>0.53</c:v>
                </c:pt>
                <c:pt idx="6">
                  <c:v>0.66</c:v>
                </c:pt>
                <c:pt idx="7">
                  <c:v>0.54</c:v>
                </c:pt>
                <c:pt idx="8">
                  <c:v>0.68</c:v>
                </c:pt>
                <c:pt idx="9">
                  <c:v>0.56000000000000005</c:v>
                </c:pt>
                <c:pt idx="10">
                  <c:v>0.55000000000000004</c:v>
                </c:pt>
              </c:numCache>
            </c:numRef>
          </c:val>
          <c:smooth val="0"/>
          <c:extLst>
            <c:ext xmlns:c16="http://schemas.microsoft.com/office/drawing/2014/chart" uri="{C3380CC4-5D6E-409C-BE32-E72D297353CC}">
              <c16:uniqueId val="{00000002-ACD8-4094-B456-232E1B6B2AF8}"/>
            </c:ext>
          </c:extLst>
        </c:ser>
        <c:ser>
          <c:idx val="3"/>
          <c:order val="3"/>
          <c:tx>
            <c:strRef>
              <c:f>Sheet1!$E$1</c:f>
              <c:strCache>
                <c:ptCount val="1"/>
                <c:pt idx="0">
                  <c:v>Transparency</c:v>
                </c:pt>
              </c:strCache>
            </c:strRef>
          </c:tx>
          <c:spPr>
            <a:ln w="22225" cap="rnd">
              <a:solidFill>
                <a:schemeClr val="accent4"/>
              </a:solidFill>
              <a:round/>
            </a:ln>
            <a:effectLst/>
          </c:spPr>
          <c:marker>
            <c:symbol val="x"/>
            <c:size val="6"/>
            <c:spPr>
              <a:noFill/>
              <a:ln w="9525">
                <a:solidFill>
                  <a:schemeClr val="accent4"/>
                </a:solidFill>
                <a:round/>
              </a:ln>
              <a:effectLst/>
            </c:spPr>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TN Brighter Sans" panose="00000500000000000000"/>
                    <a:ea typeface="+mn-ea"/>
                    <a:cs typeface="+mn-cs"/>
                  </a:defRPr>
                </a:pPr>
                <a:endParaRPr lang="en-US"/>
              </a:p>
            </c:txPr>
            <c:dLblPos val="l"/>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Sheet1!$E$2:$E$12</c:f>
              <c:numCache>
                <c:formatCode>0%</c:formatCode>
                <c:ptCount val="11"/>
                <c:pt idx="0">
                  <c:v>0.4</c:v>
                </c:pt>
                <c:pt idx="1">
                  <c:v>0.39</c:v>
                </c:pt>
                <c:pt idx="2">
                  <c:v>0.42</c:v>
                </c:pt>
                <c:pt idx="3">
                  <c:v>0.36</c:v>
                </c:pt>
                <c:pt idx="4">
                  <c:v>0.53</c:v>
                </c:pt>
                <c:pt idx="5">
                  <c:v>0.36</c:v>
                </c:pt>
                <c:pt idx="6">
                  <c:v>0.37</c:v>
                </c:pt>
                <c:pt idx="7">
                  <c:v>0.37</c:v>
                </c:pt>
                <c:pt idx="8">
                  <c:v>0.4</c:v>
                </c:pt>
                <c:pt idx="9">
                  <c:v>0.38</c:v>
                </c:pt>
                <c:pt idx="10">
                  <c:v>0.44</c:v>
                </c:pt>
              </c:numCache>
            </c:numRef>
          </c:val>
          <c:smooth val="0"/>
          <c:extLst>
            <c:ext xmlns:c16="http://schemas.microsoft.com/office/drawing/2014/chart" uri="{C3380CC4-5D6E-409C-BE32-E72D297353CC}">
              <c16:uniqueId val="{00000003-ACD8-4094-B456-232E1B6B2AF8}"/>
            </c:ext>
          </c:extLst>
        </c:ser>
        <c:ser>
          <c:idx val="4"/>
          <c:order val="4"/>
          <c:tx>
            <c:strRef>
              <c:f>Sheet1!$F$1</c:f>
              <c:strCache>
                <c:ptCount val="1"/>
                <c:pt idx="0">
                  <c:v>Vision</c:v>
                </c:pt>
              </c:strCache>
            </c:strRef>
          </c:tx>
          <c:spPr>
            <a:ln w="22225" cap="rnd">
              <a:solidFill>
                <a:schemeClr val="accent5"/>
              </a:solidFill>
              <a:round/>
            </a:ln>
            <a:effectLst/>
          </c:spPr>
          <c:marker>
            <c:symbol val="star"/>
            <c:size val="6"/>
            <c:spPr>
              <a:noFill/>
              <a:ln w="9525">
                <a:solidFill>
                  <a:schemeClr val="accent5"/>
                </a:solidFill>
                <a:round/>
              </a:ln>
              <a:effectLst/>
            </c:spPr>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TN Brighter Sans" panose="00000500000000000000"/>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Sheet1!$F$2:$F$12</c:f>
              <c:numCache>
                <c:formatCode>0%</c:formatCode>
                <c:ptCount val="11"/>
                <c:pt idx="0">
                  <c:v>0.39</c:v>
                </c:pt>
                <c:pt idx="1">
                  <c:v>0.38</c:v>
                </c:pt>
                <c:pt idx="2">
                  <c:v>0.4</c:v>
                </c:pt>
                <c:pt idx="3">
                  <c:v>0.44</c:v>
                </c:pt>
                <c:pt idx="4">
                  <c:v>0.4</c:v>
                </c:pt>
                <c:pt idx="5">
                  <c:v>0.28999999999999998</c:v>
                </c:pt>
                <c:pt idx="6">
                  <c:v>0.46</c:v>
                </c:pt>
                <c:pt idx="7">
                  <c:v>0.47</c:v>
                </c:pt>
                <c:pt idx="8">
                  <c:v>0.36</c:v>
                </c:pt>
                <c:pt idx="9">
                  <c:v>0.4</c:v>
                </c:pt>
                <c:pt idx="10">
                  <c:v>0.36</c:v>
                </c:pt>
              </c:numCache>
            </c:numRef>
          </c:val>
          <c:smooth val="0"/>
          <c:extLst>
            <c:ext xmlns:c16="http://schemas.microsoft.com/office/drawing/2014/chart" uri="{C3380CC4-5D6E-409C-BE32-E72D297353CC}">
              <c16:uniqueId val="{00000004-ACD8-4094-B456-232E1B6B2AF8}"/>
            </c:ext>
          </c:extLst>
        </c:ser>
        <c:ser>
          <c:idx val="5"/>
          <c:order val="5"/>
          <c:tx>
            <c:strRef>
              <c:f>Sheet1!$G$1</c:f>
              <c:strCache>
                <c:ptCount val="1"/>
                <c:pt idx="0">
                  <c:v>Public engagement</c:v>
                </c:pt>
              </c:strCache>
            </c:strRef>
          </c:tx>
          <c:spPr>
            <a:ln w="22225" cap="rnd">
              <a:solidFill>
                <a:schemeClr val="accent6"/>
              </a:solidFill>
              <a:round/>
            </a:ln>
            <a:effectLst/>
          </c:spPr>
          <c:marker>
            <c:symbol val="circle"/>
            <c:size val="6"/>
            <c:spPr>
              <a:solidFill>
                <a:schemeClr val="accent6"/>
              </a:solidFill>
              <a:ln w="9525">
                <a:solidFill>
                  <a:schemeClr val="accent6"/>
                </a:solidFill>
                <a:round/>
              </a:ln>
              <a:effectLst/>
            </c:spPr>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TN Brighter Sans" panose="00000500000000000000"/>
                    <a:ea typeface="+mn-ea"/>
                    <a:cs typeface="+mn-cs"/>
                  </a:defRPr>
                </a:pPr>
                <a:endParaRPr lang="en-US"/>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Sheet1!$G$2:$G$12</c:f>
              <c:numCache>
                <c:formatCode>0%</c:formatCode>
                <c:ptCount val="11"/>
                <c:pt idx="0">
                  <c:v>0.32</c:v>
                </c:pt>
                <c:pt idx="1">
                  <c:v>0.32</c:v>
                </c:pt>
                <c:pt idx="2">
                  <c:v>0.31</c:v>
                </c:pt>
                <c:pt idx="3">
                  <c:v>0.44</c:v>
                </c:pt>
                <c:pt idx="4">
                  <c:v>0.13</c:v>
                </c:pt>
                <c:pt idx="5">
                  <c:v>0.44</c:v>
                </c:pt>
                <c:pt idx="6">
                  <c:v>0.33</c:v>
                </c:pt>
                <c:pt idx="7">
                  <c:v>0.39</c:v>
                </c:pt>
                <c:pt idx="8">
                  <c:v>0.27</c:v>
                </c:pt>
                <c:pt idx="9">
                  <c:v>0.3</c:v>
                </c:pt>
                <c:pt idx="10">
                  <c:v>0.34</c:v>
                </c:pt>
              </c:numCache>
            </c:numRef>
          </c:val>
          <c:smooth val="0"/>
          <c:extLst>
            <c:ext xmlns:c16="http://schemas.microsoft.com/office/drawing/2014/chart" uri="{C3380CC4-5D6E-409C-BE32-E72D297353CC}">
              <c16:uniqueId val="{00000005-ACD8-4094-B456-232E1B6B2AF8}"/>
            </c:ext>
          </c:extLst>
        </c:ser>
        <c:dLbls>
          <c:dLblPos val="t"/>
          <c:showLegendKey val="0"/>
          <c:showVal val="1"/>
          <c:showCatName val="0"/>
          <c:showSerName val="0"/>
          <c:showPercent val="0"/>
          <c:showBubbleSize val="0"/>
        </c:dLbls>
        <c:marker val="1"/>
        <c:smooth val="0"/>
        <c:axId val="1081896368"/>
        <c:axId val="1081895952"/>
      </c:lineChart>
      <c:catAx>
        <c:axId val="108189636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tx1"/>
                </a:solidFill>
                <a:latin typeface="MTN Brighter Sans" panose="00000500000000000000"/>
                <a:ea typeface="+mn-ea"/>
                <a:cs typeface="+mn-cs"/>
              </a:defRPr>
            </a:pPr>
            <a:endParaRPr lang="en-US"/>
          </a:p>
        </c:txPr>
        <c:crossAx val="1081895952"/>
        <c:crosses val="autoZero"/>
        <c:auto val="1"/>
        <c:lblAlgn val="ctr"/>
        <c:lblOffset val="100"/>
        <c:noMultiLvlLbl val="0"/>
      </c:catAx>
      <c:valAx>
        <c:axId val="1081895952"/>
        <c:scaling>
          <c:orientation val="minMax"/>
        </c:scaling>
        <c:delete val="1"/>
        <c:axPos val="l"/>
        <c:numFmt formatCode="0%" sourceLinked="1"/>
        <c:majorTickMark val="none"/>
        <c:minorTickMark val="none"/>
        <c:tickLblPos val="nextTo"/>
        <c:crossAx val="1081896368"/>
        <c:crosses val="autoZero"/>
        <c:crossBetween val="between"/>
      </c:valAx>
      <c:spPr>
        <a:noFill/>
        <a:ln>
          <a:noFill/>
        </a:ln>
        <a:effectLst/>
      </c:spPr>
    </c:plotArea>
    <c:legend>
      <c:legendPos val="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TN Brighter Sans" panose="0000050000000000000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solidFill>
          <a:latin typeface="MTN Brighter Sans" panose="00000500000000000000"/>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Decisions in the best interest of the general public</a:t>
            </a: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percentStacked"/>
        <c:varyColors val="0"/>
        <c:ser>
          <c:idx val="0"/>
          <c:order val="0"/>
          <c:tx>
            <c:strRef>
              <c:f>Sheet1!$B$1</c:f>
              <c:strCache>
                <c:ptCount val="1"/>
                <c:pt idx="0">
                  <c:v>Very poor (1.0)</c:v>
                </c:pt>
              </c:strCache>
            </c:strRef>
          </c:tx>
          <c:spPr>
            <a:solidFill>
              <a:srgbClr val="FF5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Sheet1!$B$2:$B$12</c:f>
              <c:numCache>
                <c:formatCode>0%</c:formatCode>
                <c:ptCount val="11"/>
                <c:pt idx="0">
                  <c:v>0.37</c:v>
                </c:pt>
                <c:pt idx="1">
                  <c:v>0.36</c:v>
                </c:pt>
                <c:pt idx="2">
                  <c:v>0.38</c:v>
                </c:pt>
                <c:pt idx="3">
                  <c:v>0.48</c:v>
                </c:pt>
                <c:pt idx="4">
                  <c:v>0.47</c:v>
                </c:pt>
                <c:pt idx="5">
                  <c:v>0.17</c:v>
                </c:pt>
                <c:pt idx="6">
                  <c:v>0.34</c:v>
                </c:pt>
                <c:pt idx="7">
                  <c:v>0.63</c:v>
                </c:pt>
                <c:pt idx="8">
                  <c:v>0.3</c:v>
                </c:pt>
                <c:pt idx="9">
                  <c:v>0.35</c:v>
                </c:pt>
                <c:pt idx="10">
                  <c:v>0.42</c:v>
                </c:pt>
              </c:numCache>
            </c:numRef>
          </c:val>
          <c:extLst>
            <c:ext xmlns:c16="http://schemas.microsoft.com/office/drawing/2014/chart" uri="{C3380CC4-5D6E-409C-BE32-E72D297353CC}">
              <c16:uniqueId val="{00000000-4D43-452D-8C7A-609B99D91909}"/>
            </c:ext>
          </c:extLst>
        </c:ser>
        <c:ser>
          <c:idx val="1"/>
          <c:order val="1"/>
          <c:tx>
            <c:strRef>
              <c:f>Sheet1!$C$1</c:f>
              <c:strCache>
                <c:ptCount val="1"/>
                <c:pt idx="0">
                  <c:v>Poor (2.0)</c:v>
                </c:pt>
              </c:strCache>
            </c:strRef>
          </c:tx>
          <c:spPr>
            <a:solidFill>
              <a:srgbClr val="FFC000">
                <a:lumMod val="60000"/>
                <a:lumOff val="40000"/>
              </a:srgb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Sheet1!$C$2:$C$12</c:f>
              <c:numCache>
                <c:formatCode>0%</c:formatCode>
                <c:ptCount val="11"/>
                <c:pt idx="0">
                  <c:v>0.3</c:v>
                </c:pt>
                <c:pt idx="1">
                  <c:v>0.28999999999999998</c:v>
                </c:pt>
                <c:pt idx="2">
                  <c:v>0.3</c:v>
                </c:pt>
                <c:pt idx="3">
                  <c:v>0.24</c:v>
                </c:pt>
                <c:pt idx="4">
                  <c:v>0.26</c:v>
                </c:pt>
                <c:pt idx="5">
                  <c:v>0.17</c:v>
                </c:pt>
                <c:pt idx="6">
                  <c:v>0.45</c:v>
                </c:pt>
                <c:pt idx="7">
                  <c:v>0.22</c:v>
                </c:pt>
                <c:pt idx="8">
                  <c:v>0.41</c:v>
                </c:pt>
                <c:pt idx="9">
                  <c:v>0.34</c:v>
                </c:pt>
                <c:pt idx="10">
                  <c:v>0.23</c:v>
                </c:pt>
              </c:numCache>
            </c:numRef>
          </c:val>
          <c:extLst>
            <c:ext xmlns:c16="http://schemas.microsoft.com/office/drawing/2014/chart" uri="{C3380CC4-5D6E-409C-BE32-E72D297353CC}">
              <c16:uniqueId val="{00000001-4D43-452D-8C7A-609B99D91909}"/>
            </c:ext>
          </c:extLst>
        </c:ser>
        <c:ser>
          <c:idx val="2"/>
          <c:order val="2"/>
          <c:tx>
            <c:strRef>
              <c:f>Sheet1!$D$1</c:f>
              <c:strCache>
                <c:ptCount val="1"/>
                <c:pt idx="0">
                  <c:v>Fair (3.0)</c:v>
                </c:pt>
              </c:strCache>
            </c:strRef>
          </c:tx>
          <c:spPr>
            <a:solidFill>
              <a:schemeClr val="accent2">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Sheet1!$D$2:$D$12</c:f>
              <c:numCache>
                <c:formatCode>0%</c:formatCode>
                <c:ptCount val="11"/>
                <c:pt idx="0">
                  <c:v>0.23</c:v>
                </c:pt>
                <c:pt idx="1">
                  <c:v>0.23</c:v>
                </c:pt>
                <c:pt idx="2">
                  <c:v>0.22</c:v>
                </c:pt>
                <c:pt idx="3">
                  <c:v>0.19</c:v>
                </c:pt>
                <c:pt idx="4">
                  <c:v>0.22</c:v>
                </c:pt>
                <c:pt idx="5">
                  <c:v>0.36</c:v>
                </c:pt>
                <c:pt idx="6">
                  <c:v>0.19</c:v>
                </c:pt>
                <c:pt idx="7">
                  <c:v>0.16</c:v>
                </c:pt>
                <c:pt idx="8">
                  <c:v>0.19</c:v>
                </c:pt>
                <c:pt idx="9">
                  <c:v>0.23</c:v>
                </c:pt>
                <c:pt idx="10">
                  <c:v>0.22</c:v>
                </c:pt>
              </c:numCache>
            </c:numRef>
          </c:val>
          <c:extLst>
            <c:ext xmlns:c16="http://schemas.microsoft.com/office/drawing/2014/chart" uri="{C3380CC4-5D6E-409C-BE32-E72D297353CC}">
              <c16:uniqueId val="{00000002-4D43-452D-8C7A-609B99D91909}"/>
            </c:ext>
          </c:extLst>
        </c:ser>
        <c:ser>
          <c:idx val="3"/>
          <c:order val="3"/>
          <c:tx>
            <c:strRef>
              <c:f>Sheet1!$E$1</c:f>
              <c:strCache>
                <c:ptCount val="1"/>
                <c:pt idx="0">
                  <c:v>Good (4.0)</c:v>
                </c:pt>
              </c:strCache>
            </c:strRef>
          </c:tx>
          <c:spPr>
            <a:solidFill>
              <a:srgbClr val="6AF7A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Sheet1!$E$2:$E$12</c:f>
              <c:numCache>
                <c:formatCode>0%</c:formatCode>
                <c:ptCount val="11"/>
                <c:pt idx="0">
                  <c:v>0.09</c:v>
                </c:pt>
                <c:pt idx="1">
                  <c:v>0.1</c:v>
                </c:pt>
                <c:pt idx="2">
                  <c:v>0.09</c:v>
                </c:pt>
                <c:pt idx="3">
                  <c:v>0.08</c:v>
                </c:pt>
                <c:pt idx="4">
                  <c:v>0.05</c:v>
                </c:pt>
                <c:pt idx="5">
                  <c:v>0.3</c:v>
                </c:pt>
                <c:pt idx="6">
                  <c:v>0.02</c:v>
                </c:pt>
                <c:pt idx="7">
                  <c:v>0</c:v>
                </c:pt>
                <c:pt idx="8">
                  <c:v>0.06</c:v>
                </c:pt>
                <c:pt idx="9">
                  <c:v>7.0000000000000007E-2</c:v>
                </c:pt>
                <c:pt idx="10">
                  <c:v>0.13</c:v>
                </c:pt>
              </c:numCache>
            </c:numRef>
          </c:val>
          <c:extLst>
            <c:ext xmlns:c16="http://schemas.microsoft.com/office/drawing/2014/chart" uri="{C3380CC4-5D6E-409C-BE32-E72D297353CC}">
              <c16:uniqueId val="{00000003-4D43-452D-8C7A-609B99D91909}"/>
            </c:ext>
          </c:extLst>
        </c:ser>
        <c:ser>
          <c:idx val="4"/>
          <c:order val="4"/>
          <c:tx>
            <c:strRef>
              <c:f>Sheet1!$F$1</c:f>
              <c:strCache>
                <c:ptCount val="1"/>
                <c:pt idx="0">
                  <c:v>Excellent (5.0)</c:v>
                </c:pt>
              </c:strCache>
            </c:strRef>
          </c:tx>
          <c:spPr>
            <a:solidFill>
              <a:srgbClr val="92D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Sheet1!$F$2:$F$12</c:f>
              <c:numCache>
                <c:formatCode>0%</c:formatCode>
                <c:ptCount val="11"/>
                <c:pt idx="0">
                  <c:v>0.01</c:v>
                </c:pt>
                <c:pt idx="1">
                  <c:v>0.02</c:v>
                </c:pt>
                <c:pt idx="2">
                  <c:v>0.01</c:v>
                </c:pt>
                <c:pt idx="3">
                  <c:v>0.01</c:v>
                </c:pt>
                <c:pt idx="4">
                  <c:v>0</c:v>
                </c:pt>
                <c:pt idx="5">
                  <c:v>0</c:v>
                </c:pt>
                <c:pt idx="6">
                  <c:v>0</c:v>
                </c:pt>
                <c:pt idx="7">
                  <c:v>0</c:v>
                </c:pt>
                <c:pt idx="8">
                  <c:v>0.04</c:v>
                </c:pt>
                <c:pt idx="9">
                  <c:v>0.01</c:v>
                </c:pt>
                <c:pt idx="10">
                  <c:v>0</c:v>
                </c:pt>
              </c:numCache>
            </c:numRef>
          </c:val>
          <c:extLst>
            <c:ext xmlns:c16="http://schemas.microsoft.com/office/drawing/2014/chart" uri="{C3380CC4-5D6E-409C-BE32-E72D297353CC}">
              <c16:uniqueId val="{00000004-4D43-452D-8C7A-609B99D91909}"/>
            </c:ext>
          </c:extLst>
        </c:ser>
        <c:dLbls>
          <c:dLblPos val="ctr"/>
          <c:showLegendKey val="0"/>
          <c:showVal val="1"/>
          <c:showCatName val="0"/>
          <c:showSerName val="0"/>
          <c:showPercent val="0"/>
          <c:showBubbleSize val="0"/>
        </c:dLbls>
        <c:gapWidth val="50"/>
        <c:overlap val="100"/>
        <c:axId val="184411968"/>
        <c:axId val="187267840"/>
      </c:barChart>
      <c:catAx>
        <c:axId val="184411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87267840"/>
        <c:crosses val="autoZero"/>
        <c:auto val="1"/>
        <c:lblAlgn val="ctr"/>
        <c:lblOffset val="100"/>
        <c:noMultiLvlLbl val="0"/>
      </c:catAx>
      <c:valAx>
        <c:axId val="187267840"/>
        <c:scaling>
          <c:orientation val="minMax"/>
        </c:scaling>
        <c:delete val="1"/>
        <c:axPos val="l"/>
        <c:numFmt formatCode="0%" sourceLinked="1"/>
        <c:majorTickMark val="none"/>
        <c:minorTickMark val="none"/>
        <c:tickLblPos val="nextTo"/>
        <c:crossAx val="184411968"/>
        <c:crosses val="autoZero"/>
        <c:crossBetween val="between"/>
      </c:valAx>
      <c:spPr>
        <a:noFill/>
        <a:ln>
          <a:noFill/>
        </a:ln>
        <a:effectLst/>
      </c:spPr>
    </c:plotArea>
    <c:legend>
      <c:legendPos val="l"/>
      <c:layout>
        <c:manualLayout>
          <c:xMode val="edge"/>
          <c:yMode val="edge"/>
          <c:x val="7.8395061728395062E-3"/>
          <c:y val="0.10047055555555554"/>
          <c:w val="0.14068827160493827"/>
          <c:h val="0.79937638888888884"/>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chart>
  <c:spPr>
    <a:noFill/>
    <a:ln>
      <a:noFill/>
    </a:ln>
    <a:effectLst/>
  </c:spPr>
  <c:txPr>
    <a:bodyPr/>
    <a:lstStyle/>
    <a:p>
      <a:pPr>
        <a:defRPr/>
      </a:pPr>
      <a:endParaRPr lang="en-US"/>
    </a:p>
  </c:txPr>
  <c:externalData r:id="rId4">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effectLst/>
              </a:rPr>
              <a:t>Prioritizing the needs of citizens over personal interests</a:t>
            </a:r>
            <a:endParaRPr lang="en-GB" sz="1400" dirty="0">
              <a:effectLst/>
            </a:endParaRP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percentStacked"/>
        <c:varyColors val="0"/>
        <c:ser>
          <c:idx val="0"/>
          <c:order val="0"/>
          <c:tx>
            <c:strRef>
              <c:f>Sheet1!$B$1</c:f>
              <c:strCache>
                <c:ptCount val="1"/>
                <c:pt idx="0">
                  <c:v>Yes</c:v>
                </c:pt>
              </c:strCache>
            </c:strRef>
          </c:tx>
          <c:spPr>
            <a:solidFill>
              <a:srgbClr val="92D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Sheet1!$B$2:$B$12</c:f>
              <c:numCache>
                <c:formatCode>0%</c:formatCode>
                <c:ptCount val="11"/>
                <c:pt idx="0">
                  <c:v>0.13</c:v>
                </c:pt>
                <c:pt idx="1">
                  <c:v>0.15</c:v>
                </c:pt>
                <c:pt idx="2">
                  <c:v>0.12</c:v>
                </c:pt>
                <c:pt idx="3">
                  <c:v>0.16</c:v>
                </c:pt>
                <c:pt idx="4">
                  <c:v>0.08</c:v>
                </c:pt>
                <c:pt idx="5">
                  <c:v>0.33</c:v>
                </c:pt>
                <c:pt idx="6">
                  <c:v>0.02</c:v>
                </c:pt>
                <c:pt idx="7">
                  <c:v>0.04</c:v>
                </c:pt>
                <c:pt idx="8">
                  <c:v>0.11</c:v>
                </c:pt>
                <c:pt idx="9">
                  <c:v>0.11</c:v>
                </c:pt>
                <c:pt idx="10">
                  <c:v>0.17</c:v>
                </c:pt>
              </c:numCache>
            </c:numRef>
          </c:val>
          <c:extLst>
            <c:ext xmlns:c16="http://schemas.microsoft.com/office/drawing/2014/chart" uri="{C3380CC4-5D6E-409C-BE32-E72D297353CC}">
              <c16:uniqueId val="{00000000-4D43-452D-8C7A-609B99D91909}"/>
            </c:ext>
          </c:extLst>
        </c:ser>
        <c:ser>
          <c:idx val="1"/>
          <c:order val="1"/>
          <c:tx>
            <c:strRef>
              <c:f>Sheet1!$C$1</c:f>
              <c:strCache>
                <c:ptCount val="1"/>
                <c:pt idx="0">
                  <c:v>No</c:v>
                </c:pt>
              </c:strCache>
            </c:strRef>
          </c:tx>
          <c:spPr>
            <a:solidFill>
              <a:srgbClr val="FF7C8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Sheet1!$C$2:$C$12</c:f>
              <c:numCache>
                <c:formatCode>0%</c:formatCode>
                <c:ptCount val="11"/>
                <c:pt idx="0">
                  <c:v>0.75</c:v>
                </c:pt>
                <c:pt idx="1">
                  <c:v>0.74</c:v>
                </c:pt>
                <c:pt idx="2">
                  <c:v>0.76</c:v>
                </c:pt>
                <c:pt idx="3">
                  <c:v>0.62</c:v>
                </c:pt>
                <c:pt idx="4">
                  <c:v>0.89</c:v>
                </c:pt>
                <c:pt idx="5">
                  <c:v>0.55000000000000004</c:v>
                </c:pt>
                <c:pt idx="6">
                  <c:v>0.97</c:v>
                </c:pt>
                <c:pt idx="7">
                  <c:v>0.68</c:v>
                </c:pt>
                <c:pt idx="8">
                  <c:v>0.77</c:v>
                </c:pt>
                <c:pt idx="9">
                  <c:v>0.79</c:v>
                </c:pt>
                <c:pt idx="10">
                  <c:v>0.7</c:v>
                </c:pt>
              </c:numCache>
            </c:numRef>
          </c:val>
          <c:extLst>
            <c:ext xmlns:c16="http://schemas.microsoft.com/office/drawing/2014/chart" uri="{C3380CC4-5D6E-409C-BE32-E72D297353CC}">
              <c16:uniqueId val="{00000001-4D43-452D-8C7A-609B99D91909}"/>
            </c:ext>
          </c:extLst>
        </c:ser>
        <c:ser>
          <c:idx val="2"/>
          <c:order val="2"/>
          <c:tx>
            <c:strRef>
              <c:f>Sheet1!$D$1</c:f>
              <c:strCache>
                <c:ptCount val="1"/>
                <c:pt idx="0">
                  <c:v>Not sure</c:v>
                </c:pt>
              </c:strCache>
            </c:strRef>
          </c:tx>
          <c:spPr>
            <a:solidFill>
              <a:schemeClr val="accent2">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Sheet1!$D$2:$D$12</c:f>
              <c:numCache>
                <c:formatCode>0%</c:formatCode>
                <c:ptCount val="11"/>
                <c:pt idx="0">
                  <c:v>0.11</c:v>
                </c:pt>
                <c:pt idx="1">
                  <c:v>0.11</c:v>
                </c:pt>
                <c:pt idx="2">
                  <c:v>0.12</c:v>
                </c:pt>
                <c:pt idx="3">
                  <c:v>0.21</c:v>
                </c:pt>
                <c:pt idx="4">
                  <c:v>0.02</c:v>
                </c:pt>
                <c:pt idx="5">
                  <c:v>0.12</c:v>
                </c:pt>
                <c:pt idx="6">
                  <c:v>0.01</c:v>
                </c:pt>
                <c:pt idx="7">
                  <c:v>0.28000000000000003</c:v>
                </c:pt>
                <c:pt idx="8">
                  <c:v>0.12</c:v>
                </c:pt>
                <c:pt idx="9">
                  <c:v>0.1</c:v>
                </c:pt>
                <c:pt idx="10">
                  <c:v>0.13</c:v>
                </c:pt>
              </c:numCache>
            </c:numRef>
          </c:val>
          <c:extLst>
            <c:ext xmlns:c16="http://schemas.microsoft.com/office/drawing/2014/chart" uri="{C3380CC4-5D6E-409C-BE32-E72D297353CC}">
              <c16:uniqueId val="{00000002-4D43-452D-8C7A-609B99D91909}"/>
            </c:ext>
          </c:extLst>
        </c:ser>
        <c:dLbls>
          <c:dLblPos val="ctr"/>
          <c:showLegendKey val="0"/>
          <c:showVal val="1"/>
          <c:showCatName val="0"/>
          <c:showSerName val="0"/>
          <c:showPercent val="0"/>
          <c:showBubbleSize val="0"/>
        </c:dLbls>
        <c:gapWidth val="50"/>
        <c:overlap val="100"/>
        <c:axId val="184411968"/>
        <c:axId val="187267840"/>
      </c:barChart>
      <c:catAx>
        <c:axId val="184411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87267840"/>
        <c:crosses val="autoZero"/>
        <c:auto val="1"/>
        <c:lblAlgn val="ctr"/>
        <c:lblOffset val="100"/>
        <c:noMultiLvlLbl val="0"/>
      </c:catAx>
      <c:valAx>
        <c:axId val="187267840"/>
        <c:scaling>
          <c:orientation val="minMax"/>
        </c:scaling>
        <c:delete val="1"/>
        <c:axPos val="l"/>
        <c:numFmt formatCode="0%" sourceLinked="1"/>
        <c:majorTickMark val="none"/>
        <c:minorTickMark val="none"/>
        <c:tickLblPos val="nextTo"/>
        <c:crossAx val="184411968"/>
        <c:crosses val="autoZero"/>
        <c:crossBetween val="between"/>
      </c:valAx>
      <c:spPr>
        <a:noFill/>
        <a:ln>
          <a:noFill/>
        </a:ln>
        <a:effectLst/>
      </c:spPr>
    </c:plotArea>
    <c:legend>
      <c:legendPos val="l"/>
      <c:layout>
        <c:manualLayout>
          <c:xMode val="edge"/>
          <c:yMode val="edge"/>
          <c:x val="7.8395061728395062E-3"/>
          <c:y val="0.10047055555555554"/>
          <c:w val="0.14068827160493827"/>
          <c:h val="0.79937638888888884"/>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effectLst/>
              </a:rPr>
              <a:t>Level of corruption among Nigerian political leaders</a:t>
            </a:r>
            <a:endParaRPr lang="en-GB" sz="1400" dirty="0">
              <a:effectLst/>
            </a:endParaRP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percentStacked"/>
        <c:varyColors val="0"/>
        <c:ser>
          <c:idx val="0"/>
          <c:order val="0"/>
          <c:tx>
            <c:strRef>
              <c:f>Sheet1!$B$1</c:f>
              <c:strCache>
                <c:ptCount val="1"/>
                <c:pt idx="0">
                  <c:v>Very low (1.0)</c:v>
                </c:pt>
              </c:strCache>
            </c:strRef>
          </c:tx>
          <c:spPr>
            <a:solidFill>
              <a:srgbClr val="FF5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Sheet1!$B$2:$B$12</c:f>
              <c:numCache>
                <c:formatCode>0%</c:formatCode>
                <c:ptCount val="11"/>
                <c:pt idx="0">
                  <c:v>0.04</c:v>
                </c:pt>
                <c:pt idx="1">
                  <c:v>0.04</c:v>
                </c:pt>
                <c:pt idx="2">
                  <c:v>0.04</c:v>
                </c:pt>
                <c:pt idx="3">
                  <c:v>0.05</c:v>
                </c:pt>
                <c:pt idx="4">
                  <c:v>0.04</c:v>
                </c:pt>
                <c:pt idx="5">
                  <c:v>0.03</c:v>
                </c:pt>
                <c:pt idx="6">
                  <c:v>0.04</c:v>
                </c:pt>
                <c:pt idx="7">
                  <c:v>0.06</c:v>
                </c:pt>
                <c:pt idx="8">
                  <c:v>0.05</c:v>
                </c:pt>
                <c:pt idx="9">
                  <c:v>0.05</c:v>
                </c:pt>
                <c:pt idx="10">
                  <c:v>0.03</c:v>
                </c:pt>
              </c:numCache>
            </c:numRef>
          </c:val>
          <c:extLst>
            <c:ext xmlns:c16="http://schemas.microsoft.com/office/drawing/2014/chart" uri="{C3380CC4-5D6E-409C-BE32-E72D297353CC}">
              <c16:uniqueId val="{00000000-4D43-452D-8C7A-609B99D91909}"/>
            </c:ext>
          </c:extLst>
        </c:ser>
        <c:ser>
          <c:idx val="1"/>
          <c:order val="1"/>
          <c:tx>
            <c:strRef>
              <c:f>Sheet1!$C$1</c:f>
              <c:strCache>
                <c:ptCount val="1"/>
                <c:pt idx="0">
                  <c:v>Low (2.0)</c:v>
                </c:pt>
              </c:strCache>
            </c:strRef>
          </c:tx>
          <c:spPr>
            <a:solidFill>
              <a:schemeClr val="accent4">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Sheet1!$C$2:$C$12</c:f>
              <c:numCache>
                <c:formatCode>0%</c:formatCode>
                <c:ptCount val="11"/>
                <c:pt idx="0">
                  <c:v>0.09</c:v>
                </c:pt>
                <c:pt idx="1">
                  <c:v>0.09</c:v>
                </c:pt>
                <c:pt idx="2">
                  <c:v>0.1</c:v>
                </c:pt>
                <c:pt idx="3">
                  <c:v>0.04</c:v>
                </c:pt>
                <c:pt idx="4">
                  <c:v>0.02</c:v>
                </c:pt>
                <c:pt idx="5">
                  <c:v>0.05</c:v>
                </c:pt>
                <c:pt idx="6">
                  <c:v>0.18</c:v>
                </c:pt>
                <c:pt idx="7">
                  <c:v>0.12</c:v>
                </c:pt>
                <c:pt idx="8">
                  <c:v>0.14000000000000001</c:v>
                </c:pt>
                <c:pt idx="9">
                  <c:v>0.1</c:v>
                </c:pt>
                <c:pt idx="10">
                  <c:v>7.0000000000000007E-2</c:v>
                </c:pt>
              </c:numCache>
            </c:numRef>
          </c:val>
          <c:extLst>
            <c:ext xmlns:c16="http://schemas.microsoft.com/office/drawing/2014/chart" uri="{C3380CC4-5D6E-409C-BE32-E72D297353CC}">
              <c16:uniqueId val="{00000001-4D43-452D-8C7A-609B99D91909}"/>
            </c:ext>
          </c:extLst>
        </c:ser>
        <c:ser>
          <c:idx val="2"/>
          <c:order val="2"/>
          <c:tx>
            <c:strRef>
              <c:f>Sheet1!$D$1</c:f>
              <c:strCache>
                <c:ptCount val="1"/>
                <c:pt idx="0">
                  <c:v>Moderate (3.0)</c:v>
                </c:pt>
              </c:strCache>
            </c:strRef>
          </c:tx>
          <c:spPr>
            <a:solidFill>
              <a:schemeClr val="accent2">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Sheet1!$D$2:$D$12</c:f>
              <c:numCache>
                <c:formatCode>0%</c:formatCode>
                <c:ptCount val="11"/>
                <c:pt idx="0">
                  <c:v>0.14000000000000001</c:v>
                </c:pt>
                <c:pt idx="1">
                  <c:v>0.16</c:v>
                </c:pt>
                <c:pt idx="2">
                  <c:v>0.13</c:v>
                </c:pt>
                <c:pt idx="3">
                  <c:v>0.11</c:v>
                </c:pt>
                <c:pt idx="4">
                  <c:v>7.0000000000000007E-2</c:v>
                </c:pt>
                <c:pt idx="5">
                  <c:v>0.36</c:v>
                </c:pt>
                <c:pt idx="6">
                  <c:v>0.1</c:v>
                </c:pt>
                <c:pt idx="7">
                  <c:v>0.06</c:v>
                </c:pt>
                <c:pt idx="8">
                  <c:v>0.12</c:v>
                </c:pt>
                <c:pt idx="9">
                  <c:v>0.14000000000000001</c:v>
                </c:pt>
                <c:pt idx="10">
                  <c:v>0.16</c:v>
                </c:pt>
              </c:numCache>
            </c:numRef>
          </c:val>
          <c:extLst>
            <c:ext xmlns:c16="http://schemas.microsoft.com/office/drawing/2014/chart" uri="{C3380CC4-5D6E-409C-BE32-E72D297353CC}">
              <c16:uniqueId val="{00000002-4D43-452D-8C7A-609B99D91909}"/>
            </c:ext>
          </c:extLst>
        </c:ser>
        <c:ser>
          <c:idx val="3"/>
          <c:order val="3"/>
          <c:tx>
            <c:strRef>
              <c:f>Sheet1!$E$1</c:f>
              <c:strCache>
                <c:ptCount val="1"/>
                <c:pt idx="0">
                  <c:v>High (4.0)</c:v>
                </c:pt>
              </c:strCache>
            </c:strRef>
          </c:tx>
          <c:spPr>
            <a:solidFill>
              <a:srgbClr val="6AF7A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Sheet1!$E$2:$E$12</c:f>
              <c:numCache>
                <c:formatCode>0%</c:formatCode>
                <c:ptCount val="11"/>
                <c:pt idx="0">
                  <c:v>0.25</c:v>
                </c:pt>
                <c:pt idx="1">
                  <c:v>0.24</c:v>
                </c:pt>
                <c:pt idx="2">
                  <c:v>0.25</c:v>
                </c:pt>
                <c:pt idx="3">
                  <c:v>0.22</c:v>
                </c:pt>
                <c:pt idx="4">
                  <c:v>0.17</c:v>
                </c:pt>
                <c:pt idx="5">
                  <c:v>0.3</c:v>
                </c:pt>
                <c:pt idx="6">
                  <c:v>0.33</c:v>
                </c:pt>
                <c:pt idx="7">
                  <c:v>0.33</c:v>
                </c:pt>
                <c:pt idx="8">
                  <c:v>0.2</c:v>
                </c:pt>
                <c:pt idx="9">
                  <c:v>0.25</c:v>
                </c:pt>
                <c:pt idx="10">
                  <c:v>0.25</c:v>
                </c:pt>
              </c:numCache>
            </c:numRef>
          </c:val>
          <c:extLst>
            <c:ext xmlns:c16="http://schemas.microsoft.com/office/drawing/2014/chart" uri="{C3380CC4-5D6E-409C-BE32-E72D297353CC}">
              <c16:uniqueId val="{00000003-4D43-452D-8C7A-609B99D91909}"/>
            </c:ext>
          </c:extLst>
        </c:ser>
        <c:ser>
          <c:idx val="4"/>
          <c:order val="4"/>
          <c:tx>
            <c:strRef>
              <c:f>Sheet1!$F$1</c:f>
              <c:strCache>
                <c:ptCount val="1"/>
                <c:pt idx="0">
                  <c:v>Very high (5.0)</c:v>
                </c:pt>
              </c:strCache>
            </c:strRef>
          </c:tx>
          <c:spPr>
            <a:solidFill>
              <a:srgbClr val="92D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Sheet1!$F$2:$F$12</c:f>
              <c:numCache>
                <c:formatCode>0%</c:formatCode>
                <c:ptCount val="11"/>
                <c:pt idx="0">
                  <c:v>0.47</c:v>
                </c:pt>
                <c:pt idx="1">
                  <c:v>0.47</c:v>
                </c:pt>
                <c:pt idx="2">
                  <c:v>0.47</c:v>
                </c:pt>
                <c:pt idx="3">
                  <c:v>0.59</c:v>
                </c:pt>
                <c:pt idx="4">
                  <c:v>0.71</c:v>
                </c:pt>
                <c:pt idx="5">
                  <c:v>0.26</c:v>
                </c:pt>
                <c:pt idx="6">
                  <c:v>0.36</c:v>
                </c:pt>
                <c:pt idx="7">
                  <c:v>0.43</c:v>
                </c:pt>
                <c:pt idx="8">
                  <c:v>0.48</c:v>
                </c:pt>
                <c:pt idx="9">
                  <c:v>0.46</c:v>
                </c:pt>
                <c:pt idx="10">
                  <c:v>0.5</c:v>
                </c:pt>
              </c:numCache>
            </c:numRef>
          </c:val>
          <c:extLst>
            <c:ext xmlns:c16="http://schemas.microsoft.com/office/drawing/2014/chart" uri="{C3380CC4-5D6E-409C-BE32-E72D297353CC}">
              <c16:uniqueId val="{00000004-4D43-452D-8C7A-609B99D91909}"/>
            </c:ext>
          </c:extLst>
        </c:ser>
        <c:dLbls>
          <c:dLblPos val="ctr"/>
          <c:showLegendKey val="0"/>
          <c:showVal val="1"/>
          <c:showCatName val="0"/>
          <c:showSerName val="0"/>
          <c:showPercent val="0"/>
          <c:showBubbleSize val="0"/>
        </c:dLbls>
        <c:gapWidth val="50"/>
        <c:overlap val="100"/>
        <c:axId val="184411968"/>
        <c:axId val="187267840"/>
      </c:barChart>
      <c:catAx>
        <c:axId val="184411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87267840"/>
        <c:crosses val="autoZero"/>
        <c:auto val="1"/>
        <c:lblAlgn val="ctr"/>
        <c:lblOffset val="100"/>
        <c:noMultiLvlLbl val="0"/>
      </c:catAx>
      <c:valAx>
        <c:axId val="187267840"/>
        <c:scaling>
          <c:orientation val="minMax"/>
        </c:scaling>
        <c:delete val="1"/>
        <c:axPos val="l"/>
        <c:numFmt formatCode="0%" sourceLinked="1"/>
        <c:majorTickMark val="none"/>
        <c:minorTickMark val="none"/>
        <c:tickLblPos val="nextTo"/>
        <c:crossAx val="184411968"/>
        <c:crosses val="autoZero"/>
        <c:crossBetween val="between"/>
      </c:valAx>
      <c:spPr>
        <a:noFill/>
        <a:ln>
          <a:noFill/>
        </a:ln>
        <a:effectLst/>
      </c:spPr>
    </c:plotArea>
    <c:legend>
      <c:legendPos val="l"/>
      <c:layout>
        <c:manualLayout>
          <c:xMode val="edge"/>
          <c:yMode val="edge"/>
          <c:x val="7.8395061728395062E-3"/>
          <c:y val="0.10047055555555554"/>
          <c:w val="0.14068827160493827"/>
          <c:h val="0.79937638888888884"/>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Effectiveness of anti-corruption agencies in Nigeria </a:t>
            </a: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678739087301587"/>
          <c:y val="0.13084527777777777"/>
          <c:w val="0.81826696428571433"/>
          <c:h val="0.75458444444444439"/>
        </c:manualLayout>
      </c:layout>
      <c:barChart>
        <c:barDir val="col"/>
        <c:grouping val="percentStacked"/>
        <c:varyColors val="0"/>
        <c:ser>
          <c:idx val="0"/>
          <c:order val="0"/>
          <c:tx>
            <c:strRef>
              <c:f>Sheet1!$B$1</c:f>
              <c:strCache>
                <c:ptCount val="1"/>
                <c:pt idx="0">
                  <c:v>Not effective at all (1.0)</c:v>
                </c:pt>
              </c:strCache>
            </c:strRef>
          </c:tx>
          <c:spPr>
            <a:solidFill>
              <a:srgbClr val="FF5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Sheet1!$B$2:$B$12</c:f>
              <c:numCache>
                <c:formatCode>0%</c:formatCode>
                <c:ptCount val="11"/>
                <c:pt idx="0">
                  <c:v>0.25</c:v>
                </c:pt>
                <c:pt idx="1">
                  <c:v>0.22</c:v>
                </c:pt>
                <c:pt idx="2">
                  <c:v>0.26</c:v>
                </c:pt>
                <c:pt idx="3">
                  <c:v>0.28999999999999998</c:v>
                </c:pt>
                <c:pt idx="4">
                  <c:v>0.21</c:v>
                </c:pt>
                <c:pt idx="5">
                  <c:v>0.1</c:v>
                </c:pt>
                <c:pt idx="6">
                  <c:v>0.48</c:v>
                </c:pt>
                <c:pt idx="7">
                  <c:v>0.41</c:v>
                </c:pt>
                <c:pt idx="8">
                  <c:v>0.16</c:v>
                </c:pt>
                <c:pt idx="9">
                  <c:v>0.22</c:v>
                </c:pt>
                <c:pt idx="10">
                  <c:v>0.28999999999999998</c:v>
                </c:pt>
              </c:numCache>
            </c:numRef>
          </c:val>
          <c:extLst>
            <c:ext xmlns:c16="http://schemas.microsoft.com/office/drawing/2014/chart" uri="{C3380CC4-5D6E-409C-BE32-E72D297353CC}">
              <c16:uniqueId val="{00000000-4D43-452D-8C7A-609B99D91909}"/>
            </c:ext>
          </c:extLst>
        </c:ser>
        <c:ser>
          <c:idx val="1"/>
          <c:order val="1"/>
          <c:tx>
            <c:strRef>
              <c:f>Sheet1!$C$1</c:f>
              <c:strCache>
                <c:ptCount val="1"/>
                <c:pt idx="0">
                  <c:v>Not Effective (2.0)</c:v>
                </c:pt>
              </c:strCache>
            </c:strRef>
          </c:tx>
          <c:spPr>
            <a:solidFill>
              <a:schemeClr val="accent4">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Sheet1!$C$2:$C$12</c:f>
              <c:numCache>
                <c:formatCode>0%</c:formatCode>
                <c:ptCount val="11"/>
                <c:pt idx="0">
                  <c:v>0.32</c:v>
                </c:pt>
                <c:pt idx="1">
                  <c:v>0.32</c:v>
                </c:pt>
                <c:pt idx="2">
                  <c:v>0.31</c:v>
                </c:pt>
                <c:pt idx="3">
                  <c:v>0.19</c:v>
                </c:pt>
                <c:pt idx="4">
                  <c:v>0.51</c:v>
                </c:pt>
                <c:pt idx="5">
                  <c:v>0.19</c:v>
                </c:pt>
                <c:pt idx="6">
                  <c:v>0.39</c:v>
                </c:pt>
                <c:pt idx="7">
                  <c:v>0.18</c:v>
                </c:pt>
                <c:pt idx="8">
                  <c:v>0.33</c:v>
                </c:pt>
                <c:pt idx="9">
                  <c:v>0.32</c:v>
                </c:pt>
                <c:pt idx="10">
                  <c:v>0.3</c:v>
                </c:pt>
              </c:numCache>
            </c:numRef>
          </c:val>
          <c:extLst>
            <c:ext xmlns:c16="http://schemas.microsoft.com/office/drawing/2014/chart" uri="{C3380CC4-5D6E-409C-BE32-E72D297353CC}">
              <c16:uniqueId val="{00000001-4D43-452D-8C7A-609B99D91909}"/>
            </c:ext>
          </c:extLst>
        </c:ser>
        <c:ser>
          <c:idx val="2"/>
          <c:order val="2"/>
          <c:tx>
            <c:strRef>
              <c:f>Sheet1!$D$1</c:f>
              <c:strCache>
                <c:ptCount val="1"/>
                <c:pt idx="0">
                  <c:v>Neither (3.0)</c:v>
                </c:pt>
              </c:strCache>
            </c:strRef>
          </c:tx>
          <c:spPr>
            <a:solidFill>
              <a:schemeClr val="accent2">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Sheet1!$D$2:$D$12</c:f>
              <c:numCache>
                <c:formatCode>0%</c:formatCode>
                <c:ptCount val="11"/>
                <c:pt idx="0">
                  <c:v>0.1</c:v>
                </c:pt>
                <c:pt idx="1">
                  <c:v>0.08</c:v>
                </c:pt>
                <c:pt idx="2">
                  <c:v>0.11</c:v>
                </c:pt>
                <c:pt idx="3">
                  <c:v>0.11</c:v>
                </c:pt>
                <c:pt idx="4">
                  <c:v>0.06</c:v>
                </c:pt>
                <c:pt idx="5">
                  <c:v>0.12</c:v>
                </c:pt>
                <c:pt idx="6">
                  <c:v>0.05</c:v>
                </c:pt>
                <c:pt idx="7">
                  <c:v>0.22</c:v>
                </c:pt>
                <c:pt idx="8">
                  <c:v>0.09</c:v>
                </c:pt>
                <c:pt idx="9">
                  <c:v>0.1</c:v>
                </c:pt>
                <c:pt idx="10">
                  <c:v>0.09</c:v>
                </c:pt>
              </c:numCache>
            </c:numRef>
          </c:val>
          <c:extLst>
            <c:ext xmlns:c16="http://schemas.microsoft.com/office/drawing/2014/chart" uri="{C3380CC4-5D6E-409C-BE32-E72D297353CC}">
              <c16:uniqueId val="{00000002-4D43-452D-8C7A-609B99D91909}"/>
            </c:ext>
          </c:extLst>
        </c:ser>
        <c:ser>
          <c:idx val="3"/>
          <c:order val="3"/>
          <c:tx>
            <c:strRef>
              <c:f>Sheet1!$E$1</c:f>
              <c:strCache>
                <c:ptCount val="1"/>
                <c:pt idx="0">
                  <c:v>Somewhat effective (4.0)</c:v>
                </c:pt>
              </c:strCache>
            </c:strRef>
          </c:tx>
          <c:spPr>
            <a:solidFill>
              <a:srgbClr val="6AF7A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Sheet1!$E$2:$E$12</c:f>
              <c:numCache>
                <c:formatCode>0%</c:formatCode>
                <c:ptCount val="11"/>
                <c:pt idx="0">
                  <c:v>0.28000000000000003</c:v>
                </c:pt>
                <c:pt idx="1">
                  <c:v>0.3</c:v>
                </c:pt>
                <c:pt idx="2">
                  <c:v>0.26</c:v>
                </c:pt>
                <c:pt idx="3">
                  <c:v>0.3</c:v>
                </c:pt>
                <c:pt idx="4">
                  <c:v>0.21</c:v>
                </c:pt>
                <c:pt idx="5">
                  <c:v>0.55000000000000004</c:v>
                </c:pt>
                <c:pt idx="6">
                  <c:v>0.09</c:v>
                </c:pt>
                <c:pt idx="7">
                  <c:v>0.08</c:v>
                </c:pt>
                <c:pt idx="8">
                  <c:v>0.31</c:v>
                </c:pt>
                <c:pt idx="9">
                  <c:v>0.28000000000000003</c:v>
                </c:pt>
                <c:pt idx="10">
                  <c:v>0.27</c:v>
                </c:pt>
              </c:numCache>
            </c:numRef>
          </c:val>
          <c:extLst>
            <c:ext xmlns:c16="http://schemas.microsoft.com/office/drawing/2014/chart" uri="{C3380CC4-5D6E-409C-BE32-E72D297353CC}">
              <c16:uniqueId val="{00000003-4D43-452D-8C7A-609B99D91909}"/>
            </c:ext>
          </c:extLst>
        </c:ser>
        <c:ser>
          <c:idx val="4"/>
          <c:order val="4"/>
          <c:tx>
            <c:strRef>
              <c:f>Sheet1!$F$1</c:f>
              <c:strCache>
                <c:ptCount val="1"/>
                <c:pt idx="0">
                  <c:v>Very effective (5.0)</c:v>
                </c:pt>
              </c:strCache>
            </c:strRef>
          </c:tx>
          <c:spPr>
            <a:solidFill>
              <a:srgbClr val="92D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Sheet1!$F$2:$F$12</c:f>
              <c:numCache>
                <c:formatCode>0%</c:formatCode>
                <c:ptCount val="11"/>
                <c:pt idx="0">
                  <c:v>0.06</c:v>
                </c:pt>
                <c:pt idx="1">
                  <c:v>7.0000000000000007E-2</c:v>
                </c:pt>
                <c:pt idx="2">
                  <c:v>0.06</c:v>
                </c:pt>
                <c:pt idx="3">
                  <c:v>0.11</c:v>
                </c:pt>
                <c:pt idx="4">
                  <c:v>0.02</c:v>
                </c:pt>
                <c:pt idx="5">
                  <c:v>0.04</c:v>
                </c:pt>
                <c:pt idx="6">
                  <c:v>0</c:v>
                </c:pt>
                <c:pt idx="7">
                  <c:v>0.11</c:v>
                </c:pt>
                <c:pt idx="8">
                  <c:v>0.11</c:v>
                </c:pt>
                <c:pt idx="9">
                  <c:v>7.0000000000000007E-2</c:v>
                </c:pt>
                <c:pt idx="10">
                  <c:v>0.05</c:v>
                </c:pt>
              </c:numCache>
            </c:numRef>
          </c:val>
          <c:extLst>
            <c:ext xmlns:c16="http://schemas.microsoft.com/office/drawing/2014/chart" uri="{C3380CC4-5D6E-409C-BE32-E72D297353CC}">
              <c16:uniqueId val="{00000004-4D43-452D-8C7A-609B99D91909}"/>
            </c:ext>
          </c:extLst>
        </c:ser>
        <c:dLbls>
          <c:dLblPos val="ctr"/>
          <c:showLegendKey val="0"/>
          <c:showVal val="1"/>
          <c:showCatName val="0"/>
          <c:showSerName val="0"/>
          <c:showPercent val="0"/>
          <c:showBubbleSize val="0"/>
        </c:dLbls>
        <c:gapWidth val="50"/>
        <c:overlap val="100"/>
        <c:axId val="184411968"/>
        <c:axId val="187267840"/>
      </c:barChart>
      <c:catAx>
        <c:axId val="184411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87267840"/>
        <c:crosses val="autoZero"/>
        <c:auto val="1"/>
        <c:lblAlgn val="ctr"/>
        <c:lblOffset val="100"/>
        <c:noMultiLvlLbl val="0"/>
      </c:catAx>
      <c:valAx>
        <c:axId val="187267840"/>
        <c:scaling>
          <c:orientation val="minMax"/>
        </c:scaling>
        <c:delete val="1"/>
        <c:axPos val="l"/>
        <c:numFmt formatCode="0%" sourceLinked="1"/>
        <c:majorTickMark val="none"/>
        <c:minorTickMark val="none"/>
        <c:tickLblPos val="nextTo"/>
        <c:crossAx val="184411968"/>
        <c:crosses val="autoZero"/>
        <c:crossBetween val="between"/>
      </c:valAx>
      <c:spPr>
        <a:noFill/>
        <a:ln>
          <a:noFill/>
        </a:ln>
        <a:effectLst/>
      </c:spPr>
    </c:plotArea>
    <c:legend>
      <c:legendPos val="l"/>
      <c:layout>
        <c:manualLayout>
          <c:xMode val="edge"/>
          <c:yMode val="edge"/>
          <c:x val="7.8395061728395062E-3"/>
          <c:y val="0.10047055555555554"/>
          <c:w val="0.14068827160493827"/>
          <c:h val="0.79937638888888884"/>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chart>
  <c:spPr>
    <a:noFill/>
    <a:ln>
      <a:noFill/>
    </a:ln>
    <a:effectLst/>
  </c:spPr>
  <c:txPr>
    <a:bodyPr/>
    <a:lstStyle/>
    <a:p>
      <a:pPr>
        <a:defRPr/>
      </a:pPr>
      <a:endParaRPr lang="en-US"/>
    </a:p>
  </c:txPr>
  <c:externalData r:id="rId4">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effectLst/>
              </a:rPr>
              <a:t>Elected leaders’ transparency in their decision-making</a:t>
            </a:r>
            <a:endParaRPr lang="en-GB" sz="1400" dirty="0">
              <a:effectLst/>
            </a:endParaRP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percentStacked"/>
        <c:varyColors val="0"/>
        <c:ser>
          <c:idx val="0"/>
          <c:order val="0"/>
          <c:tx>
            <c:strRef>
              <c:f>Sheet1!$B$1</c:f>
              <c:strCache>
                <c:ptCount val="1"/>
                <c:pt idx="0">
                  <c:v>Yes</c:v>
                </c:pt>
              </c:strCache>
            </c:strRef>
          </c:tx>
          <c:spPr>
            <a:solidFill>
              <a:srgbClr val="92D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Sheet1!$B$2:$B$12</c:f>
              <c:numCache>
                <c:formatCode>0%</c:formatCode>
                <c:ptCount val="11"/>
                <c:pt idx="0">
                  <c:v>0.12</c:v>
                </c:pt>
                <c:pt idx="1">
                  <c:v>0.14000000000000001</c:v>
                </c:pt>
                <c:pt idx="2">
                  <c:v>0.1</c:v>
                </c:pt>
                <c:pt idx="3">
                  <c:v>0.11</c:v>
                </c:pt>
                <c:pt idx="4">
                  <c:v>0.04</c:v>
                </c:pt>
                <c:pt idx="5">
                  <c:v>0.36</c:v>
                </c:pt>
                <c:pt idx="6">
                  <c:v>0</c:v>
                </c:pt>
                <c:pt idx="7">
                  <c:v>0.02</c:v>
                </c:pt>
                <c:pt idx="8">
                  <c:v>0.1</c:v>
                </c:pt>
                <c:pt idx="9">
                  <c:v>0.1</c:v>
                </c:pt>
                <c:pt idx="10">
                  <c:v>0.15</c:v>
                </c:pt>
              </c:numCache>
            </c:numRef>
          </c:val>
          <c:extLst>
            <c:ext xmlns:c16="http://schemas.microsoft.com/office/drawing/2014/chart" uri="{C3380CC4-5D6E-409C-BE32-E72D297353CC}">
              <c16:uniqueId val="{00000000-4D43-452D-8C7A-609B99D91909}"/>
            </c:ext>
          </c:extLst>
        </c:ser>
        <c:ser>
          <c:idx val="1"/>
          <c:order val="1"/>
          <c:tx>
            <c:strRef>
              <c:f>Sheet1!$C$1</c:f>
              <c:strCache>
                <c:ptCount val="1"/>
                <c:pt idx="0">
                  <c:v>No</c:v>
                </c:pt>
              </c:strCache>
            </c:strRef>
          </c:tx>
          <c:spPr>
            <a:solidFill>
              <a:srgbClr val="FF7C8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Sheet1!$C$2:$C$12</c:f>
              <c:numCache>
                <c:formatCode>0%</c:formatCode>
                <c:ptCount val="11"/>
                <c:pt idx="0">
                  <c:v>0.77</c:v>
                </c:pt>
                <c:pt idx="1">
                  <c:v>0.75</c:v>
                </c:pt>
                <c:pt idx="2">
                  <c:v>0.78</c:v>
                </c:pt>
                <c:pt idx="3">
                  <c:v>0.75</c:v>
                </c:pt>
                <c:pt idx="4">
                  <c:v>0.93</c:v>
                </c:pt>
                <c:pt idx="5">
                  <c:v>0.56000000000000005</c:v>
                </c:pt>
                <c:pt idx="6">
                  <c:v>0.95</c:v>
                </c:pt>
                <c:pt idx="7">
                  <c:v>0.68</c:v>
                </c:pt>
                <c:pt idx="8">
                  <c:v>0.73</c:v>
                </c:pt>
                <c:pt idx="9">
                  <c:v>0.78</c:v>
                </c:pt>
                <c:pt idx="10">
                  <c:v>0.73</c:v>
                </c:pt>
              </c:numCache>
            </c:numRef>
          </c:val>
          <c:extLst>
            <c:ext xmlns:c16="http://schemas.microsoft.com/office/drawing/2014/chart" uri="{C3380CC4-5D6E-409C-BE32-E72D297353CC}">
              <c16:uniqueId val="{00000001-4D43-452D-8C7A-609B99D91909}"/>
            </c:ext>
          </c:extLst>
        </c:ser>
        <c:ser>
          <c:idx val="2"/>
          <c:order val="2"/>
          <c:tx>
            <c:strRef>
              <c:f>Sheet1!$D$1</c:f>
              <c:strCache>
                <c:ptCount val="1"/>
                <c:pt idx="0">
                  <c:v>Not sure</c:v>
                </c:pt>
              </c:strCache>
            </c:strRef>
          </c:tx>
          <c:spPr>
            <a:solidFill>
              <a:schemeClr val="accent2">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Sheet1!$D$2:$D$12</c:f>
              <c:numCache>
                <c:formatCode>0%</c:formatCode>
                <c:ptCount val="11"/>
                <c:pt idx="0">
                  <c:v>0.12</c:v>
                </c:pt>
                <c:pt idx="1">
                  <c:v>0.12</c:v>
                </c:pt>
                <c:pt idx="2">
                  <c:v>0.12</c:v>
                </c:pt>
                <c:pt idx="3">
                  <c:v>0.14000000000000001</c:v>
                </c:pt>
                <c:pt idx="4">
                  <c:v>0.03</c:v>
                </c:pt>
                <c:pt idx="5">
                  <c:v>0.08</c:v>
                </c:pt>
                <c:pt idx="6">
                  <c:v>0.04</c:v>
                </c:pt>
                <c:pt idx="7">
                  <c:v>0.3</c:v>
                </c:pt>
                <c:pt idx="8">
                  <c:v>0.17</c:v>
                </c:pt>
                <c:pt idx="9">
                  <c:v>0.12</c:v>
                </c:pt>
                <c:pt idx="10">
                  <c:v>0.12</c:v>
                </c:pt>
              </c:numCache>
            </c:numRef>
          </c:val>
          <c:extLst>
            <c:ext xmlns:c16="http://schemas.microsoft.com/office/drawing/2014/chart" uri="{C3380CC4-5D6E-409C-BE32-E72D297353CC}">
              <c16:uniqueId val="{00000002-4D43-452D-8C7A-609B99D91909}"/>
            </c:ext>
          </c:extLst>
        </c:ser>
        <c:dLbls>
          <c:dLblPos val="ctr"/>
          <c:showLegendKey val="0"/>
          <c:showVal val="1"/>
          <c:showCatName val="0"/>
          <c:showSerName val="0"/>
          <c:showPercent val="0"/>
          <c:showBubbleSize val="0"/>
        </c:dLbls>
        <c:gapWidth val="50"/>
        <c:overlap val="100"/>
        <c:axId val="184411968"/>
        <c:axId val="187267840"/>
      </c:barChart>
      <c:catAx>
        <c:axId val="184411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87267840"/>
        <c:crosses val="autoZero"/>
        <c:auto val="1"/>
        <c:lblAlgn val="ctr"/>
        <c:lblOffset val="100"/>
        <c:noMultiLvlLbl val="0"/>
      </c:catAx>
      <c:valAx>
        <c:axId val="187267840"/>
        <c:scaling>
          <c:orientation val="minMax"/>
        </c:scaling>
        <c:delete val="1"/>
        <c:axPos val="l"/>
        <c:numFmt formatCode="0%" sourceLinked="1"/>
        <c:majorTickMark val="none"/>
        <c:minorTickMark val="none"/>
        <c:tickLblPos val="nextTo"/>
        <c:crossAx val="184411968"/>
        <c:crosses val="autoZero"/>
        <c:crossBetween val="between"/>
      </c:valAx>
      <c:spPr>
        <a:noFill/>
        <a:ln>
          <a:noFill/>
        </a:ln>
        <a:effectLst/>
      </c:spPr>
    </c:plotArea>
    <c:legend>
      <c:legendPos val="l"/>
      <c:layout>
        <c:manualLayout>
          <c:xMode val="edge"/>
          <c:yMode val="edge"/>
          <c:x val="7.8395061728395062E-3"/>
          <c:y val="0.10047055555555554"/>
          <c:w val="0.14068827160493827"/>
          <c:h val="0.79937638888888884"/>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effectLst/>
              </a:rPr>
              <a:t>Benefits from a government program </a:t>
            </a:r>
            <a:endParaRPr lang="en-GB" sz="1400" dirty="0">
              <a:effectLst/>
            </a:endParaRP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percentStacked"/>
        <c:varyColors val="0"/>
        <c:ser>
          <c:idx val="0"/>
          <c:order val="0"/>
          <c:tx>
            <c:strRef>
              <c:f>Sheet1!$B$1</c:f>
              <c:strCache>
                <c:ptCount val="1"/>
                <c:pt idx="0">
                  <c:v>Yes</c:v>
                </c:pt>
              </c:strCache>
            </c:strRef>
          </c:tx>
          <c:spPr>
            <a:solidFill>
              <a:srgbClr val="92D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Sheet1!$B$2:$B$12</c:f>
              <c:numCache>
                <c:formatCode>0%</c:formatCode>
                <c:ptCount val="11"/>
                <c:pt idx="0">
                  <c:v>0.16</c:v>
                </c:pt>
                <c:pt idx="1">
                  <c:v>0.16</c:v>
                </c:pt>
                <c:pt idx="2">
                  <c:v>0.15</c:v>
                </c:pt>
                <c:pt idx="3">
                  <c:v>0.22</c:v>
                </c:pt>
                <c:pt idx="4">
                  <c:v>0.09</c:v>
                </c:pt>
                <c:pt idx="5">
                  <c:v>0.39</c:v>
                </c:pt>
                <c:pt idx="6">
                  <c:v>0.04</c:v>
                </c:pt>
                <c:pt idx="7">
                  <c:v>0.03</c:v>
                </c:pt>
                <c:pt idx="8">
                  <c:v>0.12</c:v>
                </c:pt>
                <c:pt idx="9">
                  <c:v>0.14000000000000001</c:v>
                </c:pt>
                <c:pt idx="10">
                  <c:v>0.18</c:v>
                </c:pt>
              </c:numCache>
            </c:numRef>
          </c:val>
          <c:extLst>
            <c:ext xmlns:c16="http://schemas.microsoft.com/office/drawing/2014/chart" uri="{C3380CC4-5D6E-409C-BE32-E72D297353CC}">
              <c16:uniqueId val="{00000000-4D43-452D-8C7A-609B99D91909}"/>
            </c:ext>
          </c:extLst>
        </c:ser>
        <c:ser>
          <c:idx val="1"/>
          <c:order val="1"/>
          <c:tx>
            <c:strRef>
              <c:f>Sheet1!$C$1</c:f>
              <c:strCache>
                <c:ptCount val="1"/>
                <c:pt idx="0">
                  <c:v>No</c:v>
                </c:pt>
              </c:strCache>
            </c:strRef>
          </c:tx>
          <c:spPr>
            <a:solidFill>
              <a:srgbClr val="FF7C8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Sheet1!$C$2:$C$12</c:f>
              <c:numCache>
                <c:formatCode>0%</c:formatCode>
                <c:ptCount val="11"/>
                <c:pt idx="0">
                  <c:v>0.79</c:v>
                </c:pt>
                <c:pt idx="1">
                  <c:v>0.78</c:v>
                </c:pt>
                <c:pt idx="2">
                  <c:v>0.81</c:v>
                </c:pt>
                <c:pt idx="3">
                  <c:v>0.71</c:v>
                </c:pt>
                <c:pt idx="4">
                  <c:v>0.91</c:v>
                </c:pt>
                <c:pt idx="5">
                  <c:v>0.57999999999999996</c:v>
                </c:pt>
                <c:pt idx="6">
                  <c:v>0.94</c:v>
                </c:pt>
                <c:pt idx="7">
                  <c:v>0.89</c:v>
                </c:pt>
                <c:pt idx="8">
                  <c:v>0.79</c:v>
                </c:pt>
                <c:pt idx="9">
                  <c:v>0.8</c:v>
                </c:pt>
                <c:pt idx="10">
                  <c:v>0.79</c:v>
                </c:pt>
              </c:numCache>
            </c:numRef>
          </c:val>
          <c:extLst>
            <c:ext xmlns:c16="http://schemas.microsoft.com/office/drawing/2014/chart" uri="{C3380CC4-5D6E-409C-BE32-E72D297353CC}">
              <c16:uniqueId val="{00000001-4D43-452D-8C7A-609B99D91909}"/>
            </c:ext>
          </c:extLst>
        </c:ser>
        <c:ser>
          <c:idx val="2"/>
          <c:order val="2"/>
          <c:tx>
            <c:strRef>
              <c:f>Sheet1!$D$1</c:f>
              <c:strCache>
                <c:ptCount val="1"/>
                <c:pt idx="0">
                  <c:v>Not sure</c:v>
                </c:pt>
              </c:strCache>
            </c:strRef>
          </c:tx>
          <c:spPr>
            <a:solidFill>
              <a:schemeClr val="accent2">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Sheet1!$D$2:$D$12</c:f>
              <c:numCache>
                <c:formatCode>0%</c:formatCode>
                <c:ptCount val="11"/>
                <c:pt idx="0">
                  <c:v>0.05</c:v>
                </c:pt>
                <c:pt idx="1">
                  <c:v>0.06</c:v>
                </c:pt>
                <c:pt idx="2">
                  <c:v>0.04</c:v>
                </c:pt>
                <c:pt idx="3">
                  <c:v>7.0000000000000007E-2</c:v>
                </c:pt>
                <c:pt idx="4">
                  <c:v>0</c:v>
                </c:pt>
                <c:pt idx="5">
                  <c:v>0.04</c:v>
                </c:pt>
                <c:pt idx="6">
                  <c:v>0.02</c:v>
                </c:pt>
                <c:pt idx="7">
                  <c:v>0.09</c:v>
                </c:pt>
                <c:pt idx="8">
                  <c:v>0.09</c:v>
                </c:pt>
                <c:pt idx="9">
                  <c:v>0.06</c:v>
                </c:pt>
                <c:pt idx="10">
                  <c:v>0.03</c:v>
                </c:pt>
              </c:numCache>
            </c:numRef>
          </c:val>
          <c:extLst>
            <c:ext xmlns:c16="http://schemas.microsoft.com/office/drawing/2014/chart" uri="{C3380CC4-5D6E-409C-BE32-E72D297353CC}">
              <c16:uniqueId val="{00000002-4D43-452D-8C7A-609B99D91909}"/>
            </c:ext>
          </c:extLst>
        </c:ser>
        <c:dLbls>
          <c:dLblPos val="ctr"/>
          <c:showLegendKey val="0"/>
          <c:showVal val="1"/>
          <c:showCatName val="0"/>
          <c:showSerName val="0"/>
          <c:showPercent val="0"/>
          <c:showBubbleSize val="0"/>
        </c:dLbls>
        <c:gapWidth val="50"/>
        <c:overlap val="100"/>
        <c:axId val="184411968"/>
        <c:axId val="187267840"/>
      </c:barChart>
      <c:catAx>
        <c:axId val="184411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87267840"/>
        <c:crosses val="autoZero"/>
        <c:auto val="1"/>
        <c:lblAlgn val="ctr"/>
        <c:lblOffset val="100"/>
        <c:noMultiLvlLbl val="0"/>
      </c:catAx>
      <c:valAx>
        <c:axId val="187267840"/>
        <c:scaling>
          <c:orientation val="minMax"/>
        </c:scaling>
        <c:delete val="1"/>
        <c:axPos val="l"/>
        <c:numFmt formatCode="0%" sourceLinked="1"/>
        <c:majorTickMark val="none"/>
        <c:minorTickMark val="none"/>
        <c:tickLblPos val="nextTo"/>
        <c:crossAx val="184411968"/>
        <c:crosses val="autoZero"/>
        <c:crossBetween val="between"/>
      </c:valAx>
      <c:spPr>
        <a:noFill/>
        <a:ln>
          <a:noFill/>
        </a:ln>
        <a:effectLst/>
      </c:spPr>
    </c:plotArea>
    <c:legend>
      <c:legendPos val="l"/>
      <c:layout>
        <c:manualLayout>
          <c:xMode val="edge"/>
          <c:yMode val="edge"/>
          <c:x val="7.8395061728395062E-3"/>
          <c:y val="0.10047055555555554"/>
          <c:w val="0.14068827160493827"/>
          <c:h val="0.79937638888888884"/>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Nigerian leaders fulfilling their campaign promises</a:t>
            </a: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678739087301587"/>
          <c:y val="0.13084527777777777"/>
          <c:w val="0.81826696428571433"/>
          <c:h val="0.75458444444444439"/>
        </c:manualLayout>
      </c:layout>
      <c:barChart>
        <c:barDir val="col"/>
        <c:grouping val="percentStacked"/>
        <c:varyColors val="0"/>
        <c:ser>
          <c:idx val="0"/>
          <c:order val="0"/>
          <c:tx>
            <c:strRef>
              <c:f>Sheet1!$B$1</c:f>
              <c:strCache>
                <c:ptCount val="1"/>
                <c:pt idx="0">
                  <c:v>Not at all (1.0)</c:v>
                </c:pt>
              </c:strCache>
            </c:strRef>
          </c:tx>
          <c:spPr>
            <a:solidFill>
              <a:srgbClr val="FF5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Sheet1!$B$2:$B$12</c:f>
              <c:numCache>
                <c:formatCode>0%</c:formatCode>
                <c:ptCount val="11"/>
                <c:pt idx="0">
                  <c:v>0.42</c:v>
                </c:pt>
                <c:pt idx="1">
                  <c:v>0.42</c:v>
                </c:pt>
                <c:pt idx="2">
                  <c:v>0.42</c:v>
                </c:pt>
                <c:pt idx="3">
                  <c:v>0.39</c:v>
                </c:pt>
                <c:pt idx="4">
                  <c:v>0.68</c:v>
                </c:pt>
                <c:pt idx="5">
                  <c:v>0.27</c:v>
                </c:pt>
                <c:pt idx="6">
                  <c:v>0.43</c:v>
                </c:pt>
                <c:pt idx="7">
                  <c:v>0.47</c:v>
                </c:pt>
                <c:pt idx="8">
                  <c:v>0.3</c:v>
                </c:pt>
                <c:pt idx="9">
                  <c:v>0.38</c:v>
                </c:pt>
                <c:pt idx="10">
                  <c:v>0.49</c:v>
                </c:pt>
              </c:numCache>
            </c:numRef>
          </c:val>
          <c:extLst>
            <c:ext xmlns:c16="http://schemas.microsoft.com/office/drawing/2014/chart" uri="{C3380CC4-5D6E-409C-BE32-E72D297353CC}">
              <c16:uniqueId val="{00000000-4D43-452D-8C7A-609B99D91909}"/>
            </c:ext>
          </c:extLst>
        </c:ser>
        <c:ser>
          <c:idx val="1"/>
          <c:order val="1"/>
          <c:tx>
            <c:strRef>
              <c:f>Sheet1!$C$1</c:f>
              <c:strCache>
                <c:ptCount val="1"/>
                <c:pt idx="0">
                  <c:v>Poorly (2.0)</c:v>
                </c:pt>
              </c:strCache>
            </c:strRef>
          </c:tx>
          <c:spPr>
            <a:solidFill>
              <a:schemeClr val="accent4">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Sheet1!$C$2:$C$12</c:f>
              <c:numCache>
                <c:formatCode>0%</c:formatCode>
                <c:ptCount val="11"/>
                <c:pt idx="0">
                  <c:v>0.34</c:v>
                </c:pt>
                <c:pt idx="1">
                  <c:v>0.32</c:v>
                </c:pt>
                <c:pt idx="2">
                  <c:v>0.35</c:v>
                </c:pt>
                <c:pt idx="3">
                  <c:v>0.28000000000000003</c:v>
                </c:pt>
                <c:pt idx="4">
                  <c:v>0.23</c:v>
                </c:pt>
                <c:pt idx="5">
                  <c:v>0.23</c:v>
                </c:pt>
                <c:pt idx="6">
                  <c:v>0.52</c:v>
                </c:pt>
                <c:pt idx="7">
                  <c:v>0.33</c:v>
                </c:pt>
                <c:pt idx="8">
                  <c:v>0.43</c:v>
                </c:pt>
                <c:pt idx="9">
                  <c:v>0.39</c:v>
                </c:pt>
                <c:pt idx="10">
                  <c:v>0.24</c:v>
                </c:pt>
              </c:numCache>
            </c:numRef>
          </c:val>
          <c:extLst>
            <c:ext xmlns:c16="http://schemas.microsoft.com/office/drawing/2014/chart" uri="{C3380CC4-5D6E-409C-BE32-E72D297353CC}">
              <c16:uniqueId val="{00000001-4D43-452D-8C7A-609B99D91909}"/>
            </c:ext>
          </c:extLst>
        </c:ser>
        <c:ser>
          <c:idx val="2"/>
          <c:order val="2"/>
          <c:tx>
            <c:strRef>
              <c:f>Sheet1!$D$1</c:f>
              <c:strCache>
                <c:ptCount val="1"/>
                <c:pt idx="0">
                  <c:v>Neither (3.0)</c:v>
                </c:pt>
              </c:strCache>
            </c:strRef>
          </c:tx>
          <c:spPr>
            <a:solidFill>
              <a:schemeClr val="accent2">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Sheet1!$D$2:$D$12</c:f>
              <c:numCache>
                <c:formatCode>0%</c:formatCode>
                <c:ptCount val="11"/>
                <c:pt idx="0">
                  <c:v>0.1</c:v>
                </c:pt>
                <c:pt idx="1">
                  <c:v>0.1</c:v>
                </c:pt>
                <c:pt idx="2">
                  <c:v>0.1</c:v>
                </c:pt>
                <c:pt idx="3">
                  <c:v>0.18</c:v>
                </c:pt>
                <c:pt idx="4">
                  <c:v>0.03</c:v>
                </c:pt>
                <c:pt idx="5">
                  <c:v>0.1</c:v>
                </c:pt>
                <c:pt idx="6">
                  <c:v>0.04</c:v>
                </c:pt>
                <c:pt idx="7">
                  <c:v>0.18</c:v>
                </c:pt>
                <c:pt idx="8">
                  <c:v>0.13</c:v>
                </c:pt>
                <c:pt idx="9">
                  <c:v>0.1</c:v>
                </c:pt>
                <c:pt idx="10">
                  <c:v>0.1</c:v>
                </c:pt>
              </c:numCache>
            </c:numRef>
          </c:val>
          <c:extLst>
            <c:ext xmlns:c16="http://schemas.microsoft.com/office/drawing/2014/chart" uri="{C3380CC4-5D6E-409C-BE32-E72D297353CC}">
              <c16:uniqueId val="{00000002-4D43-452D-8C7A-609B99D91909}"/>
            </c:ext>
          </c:extLst>
        </c:ser>
        <c:ser>
          <c:idx val="3"/>
          <c:order val="3"/>
          <c:tx>
            <c:strRef>
              <c:f>Sheet1!$E$1</c:f>
              <c:strCache>
                <c:ptCount val="1"/>
                <c:pt idx="0">
                  <c:v>Somewhat well (4.0)</c:v>
                </c:pt>
              </c:strCache>
            </c:strRef>
          </c:tx>
          <c:spPr>
            <a:solidFill>
              <a:srgbClr val="6AF7A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Sheet1!$E$2:$E$12</c:f>
              <c:numCache>
                <c:formatCode>0%</c:formatCode>
                <c:ptCount val="11"/>
                <c:pt idx="0">
                  <c:v>0.13</c:v>
                </c:pt>
                <c:pt idx="1">
                  <c:v>0.14000000000000001</c:v>
                </c:pt>
                <c:pt idx="2">
                  <c:v>0.12</c:v>
                </c:pt>
                <c:pt idx="3">
                  <c:v>0.14000000000000001</c:v>
                </c:pt>
                <c:pt idx="4">
                  <c:v>0.06</c:v>
                </c:pt>
                <c:pt idx="5">
                  <c:v>0.39</c:v>
                </c:pt>
                <c:pt idx="6">
                  <c:v>0.01</c:v>
                </c:pt>
                <c:pt idx="7">
                  <c:v>0.02</c:v>
                </c:pt>
                <c:pt idx="8">
                  <c:v>0.09</c:v>
                </c:pt>
                <c:pt idx="9">
                  <c:v>0.11</c:v>
                </c:pt>
                <c:pt idx="10">
                  <c:v>0.16</c:v>
                </c:pt>
              </c:numCache>
            </c:numRef>
          </c:val>
          <c:extLst>
            <c:ext xmlns:c16="http://schemas.microsoft.com/office/drawing/2014/chart" uri="{C3380CC4-5D6E-409C-BE32-E72D297353CC}">
              <c16:uniqueId val="{00000003-4D43-452D-8C7A-609B99D91909}"/>
            </c:ext>
          </c:extLst>
        </c:ser>
        <c:ser>
          <c:idx val="4"/>
          <c:order val="4"/>
          <c:tx>
            <c:strRef>
              <c:f>Sheet1!$F$1</c:f>
              <c:strCache>
                <c:ptCount val="1"/>
                <c:pt idx="0">
                  <c:v>Very well (5.0)</c:v>
                </c:pt>
              </c:strCache>
            </c:strRef>
          </c:tx>
          <c:spPr>
            <a:solidFill>
              <a:srgbClr val="92D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Sheet1!$F$2:$F$12</c:f>
              <c:numCache>
                <c:formatCode>0%</c:formatCode>
                <c:ptCount val="11"/>
                <c:pt idx="0">
                  <c:v>0.01</c:v>
                </c:pt>
                <c:pt idx="1">
                  <c:v>0.02</c:v>
                </c:pt>
                <c:pt idx="2">
                  <c:v>0.01</c:v>
                </c:pt>
                <c:pt idx="3">
                  <c:v>0.01</c:v>
                </c:pt>
                <c:pt idx="4">
                  <c:v>0</c:v>
                </c:pt>
                <c:pt idx="5">
                  <c:v>0.01</c:v>
                </c:pt>
                <c:pt idx="6">
                  <c:v>0</c:v>
                </c:pt>
                <c:pt idx="7">
                  <c:v>0</c:v>
                </c:pt>
                <c:pt idx="8">
                  <c:v>0.04</c:v>
                </c:pt>
                <c:pt idx="9">
                  <c:v>0.02</c:v>
                </c:pt>
                <c:pt idx="10">
                  <c:v>0</c:v>
                </c:pt>
              </c:numCache>
            </c:numRef>
          </c:val>
          <c:extLst>
            <c:ext xmlns:c16="http://schemas.microsoft.com/office/drawing/2014/chart" uri="{C3380CC4-5D6E-409C-BE32-E72D297353CC}">
              <c16:uniqueId val="{00000004-4D43-452D-8C7A-609B99D91909}"/>
            </c:ext>
          </c:extLst>
        </c:ser>
        <c:dLbls>
          <c:dLblPos val="ctr"/>
          <c:showLegendKey val="0"/>
          <c:showVal val="1"/>
          <c:showCatName val="0"/>
          <c:showSerName val="0"/>
          <c:showPercent val="0"/>
          <c:showBubbleSize val="0"/>
        </c:dLbls>
        <c:gapWidth val="50"/>
        <c:overlap val="100"/>
        <c:axId val="184411968"/>
        <c:axId val="187267840"/>
      </c:barChart>
      <c:catAx>
        <c:axId val="184411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87267840"/>
        <c:crosses val="autoZero"/>
        <c:auto val="1"/>
        <c:lblAlgn val="ctr"/>
        <c:lblOffset val="100"/>
        <c:noMultiLvlLbl val="0"/>
      </c:catAx>
      <c:valAx>
        <c:axId val="187267840"/>
        <c:scaling>
          <c:orientation val="minMax"/>
        </c:scaling>
        <c:delete val="1"/>
        <c:axPos val="l"/>
        <c:numFmt formatCode="0%" sourceLinked="1"/>
        <c:majorTickMark val="none"/>
        <c:minorTickMark val="none"/>
        <c:tickLblPos val="nextTo"/>
        <c:crossAx val="184411968"/>
        <c:crosses val="autoZero"/>
        <c:crossBetween val="between"/>
      </c:valAx>
      <c:spPr>
        <a:noFill/>
        <a:ln>
          <a:noFill/>
        </a:ln>
        <a:effectLst/>
      </c:spPr>
    </c:plotArea>
    <c:legend>
      <c:legendPos val="l"/>
      <c:layout>
        <c:manualLayout>
          <c:xMode val="edge"/>
          <c:yMode val="edge"/>
          <c:x val="7.8395061728395062E-3"/>
          <c:y val="0.10047055555555554"/>
          <c:w val="0.14068827160493827"/>
          <c:h val="0.79937638888888884"/>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chart>
  <c:spPr>
    <a:noFill/>
    <a:ln>
      <a:noFill/>
    </a:ln>
    <a:effectLst/>
  </c:spPr>
  <c:txPr>
    <a:bodyPr/>
    <a:lstStyle/>
    <a:p>
      <a:pPr>
        <a:defRPr/>
      </a:pPr>
      <a:endParaRPr lang="en-US"/>
    </a:p>
  </c:txPr>
  <c:externalData r:id="rId4">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effectLst/>
              </a:rPr>
              <a:t>Frequency of Nigerian leaders engagement with the public </a:t>
            </a:r>
            <a:endParaRPr lang="en-GB" sz="1400" dirty="0">
              <a:effectLst/>
            </a:endParaRP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678739087301587"/>
          <c:y val="0.13084527777777777"/>
          <c:w val="0.81826696428571433"/>
          <c:h val="0.75458444444444439"/>
        </c:manualLayout>
      </c:layout>
      <c:barChart>
        <c:barDir val="col"/>
        <c:grouping val="percentStacked"/>
        <c:varyColors val="0"/>
        <c:ser>
          <c:idx val="0"/>
          <c:order val="0"/>
          <c:tx>
            <c:strRef>
              <c:f>Sheet1!$B$1</c:f>
              <c:strCache>
                <c:ptCount val="1"/>
                <c:pt idx="0">
                  <c:v>Never (1.0)</c:v>
                </c:pt>
              </c:strCache>
            </c:strRef>
          </c:tx>
          <c:spPr>
            <a:solidFill>
              <a:srgbClr val="FF5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Sheet1!$B$2:$B$12</c:f>
              <c:numCache>
                <c:formatCode>0%</c:formatCode>
                <c:ptCount val="11"/>
                <c:pt idx="0">
                  <c:v>0.31</c:v>
                </c:pt>
                <c:pt idx="1">
                  <c:v>0.3</c:v>
                </c:pt>
                <c:pt idx="2">
                  <c:v>0.31</c:v>
                </c:pt>
                <c:pt idx="3">
                  <c:v>0.18</c:v>
                </c:pt>
                <c:pt idx="4">
                  <c:v>0.53</c:v>
                </c:pt>
                <c:pt idx="5">
                  <c:v>0.27</c:v>
                </c:pt>
                <c:pt idx="6">
                  <c:v>0.31</c:v>
                </c:pt>
                <c:pt idx="7">
                  <c:v>0.32</c:v>
                </c:pt>
                <c:pt idx="8">
                  <c:v>0.21</c:v>
                </c:pt>
                <c:pt idx="9">
                  <c:v>0.31</c:v>
                </c:pt>
                <c:pt idx="10">
                  <c:v>0.31</c:v>
                </c:pt>
              </c:numCache>
            </c:numRef>
          </c:val>
          <c:extLst>
            <c:ext xmlns:c16="http://schemas.microsoft.com/office/drawing/2014/chart" uri="{C3380CC4-5D6E-409C-BE32-E72D297353CC}">
              <c16:uniqueId val="{00000000-4D43-452D-8C7A-609B99D91909}"/>
            </c:ext>
          </c:extLst>
        </c:ser>
        <c:ser>
          <c:idx val="1"/>
          <c:order val="1"/>
          <c:tx>
            <c:strRef>
              <c:f>Sheet1!$C$1</c:f>
              <c:strCache>
                <c:ptCount val="1"/>
                <c:pt idx="0">
                  <c:v>Rarely (2.0)</c:v>
                </c:pt>
              </c:strCache>
            </c:strRef>
          </c:tx>
          <c:spPr>
            <a:solidFill>
              <a:schemeClr val="accent4">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Sheet1!$C$2:$C$12</c:f>
              <c:numCache>
                <c:formatCode>0%</c:formatCode>
                <c:ptCount val="11"/>
                <c:pt idx="0">
                  <c:v>0.33</c:v>
                </c:pt>
                <c:pt idx="1">
                  <c:v>0.31</c:v>
                </c:pt>
                <c:pt idx="2">
                  <c:v>0.34</c:v>
                </c:pt>
                <c:pt idx="3">
                  <c:v>0.31</c:v>
                </c:pt>
                <c:pt idx="4">
                  <c:v>0.3</c:v>
                </c:pt>
                <c:pt idx="5">
                  <c:v>0.15</c:v>
                </c:pt>
                <c:pt idx="6">
                  <c:v>0.56999999999999995</c:v>
                </c:pt>
                <c:pt idx="7">
                  <c:v>0.26</c:v>
                </c:pt>
                <c:pt idx="8">
                  <c:v>0.39</c:v>
                </c:pt>
                <c:pt idx="9">
                  <c:v>0.35</c:v>
                </c:pt>
                <c:pt idx="10">
                  <c:v>0.28999999999999998</c:v>
                </c:pt>
              </c:numCache>
            </c:numRef>
          </c:val>
          <c:extLst>
            <c:ext xmlns:c16="http://schemas.microsoft.com/office/drawing/2014/chart" uri="{C3380CC4-5D6E-409C-BE32-E72D297353CC}">
              <c16:uniqueId val="{00000001-4D43-452D-8C7A-609B99D91909}"/>
            </c:ext>
          </c:extLst>
        </c:ser>
        <c:ser>
          <c:idx val="2"/>
          <c:order val="2"/>
          <c:tx>
            <c:strRef>
              <c:f>Sheet1!$D$1</c:f>
              <c:strCache>
                <c:ptCount val="1"/>
                <c:pt idx="0">
                  <c:v>Can't say (3.0)</c:v>
                </c:pt>
              </c:strCache>
            </c:strRef>
          </c:tx>
          <c:spPr>
            <a:solidFill>
              <a:schemeClr val="accent2">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Sheet1!$D$2:$D$12</c:f>
              <c:numCache>
                <c:formatCode>0%</c:formatCode>
                <c:ptCount val="11"/>
                <c:pt idx="0">
                  <c:v>0.16</c:v>
                </c:pt>
                <c:pt idx="1">
                  <c:v>0.16</c:v>
                </c:pt>
                <c:pt idx="2">
                  <c:v>0.16</c:v>
                </c:pt>
                <c:pt idx="3">
                  <c:v>0.28999999999999998</c:v>
                </c:pt>
                <c:pt idx="4">
                  <c:v>0.04</c:v>
                </c:pt>
                <c:pt idx="5">
                  <c:v>0.03</c:v>
                </c:pt>
                <c:pt idx="6">
                  <c:v>0.09</c:v>
                </c:pt>
                <c:pt idx="7">
                  <c:v>0.39</c:v>
                </c:pt>
                <c:pt idx="8">
                  <c:v>0.23</c:v>
                </c:pt>
                <c:pt idx="9">
                  <c:v>0.15</c:v>
                </c:pt>
                <c:pt idx="10">
                  <c:v>0.17</c:v>
                </c:pt>
              </c:numCache>
            </c:numRef>
          </c:val>
          <c:extLst>
            <c:ext xmlns:c16="http://schemas.microsoft.com/office/drawing/2014/chart" uri="{C3380CC4-5D6E-409C-BE32-E72D297353CC}">
              <c16:uniqueId val="{00000002-4D43-452D-8C7A-609B99D91909}"/>
            </c:ext>
          </c:extLst>
        </c:ser>
        <c:ser>
          <c:idx val="3"/>
          <c:order val="3"/>
          <c:tx>
            <c:strRef>
              <c:f>Sheet1!$E$1</c:f>
              <c:strCache>
                <c:ptCount val="1"/>
                <c:pt idx="0">
                  <c:v>Occasionally (4.0)</c:v>
                </c:pt>
              </c:strCache>
            </c:strRef>
          </c:tx>
          <c:spPr>
            <a:solidFill>
              <a:srgbClr val="6AF7A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Sheet1!$E$2:$E$12</c:f>
              <c:numCache>
                <c:formatCode>0%</c:formatCode>
                <c:ptCount val="11"/>
                <c:pt idx="0">
                  <c:v>0.19</c:v>
                </c:pt>
                <c:pt idx="1">
                  <c:v>0.21</c:v>
                </c:pt>
                <c:pt idx="2">
                  <c:v>0.18</c:v>
                </c:pt>
                <c:pt idx="3">
                  <c:v>0.19</c:v>
                </c:pt>
                <c:pt idx="4">
                  <c:v>0.13</c:v>
                </c:pt>
                <c:pt idx="5">
                  <c:v>0.54</c:v>
                </c:pt>
                <c:pt idx="6">
                  <c:v>0.03</c:v>
                </c:pt>
                <c:pt idx="7">
                  <c:v>0.03</c:v>
                </c:pt>
                <c:pt idx="8">
                  <c:v>0.13</c:v>
                </c:pt>
                <c:pt idx="9">
                  <c:v>0.18</c:v>
                </c:pt>
                <c:pt idx="10">
                  <c:v>0.22</c:v>
                </c:pt>
              </c:numCache>
            </c:numRef>
          </c:val>
          <c:extLst>
            <c:ext xmlns:c16="http://schemas.microsoft.com/office/drawing/2014/chart" uri="{C3380CC4-5D6E-409C-BE32-E72D297353CC}">
              <c16:uniqueId val="{00000003-4D43-452D-8C7A-609B99D91909}"/>
            </c:ext>
          </c:extLst>
        </c:ser>
        <c:ser>
          <c:idx val="4"/>
          <c:order val="4"/>
          <c:tx>
            <c:strRef>
              <c:f>Sheet1!$F$1</c:f>
              <c:strCache>
                <c:ptCount val="1"/>
                <c:pt idx="0">
                  <c:v>Regularly (5.0)</c:v>
                </c:pt>
              </c:strCache>
            </c:strRef>
          </c:tx>
          <c:spPr>
            <a:solidFill>
              <a:srgbClr val="92D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Sheet1!$F$2:$F$12</c:f>
              <c:numCache>
                <c:formatCode>0%</c:formatCode>
                <c:ptCount val="11"/>
                <c:pt idx="0">
                  <c:v>0.01</c:v>
                </c:pt>
                <c:pt idx="1">
                  <c:v>0.02</c:v>
                </c:pt>
                <c:pt idx="2">
                  <c:v>0.01</c:v>
                </c:pt>
                <c:pt idx="3">
                  <c:v>0.03</c:v>
                </c:pt>
                <c:pt idx="4">
                  <c:v>0</c:v>
                </c:pt>
                <c:pt idx="5">
                  <c:v>0</c:v>
                </c:pt>
                <c:pt idx="6">
                  <c:v>0</c:v>
                </c:pt>
                <c:pt idx="7">
                  <c:v>0</c:v>
                </c:pt>
                <c:pt idx="8">
                  <c:v>0.04</c:v>
                </c:pt>
                <c:pt idx="9">
                  <c:v>0.02</c:v>
                </c:pt>
                <c:pt idx="10">
                  <c:v>0.01</c:v>
                </c:pt>
              </c:numCache>
            </c:numRef>
          </c:val>
          <c:extLst>
            <c:ext xmlns:c16="http://schemas.microsoft.com/office/drawing/2014/chart" uri="{C3380CC4-5D6E-409C-BE32-E72D297353CC}">
              <c16:uniqueId val="{00000004-4D43-452D-8C7A-609B99D91909}"/>
            </c:ext>
          </c:extLst>
        </c:ser>
        <c:dLbls>
          <c:dLblPos val="ctr"/>
          <c:showLegendKey val="0"/>
          <c:showVal val="1"/>
          <c:showCatName val="0"/>
          <c:showSerName val="0"/>
          <c:showPercent val="0"/>
          <c:showBubbleSize val="0"/>
        </c:dLbls>
        <c:gapWidth val="50"/>
        <c:overlap val="100"/>
        <c:axId val="184411968"/>
        <c:axId val="187267840"/>
      </c:barChart>
      <c:catAx>
        <c:axId val="184411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87267840"/>
        <c:crosses val="autoZero"/>
        <c:auto val="1"/>
        <c:lblAlgn val="ctr"/>
        <c:lblOffset val="100"/>
        <c:noMultiLvlLbl val="0"/>
      </c:catAx>
      <c:valAx>
        <c:axId val="187267840"/>
        <c:scaling>
          <c:orientation val="minMax"/>
        </c:scaling>
        <c:delete val="1"/>
        <c:axPos val="l"/>
        <c:numFmt formatCode="0%" sourceLinked="1"/>
        <c:majorTickMark val="none"/>
        <c:minorTickMark val="none"/>
        <c:tickLblPos val="nextTo"/>
        <c:crossAx val="184411968"/>
        <c:crosses val="autoZero"/>
        <c:crossBetween val="between"/>
      </c:valAx>
      <c:spPr>
        <a:noFill/>
        <a:ln>
          <a:noFill/>
        </a:ln>
        <a:effectLst/>
      </c:spPr>
    </c:plotArea>
    <c:legend>
      <c:legendPos val="l"/>
      <c:layout>
        <c:manualLayout>
          <c:xMode val="edge"/>
          <c:yMode val="edge"/>
          <c:x val="7.8395061728395062E-3"/>
          <c:y val="0.10047055555555554"/>
          <c:w val="0.14068827160493827"/>
          <c:h val="0.79937638888888884"/>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effectLst/>
              </a:rPr>
              <a:t>Effectiveness of the National Assembly in holding the executive accountable</a:t>
            </a:r>
            <a:endParaRPr lang="en-GB" sz="1400" dirty="0">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678739087301587"/>
          <c:y val="0.13084527777777777"/>
          <c:w val="0.81826696428571433"/>
          <c:h val="0.75458444444444439"/>
        </c:manualLayout>
      </c:layout>
      <c:barChart>
        <c:barDir val="col"/>
        <c:grouping val="percentStacked"/>
        <c:varyColors val="0"/>
        <c:ser>
          <c:idx val="0"/>
          <c:order val="0"/>
          <c:tx>
            <c:strRef>
              <c:f>Sheet1!$B$1</c:f>
              <c:strCache>
                <c:ptCount val="1"/>
                <c:pt idx="0">
                  <c:v>Not effective at all (1.0)</c:v>
                </c:pt>
              </c:strCache>
            </c:strRef>
          </c:tx>
          <c:spPr>
            <a:solidFill>
              <a:srgbClr val="FF5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Sheet1!$B$2:$B$12</c:f>
              <c:numCache>
                <c:formatCode>0%</c:formatCode>
                <c:ptCount val="11"/>
                <c:pt idx="0">
                  <c:v>0.27</c:v>
                </c:pt>
                <c:pt idx="1">
                  <c:v>0.26</c:v>
                </c:pt>
                <c:pt idx="2">
                  <c:v>0.28000000000000003</c:v>
                </c:pt>
                <c:pt idx="3">
                  <c:v>0.25</c:v>
                </c:pt>
                <c:pt idx="4">
                  <c:v>0.26</c:v>
                </c:pt>
                <c:pt idx="5">
                  <c:v>0.17</c:v>
                </c:pt>
                <c:pt idx="6">
                  <c:v>0.42</c:v>
                </c:pt>
                <c:pt idx="7">
                  <c:v>0.36</c:v>
                </c:pt>
                <c:pt idx="8">
                  <c:v>0.24</c:v>
                </c:pt>
                <c:pt idx="9">
                  <c:v>0.25</c:v>
                </c:pt>
                <c:pt idx="10">
                  <c:v>0.32</c:v>
                </c:pt>
              </c:numCache>
            </c:numRef>
          </c:val>
          <c:extLst>
            <c:ext xmlns:c16="http://schemas.microsoft.com/office/drawing/2014/chart" uri="{C3380CC4-5D6E-409C-BE32-E72D297353CC}">
              <c16:uniqueId val="{00000000-4D43-452D-8C7A-609B99D91909}"/>
            </c:ext>
          </c:extLst>
        </c:ser>
        <c:ser>
          <c:idx val="1"/>
          <c:order val="1"/>
          <c:tx>
            <c:strRef>
              <c:f>Sheet1!$C$1</c:f>
              <c:strCache>
                <c:ptCount val="1"/>
                <c:pt idx="0">
                  <c:v>Not Effective (2.0)</c:v>
                </c:pt>
              </c:strCache>
            </c:strRef>
          </c:tx>
          <c:spPr>
            <a:solidFill>
              <a:schemeClr val="accent4">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Sheet1!$C$2:$C$12</c:f>
              <c:numCache>
                <c:formatCode>0%</c:formatCode>
                <c:ptCount val="11"/>
                <c:pt idx="0">
                  <c:v>0.41</c:v>
                </c:pt>
                <c:pt idx="1">
                  <c:v>0.4</c:v>
                </c:pt>
                <c:pt idx="2">
                  <c:v>0.41</c:v>
                </c:pt>
                <c:pt idx="3">
                  <c:v>0.28999999999999998</c:v>
                </c:pt>
                <c:pt idx="4">
                  <c:v>0.61</c:v>
                </c:pt>
                <c:pt idx="5">
                  <c:v>0.26</c:v>
                </c:pt>
                <c:pt idx="6">
                  <c:v>0.47</c:v>
                </c:pt>
                <c:pt idx="7">
                  <c:v>0.27</c:v>
                </c:pt>
                <c:pt idx="8">
                  <c:v>0.44</c:v>
                </c:pt>
                <c:pt idx="9">
                  <c:v>0.43</c:v>
                </c:pt>
                <c:pt idx="10">
                  <c:v>0.36</c:v>
                </c:pt>
              </c:numCache>
            </c:numRef>
          </c:val>
          <c:extLst>
            <c:ext xmlns:c16="http://schemas.microsoft.com/office/drawing/2014/chart" uri="{C3380CC4-5D6E-409C-BE32-E72D297353CC}">
              <c16:uniqueId val="{00000001-4D43-452D-8C7A-609B99D91909}"/>
            </c:ext>
          </c:extLst>
        </c:ser>
        <c:ser>
          <c:idx val="2"/>
          <c:order val="2"/>
          <c:tx>
            <c:strRef>
              <c:f>Sheet1!$D$1</c:f>
              <c:strCache>
                <c:ptCount val="1"/>
                <c:pt idx="0">
                  <c:v>Neither (3.0)</c:v>
                </c:pt>
              </c:strCache>
            </c:strRef>
          </c:tx>
          <c:spPr>
            <a:solidFill>
              <a:schemeClr val="accent2">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Sheet1!$D$2:$D$12</c:f>
              <c:numCache>
                <c:formatCode>0%</c:formatCode>
                <c:ptCount val="11"/>
                <c:pt idx="0">
                  <c:v>0.12</c:v>
                </c:pt>
                <c:pt idx="1">
                  <c:v>0.1</c:v>
                </c:pt>
                <c:pt idx="2">
                  <c:v>0.13</c:v>
                </c:pt>
                <c:pt idx="3">
                  <c:v>0.21</c:v>
                </c:pt>
                <c:pt idx="4">
                  <c:v>7.0000000000000007E-2</c:v>
                </c:pt>
                <c:pt idx="5">
                  <c:v>0.1</c:v>
                </c:pt>
                <c:pt idx="6">
                  <c:v>0.05</c:v>
                </c:pt>
                <c:pt idx="7">
                  <c:v>0.25</c:v>
                </c:pt>
                <c:pt idx="8">
                  <c:v>0.11</c:v>
                </c:pt>
                <c:pt idx="9">
                  <c:v>0.13</c:v>
                </c:pt>
                <c:pt idx="10">
                  <c:v>0.1</c:v>
                </c:pt>
              </c:numCache>
            </c:numRef>
          </c:val>
          <c:extLst>
            <c:ext xmlns:c16="http://schemas.microsoft.com/office/drawing/2014/chart" uri="{C3380CC4-5D6E-409C-BE32-E72D297353CC}">
              <c16:uniqueId val="{00000002-4D43-452D-8C7A-609B99D91909}"/>
            </c:ext>
          </c:extLst>
        </c:ser>
        <c:ser>
          <c:idx val="3"/>
          <c:order val="3"/>
          <c:tx>
            <c:strRef>
              <c:f>Sheet1!$E$1</c:f>
              <c:strCache>
                <c:ptCount val="1"/>
                <c:pt idx="0">
                  <c:v>Somewhat effective (4.0)</c:v>
                </c:pt>
              </c:strCache>
            </c:strRef>
          </c:tx>
          <c:spPr>
            <a:solidFill>
              <a:srgbClr val="6AF7A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Sheet1!$E$2:$E$12</c:f>
              <c:numCache>
                <c:formatCode>0%</c:formatCode>
                <c:ptCount val="11"/>
                <c:pt idx="0">
                  <c:v>0.18</c:v>
                </c:pt>
                <c:pt idx="1">
                  <c:v>0.21</c:v>
                </c:pt>
                <c:pt idx="2">
                  <c:v>0.15</c:v>
                </c:pt>
                <c:pt idx="3">
                  <c:v>0.22</c:v>
                </c:pt>
                <c:pt idx="4">
                  <c:v>0.06</c:v>
                </c:pt>
                <c:pt idx="5">
                  <c:v>0.46</c:v>
                </c:pt>
                <c:pt idx="6">
                  <c:v>7.0000000000000007E-2</c:v>
                </c:pt>
                <c:pt idx="7">
                  <c:v>0.04</c:v>
                </c:pt>
                <c:pt idx="8">
                  <c:v>0.15</c:v>
                </c:pt>
                <c:pt idx="9">
                  <c:v>0.16</c:v>
                </c:pt>
                <c:pt idx="10">
                  <c:v>0.21</c:v>
                </c:pt>
              </c:numCache>
            </c:numRef>
          </c:val>
          <c:extLst>
            <c:ext xmlns:c16="http://schemas.microsoft.com/office/drawing/2014/chart" uri="{C3380CC4-5D6E-409C-BE32-E72D297353CC}">
              <c16:uniqueId val="{00000003-4D43-452D-8C7A-609B99D91909}"/>
            </c:ext>
          </c:extLst>
        </c:ser>
        <c:ser>
          <c:idx val="4"/>
          <c:order val="4"/>
          <c:tx>
            <c:strRef>
              <c:f>Sheet1!$F$1</c:f>
              <c:strCache>
                <c:ptCount val="1"/>
                <c:pt idx="0">
                  <c:v>Very effective (5.0)</c:v>
                </c:pt>
              </c:strCache>
            </c:strRef>
          </c:tx>
          <c:spPr>
            <a:solidFill>
              <a:srgbClr val="92D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Sheet1!$F$2:$F$12</c:f>
              <c:numCache>
                <c:formatCode>0%</c:formatCode>
                <c:ptCount val="11"/>
                <c:pt idx="0">
                  <c:v>0.03</c:v>
                </c:pt>
                <c:pt idx="1">
                  <c:v>0.03</c:v>
                </c:pt>
                <c:pt idx="2">
                  <c:v>0.02</c:v>
                </c:pt>
                <c:pt idx="3">
                  <c:v>0.02</c:v>
                </c:pt>
                <c:pt idx="4">
                  <c:v>0</c:v>
                </c:pt>
                <c:pt idx="5">
                  <c:v>0.01</c:v>
                </c:pt>
                <c:pt idx="6">
                  <c:v>0</c:v>
                </c:pt>
                <c:pt idx="7">
                  <c:v>7.0000000000000007E-2</c:v>
                </c:pt>
                <c:pt idx="8">
                  <c:v>0.06</c:v>
                </c:pt>
                <c:pt idx="9">
                  <c:v>0.03</c:v>
                </c:pt>
                <c:pt idx="10">
                  <c:v>0.01</c:v>
                </c:pt>
              </c:numCache>
            </c:numRef>
          </c:val>
          <c:extLst>
            <c:ext xmlns:c16="http://schemas.microsoft.com/office/drawing/2014/chart" uri="{C3380CC4-5D6E-409C-BE32-E72D297353CC}">
              <c16:uniqueId val="{00000004-4D43-452D-8C7A-609B99D91909}"/>
            </c:ext>
          </c:extLst>
        </c:ser>
        <c:dLbls>
          <c:dLblPos val="ctr"/>
          <c:showLegendKey val="0"/>
          <c:showVal val="1"/>
          <c:showCatName val="0"/>
          <c:showSerName val="0"/>
          <c:showPercent val="0"/>
          <c:showBubbleSize val="0"/>
        </c:dLbls>
        <c:gapWidth val="50"/>
        <c:overlap val="100"/>
        <c:axId val="184411968"/>
        <c:axId val="187267840"/>
      </c:barChart>
      <c:catAx>
        <c:axId val="184411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87267840"/>
        <c:crosses val="autoZero"/>
        <c:auto val="1"/>
        <c:lblAlgn val="ctr"/>
        <c:lblOffset val="100"/>
        <c:noMultiLvlLbl val="0"/>
      </c:catAx>
      <c:valAx>
        <c:axId val="187267840"/>
        <c:scaling>
          <c:orientation val="minMax"/>
        </c:scaling>
        <c:delete val="1"/>
        <c:axPos val="l"/>
        <c:numFmt formatCode="0%" sourceLinked="1"/>
        <c:majorTickMark val="none"/>
        <c:minorTickMark val="none"/>
        <c:tickLblPos val="nextTo"/>
        <c:crossAx val="184411968"/>
        <c:crosses val="autoZero"/>
        <c:crossBetween val="between"/>
      </c:valAx>
      <c:spPr>
        <a:noFill/>
        <a:ln>
          <a:noFill/>
        </a:ln>
        <a:effectLst/>
      </c:spPr>
    </c:plotArea>
    <c:legend>
      <c:legendPos val="l"/>
      <c:layout>
        <c:manualLayout>
          <c:xMode val="edge"/>
          <c:yMode val="edge"/>
          <c:x val="7.8395061728395062E-3"/>
          <c:y val="0.10047055555555554"/>
          <c:w val="0.14068827160493827"/>
          <c:h val="0.79937638888888884"/>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effectLst/>
              </a:rPr>
              <a:t>Vote counts in the selection of a credible leader in Nigeria</a:t>
            </a:r>
            <a:endParaRPr lang="en-GB" sz="1400" dirty="0">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percentStacked"/>
        <c:varyColors val="0"/>
        <c:ser>
          <c:idx val="0"/>
          <c:order val="0"/>
          <c:tx>
            <c:strRef>
              <c:f>Sheet1!$B$1</c:f>
              <c:strCache>
                <c:ptCount val="1"/>
                <c:pt idx="0">
                  <c:v>Yes</c:v>
                </c:pt>
              </c:strCache>
            </c:strRef>
          </c:tx>
          <c:spPr>
            <a:solidFill>
              <a:srgbClr val="92D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Sheet1!$B$2:$B$12</c:f>
              <c:numCache>
                <c:formatCode>0%</c:formatCode>
                <c:ptCount val="11"/>
                <c:pt idx="0">
                  <c:v>0.19</c:v>
                </c:pt>
                <c:pt idx="1">
                  <c:v>0.22</c:v>
                </c:pt>
                <c:pt idx="2">
                  <c:v>0.17</c:v>
                </c:pt>
                <c:pt idx="3">
                  <c:v>0.27</c:v>
                </c:pt>
                <c:pt idx="4">
                  <c:v>0.14000000000000001</c:v>
                </c:pt>
                <c:pt idx="5">
                  <c:v>0.48</c:v>
                </c:pt>
                <c:pt idx="6">
                  <c:v>0.02</c:v>
                </c:pt>
                <c:pt idx="7">
                  <c:v>0.01</c:v>
                </c:pt>
                <c:pt idx="8">
                  <c:v>0.14000000000000001</c:v>
                </c:pt>
                <c:pt idx="9">
                  <c:v>0.15</c:v>
                </c:pt>
                <c:pt idx="10">
                  <c:v>0.26</c:v>
                </c:pt>
              </c:numCache>
            </c:numRef>
          </c:val>
          <c:extLst>
            <c:ext xmlns:c16="http://schemas.microsoft.com/office/drawing/2014/chart" uri="{C3380CC4-5D6E-409C-BE32-E72D297353CC}">
              <c16:uniqueId val="{00000000-4D43-452D-8C7A-609B99D91909}"/>
            </c:ext>
          </c:extLst>
        </c:ser>
        <c:ser>
          <c:idx val="1"/>
          <c:order val="1"/>
          <c:tx>
            <c:strRef>
              <c:f>Sheet1!$C$1</c:f>
              <c:strCache>
                <c:ptCount val="1"/>
                <c:pt idx="0">
                  <c:v>No</c:v>
                </c:pt>
              </c:strCache>
            </c:strRef>
          </c:tx>
          <c:spPr>
            <a:solidFill>
              <a:srgbClr val="FF7C8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Sheet1!$C$2:$C$12</c:f>
              <c:numCache>
                <c:formatCode>0%</c:formatCode>
                <c:ptCount val="11"/>
                <c:pt idx="0">
                  <c:v>0.69</c:v>
                </c:pt>
                <c:pt idx="1">
                  <c:v>0.67</c:v>
                </c:pt>
                <c:pt idx="2">
                  <c:v>0.71</c:v>
                </c:pt>
                <c:pt idx="3">
                  <c:v>0.57999999999999996</c:v>
                </c:pt>
                <c:pt idx="4">
                  <c:v>0.81</c:v>
                </c:pt>
                <c:pt idx="5">
                  <c:v>0.42</c:v>
                </c:pt>
                <c:pt idx="6">
                  <c:v>0.98</c:v>
                </c:pt>
                <c:pt idx="7">
                  <c:v>0.66</c:v>
                </c:pt>
                <c:pt idx="8">
                  <c:v>0.72</c:v>
                </c:pt>
                <c:pt idx="9">
                  <c:v>0.73</c:v>
                </c:pt>
                <c:pt idx="10">
                  <c:v>0.62</c:v>
                </c:pt>
              </c:numCache>
            </c:numRef>
          </c:val>
          <c:extLst>
            <c:ext xmlns:c16="http://schemas.microsoft.com/office/drawing/2014/chart" uri="{C3380CC4-5D6E-409C-BE32-E72D297353CC}">
              <c16:uniqueId val="{00000001-4D43-452D-8C7A-609B99D91909}"/>
            </c:ext>
          </c:extLst>
        </c:ser>
        <c:ser>
          <c:idx val="2"/>
          <c:order val="2"/>
          <c:tx>
            <c:strRef>
              <c:f>Sheet1!$D$1</c:f>
              <c:strCache>
                <c:ptCount val="1"/>
                <c:pt idx="0">
                  <c:v>Not sure</c:v>
                </c:pt>
              </c:strCache>
            </c:strRef>
          </c:tx>
          <c:spPr>
            <a:solidFill>
              <a:schemeClr val="accent2">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Sheet1!$D$2:$D$12</c:f>
              <c:numCache>
                <c:formatCode>0%</c:formatCode>
                <c:ptCount val="11"/>
                <c:pt idx="0">
                  <c:v>0.12</c:v>
                </c:pt>
                <c:pt idx="1">
                  <c:v>0.11</c:v>
                </c:pt>
                <c:pt idx="2">
                  <c:v>0.12</c:v>
                </c:pt>
                <c:pt idx="3">
                  <c:v>0.15</c:v>
                </c:pt>
                <c:pt idx="4">
                  <c:v>0.04</c:v>
                </c:pt>
                <c:pt idx="5">
                  <c:v>0.1</c:v>
                </c:pt>
                <c:pt idx="6">
                  <c:v>0</c:v>
                </c:pt>
                <c:pt idx="7">
                  <c:v>0.33</c:v>
                </c:pt>
                <c:pt idx="8">
                  <c:v>0.14000000000000001</c:v>
                </c:pt>
                <c:pt idx="9">
                  <c:v>0.11</c:v>
                </c:pt>
                <c:pt idx="10">
                  <c:v>0.12</c:v>
                </c:pt>
              </c:numCache>
            </c:numRef>
          </c:val>
          <c:extLst>
            <c:ext xmlns:c16="http://schemas.microsoft.com/office/drawing/2014/chart" uri="{C3380CC4-5D6E-409C-BE32-E72D297353CC}">
              <c16:uniqueId val="{00000002-4D43-452D-8C7A-609B99D91909}"/>
            </c:ext>
          </c:extLst>
        </c:ser>
        <c:dLbls>
          <c:dLblPos val="ctr"/>
          <c:showLegendKey val="0"/>
          <c:showVal val="1"/>
          <c:showCatName val="0"/>
          <c:showSerName val="0"/>
          <c:showPercent val="0"/>
          <c:showBubbleSize val="0"/>
        </c:dLbls>
        <c:gapWidth val="50"/>
        <c:overlap val="100"/>
        <c:axId val="184411968"/>
        <c:axId val="187267840"/>
      </c:barChart>
      <c:catAx>
        <c:axId val="184411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87267840"/>
        <c:crosses val="autoZero"/>
        <c:auto val="1"/>
        <c:lblAlgn val="ctr"/>
        <c:lblOffset val="100"/>
        <c:noMultiLvlLbl val="0"/>
      </c:catAx>
      <c:valAx>
        <c:axId val="187267840"/>
        <c:scaling>
          <c:orientation val="minMax"/>
        </c:scaling>
        <c:delete val="1"/>
        <c:axPos val="l"/>
        <c:numFmt formatCode="0%" sourceLinked="1"/>
        <c:majorTickMark val="none"/>
        <c:minorTickMark val="none"/>
        <c:tickLblPos val="nextTo"/>
        <c:crossAx val="184411968"/>
        <c:crosses val="autoZero"/>
        <c:crossBetween val="between"/>
      </c:valAx>
      <c:spPr>
        <a:noFill/>
        <a:ln>
          <a:noFill/>
        </a:ln>
        <a:effectLst/>
      </c:spPr>
    </c:plotArea>
    <c:legend>
      <c:legendPos val="l"/>
      <c:layout>
        <c:manualLayout>
          <c:xMode val="edge"/>
          <c:yMode val="edge"/>
          <c:x val="7.8395061728395062E-3"/>
          <c:y val="0.10047055555555554"/>
          <c:w val="0.14068827160493827"/>
          <c:h val="0.79937638888888884"/>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effectLst/>
              </a:rPr>
              <a:t>Satisfaction with Nigeria’s democratic process</a:t>
            </a:r>
            <a:endParaRPr lang="en-GB" sz="1400" dirty="0">
              <a:effectLst/>
            </a:endParaRP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678739087301587"/>
          <c:y val="0.13084527777777777"/>
          <c:w val="0.81826696428571433"/>
          <c:h val="0.75458444444444439"/>
        </c:manualLayout>
      </c:layout>
      <c:barChart>
        <c:barDir val="col"/>
        <c:grouping val="percentStacked"/>
        <c:varyColors val="0"/>
        <c:ser>
          <c:idx val="0"/>
          <c:order val="0"/>
          <c:tx>
            <c:strRef>
              <c:f>Sheet1!$B$1</c:f>
              <c:strCache>
                <c:ptCount val="1"/>
                <c:pt idx="0">
                  <c:v>Very dissatisfied (1.0)</c:v>
                </c:pt>
              </c:strCache>
            </c:strRef>
          </c:tx>
          <c:spPr>
            <a:solidFill>
              <a:srgbClr val="FF5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Sheet1!$B$2:$B$12</c:f>
              <c:numCache>
                <c:formatCode>0%</c:formatCode>
                <c:ptCount val="11"/>
                <c:pt idx="0">
                  <c:v>0.39</c:v>
                </c:pt>
                <c:pt idx="1">
                  <c:v>0.35</c:v>
                </c:pt>
                <c:pt idx="2">
                  <c:v>0.42</c:v>
                </c:pt>
                <c:pt idx="3">
                  <c:v>0.39</c:v>
                </c:pt>
                <c:pt idx="4">
                  <c:v>0.39</c:v>
                </c:pt>
                <c:pt idx="5">
                  <c:v>0.21</c:v>
                </c:pt>
                <c:pt idx="6">
                  <c:v>0.55000000000000004</c:v>
                </c:pt>
                <c:pt idx="7">
                  <c:v>0.68</c:v>
                </c:pt>
                <c:pt idx="8">
                  <c:v>0.3</c:v>
                </c:pt>
                <c:pt idx="9">
                  <c:v>0.36</c:v>
                </c:pt>
                <c:pt idx="10">
                  <c:v>0.42</c:v>
                </c:pt>
              </c:numCache>
            </c:numRef>
          </c:val>
          <c:extLst>
            <c:ext xmlns:c16="http://schemas.microsoft.com/office/drawing/2014/chart" uri="{C3380CC4-5D6E-409C-BE32-E72D297353CC}">
              <c16:uniqueId val="{00000000-4D43-452D-8C7A-609B99D91909}"/>
            </c:ext>
          </c:extLst>
        </c:ser>
        <c:ser>
          <c:idx val="1"/>
          <c:order val="1"/>
          <c:tx>
            <c:strRef>
              <c:f>Sheet1!$C$1</c:f>
              <c:strCache>
                <c:ptCount val="1"/>
                <c:pt idx="0">
                  <c:v>Somewhat dissatisfied (2.0)</c:v>
                </c:pt>
              </c:strCache>
            </c:strRef>
          </c:tx>
          <c:spPr>
            <a:solidFill>
              <a:schemeClr val="accent4">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Sheet1!$C$2:$C$12</c:f>
              <c:numCache>
                <c:formatCode>0%</c:formatCode>
                <c:ptCount val="11"/>
                <c:pt idx="0">
                  <c:v>0.34</c:v>
                </c:pt>
                <c:pt idx="1">
                  <c:v>0.36</c:v>
                </c:pt>
                <c:pt idx="2">
                  <c:v>0.33</c:v>
                </c:pt>
                <c:pt idx="3">
                  <c:v>0.32</c:v>
                </c:pt>
                <c:pt idx="4">
                  <c:v>0.4</c:v>
                </c:pt>
                <c:pt idx="5">
                  <c:v>0.22</c:v>
                </c:pt>
                <c:pt idx="6">
                  <c:v>0.39</c:v>
                </c:pt>
                <c:pt idx="7">
                  <c:v>0.18</c:v>
                </c:pt>
                <c:pt idx="8">
                  <c:v>0.46</c:v>
                </c:pt>
                <c:pt idx="9">
                  <c:v>0.38</c:v>
                </c:pt>
                <c:pt idx="10">
                  <c:v>0.27</c:v>
                </c:pt>
              </c:numCache>
            </c:numRef>
          </c:val>
          <c:extLst>
            <c:ext xmlns:c16="http://schemas.microsoft.com/office/drawing/2014/chart" uri="{C3380CC4-5D6E-409C-BE32-E72D297353CC}">
              <c16:uniqueId val="{00000001-4D43-452D-8C7A-609B99D91909}"/>
            </c:ext>
          </c:extLst>
        </c:ser>
        <c:ser>
          <c:idx val="2"/>
          <c:order val="2"/>
          <c:tx>
            <c:strRef>
              <c:f>Sheet1!$D$1</c:f>
              <c:strCache>
                <c:ptCount val="1"/>
                <c:pt idx="0">
                  <c:v>Neither (3.0)</c:v>
                </c:pt>
              </c:strCache>
            </c:strRef>
          </c:tx>
          <c:spPr>
            <a:solidFill>
              <a:schemeClr val="accent2">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Sheet1!$D$2:$D$12</c:f>
              <c:numCache>
                <c:formatCode>0%</c:formatCode>
                <c:ptCount val="11"/>
                <c:pt idx="0">
                  <c:v>0.08</c:v>
                </c:pt>
                <c:pt idx="1">
                  <c:v>7.0000000000000007E-2</c:v>
                </c:pt>
                <c:pt idx="2">
                  <c:v>0.09</c:v>
                </c:pt>
                <c:pt idx="3">
                  <c:v>0.11</c:v>
                </c:pt>
                <c:pt idx="4">
                  <c:v>0.04</c:v>
                </c:pt>
                <c:pt idx="5">
                  <c:v>0.11</c:v>
                </c:pt>
                <c:pt idx="6">
                  <c:v>0.02</c:v>
                </c:pt>
                <c:pt idx="7">
                  <c:v>0.13</c:v>
                </c:pt>
                <c:pt idx="8">
                  <c:v>0.08</c:v>
                </c:pt>
                <c:pt idx="9">
                  <c:v>7.0000000000000007E-2</c:v>
                </c:pt>
                <c:pt idx="10">
                  <c:v>0.1</c:v>
                </c:pt>
              </c:numCache>
            </c:numRef>
          </c:val>
          <c:extLst>
            <c:ext xmlns:c16="http://schemas.microsoft.com/office/drawing/2014/chart" uri="{C3380CC4-5D6E-409C-BE32-E72D297353CC}">
              <c16:uniqueId val="{00000002-4D43-452D-8C7A-609B99D91909}"/>
            </c:ext>
          </c:extLst>
        </c:ser>
        <c:ser>
          <c:idx val="3"/>
          <c:order val="3"/>
          <c:tx>
            <c:strRef>
              <c:f>Sheet1!$E$1</c:f>
              <c:strCache>
                <c:ptCount val="1"/>
                <c:pt idx="0">
                  <c:v>Somewhat satisfied (4.0)</c:v>
                </c:pt>
              </c:strCache>
            </c:strRef>
          </c:tx>
          <c:spPr>
            <a:solidFill>
              <a:srgbClr val="6AF7A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Sheet1!$E$2:$E$12</c:f>
              <c:numCache>
                <c:formatCode>0%</c:formatCode>
                <c:ptCount val="11"/>
                <c:pt idx="0">
                  <c:v>0.16</c:v>
                </c:pt>
                <c:pt idx="1">
                  <c:v>0.17</c:v>
                </c:pt>
                <c:pt idx="2">
                  <c:v>0.14000000000000001</c:v>
                </c:pt>
                <c:pt idx="3">
                  <c:v>0.16</c:v>
                </c:pt>
                <c:pt idx="4">
                  <c:v>0.15</c:v>
                </c:pt>
                <c:pt idx="5">
                  <c:v>0.42</c:v>
                </c:pt>
                <c:pt idx="6">
                  <c:v>0.02</c:v>
                </c:pt>
                <c:pt idx="7">
                  <c:v>0.01</c:v>
                </c:pt>
                <c:pt idx="8">
                  <c:v>0.09</c:v>
                </c:pt>
                <c:pt idx="9">
                  <c:v>0.14000000000000001</c:v>
                </c:pt>
                <c:pt idx="10">
                  <c:v>0.19</c:v>
                </c:pt>
              </c:numCache>
            </c:numRef>
          </c:val>
          <c:extLst>
            <c:ext xmlns:c16="http://schemas.microsoft.com/office/drawing/2014/chart" uri="{C3380CC4-5D6E-409C-BE32-E72D297353CC}">
              <c16:uniqueId val="{00000003-4D43-452D-8C7A-609B99D91909}"/>
            </c:ext>
          </c:extLst>
        </c:ser>
        <c:ser>
          <c:idx val="4"/>
          <c:order val="4"/>
          <c:tx>
            <c:strRef>
              <c:f>Sheet1!$F$1</c:f>
              <c:strCache>
                <c:ptCount val="1"/>
                <c:pt idx="0">
                  <c:v>Very satisfied (5.0)</c:v>
                </c:pt>
              </c:strCache>
            </c:strRef>
          </c:tx>
          <c:spPr>
            <a:solidFill>
              <a:srgbClr val="92D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Sheet1!$F$2:$F$12</c:f>
              <c:numCache>
                <c:formatCode>0%</c:formatCode>
                <c:ptCount val="11"/>
                <c:pt idx="0">
                  <c:v>0.03</c:v>
                </c:pt>
                <c:pt idx="1">
                  <c:v>0.05</c:v>
                </c:pt>
                <c:pt idx="2">
                  <c:v>0.02</c:v>
                </c:pt>
                <c:pt idx="3">
                  <c:v>0.02</c:v>
                </c:pt>
                <c:pt idx="4">
                  <c:v>0.02</c:v>
                </c:pt>
                <c:pt idx="5">
                  <c:v>0.04</c:v>
                </c:pt>
                <c:pt idx="6">
                  <c:v>0.01</c:v>
                </c:pt>
                <c:pt idx="7">
                  <c:v>0.01</c:v>
                </c:pt>
                <c:pt idx="8">
                  <c:v>7.0000000000000007E-2</c:v>
                </c:pt>
                <c:pt idx="9">
                  <c:v>0.04</c:v>
                </c:pt>
                <c:pt idx="10">
                  <c:v>0.02</c:v>
                </c:pt>
              </c:numCache>
            </c:numRef>
          </c:val>
          <c:extLst>
            <c:ext xmlns:c16="http://schemas.microsoft.com/office/drawing/2014/chart" uri="{C3380CC4-5D6E-409C-BE32-E72D297353CC}">
              <c16:uniqueId val="{00000004-4D43-452D-8C7A-609B99D91909}"/>
            </c:ext>
          </c:extLst>
        </c:ser>
        <c:dLbls>
          <c:dLblPos val="ctr"/>
          <c:showLegendKey val="0"/>
          <c:showVal val="1"/>
          <c:showCatName val="0"/>
          <c:showSerName val="0"/>
          <c:showPercent val="0"/>
          <c:showBubbleSize val="0"/>
        </c:dLbls>
        <c:gapWidth val="50"/>
        <c:overlap val="100"/>
        <c:axId val="184411968"/>
        <c:axId val="187267840"/>
      </c:barChart>
      <c:catAx>
        <c:axId val="184411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87267840"/>
        <c:crosses val="autoZero"/>
        <c:auto val="1"/>
        <c:lblAlgn val="ctr"/>
        <c:lblOffset val="100"/>
        <c:noMultiLvlLbl val="0"/>
      </c:catAx>
      <c:valAx>
        <c:axId val="187267840"/>
        <c:scaling>
          <c:orientation val="minMax"/>
        </c:scaling>
        <c:delete val="1"/>
        <c:axPos val="l"/>
        <c:numFmt formatCode="0%" sourceLinked="1"/>
        <c:majorTickMark val="none"/>
        <c:minorTickMark val="none"/>
        <c:tickLblPos val="nextTo"/>
        <c:crossAx val="184411968"/>
        <c:crosses val="autoZero"/>
        <c:crossBetween val="between"/>
      </c:valAx>
      <c:spPr>
        <a:noFill/>
        <a:ln>
          <a:noFill/>
        </a:ln>
        <a:effectLst/>
      </c:spPr>
    </c:plotArea>
    <c:legend>
      <c:legendPos val="l"/>
      <c:layout>
        <c:manualLayout>
          <c:xMode val="edge"/>
          <c:yMode val="edge"/>
          <c:x val="7.8395061728395062E-3"/>
          <c:y val="0.10047055555555554"/>
          <c:w val="0.14068827160493827"/>
          <c:h val="0.79937638888888884"/>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effectLst/>
              </a:rPr>
              <a:t>Expression of political views in Nigeria without fear</a:t>
            </a:r>
            <a:endParaRPr lang="en-GB" sz="1400" dirty="0">
              <a:effectLst/>
            </a:endParaRP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678739087301587"/>
          <c:y val="0.13084527777777777"/>
          <c:w val="0.81826696428571433"/>
          <c:h val="0.75458444444444439"/>
        </c:manualLayout>
      </c:layout>
      <c:barChart>
        <c:barDir val="col"/>
        <c:grouping val="percentStacked"/>
        <c:varyColors val="0"/>
        <c:ser>
          <c:idx val="0"/>
          <c:order val="0"/>
          <c:tx>
            <c:strRef>
              <c:f>Sheet1!$B$1</c:f>
              <c:strCache>
                <c:ptCount val="1"/>
                <c:pt idx="0">
                  <c:v>Not free at all (1.0)</c:v>
                </c:pt>
              </c:strCache>
            </c:strRef>
          </c:tx>
          <c:spPr>
            <a:solidFill>
              <a:srgbClr val="FF5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Sheet1!$B$2:$B$12</c:f>
              <c:numCache>
                <c:formatCode>0%</c:formatCode>
                <c:ptCount val="11"/>
                <c:pt idx="0">
                  <c:v>0.34</c:v>
                </c:pt>
                <c:pt idx="1">
                  <c:v>0.32</c:v>
                </c:pt>
                <c:pt idx="2">
                  <c:v>0.36</c:v>
                </c:pt>
                <c:pt idx="3">
                  <c:v>0.36</c:v>
                </c:pt>
                <c:pt idx="4">
                  <c:v>0.32</c:v>
                </c:pt>
                <c:pt idx="5">
                  <c:v>0.14000000000000001</c:v>
                </c:pt>
                <c:pt idx="6">
                  <c:v>0.51</c:v>
                </c:pt>
                <c:pt idx="7">
                  <c:v>0.68</c:v>
                </c:pt>
                <c:pt idx="8">
                  <c:v>0.26</c:v>
                </c:pt>
                <c:pt idx="9">
                  <c:v>0.32</c:v>
                </c:pt>
                <c:pt idx="10">
                  <c:v>0.37</c:v>
                </c:pt>
              </c:numCache>
            </c:numRef>
          </c:val>
          <c:extLst>
            <c:ext xmlns:c16="http://schemas.microsoft.com/office/drawing/2014/chart" uri="{C3380CC4-5D6E-409C-BE32-E72D297353CC}">
              <c16:uniqueId val="{00000000-4D43-452D-8C7A-609B99D91909}"/>
            </c:ext>
          </c:extLst>
        </c:ser>
        <c:ser>
          <c:idx val="1"/>
          <c:order val="1"/>
          <c:tx>
            <c:strRef>
              <c:f>Sheet1!$C$1</c:f>
              <c:strCache>
                <c:ptCount val="1"/>
                <c:pt idx="0">
                  <c:v>Not Free (2.0)</c:v>
                </c:pt>
              </c:strCache>
            </c:strRef>
          </c:tx>
          <c:spPr>
            <a:solidFill>
              <a:schemeClr val="accent4">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Sheet1!$C$2:$C$12</c:f>
              <c:numCache>
                <c:formatCode>0%</c:formatCode>
                <c:ptCount val="11"/>
                <c:pt idx="0">
                  <c:v>0.35</c:v>
                </c:pt>
                <c:pt idx="1">
                  <c:v>0.35</c:v>
                </c:pt>
                <c:pt idx="2">
                  <c:v>0.35</c:v>
                </c:pt>
                <c:pt idx="3">
                  <c:v>0.32</c:v>
                </c:pt>
                <c:pt idx="4">
                  <c:v>0.4</c:v>
                </c:pt>
                <c:pt idx="5">
                  <c:v>0.18</c:v>
                </c:pt>
                <c:pt idx="6">
                  <c:v>0.42</c:v>
                </c:pt>
                <c:pt idx="7">
                  <c:v>0.27</c:v>
                </c:pt>
                <c:pt idx="8">
                  <c:v>0.46</c:v>
                </c:pt>
                <c:pt idx="9">
                  <c:v>0.39</c:v>
                </c:pt>
                <c:pt idx="10">
                  <c:v>0.28000000000000003</c:v>
                </c:pt>
              </c:numCache>
            </c:numRef>
          </c:val>
          <c:extLst>
            <c:ext xmlns:c16="http://schemas.microsoft.com/office/drawing/2014/chart" uri="{C3380CC4-5D6E-409C-BE32-E72D297353CC}">
              <c16:uniqueId val="{00000001-4D43-452D-8C7A-609B99D91909}"/>
            </c:ext>
          </c:extLst>
        </c:ser>
        <c:ser>
          <c:idx val="2"/>
          <c:order val="2"/>
          <c:tx>
            <c:strRef>
              <c:f>Sheet1!$D$1</c:f>
              <c:strCache>
                <c:ptCount val="1"/>
                <c:pt idx="0">
                  <c:v>Neither (3.0)</c:v>
                </c:pt>
              </c:strCache>
            </c:strRef>
          </c:tx>
          <c:spPr>
            <a:solidFill>
              <a:schemeClr val="accent2">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Sheet1!$D$2:$D$12</c:f>
              <c:numCache>
                <c:formatCode>0%</c:formatCode>
                <c:ptCount val="11"/>
                <c:pt idx="0">
                  <c:v>0.06</c:v>
                </c:pt>
                <c:pt idx="1">
                  <c:v>0.05</c:v>
                </c:pt>
                <c:pt idx="2">
                  <c:v>7.0000000000000007E-2</c:v>
                </c:pt>
                <c:pt idx="3">
                  <c:v>0.13</c:v>
                </c:pt>
                <c:pt idx="4">
                  <c:v>0.02</c:v>
                </c:pt>
                <c:pt idx="5">
                  <c:v>0.06</c:v>
                </c:pt>
                <c:pt idx="6">
                  <c:v>0.04</c:v>
                </c:pt>
                <c:pt idx="7">
                  <c:v>0.04</c:v>
                </c:pt>
                <c:pt idx="8">
                  <c:v>0.09</c:v>
                </c:pt>
                <c:pt idx="9">
                  <c:v>0.05</c:v>
                </c:pt>
                <c:pt idx="10">
                  <c:v>0.09</c:v>
                </c:pt>
              </c:numCache>
            </c:numRef>
          </c:val>
          <c:extLst>
            <c:ext xmlns:c16="http://schemas.microsoft.com/office/drawing/2014/chart" uri="{C3380CC4-5D6E-409C-BE32-E72D297353CC}">
              <c16:uniqueId val="{00000002-4D43-452D-8C7A-609B99D91909}"/>
            </c:ext>
          </c:extLst>
        </c:ser>
        <c:ser>
          <c:idx val="3"/>
          <c:order val="3"/>
          <c:tx>
            <c:strRef>
              <c:f>Sheet1!$E$1</c:f>
              <c:strCache>
                <c:ptCount val="1"/>
                <c:pt idx="0">
                  <c:v>Somewhat free (4.0)</c:v>
                </c:pt>
              </c:strCache>
            </c:strRef>
          </c:tx>
          <c:spPr>
            <a:solidFill>
              <a:srgbClr val="6AF7A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Sheet1!$E$2:$E$12</c:f>
              <c:numCache>
                <c:formatCode>0%</c:formatCode>
                <c:ptCount val="11"/>
                <c:pt idx="0">
                  <c:v>0.2</c:v>
                </c:pt>
                <c:pt idx="1">
                  <c:v>0.22</c:v>
                </c:pt>
                <c:pt idx="2">
                  <c:v>0.17</c:v>
                </c:pt>
                <c:pt idx="3">
                  <c:v>0.13</c:v>
                </c:pt>
                <c:pt idx="4">
                  <c:v>0.19</c:v>
                </c:pt>
                <c:pt idx="5">
                  <c:v>0.56000000000000005</c:v>
                </c:pt>
                <c:pt idx="6">
                  <c:v>0.03</c:v>
                </c:pt>
                <c:pt idx="7">
                  <c:v>0.01</c:v>
                </c:pt>
                <c:pt idx="8">
                  <c:v>0.12</c:v>
                </c:pt>
                <c:pt idx="9">
                  <c:v>0.19</c:v>
                </c:pt>
                <c:pt idx="10">
                  <c:v>0.21</c:v>
                </c:pt>
              </c:numCache>
            </c:numRef>
          </c:val>
          <c:extLst>
            <c:ext xmlns:c16="http://schemas.microsoft.com/office/drawing/2014/chart" uri="{C3380CC4-5D6E-409C-BE32-E72D297353CC}">
              <c16:uniqueId val="{00000003-4D43-452D-8C7A-609B99D91909}"/>
            </c:ext>
          </c:extLst>
        </c:ser>
        <c:ser>
          <c:idx val="4"/>
          <c:order val="4"/>
          <c:tx>
            <c:strRef>
              <c:f>Sheet1!$F$1</c:f>
              <c:strCache>
                <c:ptCount val="1"/>
                <c:pt idx="0">
                  <c:v>Very free (5.0)</c:v>
                </c:pt>
              </c:strCache>
            </c:strRef>
          </c:tx>
          <c:spPr>
            <a:solidFill>
              <a:srgbClr val="92D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Sheet1!$F$2:$F$12</c:f>
              <c:numCache>
                <c:formatCode>0%</c:formatCode>
                <c:ptCount val="11"/>
                <c:pt idx="0">
                  <c:v>0.05</c:v>
                </c:pt>
                <c:pt idx="1">
                  <c:v>0.05</c:v>
                </c:pt>
                <c:pt idx="2">
                  <c:v>0.04</c:v>
                </c:pt>
                <c:pt idx="3">
                  <c:v>0.05</c:v>
                </c:pt>
                <c:pt idx="4">
                  <c:v>7.0000000000000007E-2</c:v>
                </c:pt>
                <c:pt idx="5">
                  <c:v>0.06</c:v>
                </c:pt>
                <c:pt idx="6">
                  <c:v>0</c:v>
                </c:pt>
                <c:pt idx="7">
                  <c:v>0.01</c:v>
                </c:pt>
                <c:pt idx="8">
                  <c:v>7.0000000000000007E-2</c:v>
                </c:pt>
                <c:pt idx="9">
                  <c:v>0.05</c:v>
                </c:pt>
                <c:pt idx="10">
                  <c:v>0.04</c:v>
                </c:pt>
              </c:numCache>
            </c:numRef>
          </c:val>
          <c:extLst>
            <c:ext xmlns:c16="http://schemas.microsoft.com/office/drawing/2014/chart" uri="{C3380CC4-5D6E-409C-BE32-E72D297353CC}">
              <c16:uniqueId val="{00000004-4D43-452D-8C7A-609B99D91909}"/>
            </c:ext>
          </c:extLst>
        </c:ser>
        <c:dLbls>
          <c:dLblPos val="ctr"/>
          <c:showLegendKey val="0"/>
          <c:showVal val="1"/>
          <c:showCatName val="0"/>
          <c:showSerName val="0"/>
          <c:showPercent val="0"/>
          <c:showBubbleSize val="0"/>
        </c:dLbls>
        <c:gapWidth val="50"/>
        <c:overlap val="100"/>
        <c:axId val="184411968"/>
        <c:axId val="187267840"/>
      </c:barChart>
      <c:catAx>
        <c:axId val="184411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87267840"/>
        <c:crosses val="autoZero"/>
        <c:auto val="1"/>
        <c:lblAlgn val="ctr"/>
        <c:lblOffset val="100"/>
        <c:noMultiLvlLbl val="0"/>
      </c:catAx>
      <c:valAx>
        <c:axId val="187267840"/>
        <c:scaling>
          <c:orientation val="minMax"/>
        </c:scaling>
        <c:delete val="1"/>
        <c:axPos val="l"/>
        <c:numFmt formatCode="0%" sourceLinked="1"/>
        <c:majorTickMark val="none"/>
        <c:minorTickMark val="none"/>
        <c:tickLblPos val="nextTo"/>
        <c:crossAx val="184411968"/>
        <c:crosses val="autoZero"/>
        <c:crossBetween val="between"/>
      </c:valAx>
      <c:spPr>
        <a:noFill/>
        <a:ln>
          <a:noFill/>
        </a:ln>
        <a:effectLst/>
      </c:spPr>
    </c:plotArea>
    <c:legend>
      <c:legendPos val="l"/>
      <c:layout>
        <c:manualLayout>
          <c:xMode val="edge"/>
          <c:yMode val="edge"/>
          <c:x val="7.8395061728395062E-3"/>
          <c:y val="0.10047055555555554"/>
          <c:w val="0.14068827160493827"/>
          <c:h val="0.79937638888888884"/>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effectLst/>
              </a:rPr>
              <a:t>Belief electoral processes in Nigeria </a:t>
            </a:r>
            <a:endParaRPr lang="en-GB" sz="1400" dirty="0">
              <a:effectLst/>
            </a:endParaRP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percentStacked"/>
        <c:varyColors val="0"/>
        <c:ser>
          <c:idx val="0"/>
          <c:order val="0"/>
          <c:tx>
            <c:strRef>
              <c:f>Sheet1!$B$1</c:f>
              <c:strCache>
                <c:ptCount val="1"/>
                <c:pt idx="0">
                  <c:v>Yes</c:v>
                </c:pt>
              </c:strCache>
            </c:strRef>
          </c:tx>
          <c:spPr>
            <a:solidFill>
              <a:srgbClr val="92D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Sheet1!$B$2:$B$12</c:f>
              <c:numCache>
                <c:formatCode>0%</c:formatCode>
                <c:ptCount val="11"/>
                <c:pt idx="0">
                  <c:v>0.13</c:v>
                </c:pt>
                <c:pt idx="1">
                  <c:v>0.14000000000000001</c:v>
                </c:pt>
                <c:pt idx="2">
                  <c:v>0.11</c:v>
                </c:pt>
                <c:pt idx="3">
                  <c:v>0.25</c:v>
                </c:pt>
                <c:pt idx="4">
                  <c:v>0.09</c:v>
                </c:pt>
                <c:pt idx="5">
                  <c:v>0.26</c:v>
                </c:pt>
                <c:pt idx="6">
                  <c:v>0</c:v>
                </c:pt>
                <c:pt idx="7">
                  <c:v>0.01</c:v>
                </c:pt>
                <c:pt idx="8">
                  <c:v>0.1</c:v>
                </c:pt>
                <c:pt idx="9">
                  <c:v>0.09</c:v>
                </c:pt>
                <c:pt idx="10">
                  <c:v>0.19</c:v>
                </c:pt>
              </c:numCache>
            </c:numRef>
          </c:val>
          <c:extLst>
            <c:ext xmlns:c16="http://schemas.microsoft.com/office/drawing/2014/chart" uri="{C3380CC4-5D6E-409C-BE32-E72D297353CC}">
              <c16:uniqueId val="{00000000-4D43-452D-8C7A-609B99D91909}"/>
            </c:ext>
          </c:extLst>
        </c:ser>
        <c:ser>
          <c:idx val="1"/>
          <c:order val="1"/>
          <c:tx>
            <c:strRef>
              <c:f>Sheet1!$C$1</c:f>
              <c:strCache>
                <c:ptCount val="1"/>
                <c:pt idx="0">
                  <c:v>No</c:v>
                </c:pt>
              </c:strCache>
            </c:strRef>
          </c:tx>
          <c:spPr>
            <a:solidFill>
              <a:srgbClr val="FF7C8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Sheet1!$C$2:$C$12</c:f>
              <c:numCache>
                <c:formatCode>0%</c:formatCode>
                <c:ptCount val="11"/>
                <c:pt idx="0">
                  <c:v>0.77</c:v>
                </c:pt>
                <c:pt idx="1">
                  <c:v>0.76</c:v>
                </c:pt>
                <c:pt idx="2">
                  <c:v>0.78</c:v>
                </c:pt>
                <c:pt idx="3">
                  <c:v>0.64</c:v>
                </c:pt>
                <c:pt idx="4">
                  <c:v>0.9</c:v>
                </c:pt>
                <c:pt idx="5">
                  <c:v>0.6</c:v>
                </c:pt>
                <c:pt idx="6">
                  <c:v>0.99</c:v>
                </c:pt>
                <c:pt idx="7">
                  <c:v>0.71</c:v>
                </c:pt>
                <c:pt idx="8">
                  <c:v>0.75</c:v>
                </c:pt>
                <c:pt idx="9">
                  <c:v>0.8</c:v>
                </c:pt>
                <c:pt idx="10">
                  <c:v>0.71</c:v>
                </c:pt>
              </c:numCache>
            </c:numRef>
          </c:val>
          <c:extLst>
            <c:ext xmlns:c16="http://schemas.microsoft.com/office/drawing/2014/chart" uri="{C3380CC4-5D6E-409C-BE32-E72D297353CC}">
              <c16:uniqueId val="{00000001-4D43-452D-8C7A-609B99D91909}"/>
            </c:ext>
          </c:extLst>
        </c:ser>
        <c:ser>
          <c:idx val="2"/>
          <c:order val="2"/>
          <c:tx>
            <c:strRef>
              <c:f>Sheet1!$D$1</c:f>
              <c:strCache>
                <c:ptCount val="1"/>
                <c:pt idx="0">
                  <c:v>Not sure</c:v>
                </c:pt>
              </c:strCache>
            </c:strRef>
          </c:tx>
          <c:spPr>
            <a:solidFill>
              <a:schemeClr val="accent2">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Sheet1!$D$2:$D$12</c:f>
              <c:numCache>
                <c:formatCode>0%</c:formatCode>
                <c:ptCount val="11"/>
                <c:pt idx="0">
                  <c:v>0.11</c:v>
                </c:pt>
                <c:pt idx="1">
                  <c:v>0.1</c:v>
                </c:pt>
                <c:pt idx="2">
                  <c:v>0.12</c:v>
                </c:pt>
                <c:pt idx="3">
                  <c:v>0.11</c:v>
                </c:pt>
                <c:pt idx="4">
                  <c:v>0.01</c:v>
                </c:pt>
                <c:pt idx="5">
                  <c:v>0.13</c:v>
                </c:pt>
                <c:pt idx="6">
                  <c:v>0.01</c:v>
                </c:pt>
                <c:pt idx="7">
                  <c:v>0.28000000000000003</c:v>
                </c:pt>
                <c:pt idx="8">
                  <c:v>0.15</c:v>
                </c:pt>
                <c:pt idx="9">
                  <c:v>0.11</c:v>
                </c:pt>
                <c:pt idx="10">
                  <c:v>0.1</c:v>
                </c:pt>
              </c:numCache>
            </c:numRef>
          </c:val>
          <c:extLst>
            <c:ext xmlns:c16="http://schemas.microsoft.com/office/drawing/2014/chart" uri="{C3380CC4-5D6E-409C-BE32-E72D297353CC}">
              <c16:uniqueId val="{00000002-4D43-452D-8C7A-609B99D91909}"/>
            </c:ext>
          </c:extLst>
        </c:ser>
        <c:dLbls>
          <c:dLblPos val="ctr"/>
          <c:showLegendKey val="0"/>
          <c:showVal val="1"/>
          <c:showCatName val="0"/>
          <c:showSerName val="0"/>
          <c:showPercent val="0"/>
          <c:showBubbleSize val="0"/>
        </c:dLbls>
        <c:gapWidth val="50"/>
        <c:overlap val="100"/>
        <c:axId val="184411968"/>
        <c:axId val="187267840"/>
      </c:barChart>
      <c:catAx>
        <c:axId val="184411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87267840"/>
        <c:crosses val="autoZero"/>
        <c:auto val="1"/>
        <c:lblAlgn val="ctr"/>
        <c:lblOffset val="100"/>
        <c:noMultiLvlLbl val="0"/>
      </c:catAx>
      <c:valAx>
        <c:axId val="187267840"/>
        <c:scaling>
          <c:orientation val="minMax"/>
        </c:scaling>
        <c:delete val="1"/>
        <c:axPos val="l"/>
        <c:numFmt formatCode="0%" sourceLinked="1"/>
        <c:majorTickMark val="none"/>
        <c:minorTickMark val="none"/>
        <c:tickLblPos val="nextTo"/>
        <c:crossAx val="184411968"/>
        <c:crosses val="autoZero"/>
        <c:crossBetween val="between"/>
      </c:valAx>
      <c:spPr>
        <a:noFill/>
        <a:ln>
          <a:noFill/>
        </a:ln>
        <a:effectLst/>
      </c:spPr>
    </c:plotArea>
    <c:legend>
      <c:legendPos val="l"/>
      <c:layout>
        <c:manualLayout>
          <c:xMode val="edge"/>
          <c:yMode val="edge"/>
          <c:x val="7.8395061728395062E-3"/>
          <c:y val="0.10047055555555554"/>
          <c:w val="0.14068827160493827"/>
          <c:h val="0.79937638888888884"/>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effectLst/>
              </a:rPr>
              <a:t>Main source of political information</a:t>
            </a:r>
            <a:endParaRPr lang="en-GB" sz="1400" dirty="0">
              <a:effectLst/>
            </a:endParaRP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7.8533730158730164E-2"/>
          <c:y val="0.13084527777777777"/>
          <c:w val="0.90760714285714283"/>
          <c:h val="0.68466118005285537"/>
        </c:manualLayout>
      </c:layout>
      <c:barChart>
        <c:barDir val="col"/>
        <c:grouping val="percentStacked"/>
        <c:varyColors val="0"/>
        <c:ser>
          <c:idx val="0"/>
          <c:order val="0"/>
          <c:tx>
            <c:strRef>
              <c:f>Sheet1!$B$1</c:f>
              <c:strCache>
                <c:ptCount val="1"/>
                <c:pt idx="0">
                  <c:v>Traditional media (TV, radio, newspapers)</c:v>
                </c:pt>
              </c:strCache>
            </c:strRef>
          </c:tx>
          <c:spPr>
            <a:solidFill>
              <a:srgbClr val="66CCFF"/>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Sheet1!$B$2:$B$12</c:f>
              <c:numCache>
                <c:formatCode>0%</c:formatCode>
                <c:ptCount val="11"/>
                <c:pt idx="0">
                  <c:v>0.31</c:v>
                </c:pt>
                <c:pt idx="1">
                  <c:v>0.32</c:v>
                </c:pt>
                <c:pt idx="2">
                  <c:v>0.28999999999999998</c:v>
                </c:pt>
                <c:pt idx="3">
                  <c:v>0.35</c:v>
                </c:pt>
                <c:pt idx="4">
                  <c:v>0.27</c:v>
                </c:pt>
                <c:pt idx="5">
                  <c:v>0.43</c:v>
                </c:pt>
                <c:pt idx="6">
                  <c:v>0.13</c:v>
                </c:pt>
                <c:pt idx="7">
                  <c:v>0.15</c:v>
                </c:pt>
                <c:pt idx="8">
                  <c:v>0.4</c:v>
                </c:pt>
                <c:pt idx="9">
                  <c:v>0.28000000000000003</c:v>
                </c:pt>
                <c:pt idx="10">
                  <c:v>0.35</c:v>
                </c:pt>
              </c:numCache>
            </c:numRef>
          </c:val>
          <c:extLst>
            <c:ext xmlns:c16="http://schemas.microsoft.com/office/drawing/2014/chart" uri="{C3380CC4-5D6E-409C-BE32-E72D297353CC}">
              <c16:uniqueId val="{00000000-4D43-452D-8C7A-609B99D91909}"/>
            </c:ext>
          </c:extLst>
        </c:ser>
        <c:ser>
          <c:idx val="1"/>
          <c:order val="1"/>
          <c:tx>
            <c:strRef>
              <c:f>Sheet1!$C$1</c:f>
              <c:strCache>
                <c:ptCount val="1"/>
                <c:pt idx="0">
                  <c:v>Social media</c:v>
                </c:pt>
              </c:strCache>
            </c:strRef>
          </c:tx>
          <c:spPr>
            <a:solidFill>
              <a:srgbClr val="99FFCC"/>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Sheet1!$C$2:$C$12</c:f>
              <c:numCache>
                <c:formatCode>0%</c:formatCode>
                <c:ptCount val="11"/>
                <c:pt idx="0">
                  <c:v>0.56000000000000005</c:v>
                </c:pt>
                <c:pt idx="1">
                  <c:v>0.55000000000000004</c:v>
                </c:pt>
                <c:pt idx="2">
                  <c:v>0.56999999999999995</c:v>
                </c:pt>
                <c:pt idx="3">
                  <c:v>0.56999999999999995</c:v>
                </c:pt>
                <c:pt idx="4">
                  <c:v>0.56000000000000005</c:v>
                </c:pt>
                <c:pt idx="5">
                  <c:v>0.55000000000000004</c:v>
                </c:pt>
                <c:pt idx="6">
                  <c:v>0.61</c:v>
                </c:pt>
                <c:pt idx="7">
                  <c:v>0.63</c:v>
                </c:pt>
                <c:pt idx="8">
                  <c:v>0.49</c:v>
                </c:pt>
                <c:pt idx="9">
                  <c:v>0.59</c:v>
                </c:pt>
                <c:pt idx="10">
                  <c:v>0.5</c:v>
                </c:pt>
              </c:numCache>
            </c:numRef>
          </c:val>
          <c:extLst>
            <c:ext xmlns:c16="http://schemas.microsoft.com/office/drawing/2014/chart" uri="{C3380CC4-5D6E-409C-BE32-E72D297353CC}">
              <c16:uniqueId val="{00000001-4D43-452D-8C7A-609B99D91909}"/>
            </c:ext>
          </c:extLst>
        </c:ser>
        <c:ser>
          <c:idx val="2"/>
          <c:order val="2"/>
          <c:tx>
            <c:strRef>
              <c:f>Sheet1!$D$1</c:f>
              <c:strCache>
                <c:ptCount val="1"/>
                <c:pt idx="0">
                  <c:v>Word of mouth</c:v>
                </c:pt>
              </c:strCache>
            </c:strRef>
          </c:tx>
          <c:spPr>
            <a:solidFill>
              <a:schemeClr val="accent2">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Sheet1!$D$2:$D$12</c:f>
              <c:numCache>
                <c:formatCode>0%</c:formatCode>
                <c:ptCount val="11"/>
                <c:pt idx="0">
                  <c:v>0.12</c:v>
                </c:pt>
                <c:pt idx="1">
                  <c:v>0.11</c:v>
                </c:pt>
                <c:pt idx="2">
                  <c:v>0.12</c:v>
                </c:pt>
                <c:pt idx="3">
                  <c:v>0.02</c:v>
                </c:pt>
                <c:pt idx="4">
                  <c:v>0.17</c:v>
                </c:pt>
                <c:pt idx="5">
                  <c:v>0.02</c:v>
                </c:pt>
                <c:pt idx="6">
                  <c:v>0.22</c:v>
                </c:pt>
                <c:pt idx="7">
                  <c:v>0.19</c:v>
                </c:pt>
                <c:pt idx="8">
                  <c:v>0.1</c:v>
                </c:pt>
                <c:pt idx="9">
                  <c:v>0.11</c:v>
                </c:pt>
                <c:pt idx="10">
                  <c:v>0.12</c:v>
                </c:pt>
              </c:numCache>
            </c:numRef>
          </c:val>
          <c:extLst>
            <c:ext xmlns:c16="http://schemas.microsoft.com/office/drawing/2014/chart" uri="{C3380CC4-5D6E-409C-BE32-E72D297353CC}">
              <c16:uniqueId val="{00000002-4D43-452D-8C7A-609B99D91909}"/>
            </c:ext>
          </c:extLst>
        </c:ser>
        <c:ser>
          <c:idx val="3"/>
          <c:order val="3"/>
          <c:tx>
            <c:strRef>
              <c:f>Sheet1!$E$1</c:f>
              <c:strCache>
                <c:ptCount val="1"/>
                <c:pt idx="0">
                  <c:v>Government sources</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Sheet1!$E$2:$E$12</c:f>
              <c:numCache>
                <c:formatCode>0%</c:formatCode>
                <c:ptCount val="11"/>
                <c:pt idx="0">
                  <c:v>0.02</c:v>
                </c:pt>
                <c:pt idx="1">
                  <c:v>0.02</c:v>
                </c:pt>
                <c:pt idx="2">
                  <c:v>0.01</c:v>
                </c:pt>
                <c:pt idx="3">
                  <c:v>0.04</c:v>
                </c:pt>
                <c:pt idx="4">
                  <c:v>0</c:v>
                </c:pt>
                <c:pt idx="5">
                  <c:v>0</c:v>
                </c:pt>
                <c:pt idx="6">
                  <c:v>0.03</c:v>
                </c:pt>
                <c:pt idx="7">
                  <c:v>0.03</c:v>
                </c:pt>
                <c:pt idx="8">
                  <c:v>0.01</c:v>
                </c:pt>
                <c:pt idx="9">
                  <c:v>0.02</c:v>
                </c:pt>
                <c:pt idx="10">
                  <c:v>0.01</c:v>
                </c:pt>
              </c:numCache>
            </c:numRef>
          </c:val>
          <c:extLst>
            <c:ext xmlns:c16="http://schemas.microsoft.com/office/drawing/2014/chart" uri="{C3380CC4-5D6E-409C-BE32-E72D297353CC}">
              <c16:uniqueId val="{00000000-6E16-46ED-828D-681C03B07110}"/>
            </c:ext>
          </c:extLst>
        </c:ser>
        <c:dLbls>
          <c:dLblPos val="ctr"/>
          <c:showLegendKey val="0"/>
          <c:showVal val="1"/>
          <c:showCatName val="0"/>
          <c:showSerName val="0"/>
          <c:showPercent val="0"/>
          <c:showBubbleSize val="0"/>
        </c:dLbls>
        <c:gapWidth val="50"/>
        <c:overlap val="100"/>
        <c:axId val="184411968"/>
        <c:axId val="187267840"/>
      </c:barChart>
      <c:catAx>
        <c:axId val="184411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87267840"/>
        <c:crosses val="autoZero"/>
        <c:auto val="1"/>
        <c:lblAlgn val="ctr"/>
        <c:lblOffset val="100"/>
        <c:noMultiLvlLbl val="0"/>
      </c:catAx>
      <c:valAx>
        <c:axId val="187267840"/>
        <c:scaling>
          <c:orientation val="minMax"/>
        </c:scaling>
        <c:delete val="1"/>
        <c:axPos val="l"/>
        <c:numFmt formatCode="0%" sourceLinked="1"/>
        <c:majorTickMark val="none"/>
        <c:minorTickMark val="none"/>
        <c:tickLblPos val="nextTo"/>
        <c:crossAx val="184411968"/>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sz="1400" dirty="0"/>
              <a:t>Participation in the last elections</a:t>
            </a: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Presidential</c:v>
                </c:pt>
              </c:strCache>
            </c:strRef>
          </c:tx>
          <c:spPr>
            <a:solidFill>
              <a:srgbClr val="66CCFF"/>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Sheet1!$B$2:$B$12</c:f>
              <c:numCache>
                <c:formatCode>0%</c:formatCode>
                <c:ptCount val="11"/>
                <c:pt idx="0">
                  <c:v>0.36</c:v>
                </c:pt>
                <c:pt idx="1">
                  <c:v>0.47</c:v>
                </c:pt>
                <c:pt idx="2">
                  <c:v>0.27</c:v>
                </c:pt>
                <c:pt idx="3">
                  <c:v>0.35</c:v>
                </c:pt>
                <c:pt idx="4">
                  <c:v>0.36</c:v>
                </c:pt>
                <c:pt idx="5">
                  <c:v>0.45</c:v>
                </c:pt>
                <c:pt idx="6">
                  <c:v>0.25</c:v>
                </c:pt>
                <c:pt idx="7">
                  <c:v>0.43</c:v>
                </c:pt>
                <c:pt idx="8">
                  <c:v>0.34</c:v>
                </c:pt>
                <c:pt idx="9">
                  <c:v>0.32</c:v>
                </c:pt>
                <c:pt idx="10">
                  <c:v>0.45</c:v>
                </c:pt>
              </c:numCache>
            </c:numRef>
          </c:val>
          <c:extLst>
            <c:ext xmlns:c16="http://schemas.microsoft.com/office/drawing/2014/chart" uri="{C3380CC4-5D6E-409C-BE32-E72D297353CC}">
              <c16:uniqueId val="{00000000-E5E6-4211-845A-942D7078E601}"/>
            </c:ext>
          </c:extLst>
        </c:ser>
        <c:ser>
          <c:idx val="1"/>
          <c:order val="1"/>
          <c:tx>
            <c:strRef>
              <c:f>Sheet1!$C$1</c:f>
              <c:strCache>
                <c:ptCount val="1"/>
                <c:pt idx="0">
                  <c:v>Gubernatorial Elections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Sheet1!$C$2:$C$12</c:f>
              <c:numCache>
                <c:formatCode>0%</c:formatCode>
                <c:ptCount val="11"/>
                <c:pt idx="0">
                  <c:v>0.34</c:v>
                </c:pt>
                <c:pt idx="1">
                  <c:v>0.46</c:v>
                </c:pt>
                <c:pt idx="2">
                  <c:v>0.23</c:v>
                </c:pt>
                <c:pt idx="3">
                  <c:v>0.13</c:v>
                </c:pt>
                <c:pt idx="4">
                  <c:v>0.34</c:v>
                </c:pt>
                <c:pt idx="5">
                  <c:v>0.48</c:v>
                </c:pt>
                <c:pt idx="6">
                  <c:v>0.37</c:v>
                </c:pt>
                <c:pt idx="7">
                  <c:v>0.32</c:v>
                </c:pt>
                <c:pt idx="8">
                  <c:v>0.3</c:v>
                </c:pt>
                <c:pt idx="9">
                  <c:v>0.32</c:v>
                </c:pt>
                <c:pt idx="10">
                  <c:v>0.37</c:v>
                </c:pt>
              </c:numCache>
            </c:numRef>
          </c:val>
          <c:extLst>
            <c:ext xmlns:c16="http://schemas.microsoft.com/office/drawing/2014/chart" uri="{C3380CC4-5D6E-409C-BE32-E72D297353CC}">
              <c16:uniqueId val="{00000001-E5E6-4211-845A-942D7078E601}"/>
            </c:ext>
          </c:extLst>
        </c:ser>
        <c:ser>
          <c:idx val="2"/>
          <c:order val="2"/>
          <c:tx>
            <c:strRef>
              <c:f>Sheet1!$D$1</c:f>
              <c:strCache>
                <c:ptCount val="1"/>
                <c:pt idx="0">
                  <c:v>Senate</c:v>
                </c:pt>
              </c:strCache>
            </c:strRef>
          </c:tx>
          <c:spPr>
            <a:solidFill>
              <a:srgbClr val="92D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Sheet1!$D$2:$D$12</c:f>
              <c:numCache>
                <c:formatCode>0%</c:formatCode>
                <c:ptCount val="11"/>
                <c:pt idx="0">
                  <c:v>0.2</c:v>
                </c:pt>
                <c:pt idx="1">
                  <c:v>0.27</c:v>
                </c:pt>
                <c:pt idx="2">
                  <c:v>0.14000000000000001</c:v>
                </c:pt>
                <c:pt idx="3">
                  <c:v>0.09</c:v>
                </c:pt>
                <c:pt idx="4">
                  <c:v>0.17</c:v>
                </c:pt>
                <c:pt idx="5">
                  <c:v>0.4</c:v>
                </c:pt>
                <c:pt idx="6">
                  <c:v>0.1</c:v>
                </c:pt>
                <c:pt idx="7">
                  <c:v>0.2</c:v>
                </c:pt>
                <c:pt idx="8">
                  <c:v>0.17</c:v>
                </c:pt>
                <c:pt idx="9">
                  <c:v>0.16</c:v>
                </c:pt>
                <c:pt idx="10">
                  <c:v>0.26</c:v>
                </c:pt>
              </c:numCache>
            </c:numRef>
          </c:val>
          <c:extLst>
            <c:ext xmlns:c16="http://schemas.microsoft.com/office/drawing/2014/chart" uri="{C3380CC4-5D6E-409C-BE32-E72D297353CC}">
              <c16:uniqueId val="{00000002-E5E6-4211-845A-942D7078E601}"/>
            </c:ext>
          </c:extLst>
        </c:ser>
        <c:ser>
          <c:idx val="3"/>
          <c:order val="3"/>
          <c:tx>
            <c:strRef>
              <c:f>Sheet1!$E$1</c:f>
              <c:strCache>
                <c:ptCount val="1"/>
                <c:pt idx="0">
                  <c:v>House of Representatives</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Sheet1!$E$2:$E$12</c:f>
              <c:numCache>
                <c:formatCode>0%</c:formatCode>
                <c:ptCount val="11"/>
                <c:pt idx="0">
                  <c:v>0.17</c:v>
                </c:pt>
                <c:pt idx="1">
                  <c:v>0.23</c:v>
                </c:pt>
                <c:pt idx="2">
                  <c:v>0.12</c:v>
                </c:pt>
                <c:pt idx="3">
                  <c:v>7.0000000000000007E-2</c:v>
                </c:pt>
                <c:pt idx="4">
                  <c:v>0.16</c:v>
                </c:pt>
                <c:pt idx="5">
                  <c:v>0.39</c:v>
                </c:pt>
                <c:pt idx="6">
                  <c:v>0.06</c:v>
                </c:pt>
                <c:pt idx="7">
                  <c:v>0.11</c:v>
                </c:pt>
                <c:pt idx="8">
                  <c:v>0.15</c:v>
                </c:pt>
                <c:pt idx="9">
                  <c:v>0.14000000000000001</c:v>
                </c:pt>
                <c:pt idx="10">
                  <c:v>0.23</c:v>
                </c:pt>
              </c:numCache>
            </c:numRef>
          </c:val>
          <c:extLst>
            <c:ext xmlns:c16="http://schemas.microsoft.com/office/drawing/2014/chart" uri="{C3380CC4-5D6E-409C-BE32-E72D297353CC}">
              <c16:uniqueId val="{00000003-E5E6-4211-845A-942D7078E601}"/>
            </c:ext>
          </c:extLst>
        </c:ser>
        <c:ser>
          <c:idx val="4"/>
          <c:order val="4"/>
          <c:tx>
            <c:strRef>
              <c:f>Sheet1!$F$1</c:f>
              <c:strCache>
                <c:ptCount val="1"/>
                <c:pt idx="0">
                  <c:v>House of Assembly</c:v>
                </c:pt>
              </c:strCache>
            </c:strRef>
          </c:tx>
          <c:spPr>
            <a:solidFill>
              <a:srgbClr val="6AF7A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Sheet1!$F$2:$F$12</c:f>
              <c:numCache>
                <c:formatCode>0%</c:formatCode>
                <c:ptCount val="11"/>
                <c:pt idx="0">
                  <c:v>0.16</c:v>
                </c:pt>
                <c:pt idx="1">
                  <c:v>0.22</c:v>
                </c:pt>
                <c:pt idx="2">
                  <c:v>0.11</c:v>
                </c:pt>
                <c:pt idx="3">
                  <c:v>0.06</c:v>
                </c:pt>
                <c:pt idx="4">
                  <c:v>0.14000000000000001</c:v>
                </c:pt>
                <c:pt idx="5">
                  <c:v>0.39</c:v>
                </c:pt>
                <c:pt idx="6">
                  <c:v>0.05</c:v>
                </c:pt>
                <c:pt idx="7">
                  <c:v>0.12</c:v>
                </c:pt>
                <c:pt idx="8">
                  <c:v>0.14000000000000001</c:v>
                </c:pt>
                <c:pt idx="9">
                  <c:v>0.14000000000000001</c:v>
                </c:pt>
                <c:pt idx="10">
                  <c:v>0.21</c:v>
                </c:pt>
              </c:numCache>
            </c:numRef>
          </c:val>
          <c:extLst>
            <c:ext xmlns:c16="http://schemas.microsoft.com/office/drawing/2014/chart" uri="{C3380CC4-5D6E-409C-BE32-E72D297353CC}">
              <c16:uniqueId val="{00000004-E5E6-4211-845A-942D7078E601}"/>
            </c:ext>
          </c:extLst>
        </c:ser>
        <c:ser>
          <c:idx val="5"/>
          <c:order val="5"/>
          <c:tx>
            <c:strRef>
              <c:f>Sheet1!$G$1</c:f>
              <c:strCache>
                <c:ptCount val="1"/>
                <c:pt idx="0">
                  <c:v>Local Government Elections</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Sheet1!$G$2:$G$12</c:f>
              <c:numCache>
                <c:formatCode>0%</c:formatCode>
                <c:ptCount val="11"/>
                <c:pt idx="0">
                  <c:v>0.15</c:v>
                </c:pt>
                <c:pt idx="1">
                  <c:v>0.21</c:v>
                </c:pt>
                <c:pt idx="2">
                  <c:v>0.1</c:v>
                </c:pt>
                <c:pt idx="3">
                  <c:v>0.04</c:v>
                </c:pt>
                <c:pt idx="4">
                  <c:v>0.09</c:v>
                </c:pt>
                <c:pt idx="5">
                  <c:v>0.33</c:v>
                </c:pt>
                <c:pt idx="6">
                  <c:v>0.18</c:v>
                </c:pt>
                <c:pt idx="7">
                  <c:v>0.2</c:v>
                </c:pt>
                <c:pt idx="8">
                  <c:v>0.08</c:v>
                </c:pt>
                <c:pt idx="9">
                  <c:v>0.13</c:v>
                </c:pt>
                <c:pt idx="10">
                  <c:v>0.2</c:v>
                </c:pt>
              </c:numCache>
            </c:numRef>
          </c:val>
          <c:extLst>
            <c:ext xmlns:c16="http://schemas.microsoft.com/office/drawing/2014/chart" uri="{C3380CC4-5D6E-409C-BE32-E72D297353CC}">
              <c16:uniqueId val="{00000000-D4BB-4602-9E5A-02FA52487088}"/>
            </c:ext>
          </c:extLst>
        </c:ser>
        <c:dLbls>
          <c:dLblPos val="outEnd"/>
          <c:showLegendKey val="0"/>
          <c:showVal val="1"/>
          <c:showCatName val="0"/>
          <c:showSerName val="0"/>
          <c:showPercent val="0"/>
          <c:showBubbleSize val="0"/>
        </c:dLbls>
        <c:gapWidth val="219"/>
        <c:overlap val="-27"/>
        <c:axId val="246617424"/>
        <c:axId val="187720080"/>
      </c:barChart>
      <c:catAx>
        <c:axId val="246617424"/>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87720080"/>
        <c:crosses val="autoZero"/>
        <c:auto val="1"/>
        <c:lblAlgn val="ctr"/>
        <c:lblOffset val="100"/>
        <c:noMultiLvlLbl val="0"/>
      </c:catAx>
      <c:valAx>
        <c:axId val="187720080"/>
        <c:scaling>
          <c:orientation val="minMax"/>
          <c:max val="1"/>
        </c:scaling>
        <c:delete val="1"/>
        <c:axPos val="l"/>
        <c:numFmt formatCode="0%" sourceLinked="1"/>
        <c:majorTickMark val="out"/>
        <c:minorTickMark val="none"/>
        <c:tickLblPos val="nextTo"/>
        <c:crossAx val="246617424"/>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34168085013107541"/>
          <c:y val="8.1719063295257285E-2"/>
          <c:w val="0.64113158491895506"/>
          <c:h val="0.88586443125043934"/>
        </c:manualLayout>
      </c:layout>
      <c:barChart>
        <c:barDir val="bar"/>
        <c:grouping val="clustered"/>
        <c:varyColors val="0"/>
        <c:ser>
          <c:idx val="0"/>
          <c:order val="0"/>
          <c:tx>
            <c:strRef>
              <c:f>Sheet1!$B$1</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Peoples Democratic Party (PDP)</c:v>
                </c:pt>
                <c:pt idx="1">
                  <c:v>New Nigeria Peoples Party (NNPP)</c:v>
                </c:pt>
                <c:pt idx="2">
                  <c:v>Labour Party (LP)</c:v>
                </c:pt>
                <c:pt idx="3">
                  <c:v>All Progressives Congress (APC)</c:v>
                </c:pt>
              </c:strCache>
            </c:strRef>
          </c:cat>
          <c:val>
            <c:numRef>
              <c:f>Sheet1!$B$2:$B$5</c:f>
              <c:numCache>
                <c:formatCode>0%</c:formatCode>
                <c:ptCount val="4"/>
                <c:pt idx="0">
                  <c:v>0.15</c:v>
                </c:pt>
                <c:pt idx="1">
                  <c:v>0.18</c:v>
                </c:pt>
                <c:pt idx="2">
                  <c:v>0.33</c:v>
                </c:pt>
                <c:pt idx="3">
                  <c:v>0.34</c:v>
                </c:pt>
              </c:numCache>
            </c:numRef>
          </c:val>
          <c:extLst>
            <c:ext xmlns:c16="http://schemas.microsoft.com/office/drawing/2014/chart" uri="{C3380CC4-5D6E-409C-BE32-E72D297353CC}">
              <c16:uniqueId val="{00000000-947F-4370-BCF7-4EA842A0207E}"/>
            </c:ext>
          </c:extLst>
        </c:ser>
        <c:dLbls>
          <c:showLegendKey val="0"/>
          <c:showVal val="0"/>
          <c:showCatName val="0"/>
          <c:showSerName val="0"/>
          <c:showPercent val="0"/>
          <c:showBubbleSize val="0"/>
        </c:dLbls>
        <c:gapWidth val="80"/>
        <c:axId val="238519200"/>
        <c:axId val="240500384"/>
      </c:barChart>
      <c:catAx>
        <c:axId val="23851920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240500384"/>
        <c:crosses val="autoZero"/>
        <c:auto val="1"/>
        <c:lblAlgn val="ctr"/>
        <c:lblOffset val="100"/>
        <c:noMultiLvlLbl val="0"/>
      </c:catAx>
      <c:valAx>
        <c:axId val="240500384"/>
        <c:scaling>
          <c:orientation val="minMax"/>
        </c:scaling>
        <c:delete val="1"/>
        <c:axPos val="b"/>
        <c:numFmt formatCode="0%" sourceLinked="1"/>
        <c:majorTickMark val="none"/>
        <c:minorTickMark val="none"/>
        <c:tickLblPos val="nextTo"/>
        <c:crossAx val="23851920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34168085013107541"/>
          <c:y val="8.1719063295257285E-2"/>
          <c:w val="0.64113158491895506"/>
          <c:h val="0.88586443125043934"/>
        </c:manualLayout>
      </c:layout>
      <c:barChart>
        <c:barDir val="bar"/>
        <c:grouping val="clustered"/>
        <c:varyColors val="0"/>
        <c:ser>
          <c:idx val="0"/>
          <c:order val="0"/>
          <c:tx>
            <c:strRef>
              <c:f>Sheet1!$B$1</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Labour Party (LP)</c:v>
                </c:pt>
                <c:pt idx="1">
                  <c:v>New Nigeria Peoples Party (NNPP)</c:v>
                </c:pt>
                <c:pt idx="2">
                  <c:v>All Progressives Congress (APC)</c:v>
                </c:pt>
                <c:pt idx="3">
                  <c:v>Peoples Democratic Party (PDP)</c:v>
                </c:pt>
              </c:strCache>
            </c:strRef>
          </c:cat>
          <c:val>
            <c:numRef>
              <c:f>Sheet1!$B$2:$B$5</c:f>
              <c:numCache>
                <c:formatCode>0%</c:formatCode>
                <c:ptCount val="4"/>
                <c:pt idx="0">
                  <c:v>0.16</c:v>
                </c:pt>
                <c:pt idx="1">
                  <c:v>0.22</c:v>
                </c:pt>
                <c:pt idx="2">
                  <c:v>0.28000000000000003</c:v>
                </c:pt>
                <c:pt idx="3">
                  <c:v>0.32</c:v>
                </c:pt>
              </c:numCache>
            </c:numRef>
          </c:val>
          <c:extLst>
            <c:ext xmlns:c16="http://schemas.microsoft.com/office/drawing/2014/chart" uri="{C3380CC4-5D6E-409C-BE32-E72D297353CC}">
              <c16:uniqueId val="{00000000-947F-4370-BCF7-4EA842A0207E}"/>
            </c:ext>
          </c:extLst>
        </c:ser>
        <c:dLbls>
          <c:showLegendKey val="0"/>
          <c:showVal val="0"/>
          <c:showCatName val="0"/>
          <c:showSerName val="0"/>
          <c:showPercent val="0"/>
          <c:showBubbleSize val="0"/>
        </c:dLbls>
        <c:gapWidth val="80"/>
        <c:axId val="238519200"/>
        <c:axId val="240500384"/>
      </c:barChart>
      <c:catAx>
        <c:axId val="23851920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240500384"/>
        <c:crosses val="autoZero"/>
        <c:auto val="1"/>
        <c:lblAlgn val="ctr"/>
        <c:lblOffset val="100"/>
        <c:noMultiLvlLbl val="0"/>
      </c:catAx>
      <c:valAx>
        <c:axId val="240500384"/>
        <c:scaling>
          <c:orientation val="minMax"/>
        </c:scaling>
        <c:delete val="1"/>
        <c:axPos val="b"/>
        <c:numFmt formatCode="0%" sourceLinked="1"/>
        <c:majorTickMark val="none"/>
        <c:minorTickMark val="none"/>
        <c:tickLblPos val="nextTo"/>
        <c:crossAx val="23851920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34168085013107541"/>
          <c:y val="8.1719063295257285E-2"/>
          <c:w val="0.64113158491895506"/>
          <c:h val="0.88586443125043934"/>
        </c:manualLayout>
      </c:layout>
      <c:barChart>
        <c:barDir val="bar"/>
        <c:grouping val="clustered"/>
        <c:varyColors val="0"/>
        <c:ser>
          <c:idx val="0"/>
          <c:order val="0"/>
          <c:tx>
            <c:strRef>
              <c:f>Sheet1!$B$1</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Labour Party (LP)</c:v>
                </c:pt>
                <c:pt idx="1">
                  <c:v>Peoples Democratic Party (PDP)</c:v>
                </c:pt>
                <c:pt idx="2">
                  <c:v>New Nigeria Peoples Party (NNPP)</c:v>
                </c:pt>
                <c:pt idx="3">
                  <c:v>All Progressives Congress (APC)</c:v>
                </c:pt>
              </c:strCache>
            </c:strRef>
          </c:cat>
          <c:val>
            <c:numRef>
              <c:f>Sheet1!$B$2:$B$5</c:f>
              <c:numCache>
                <c:formatCode>0%</c:formatCode>
                <c:ptCount val="4"/>
                <c:pt idx="0">
                  <c:v>0.14000000000000001</c:v>
                </c:pt>
                <c:pt idx="1">
                  <c:v>0.2</c:v>
                </c:pt>
                <c:pt idx="2">
                  <c:v>0.3</c:v>
                </c:pt>
                <c:pt idx="3">
                  <c:v>0.35</c:v>
                </c:pt>
              </c:numCache>
            </c:numRef>
          </c:val>
          <c:extLst>
            <c:ext xmlns:c16="http://schemas.microsoft.com/office/drawing/2014/chart" uri="{C3380CC4-5D6E-409C-BE32-E72D297353CC}">
              <c16:uniqueId val="{00000000-947F-4370-BCF7-4EA842A0207E}"/>
            </c:ext>
          </c:extLst>
        </c:ser>
        <c:dLbls>
          <c:showLegendKey val="0"/>
          <c:showVal val="0"/>
          <c:showCatName val="0"/>
          <c:showSerName val="0"/>
          <c:showPercent val="0"/>
          <c:showBubbleSize val="0"/>
        </c:dLbls>
        <c:gapWidth val="80"/>
        <c:axId val="238519200"/>
        <c:axId val="240500384"/>
      </c:barChart>
      <c:catAx>
        <c:axId val="23851920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240500384"/>
        <c:crosses val="autoZero"/>
        <c:auto val="1"/>
        <c:lblAlgn val="ctr"/>
        <c:lblOffset val="100"/>
        <c:noMultiLvlLbl val="0"/>
      </c:catAx>
      <c:valAx>
        <c:axId val="240500384"/>
        <c:scaling>
          <c:orientation val="minMax"/>
        </c:scaling>
        <c:delete val="1"/>
        <c:axPos val="b"/>
        <c:numFmt formatCode="0%" sourceLinked="1"/>
        <c:majorTickMark val="none"/>
        <c:minorTickMark val="none"/>
        <c:tickLblPos val="nextTo"/>
        <c:crossAx val="23851920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34168085013107541"/>
          <c:y val="8.1719063295257285E-2"/>
          <c:w val="0.64113158491895506"/>
          <c:h val="0.88586443125043934"/>
        </c:manualLayout>
      </c:layout>
      <c:barChart>
        <c:barDir val="bar"/>
        <c:grouping val="clustered"/>
        <c:varyColors val="0"/>
        <c:ser>
          <c:idx val="0"/>
          <c:order val="0"/>
          <c:tx>
            <c:strRef>
              <c:f>Sheet1!$B$1</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All Progressives Grand Alliance (APGA)</c:v>
                </c:pt>
                <c:pt idx="1">
                  <c:v>Labour Party (LP)</c:v>
                </c:pt>
                <c:pt idx="2">
                  <c:v>Peoples Democratic Party (PDP)</c:v>
                </c:pt>
                <c:pt idx="3">
                  <c:v>All Progressives Congress (APC)</c:v>
                </c:pt>
                <c:pt idx="4">
                  <c:v>New Nigeria Peoples Party (NNPP)</c:v>
                </c:pt>
              </c:strCache>
            </c:strRef>
          </c:cat>
          <c:val>
            <c:numRef>
              <c:f>Sheet1!$B$2:$B$6</c:f>
              <c:numCache>
                <c:formatCode>0%</c:formatCode>
                <c:ptCount val="5"/>
                <c:pt idx="0">
                  <c:v>0.01</c:v>
                </c:pt>
                <c:pt idx="1">
                  <c:v>0.12</c:v>
                </c:pt>
                <c:pt idx="2">
                  <c:v>0.2</c:v>
                </c:pt>
                <c:pt idx="3">
                  <c:v>0.32</c:v>
                </c:pt>
                <c:pt idx="4">
                  <c:v>0.34</c:v>
                </c:pt>
              </c:numCache>
            </c:numRef>
          </c:val>
          <c:extLst>
            <c:ext xmlns:c16="http://schemas.microsoft.com/office/drawing/2014/chart" uri="{C3380CC4-5D6E-409C-BE32-E72D297353CC}">
              <c16:uniqueId val="{00000000-947F-4370-BCF7-4EA842A0207E}"/>
            </c:ext>
          </c:extLst>
        </c:ser>
        <c:dLbls>
          <c:showLegendKey val="0"/>
          <c:showVal val="0"/>
          <c:showCatName val="0"/>
          <c:showSerName val="0"/>
          <c:showPercent val="0"/>
          <c:showBubbleSize val="0"/>
        </c:dLbls>
        <c:gapWidth val="80"/>
        <c:axId val="238519200"/>
        <c:axId val="240500384"/>
      </c:barChart>
      <c:catAx>
        <c:axId val="23851920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240500384"/>
        <c:crosses val="autoZero"/>
        <c:auto val="1"/>
        <c:lblAlgn val="ctr"/>
        <c:lblOffset val="100"/>
        <c:noMultiLvlLbl val="0"/>
      </c:catAx>
      <c:valAx>
        <c:axId val="240500384"/>
        <c:scaling>
          <c:orientation val="minMax"/>
        </c:scaling>
        <c:delete val="1"/>
        <c:axPos val="b"/>
        <c:numFmt formatCode="0%" sourceLinked="1"/>
        <c:majorTickMark val="none"/>
        <c:minorTickMark val="none"/>
        <c:tickLblPos val="nextTo"/>
        <c:crossAx val="23851920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34168085013107541"/>
          <c:y val="8.1719063295257285E-2"/>
          <c:w val="0.64113158491895506"/>
          <c:h val="0.88586443125043934"/>
        </c:manualLayout>
      </c:layout>
      <c:barChart>
        <c:barDir val="bar"/>
        <c:grouping val="clustered"/>
        <c:varyColors val="0"/>
        <c:ser>
          <c:idx val="0"/>
          <c:order val="0"/>
          <c:tx>
            <c:strRef>
              <c:f>Sheet1!$B$1</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All Progressives Grand Alliance (APGA)</c:v>
                </c:pt>
                <c:pt idx="1">
                  <c:v>Labour Party (LP)</c:v>
                </c:pt>
                <c:pt idx="2">
                  <c:v>Peoples Democratic Party (PDP)</c:v>
                </c:pt>
                <c:pt idx="3">
                  <c:v>All Progressives Congress (APC)</c:v>
                </c:pt>
                <c:pt idx="4">
                  <c:v>New Nigeria Peoples Party (NNPP)</c:v>
                </c:pt>
              </c:strCache>
            </c:strRef>
          </c:cat>
          <c:val>
            <c:numRef>
              <c:f>Sheet1!$B$2:$B$6</c:f>
              <c:numCache>
                <c:formatCode>0%</c:formatCode>
                <c:ptCount val="5"/>
                <c:pt idx="0">
                  <c:v>0.01</c:v>
                </c:pt>
                <c:pt idx="1">
                  <c:v>0.11</c:v>
                </c:pt>
                <c:pt idx="2">
                  <c:v>0.18</c:v>
                </c:pt>
                <c:pt idx="3">
                  <c:v>0.32</c:v>
                </c:pt>
                <c:pt idx="4">
                  <c:v>0.36</c:v>
                </c:pt>
              </c:numCache>
            </c:numRef>
          </c:val>
          <c:extLst>
            <c:ext xmlns:c16="http://schemas.microsoft.com/office/drawing/2014/chart" uri="{C3380CC4-5D6E-409C-BE32-E72D297353CC}">
              <c16:uniqueId val="{00000000-947F-4370-BCF7-4EA842A0207E}"/>
            </c:ext>
          </c:extLst>
        </c:ser>
        <c:dLbls>
          <c:showLegendKey val="0"/>
          <c:showVal val="0"/>
          <c:showCatName val="0"/>
          <c:showSerName val="0"/>
          <c:showPercent val="0"/>
          <c:showBubbleSize val="0"/>
        </c:dLbls>
        <c:gapWidth val="80"/>
        <c:axId val="238519200"/>
        <c:axId val="240500384"/>
      </c:barChart>
      <c:catAx>
        <c:axId val="23851920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240500384"/>
        <c:crosses val="autoZero"/>
        <c:auto val="1"/>
        <c:lblAlgn val="ctr"/>
        <c:lblOffset val="100"/>
        <c:noMultiLvlLbl val="0"/>
      </c:catAx>
      <c:valAx>
        <c:axId val="240500384"/>
        <c:scaling>
          <c:orientation val="minMax"/>
        </c:scaling>
        <c:delete val="1"/>
        <c:axPos val="b"/>
        <c:numFmt formatCode="0%" sourceLinked="1"/>
        <c:majorTickMark val="none"/>
        <c:minorTickMark val="none"/>
        <c:tickLblPos val="nextTo"/>
        <c:crossAx val="23851920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34168085013107541"/>
          <c:y val="8.1719063295257285E-2"/>
          <c:w val="0.64113158491895506"/>
          <c:h val="0.88586443125043934"/>
        </c:manualLayout>
      </c:layout>
      <c:barChart>
        <c:barDir val="bar"/>
        <c:grouping val="clustered"/>
        <c:varyColors val="0"/>
        <c:ser>
          <c:idx val="0"/>
          <c:order val="0"/>
          <c:tx>
            <c:strRef>
              <c:f>Sheet1!$B$1</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All Progressives Grand Alliance (APGA)</c:v>
                </c:pt>
                <c:pt idx="1">
                  <c:v>Labour Party (LP)</c:v>
                </c:pt>
                <c:pt idx="2">
                  <c:v>Peoples Democratic Party (PDP)</c:v>
                </c:pt>
                <c:pt idx="3">
                  <c:v>All Progressives Congress (APC)</c:v>
                </c:pt>
                <c:pt idx="4">
                  <c:v>New Nigeria Peoples Party (NNPP)</c:v>
                </c:pt>
              </c:strCache>
            </c:strRef>
          </c:cat>
          <c:val>
            <c:numRef>
              <c:f>Sheet1!$B$2:$B$6</c:f>
              <c:numCache>
                <c:formatCode>0%</c:formatCode>
                <c:ptCount val="5"/>
                <c:pt idx="0">
                  <c:v>0.01</c:v>
                </c:pt>
                <c:pt idx="1">
                  <c:v>0.14000000000000001</c:v>
                </c:pt>
                <c:pt idx="2">
                  <c:v>0.21</c:v>
                </c:pt>
                <c:pt idx="3">
                  <c:v>0.28999999999999998</c:v>
                </c:pt>
                <c:pt idx="4">
                  <c:v>0.34</c:v>
                </c:pt>
              </c:numCache>
            </c:numRef>
          </c:val>
          <c:extLst>
            <c:ext xmlns:c16="http://schemas.microsoft.com/office/drawing/2014/chart" uri="{C3380CC4-5D6E-409C-BE32-E72D297353CC}">
              <c16:uniqueId val="{00000000-947F-4370-BCF7-4EA842A0207E}"/>
            </c:ext>
          </c:extLst>
        </c:ser>
        <c:dLbls>
          <c:showLegendKey val="0"/>
          <c:showVal val="0"/>
          <c:showCatName val="0"/>
          <c:showSerName val="0"/>
          <c:showPercent val="0"/>
          <c:showBubbleSize val="0"/>
        </c:dLbls>
        <c:gapWidth val="80"/>
        <c:axId val="238519200"/>
        <c:axId val="240500384"/>
      </c:barChart>
      <c:catAx>
        <c:axId val="23851920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240500384"/>
        <c:crosses val="autoZero"/>
        <c:auto val="1"/>
        <c:lblAlgn val="ctr"/>
        <c:lblOffset val="100"/>
        <c:noMultiLvlLbl val="0"/>
      </c:catAx>
      <c:valAx>
        <c:axId val="240500384"/>
        <c:scaling>
          <c:orientation val="minMax"/>
        </c:scaling>
        <c:delete val="1"/>
        <c:axPos val="b"/>
        <c:numFmt formatCode="0%" sourceLinked="1"/>
        <c:majorTickMark val="none"/>
        <c:minorTickMark val="none"/>
        <c:tickLblPos val="nextTo"/>
        <c:crossAx val="23851920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40803061583985378"/>
          <c:y val="8.1719063295257285E-2"/>
          <c:w val="0.57478181921017657"/>
          <c:h val="0.88586443125043934"/>
        </c:manualLayout>
      </c:layout>
      <c:barChart>
        <c:barDir val="bar"/>
        <c:grouping val="clustered"/>
        <c:varyColors val="0"/>
        <c:ser>
          <c:idx val="0"/>
          <c:order val="0"/>
          <c:tx>
            <c:strRef>
              <c:f>Sheet1!$B$1</c:f>
              <c:strCache>
                <c:ptCount val="1"/>
                <c:pt idx="0">
                  <c:v>Total</c:v>
                </c:pt>
              </c:strCache>
            </c:strRef>
          </c:tx>
          <c:spPr>
            <a:solidFill>
              <a:schemeClr val="accent2"/>
            </a:solidFill>
            <a:ln>
              <a:noFill/>
            </a:ln>
            <a:effectLst/>
          </c:spPr>
          <c:invertIfNegative val="0"/>
          <c:dPt>
            <c:idx val="0"/>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00-A0C7-40DB-8130-2760322E30C4}"/>
              </c:ext>
            </c:extLst>
          </c:dPt>
          <c:dPt>
            <c:idx val="1"/>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01-A0C7-40DB-8130-2760322E30C4}"/>
              </c:ext>
            </c:extLst>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Don’t Know/Can’t Say</c:v>
                </c:pt>
                <c:pt idx="1">
                  <c:v>No response</c:v>
                </c:pt>
                <c:pt idx="2">
                  <c:v>All Nigeria Peoples Party (ANPP)</c:v>
                </c:pt>
                <c:pt idx="3">
                  <c:v>Labour Party (LP)</c:v>
                </c:pt>
                <c:pt idx="4">
                  <c:v>New Nigeria Peoples Party (NNPP)</c:v>
                </c:pt>
                <c:pt idx="5">
                  <c:v>Peoples Democratic Party (PDP)</c:v>
                </c:pt>
                <c:pt idx="6">
                  <c:v>All Progressives Congress (APC)</c:v>
                </c:pt>
              </c:strCache>
            </c:strRef>
          </c:cat>
          <c:val>
            <c:numRef>
              <c:f>Sheet1!$B$2:$B$8</c:f>
              <c:numCache>
                <c:formatCode>0%</c:formatCode>
                <c:ptCount val="7"/>
                <c:pt idx="0">
                  <c:v>0.2</c:v>
                </c:pt>
                <c:pt idx="1">
                  <c:v>0.03</c:v>
                </c:pt>
                <c:pt idx="2">
                  <c:v>0.01</c:v>
                </c:pt>
                <c:pt idx="3">
                  <c:v>0.02</c:v>
                </c:pt>
                <c:pt idx="4">
                  <c:v>0.03</c:v>
                </c:pt>
                <c:pt idx="5">
                  <c:v>0.04</c:v>
                </c:pt>
                <c:pt idx="6">
                  <c:v>0.66</c:v>
                </c:pt>
              </c:numCache>
            </c:numRef>
          </c:val>
          <c:extLst>
            <c:ext xmlns:c16="http://schemas.microsoft.com/office/drawing/2014/chart" uri="{C3380CC4-5D6E-409C-BE32-E72D297353CC}">
              <c16:uniqueId val="{00000000-947F-4370-BCF7-4EA842A0207E}"/>
            </c:ext>
          </c:extLst>
        </c:ser>
        <c:dLbls>
          <c:showLegendKey val="0"/>
          <c:showVal val="0"/>
          <c:showCatName val="0"/>
          <c:showSerName val="0"/>
          <c:showPercent val="0"/>
          <c:showBubbleSize val="0"/>
        </c:dLbls>
        <c:gapWidth val="80"/>
        <c:axId val="238519200"/>
        <c:axId val="240500384"/>
      </c:barChart>
      <c:catAx>
        <c:axId val="23851920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240500384"/>
        <c:crosses val="autoZero"/>
        <c:auto val="1"/>
        <c:lblAlgn val="ctr"/>
        <c:lblOffset val="100"/>
        <c:noMultiLvlLbl val="0"/>
      </c:catAx>
      <c:valAx>
        <c:axId val="240500384"/>
        <c:scaling>
          <c:orientation val="minMax"/>
        </c:scaling>
        <c:delete val="1"/>
        <c:axPos val="b"/>
        <c:numFmt formatCode="0%" sourceLinked="1"/>
        <c:majorTickMark val="none"/>
        <c:minorTickMark val="none"/>
        <c:tickLblPos val="nextTo"/>
        <c:crossAx val="23851920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50903716791492348"/>
          <c:y val="8.1719063295257285E-2"/>
          <c:w val="0.47377518487294534"/>
          <c:h val="0.88586443125043934"/>
        </c:manualLayout>
      </c:layout>
      <c:barChart>
        <c:barDir val="bar"/>
        <c:grouping val="clustered"/>
        <c:varyColors val="0"/>
        <c:ser>
          <c:idx val="0"/>
          <c:order val="0"/>
          <c:tx>
            <c:strRef>
              <c:f>Sheet1!$B$1</c:f>
              <c:strCache>
                <c:ptCount val="1"/>
                <c:pt idx="0">
                  <c:v>Total</c:v>
                </c:pt>
              </c:strCache>
            </c:strRef>
          </c:tx>
          <c:spPr>
            <a:solidFill>
              <a:schemeClr val="accent2"/>
            </a:solidFill>
            <a:ln>
              <a:noFill/>
            </a:ln>
            <a:effectLst/>
          </c:spPr>
          <c:invertIfNegative val="0"/>
          <c:dPt>
            <c:idx val="0"/>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00-A0C7-40DB-8130-2760322E30C4}"/>
              </c:ext>
            </c:extLst>
          </c:dPt>
          <c:dPt>
            <c:idx val="1"/>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01-A0C7-40DB-8130-2760322E30C4}"/>
              </c:ext>
            </c:extLst>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Don’t Know/Can’t Say</c:v>
                </c:pt>
                <c:pt idx="1">
                  <c:v>No response</c:v>
                </c:pt>
                <c:pt idx="2">
                  <c:v>Advanced Congress Of Democrats (ACD)</c:v>
                </c:pt>
                <c:pt idx="3">
                  <c:v>African Democratic Congress (ADC)</c:v>
                </c:pt>
                <c:pt idx="4">
                  <c:v>Labour Party (LP)</c:v>
                </c:pt>
                <c:pt idx="5">
                  <c:v>Peoples Democratic Party (PDP)</c:v>
                </c:pt>
                <c:pt idx="6">
                  <c:v>New Nigeria Peoples Party (NNPP)</c:v>
                </c:pt>
                <c:pt idx="7">
                  <c:v>All Progressives Congress (APC)</c:v>
                </c:pt>
              </c:strCache>
            </c:strRef>
          </c:cat>
          <c:val>
            <c:numRef>
              <c:f>Sheet1!$B$2:$B$9</c:f>
              <c:numCache>
                <c:formatCode>0%</c:formatCode>
                <c:ptCount val="8"/>
                <c:pt idx="0">
                  <c:v>0.21</c:v>
                </c:pt>
                <c:pt idx="1">
                  <c:v>0.04</c:v>
                </c:pt>
                <c:pt idx="2">
                  <c:v>0.01</c:v>
                </c:pt>
                <c:pt idx="3">
                  <c:v>0.01</c:v>
                </c:pt>
                <c:pt idx="4">
                  <c:v>0.02</c:v>
                </c:pt>
                <c:pt idx="5">
                  <c:v>0.03</c:v>
                </c:pt>
                <c:pt idx="6">
                  <c:v>0.04</c:v>
                </c:pt>
                <c:pt idx="7">
                  <c:v>0.64</c:v>
                </c:pt>
              </c:numCache>
            </c:numRef>
          </c:val>
          <c:extLst>
            <c:ext xmlns:c16="http://schemas.microsoft.com/office/drawing/2014/chart" uri="{C3380CC4-5D6E-409C-BE32-E72D297353CC}">
              <c16:uniqueId val="{00000000-947F-4370-BCF7-4EA842A0207E}"/>
            </c:ext>
          </c:extLst>
        </c:ser>
        <c:dLbls>
          <c:showLegendKey val="0"/>
          <c:showVal val="0"/>
          <c:showCatName val="0"/>
          <c:showSerName val="0"/>
          <c:showPercent val="0"/>
          <c:showBubbleSize val="0"/>
        </c:dLbls>
        <c:gapWidth val="80"/>
        <c:axId val="238519200"/>
        <c:axId val="240500384"/>
      </c:barChart>
      <c:catAx>
        <c:axId val="23851920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240500384"/>
        <c:crosses val="autoZero"/>
        <c:auto val="1"/>
        <c:lblAlgn val="ctr"/>
        <c:lblOffset val="100"/>
        <c:noMultiLvlLbl val="0"/>
      </c:catAx>
      <c:valAx>
        <c:axId val="240500384"/>
        <c:scaling>
          <c:orientation val="minMax"/>
        </c:scaling>
        <c:delete val="1"/>
        <c:axPos val="b"/>
        <c:numFmt formatCode="0%" sourceLinked="1"/>
        <c:majorTickMark val="none"/>
        <c:minorTickMark val="none"/>
        <c:tickLblPos val="nextTo"/>
        <c:crossAx val="23851920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40803061583985378"/>
          <c:y val="8.1719063295257285E-2"/>
          <c:w val="0.57478181921017657"/>
          <c:h val="0.88586443125043934"/>
        </c:manualLayout>
      </c:layout>
      <c:barChart>
        <c:barDir val="bar"/>
        <c:grouping val="clustered"/>
        <c:varyColors val="0"/>
        <c:ser>
          <c:idx val="0"/>
          <c:order val="0"/>
          <c:tx>
            <c:strRef>
              <c:f>Sheet1!$B$1</c:f>
              <c:strCache>
                <c:ptCount val="1"/>
                <c:pt idx="0">
                  <c:v>Total</c:v>
                </c:pt>
              </c:strCache>
            </c:strRef>
          </c:tx>
          <c:spPr>
            <a:solidFill>
              <a:schemeClr val="accent2"/>
            </a:solidFill>
            <a:ln>
              <a:noFill/>
            </a:ln>
            <a:effectLst/>
          </c:spPr>
          <c:invertIfNegative val="0"/>
          <c:dPt>
            <c:idx val="0"/>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00-A0C7-40DB-8130-2760322E30C4}"/>
              </c:ext>
            </c:extLst>
          </c:dPt>
          <c:dPt>
            <c:idx val="1"/>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01-A0C7-40DB-8130-2760322E30C4}"/>
              </c:ext>
            </c:extLst>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Sheet1!$A$2:$A$10</c:f>
              <c:strCache>
                <c:ptCount val="9"/>
                <c:pt idx="0">
                  <c:v>Don’t Know/Can’t Say</c:v>
                </c:pt>
                <c:pt idx="1">
                  <c:v>No response</c:v>
                </c:pt>
                <c:pt idx="2">
                  <c:v>African Democratic Congress (ADC)</c:v>
                </c:pt>
                <c:pt idx="3">
                  <c:v>All Peoples Liberation Party (APLP)</c:v>
                </c:pt>
                <c:pt idx="4">
                  <c:v>New Nigeria Peoples Party (NNPP)</c:v>
                </c:pt>
                <c:pt idx="5">
                  <c:v>Peoples Democratic Party (PDP)</c:v>
                </c:pt>
                <c:pt idx="6">
                  <c:v>Refused</c:v>
                </c:pt>
                <c:pt idx="7">
                  <c:v>Labour Party (LP)</c:v>
                </c:pt>
                <c:pt idx="8">
                  <c:v>All Progressives Congress (APC)</c:v>
                </c:pt>
              </c:strCache>
            </c:strRef>
          </c:cat>
          <c:val>
            <c:numRef>
              <c:f>Sheet1!$B$2:$B$10</c:f>
              <c:numCache>
                <c:formatCode>0%</c:formatCode>
                <c:ptCount val="9"/>
                <c:pt idx="0">
                  <c:v>0.25</c:v>
                </c:pt>
                <c:pt idx="1">
                  <c:v>0.04</c:v>
                </c:pt>
                <c:pt idx="2">
                  <c:v>0.01</c:v>
                </c:pt>
                <c:pt idx="3">
                  <c:v>0.01</c:v>
                </c:pt>
                <c:pt idx="4">
                  <c:v>0.01</c:v>
                </c:pt>
                <c:pt idx="5">
                  <c:v>0.02</c:v>
                </c:pt>
                <c:pt idx="6">
                  <c:v>0.02</c:v>
                </c:pt>
                <c:pt idx="7">
                  <c:v>0.08</c:v>
                </c:pt>
                <c:pt idx="8">
                  <c:v>0.55000000000000004</c:v>
                </c:pt>
              </c:numCache>
            </c:numRef>
          </c:val>
          <c:extLst>
            <c:ext xmlns:c16="http://schemas.microsoft.com/office/drawing/2014/chart" uri="{C3380CC4-5D6E-409C-BE32-E72D297353CC}">
              <c16:uniqueId val="{00000000-947F-4370-BCF7-4EA842A0207E}"/>
            </c:ext>
          </c:extLst>
        </c:ser>
        <c:dLbls>
          <c:showLegendKey val="0"/>
          <c:showVal val="0"/>
          <c:showCatName val="0"/>
          <c:showSerName val="0"/>
          <c:showPercent val="0"/>
          <c:showBubbleSize val="0"/>
        </c:dLbls>
        <c:gapWidth val="80"/>
        <c:axId val="238519200"/>
        <c:axId val="240500384"/>
      </c:barChart>
      <c:catAx>
        <c:axId val="23851920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240500384"/>
        <c:crosses val="autoZero"/>
        <c:auto val="1"/>
        <c:lblAlgn val="ctr"/>
        <c:lblOffset val="100"/>
        <c:noMultiLvlLbl val="0"/>
      </c:catAx>
      <c:valAx>
        <c:axId val="240500384"/>
        <c:scaling>
          <c:orientation val="minMax"/>
        </c:scaling>
        <c:delete val="1"/>
        <c:axPos val="b"/>
        <c:numFmt formatCode="0%" sourceLinked="1"/>
        <c:majorTickMark val="none"/>
        <c:minorTickMark val="none"/>
        <c:tickLblPos val="nextTo"/>
        <c:crossAx val="23851920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40803061583985378"/>
          <c:y val="8.1719063295257285E-2"/>
          <c:w val="0.57478181921017657"/>
          <c:h val="0.88586443125043934"/>
        </c:manualLayout>
      </c:layout>
      <c:barChart>
        <c:barDir val="bar"/>
        <c:grouping val="clustered"/>
        <c:varyColors val="0"/>
        <c:ser>
          <c:idx val="0"/>
          <c:order val="0"/>
          <c:tx>
            <c:strRef>
              <c:f>Sheet1!$B$1</c:f>
              <c:strCache>
                <c:ptCount val="1"/>
                <c:pt idx="0">
                  <c:v>Total</c:v>
                </c:pt>
              </c:strCache>
            </c:strRef>
          </c:tx>
          <c:spPr>
            <a:solidFill>
              <a:schemeClr val="accent2"/>
            </a:solidFill>
            <a:ln>
              <a:noFill/>
            </a:ln>
            <a:effectLst/>
          </c:spPr>
          <c:invertIfNegative val="0"/>
          <c:dPt>
            <c:idx val="0"/>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00-A0C7-40DB-8130-2760322E30C4}"/>
              </c:ext>
            </c:extLst>
          </c:dPt>
          <c:dPt>
            <c:idx val="1"/>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01-A0C7-40DB-8130-2760322E30C4}"/>
              </c:ext>
            </c:extLst>
          </c:dPt>
          <c:dPt>
            <c:idx val="2"/>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00-EBBB-4964-91F4-13D2DA06DEED}"/>
              </c:ext>
            </c:extLst>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Don’t Know/Can’t Say</c:v>
                </c:pt>
                <c:pt idx="1">
                  <c:v>No response</c:v>
                </c:pt>
                <c:pt idx="2">
                  <c:v>Refused</c:v>
                </c:pt>
                <c:pt idx="3">
                  <c:v>New Nigeria Peoples Party (NNPP)</c:v>
                </c:pt>
                <c:pt idx="4">
                  <c:v>Peoples Democratic Party (PDP)</c:v>
                </c:pt>
                <c:pt idx="5">
                  <c:v>All Progressives Congress (APC)</c:v>
                </c:pt>
              </c:strCache>
            </c:strRef>
          </c:cat>
          <c:val>
            <c:numRef>
              <c:f>Sheet1!$B$2:$B$7</c:f>
              <c:numCache>
                <c:formatCode>0%</c:formatCode>
                <c:ptCount val="6"/>
                <c:pt idx="0">
                  <c:v>0.24</c:v>
                </c:pt>
                <c:pt idx="1">
                  <c:v>0.03</c:v>
                </c:pt>
                <c:pt idx="2">
                  <c:v>0.03</c:v>
                </c:pt>
                <c:pt idx="3">
                  <c:v>0.04</c:v>
                </c:pt>
                <c:pt idx="4">
                  <c:v>0.04</c:v>
                </c:pt>
                <c:pt idx="5">
                  <c:v>0.63</c:v>
                </c:pt>
              </c:numCache>
            </c:numRef>
          </c:val>
          <c:extLst>
            <c:ext xmlns:c16="http://schemas.microsoft.com/office/drawing/2014/chart" uri="{C3380CC4-5D6E-409C-BE32-E72D297353CC}">
              <c16:uniqueId val="{00000000-947F-4370-BCF7-4EA842A0207E}"/>
            </c:ext>
          </c:extLst>
        </c:ser>
        <c:dLbls>
          <c:showLegendKey val="0"/>
          <c:showVal val="0"/>
          <c:showCatName val="0"/>
          <c:showSerName val="0"/>
          <c:showPercent val="0"/>
          <c:showBubbleSize val="0"/>
        </c:dLbls>
        <c:gapWidth val="80"/>
        <c:axId val="238519200"/>
        <c:axId val="240500384"/>
      </c:barChart>
      <c:catAx>
        <c:axId val="23851920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240500384"/>
        <c:crosses val="autoZero"/>
        <c:auto val="1"/>
        <c:lblAlgn val="ctr"/>
        <c:lblOffset val="100"/>
        <c:noMultiLvlLbl val="0"/>
      </c:catAx>
      <c:valAx>
        <c:axId val="240500384"/>
        <c:scaling>
          <c:orientation val="minMax"/>
        </c:scaling>
        <c:delete val="1"/>
        <c:axPos val="b"/>
        <c:numFmt formatCode="0%" sourceLinked="1"/>
        <c:majorTickMark val="none"/>
        <c:minorTickMark val="none"/>
        <c:tickLblPos val="nextTo"/>
        <c:crossAx val="23851920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40803061583985378"/>
          <c:y val="8.1719063295257285E-2"/>
          <c:w val="0.57478181921017657"/>
          <c:h val="0.88586443125043934"/>
        </c:manualLayout>
      </c:layout>
      <c:barChart>
        <c:barDir val="bar"/>
        <c:grouping val="clustered"/>
        <c:varyColors val="0"/>
        <c:ser>
          <c:idx val="0"/>
          <c:order val="0"/>
          <c:tx>
            <c:strRef>
              <c:f>Sheet1!$B$1</c:f>
              <c:strCache>
                <c:ptCount val="1"/>
                <c:pt idx="0">
                  <c:v>Total</c:v>
                </c:pt>
              </c:strCache>
            </c:strRef>
          </c:tx>
          <c:spPr>
            <a:solidFill>
              <a:schemeClr val="accent2"/>
            </a:solidFill>
            <a:ln>
              <a:noFill/>
            </a:ln>
            <a:effectLst/>
          </c:spPr>
          <c:invertIfNegative val="0"/>
          <c:dPt>
            <c:idx val="0"/>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00-A0C7-40DB-8130-2760322E30C4}"/>
              </c:ext>
            </c:extLst>
          </c:dPt>
          <c:dPt>
            <c:idx val="1"/>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01-A0C7-40DB-8130-2760322E30C4}"/>
              </c:ext>
            </c:extLst>
          </c:dPt>
          <c:dPt>
            <c:idx val="2"/>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00-3E04-49EA-BF46-4D78BD4504C8}"/>
              </c:ext>
            </c:extLst>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Don’t Know/Can’t Say</c:v>
                </c:pt>
                <c:pt idx="1">
                  <c:v>No response</c:v>
                </c:pt>
                <c:pt idx="2">
                  <c:v>Refused</c:v>
                </c:pt>
                <c:pt idx="3">
                  <c:v>Labour Party (LP)</c:v>
                </c:pt>
                <c:pt idx="4">
                  <c:v>New Nigeria Peoples Party (NNPP)</c:v>
                </c:pt>
                <c:pt idx="5">
                  <c:v>Peoples Democratic Party (PDP)</c:v>
                </c:pt>
                <c:pt idx="6">
                  <c:v>All Progressives Congress (APC)</c:v>
                </c:pt>
              </c:strCache>
            </c:strRef>
          </c:cat>
          <c:val>
            <c:numRef>
              <c:f>Sheet1!$B$2:$B$8</c:f>
              <c:numCache>
                <c:formatCode>0%</c:formatCode>
                <c:ptCount val="7"/>
                <c:pt idx="0">
                  <c:v>0.22</c:v>
                </c:pt>
                <c:pt idx="1">
                  <c:v>0.03</c:v>
                </c:pt>
                <c:pt idx="2">
                  <c:v>0.03</c:v>
                </c:pt>
                <c:pt idx="3">
                  <c:v>0.03</c:v>
                </c:pt>
                <c:pt idx="4">
                  <c:v>0.03</c:v>
                </c:pt>
                <c:pt idx="5">
                  <c:v>0.03</c:v>
                </c:pt>
                <c:pt idx="6">
                  <c:v>0.63</c:v>
                </c:pt>
              </c:numCache>
            </c:numRef>
          </c:val>
          <c:extLst>
            <c:ext xmlns:c16="http://schemas.microsoft.com/office/drawing/2014/chart" uri="{C3380CC4-5D6E-409C-BE32-E72D297353CC}">
              <c16:uniqueId val="{00000000-947F-4370-BCF7-4EA842A0207E}"/>
            </c:ext>
          </c:extLst>
        </c:ser>
        <c:dLbls>
          <c:showLegendKey val="0"/>
          <c:showVal val="0"/>
          <c:showCatName val="0"/>
          <c:showSerName val="0"/>
          <c:showPercent val="0"/>
          <c:showBubbleSize val="0"/>
        </c:dLbls>
        <c:gapWidth val="80"/>
        <c:axId val="238519200"/>
        <c:axId val="240500384"/>
      </c:barChart>
      <c:catAx>
        <c:axId val="23851920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240500384"/>
        <c:crosses val="autoZero"/>
        <c:auto val="1"/>
        <c:lblAlgn val="ctr"/>
        <c:lblOffset val="100"/>
        <c:noMultiLvlLbl val="0"/>
      </c:catAx>
      <c:valAx>
        <c:axId val="240500384"/>
        <c:scaling>
          <c:orientation val="minMax"/>
        </c:scaling>
        <c:delete val="1"/>
        <c:axPos val="b"/>
        <c:numFmt formatCode="0%" sourceLinked="1"/>
        <c:majorTickMark val="none"/>
        <c:minorTickMark val="none"/>
        <c:tickLblPos val="nextTo"/>
        <c:crossAx val="23851920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40803061583985378"/>
          <c:y val="8.1719063295257285E-2"/>
          <c:w val="0.57478181921017657"/>
          <c:h val="0.88586443125043934"/>
        </c:manualLayout>
      </c:layout>
      <c:barChart>
        <c:barDir val="bar"/>
        <c:grouping val="clustered"/>
        <c:varyColors val="0"/>
        <c:ser>
          <c:idx val="0"/>
          <c:order val="0"/>
          <c:tx>
            <c:strRef>
              <c:f>Sheet1!$B$1</c:f>
              <c:strCache>
                <c:ptCount val="1"/>
                <c:pt idx="0">
                  <c:v>Total</c:v>
                </c:pt>
              </c:strCache>
            </c:strRef>
          </c:tx>
          <c:spPr>
            <a:solidFill>
              <a:schemeClr val="accent2"/>
            </a:solidFill>
            <a:ln>
              <a:noFill/>
            </a:ln>
            <a:effectLst/>
          </c:spPr>
          <c:invertIfNegative val="0"/>
          <c:dPt>
            <c:idx val="0"/>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00-A0C7-40DB-8130-2760322E30C4}"/>
              </c:ext>
            </c:extLst>
          </c:dPt>
          <c:dPt>
            <c:idx val="1"/>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01-A0C7-40DB-8130-2760322E30C4}"/>
              </c:ext>
            </c:extLst>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Don’t Know/Can’t Say</c:v>
                </c:pt>
                <c:pt idx="1">
                  <c:v>Refused</c:v>
                </c:pt>
                <c:pt idx="2">
                  <c:v>Peoples Democratic Party (PDP)</c:v>
                </c:pt>
                <c:pt idx="3">
                  <c:v>New Nigeria Peoples Party (NNPP)</c:v>
                </c:pt>
                <c:pt idx="4">
                  <c:v>Labour Party (LP)</c:v>
                </c:pt>
                <c:pt idx="5">
                  <c:v>All Progressives Congress (APC)</c:v>
                </c:pt>
              </c:strCache>
            </c:strRef>
          </c:cat>
          <c:val>
            <c:numRef>
              <c:f>Sheet1!$B$2:$B$7</c:f>
              <c:numCache>
                <c:formatCode>0%</c:formatCode>
                <c:ptCount val="6"/>
                <c:pt idx="0">
                  <c:v>0.26</c:v>
                </c:pt>
                <c:pt idx="1">
                  <c:v>0.03</c:v>
                </c:pt>
                <c:pt idx="2">
                  <c:v>0.03</c:v>
                </c:pt>
                <c:pt idx="3">
                  <c:v>0.05</c:v>
                </c:pt>
                <c:pt idx="4">
                  <c:v>0.06</c:v>
                </c:pt>
                <c:pt idx="5">
                  <c:v>0.57999999999999996</c:v>
                </c:pt>
              </c:numCache>
            </c:numRef>
          </c:val>
          <c:extLst>
            <c:ext xmlns:c16="http://schemas.microsoft.com/office/drawing/2014/chart" uri="{C3380CC4-5D6E-409C-BE32-E72D297353CC}">
              <c16:uniqueId val="{00000000-947F-4370-BCF7-4EA842A0207E}"/>
            </c:ext>
          </c:extLst>
        </c:ser>
        <c:dLbls>
          <c:showLegendKey val="0"/>
          <c:showVal val="0"/>
          <c:showCatName val="0"/>
          <c:showSerName val="0"/>
          <c:showPercent val="0"/>
          <c:showBubbleSize val="0"/>
        </c:dLbls>
        <c:gapWidth val="80"/>
        <c:axId val="238519200"/>
        <c:axId val="240500384"/>
      </c:barChart>
      <c:catAx>
        <c:axId val="23851920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240500384"/>
        <c:crosses val="autoZero"/>
        <c:auto val="1"/>
        <c:lblAlgn val="ctr"/>
        <c:lblOffset val="100"/>
        <c:noMultiLvlLbl val="0"/>
      </c:catAx>
      <c:valAx>
        <c:axId val="240500384"/>
        <c:scaling>
          <c:orientation val="minMax"/>
        </c:scaling>
        <c:delete val="1"/>
        <c:axPos val="b"/>
        <c:numFmt formatCode="0%" sourceLinked="1"/>
        <c:majorTickMark val="none"/>
        <c:minorTickMark val="none"/>
        <c:tickLblPos val="nextTo"/>
        <c:crossAx val="23851920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21704403910854142"/>
          <c:y val="3.6452182408077613E-2"/>
          <c:w val="0.77098182434070262"/>
          <c:h val="0.85592568451562434"/>
        </c:manualLayout>
      </c:layout>
      <c:barChart>
        <c:barDir val="col"/>
        <c:grouping val="percentStacked"/>
        <c:varyColors val="0"/>
        <c:ser>
          <c:idx val="0"/>
          <c:order val="0"/>
          <c:tx>
            <c:strRef>
              <c:f>Sheet1!$B$1</c:f>
              <c:strCache>
                <c:ptCount val="1"/>
                <c:pt idx="0">
                  <c:v>Very unsatisfied 1 (1.0)</c:v>
                </c:pt>
              </c:strCache>
            </c:strRef>
          </c:tx>
          <c:spPr>
            <a:solidFill>
              <a:schemeClr val="accent3">
                <a:shade val="42000"/>
              </a:scheme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Sheet1!$B$2:$B$12</c:f>
              <c:numCache>
                <c:formatCode>0%</c:formatCode>
                <c:ptCount val="11"/>
                <c:pt idx="0">
                  <c:v>0.34</c:v>
                </c:pt>
                <c:pt idx="1">
                  <c:v>0.31</c:v>
                </c:pt>
                <c:pt idx="2">
                  <c:v>0.36</c:v>
                </c:pt>
                <c:pt idx="3">
                  <c:v>0.57999999999999996</c:v>
                </c:pt>
                <c:pt idx="4">
                  <c:v>0.25</c:v>
                </c:pt>
                <c:pt idx="5">
                  <c:v>0.27</c:v>
                </c:pt>
                <c:pt idx="6">
                  <c:v>0.12</c:v>
                </c:pt>
                <c:pt idx="7">
                  <c:v>0.84</c:v>
                </c:pt>
                <c:pt idx="8">
                  <c:v>0.25</c:v>
                </c:pt>
                <c:pt idx="9">
                  <c:v>0.32</c:v>
                </c:pt>
                <c:pt idx="10">
                  <c:v>0.38</c:v>
                </c:pt>
              </c:numCache>
            </c:numRef>
          </c:val>
          <c:extLst>
            <c:ext xmlns:c16="http://schemas.microsoft.com/office/drawing/2014/chart" uri="{C3380CC4-5D6E-409C-BE32-E72D297353CC}">
              <c16:uniqueId val="{00000000-5D06-4E1B-BEE6-B53916E8B4DA}"/>
            </c:ext>
          </c:extLst>
        </c:ser>
        <c:ser>
          <c:idx val="1"/>
          <c:order val="1"/>
          <c:tx>
            <c:strRef>
              <c:f>Sheet1!$C$1</c:f>
              <c:strCache>
                <c:ptCount val="1"/>
                <c:pt idx="0">
                  <c:v>2 (2.0)</c:v>
                </c:pt>
              </c:strCache>
            </c:strRef>
          </c:tx>
          <c:spPr>
            <a:solidFill>
              <a:srgbClr val="FF5050"/>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Sheet1!$C$2:$C$12</c:f>
              <c:numCache>
                <c:formatCode>0%</c:formatCode>
                <c:ptCount val="11"/>
                <c:pt idx="0">
                  <c:v>0.19</c:v>
                </c:pt>
                <c:pt idx="1">
                  <c:v>0.19</c:v>
                </c:pt>
                <c:pt idx="2">
                  <c:v>0.18</c:v>
                </c:pt>
                <c:pt idx="3">
                  <c:v>0.16</c:v>
                </c:pt>
                <c:pt idx="4">
                  <c:v>0.27</c:v>
                </c:pt>
                <c:pt idx="5">
                  <c:v>0.2</c:v>
                </c:pt>
                <c:pt idx="6">
                  <c:v>0.28999999999999998</c:v>
                </c:pt>
                <c:pt idx="7">
                  <c:v>0.1</c:v>
                </c:pt>
                <c:pt idx="8">
                  <c:v>0.09</c:v>
                </c:pt>
                <c:pt idx="9">
                  <c:v>0.19</c:v>
                </c:pt>
                <c:pt idx="10">
                  <c:v>0.18</c:v>
                </c:pt>
              </c:numCache>
            </c:numRef>
          </c:val>
          <c:extLst>
            <c:ext xmlns:c16="http://schemas.microsoft.com/office/drawing/2014/chart" uri="{C3380CC4-5D6E-409C-BE32-E72D297353CC}">
              <c16:uniqueId val="{00000001-5D06-4E1B-BEE6-B53916E8B4DA}"/>
            </c:ext>
          </c:extLst>
        </c:ser>
        <c:ser>
          <c:idx val="2"/>
          <c:order val="2"/>
          <c:tx>
            <c:strRef>
              <c:f>Sheet1!$D$1</c:f>
              <c:strCache>
                <c:ptCount val="1"/>
                <c:pt idx="0">
                  <c:v>3 (3.0)</c:v>
                </c:pt>
              </c:strCache>
            </c:strRef>
          </c:tx>
          <c:spPr>
            <a:solidFill>
              <a:srgbClr val="FF7C80"/>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Sheet1!$D$2:$D$12</c:f>
              <c:numCache>
                <c:formatCode>0%</c:formatCode>
                <c:ptCount val="11"/>
                <c:pt idx="0">
                  <c:v>0.16</c:v>
                </c:pt>
                <c:pt idx="1">
                  <c:v>0.16</c:v>
                </c:pt>
                <c:pt idx="2">
                  <c:v>0.15</c:v>
                </c:pt>
                <c:pt idx="3">
                  <c:v>0.09</c:v>
                </c:pt>
                <c:pt idx="4">
                  <c:v>0.16</c:v>
                </c:pt>
                <c:pt idx="5">
                  <c:v>0.2</c:v>
                </c:pt>
                <c:pt idx="6">
                  <c:v>0.31</c:v>
                </c:pt>
                <c:pt idx="7">
                  <c:v>0.01</c:v>
                </c:pt>
                <c:pt idx="8">
                  <c:v>0.12</c:v>
                </c:pt>
                <c:pt idx="9">
                  <c:v>0.17</c:v>
                </c:pt>
                <c:pt idx="10">
                  <c:v>0.14000000000000001</c:v>
                </c:pt>
              </c:numCache>
            </c:numRef>
          </c:val>
          <c:extLst>
            <c:ext xmlns:c16="http://schemas.microsoft.com/office/drawing/2014/chart" uri="{C3380CC4-5D6E-409C-BE32-E72D297353CC}">
              <c16:uniqueId val="{00000002-5D06-4E1B-BEE6-B53916E8B4DA}"/>
            </c:ext>
          </c:extLst>
        </c:ser>
        <c:ser>
          <c:idx val="3"/>
          <c:order val="3"/>
          <c:tx>
            <c:strRef>
              <c:f>Sheet1!$E$1</c:f>
              <c:strCache>
                <c:ptCount val="1"/>
                <c:pt idx="0">
                  <c:v>4 (4.0)</c:v>
                </c:pt>
              </c:strCache>
            </c:strRef>
          </c:tx>
          <c:spPr>
            <a:solidFill>
              <a:srgbClr val="FFC000"/>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Sheet1!$E$2:$E$12</c:f>
              <c:numCache>
                <c:formatCode>0%</c:formatCode>
                <c:ptCount val="11"/>
                <c:pt idx="0">
                  <c:v>0.13</c:v>
                </c:pt>
                <c:pt idx="1">
                  <c:v>0.13</c:v>
                </c:pt>
                <c:pt idx="2">
                  <c:v>0.13</c:v>
                </c:pt>
                <c:pt idx="3">
                  <c:v>0.06</c:v>
                </c:pt>
                <c:pt idx="4">
                  <c:v>0.14000000000000001</c:v>
                </c:pt>
                <c:pt idx="5">
                  <c:v>0.14000000000000001</c:v>
                </c:pt>
                <c:pt idx="6">
                  <c:v>0.19</c:v>
                </c:pt>
                <c:pt idx="7">
                  <c:v>0.01</c:v>
                </c:pt>
                <c:pt idx="8">
                  <c:v>0.16</c:v>
                </c:pt>
                <c:pt idx="9">
                  <c:v>0.12</c:v>
                </c:pt>
                <c:pt idx="10">
                  <c:v>0.15</c:v>
                </c:pt>
              </c:numCache>
            </c:numRef>
          </c:val>
          <c:extLst>
            <c:ext xmlns:c16="http://schemas.microsoft.com/office/drawing/2014/chart" uri="{C3380CC4-5D6E-409C-BE32-E72D297353CC}">
              <c16:uniqueId val="{00000003-5D06-4E1B-BEE6-B53916E8B4DA}"/>
            </c:ext>
          </c:extLst>
        </c:ser>
        <c:ser>
          <c:idx val="4"/>
          <c:order val="4"/>
          <c:tx>
            <c:strRef>
              <c:f>Sheet1!$F$1</c:f>
              <c:strCache>
                <c:ptCount val="1"/>
                <c:pt idx="0">
                  <c:v>5 (5.0)</c:v>
                </c:pt>
              </c:strCache>
            </c:strRef>
          </c:tx>
          <c:spPr>
            <a:solidFill>
              <a:srgbClr val="FFC000">
                <a:lumMod val="40000"/>
                <a:lumOff val="60000"/>
              </a:srgb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Sheet1!$F$2:$F$12</c:f>
              <c:numCache>
                <c:formatCode>0%</c:formatCode>
                <c:ptCount val="11"/>
                <c:pt idx="0">
                  <c:v>0.09</c:v>
                </c:pt>
                <c:pt idx="1">
                  <c:v>0.09</c:v>
                </c:pt>
                <c:pt idx="2">
                  <c:v>0.1</c:v>
                </c:pt>
                <c:pt idx="3">
                  <c:v>0.04</c:v>
                </c:pt>
                <c:pt idx="4">
                  <c:v>0.08</c:v>
                </c:pt>
                <c:pt idx="5">
                  <c:v>0.11</c:v>
                </c:pt>
                <c:pt idx="6">
                  <c:v>0.05</c:v>
                </c:pt>
                <c:pt idx="7">
                  <c:v>0.03</c:v>
                </c:pt>
                <c:pt idx="8">
                  <c:v>0.19</c:v>
                </c:pt>
                <c:pt idx="9">
                  <c:v>0.11</c:v>
                </c:pt>
                <c:pt idx="10">
                  <c:v>7.0000000000000007E-2</c:v>
                </c:pt>
              </c:numCache>
            </c:numRef>
          </c:val>
          <c:extLst>
            <c:ext xmlns:c16="http://schemas.microsoft.com/office/drawing/2014/chart" uri="{C3380CC4-5D6E-409C-BE32-E72D297353CC}">
              <c16:uniqueId val="{00000004-5D06-4E1B-BEE6-B53916E8B4DA}"/>
            </c:ext>
          </c:extLst>
        </c:ser>
        <c:ser>
          <c:idx val="5"/>
          <c:order val="5"/>
          <c:tx>
            <c:strRef>
              <c:f>Sheet1!$G$1</c:f>
              <c:strCache>
                <c:ptCount val="1"/>
                <c:pt idx="0">
                  <c:v>6 (6.0)</c:v>
                </c:pt>
              </c:strCache>
            </c:strRef>
          </c:tx>
          <c:spPr>
            <a:solidFill>
              <a:sysClr val="window" lastClr="FFFFFF">
                <a:lumMod val="75000"/>
              </a:sys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Sheet1!$G$2:$G$12</c:f>
              <c:numCache>
                <c:formatCode>0%</c:formatCode>
                <c:ptCount val="11"/>
                <c:pt idx="0">
                  <c:v>0.03</c:v>
                </c:pt>
                <c:pt idx="1">
                  <c:v>0.04</c:v>
                </c:pt>
                <c:pt idx="2">
                  <c:v>0.03</c:v>
                </c:pt>
                <c:pt idx="3">
                  <c:v>0.01</c:v>
                </c:pt>
                <c:pt idx="4">
                  <c:v>0.02</c:v>
                </c:pt>
                <c:pt idx="5">
                  <c:v>0.02</c:v>
                </c:pt>
                <c:pt idx="6">
                  <c:v>0.02</c:v>
                </c:pt>
                <c:pt idx="7">
                  <c:v>0</c:v>
                </c:pt>
                <c:pt idx="8">
                  <c:v>0.09</c:v>
                </c:pt>
                <c:pt idx="9">
                  <c:v>0.04</c:v>
                </c:pt>
                <c:pt idx="10">
                  <c:v>0.03</c:v>
                </c:pt>
              </c:numCache>
            </c:numRef>
          </c:val>
          <c:extLst>
            <c:ext xmlns:c16="http://schemas.microsoft.com/office/drawing/2014/chart" uri="{C3380CC4-5D6E-409C-BE32-E72D297353CC}">
              <c16:uniqueId val="{00000005-5D06-4E1B-BEE6-B53916E8B4DA}"/>
            </c:ext>
          </c:extLst>
        </c:ser>
        <c:ser>
          <c:idx val="6"/>
          <c:order val="6"/>
          <c:tx>
            <c:strRef>
              <c:f>Sheet1!$H$1</c:f>
              <c:strCache>
                <c:ptCount val="1"/>
                <c:pt idx="0">
                  <c:v>7 (7.0)</c:v>
                </c:pt>
              </c:strCache>
            </c:strRef>
          </c:tx>
          <c:spPr>
            <a:solidFill>
              <a:srgbClr val="4472C4">
                <a:lumMod val="60000"/>
                <a:lumOff val="40000"/>
              </a:srgb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Sheet1!$H$2:$H$12</c:f>
              <c:numCache>
                <c:formatCode>0%</c:formatCode>
                <c:ptCount val="11"/>
                <c:pt idx="0">
                  <c:v>0.03</c:v>
                </c:pt>
                <c:pt idx="1">
                  <c:v>0.04</c:v>
                </c:pt>
                <c:pt idx="2">
                  <c:v>0.02</c:v>
                </c:pt>
                <c:pt idx="3">
                  <c:v>0.02</c:v>
                </c:pt>
                <c:pt idx="4">
                  <c:v>0.05</c:v>
                </c:pt>
                <c:pt idx="5">
                  <c:v>0.01</c:v>
                </c:pt>
                <c:pt idx="6">
                  <c:v>0.02</c:v>
                </c:pt>
                <c:pt idx="7">
                  <c:v>0.01</c:v>
                </c:pt>
                <c:pt idx="8">
                  <c:v>0.04</c:v>
                </c:pt>
                <c:pt idx="9">
                  <c:v>0.03</c:v>
                </c:pt>
                <c:pt idx="10">
                  <c:v>0.02</c:v>
                </c:pt>
              </c:numCache>
            </c:numRef>
          </c:val>
          <c:extLst>
            <c:ext xmlns:c16="http://schemas.microsoft.com/office/drawing/2014/chart" uri="{C3380CC4-5D6E-409C-BE32-E72D297353CC}">
              <c16:uniqueId val="{00000006-5D06-4E1B-BEE6-B53916E8B4DA}"/>
            </c:ext>
          </c:extLst>
        </c:ser>
        <c:ser>
          <c:idx val="7"/>
          <c:order val="7"/>
          <c:tx>
            <c:strRef>
              <c:f>Sheet1!$I$1</c:f>
              <c:strCache>
                <c:ptCount val="1"/>
                <c:pt idx="0">
                  <c:v>8 (8.0)</c:v>
                </c:pt>
              </c:strCache>
            </c:strRef>
          </c:tx>
          <c:spPr>
            <a:solidFill>
              <a:srgbClr val="6AF7A9"/>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Sheet1!$I$2:$I$12</c:f>
              <c:numCache>
                <c:formatCode>0%</c:formatCode>
                <c:ptCount val="11"/>
                <c:pt idx="0">
                  <c:v>0.02</c:v>
                </c:pt>
                <c:pt idx="1">
                  <c:v>0.02</c:v>
                </c:pt>
                <c:pt idx="2">
                  <c:v>0.02</c:v>
                </c:pt>
                <c:pt idx="3">
                  <c:v>0.01</c:v>
                </c:pt>
                <c:pt idx="4">
                  <c:v>0.02</c:v>
                </c:pt>
                <c:pt idx="5">
                  <c:v>0.02</c:v>
                </c:pt>
                <c:pt idx="6">
                  <c:v>0</c:v>
                </c:pt>
                <c:pt idx="7">
                  <c:v>0</c:v>
                </c:pt>
                <c:pt idx="8">
                  <c:v>0.02</c:v>
                </c:pt>
                <c:pt idx="9">
                  <c:v>0.02</c:v>
                </c:pt>
                <c:pt idx="10">
                  <c:v>0.02</c:v>
                </c:pt>
              </c:numCache>
            </c:numRef>
          </c:val>
          <c:extLst>
            <c:ext xmlns:c16="http://schemas.microsoft.com/office/drawing/2014/chart" uri="{C3380CC4-5D6E-409C-BE32-E72D297353CC}">
              <c16:uniqueId val="{00000007-5D06-4E1B-BEE6-B53916E8B4DA}"/>
            </c:ext>
          </c:extLst>
        </c:ser>
        <c:ser>
          <c:idx val="8"/>
          <c:order val="8"/>
          <c:tx>
            <c:strRef>
              <c:f>Sheet1!$J$1</c:f>
              <c:strCache>
                <c:ptCount val="1"/>
                <c:pt idx="0">
                  <c:v>9 (9.0)</c:v>
                </c:pt>
              </c:strCache>
            </c:strRef>
          </c:tx>
          <c:spPr>
            <a:solidFill>
              <a:srgbClr val="92D050"/>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Sheet1!$J$2:$J$12</c:f>
              <c:numCache>
                <c:formatCode>0%</c:formatCode>
                <c:ptCount val="11"/>
                <c:pt idx="0">
                  <c:v>0</c:v>
                </c:pt>
                <c:pt idx="1">
                  <c:v>0</c:v>
                </c:pt>
                <c:pt idx="2">
                  <c:v>0.01</c:v>
                </c:pt>
                <c:pt idx="3">
                  <c:v>0.01</c:v>
                </c:pt>
                <c:pt idx="4">
                  <c:v>0</c:v>
                </c:pt>
                <c:pt idx="5">
                  <c:v>0.01</c:v>
                </c:pt>
                <c:pt idx="6">
                  <c:v>0</c:v>
                </c:pt>
                <c:pt idx="7">
                  <c:v>0</c:v>
                </c:pt>
                <c:pt idx="8">
                  <c:v>0</c:v>
                </c:pt>
                <c:pt idx="9">
                  <c:v>0</c:v>
                </c:pt>
                <c:pt idx="10">
                  <c:v>0.01</c:v>
                </c:pt>
              </c:numCache>
            </c:numRef>
          </c:val>
          <c:extLst>
            <c:ext xmlns:c16="http://schemas.microsoft.com/office/drawing/2014/chart" uri="{C3380CC4-5D6E-409C-BE32-E72D297353CC}">
              <c16:uniqueId val="{00000008-5D06-4E1B-BEE6-B53916E8B4DA}"/>
            </c:ext>
          </c:extLst>
        </c:ser>
        <c:ser>
          <c:idx val="9"/>
          <c:order val="9"/>
          <c:tx>
            <c:strRef>
              <c:f>Sheet1!$K$1</c:f>
              <c:strCache>
                <c:ptCount val="1"/>
                <c:pt idx="0">
                  <c:v>Very satisfied 10 (10.0)</c:v>
                </c:pt>
              </c:strCache>
            </c:strRef>
          </c:tx>
          <c:spPr>
            <a:solidFill>
              <a:srgbClr val="00B050"/>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Sheet1!$K$2:$K$12</c:f>
              <c:numCache>
                <c:formatCode>0%</c:formatCode>
                <c:ptCount val="11"/>
                <c:pt idx="0">
                  <c:v>0.02</c:v>
                </c:pt>
                <c:pt idx="1">
                  <c:v>0.02</c:v>
                </c:pt>
                <c:pt idx="2">
                  <c:v>0.01</c:v>
                </c:pt>
                <c:pt idx="3">
                  <c:v>0.02</c:v>
                </c:pt>
                <c:pt idx="4">
                  <c:v>0</c:v>
                </c:pt>
                <c:pt idx="5">
                  <c:v>0.02</c:v>
                </c:pt>
                <c:pt idx="6">
                  <c:v>0</c:v>
                </c:pt>
                <c:pt idx="7">
                  <c:v>0</c:v>
                </c:pt>
                <c:pt idx="8">
                  <c:v>0.04</c:v>
                </c:pt>
                <c:pt idx="9">
                  <c:v>0.02</c:v>
                </c:pt>
                <c:pt idx="10">
                  <c:v>0.01</c:v>
                </c:pt>
              </c:numCache>
            </c:numRef>
          </c:val>
          <c:extLst>
            <c:ext xmlns:c16="http://schemas.microsoft.com/office/drawing/2014/chart" uri="{C3380CC4-5D6E-409C-BE32-E72D297353CC}">
              <c16:uniqueId val="{00000009-5D06-4E1B-BEE6-B53916E8B4DA}"/>
            </c:ext>
          </c:extLst>
        </c:ser>
        <c:dLbls>
          <c:showLegendKey val="0"/>
          <c:showVal val="0"/>
          <c:showCatName val="0"/>
          <c:showSerName val="0"/>
          <c:showPercent val="0"/>
          <c:showBubbleSize val="0"/>
        </c:dLbls>
        <c:gapWidth val="100"/>
        <c:overlap val="100"/>
        <c:axId val="826811951"/>
        <c:axId val="826794479"/>
      </c:barChart>
      <c:catAx>
        <c:axId val="826811951"/>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826794479"/>
        <c:crosses val="autoZero"/>
        <c:auto val="1"/>
        <c:lblAlgn val="ctr"/>
        <c:lblOffset val="100"/>
        <c:noMultiLvlLbl val="0"/>
      </c:catAx>
      <c:valAx>
        <c:axId val="826794479"/>
        <c:scaling>
          <c:orientation val="minMax"/>
        </c:scaling>
        <c:delete val="1"/>
        <c:axPos val="l"/>
        <c:numFmt formatCode="0%" sourceLinked="1"/>
        <c:majorTickMark val="out"/>
        <c:minorTickMark val="none"/>
        <c:tickLblPos val="nextTo"/>
        <c:crossAx val="826811951"/>
        <c:crosses val="autoZero"/>
        <c:crossBetween val="between"/>
      </c:valAx>
      <c:spPr>
        <a:noFill/>
        <a:ln>
          <a:noFill/>
        </a:ln>
        <a:effectLst/>
      </c:spPr>
    </c:plotArea>
    <c:legend>
      <c:legendPos val="l"/>
      <c:layout>
        <c:manualLayout>
          <c:xMode val="edge"/>
          <c:yMode val="edge"/>
          <c:x val="6.6636350916468448E-3"/>
          <c:y val="5.2593993427196555E-2"/>
          <c:w val="0.16588181930076529"/>
          <c:h val="0.75949700685050536"/>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bg1"/>
          </a:solidFill>
          <a:latin typeface="+mn-lt"/>
        </a:defRPr>
      </a:pPr>
      <a:endParaRPr lang="en-US"/>
    </a:p>
  </c:txPr>
  <c:externalData r:id="rId4">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21704403910854142"/>
          <c:y val="3.6452182408077613E-2"/>
          <c:w val="0.77098182434070262"/>
          <c:h val="0.85592568451562434"/>
        </c:manualLayout>
      </c:layout>
      <c:barChart>
        <c:barDir val="col"/>
        <c:grouping val="percentStacked"/>
        <c:varyColors val="0"/>
        <c:ser>
          <c:idx val="0"/>
          <c:order val="0"/>
          <c:tx>
            <c:strRef>
              <c:f>Sheet1!$B$1</c:f>
              <c:strCache>
                <c:ptCount val="1"/>
                <c:pt idx="0">
                  <c:v>Very unsatisfied 1 (1.0)</c:v>
                </c:pt>
              </c:strCache>
            </c:strRef>
          </c:tx>
          <c:spPr>
            <a:solidFill>
              <a:schemeClr val="accent3">
                <a:shade val="42000"/>
              </a:scheme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Sheet1!$B$2:$B$12</c:f>
              <c:numCache>
                <c:formatCode>0%</c:formatCode>
                <c:ptCount val="11"/>
                <c:pt idx="0">
                  <c:v>0.13</c:v>
                </c:pt>
                <c:pt idx="1">
                  <c:v>0.12</c:v>
                </c:pt>
                <c:pt idx="2">
                  <c:v>0.14000000000000001</c:v>
                </c:pt>
                <c:pt idx="3">
                  <c:v>0.36</c:v>
                </c:pt>
                <c:pt idx="4">
                  <c:v>0</c:v>
                </c:pt>
                <c:pt idx="5">
                  <c:v>0.02</c:v>
                </c:pt>
                <c:pt idx="6">
                  <c:v>0.01</c:v>
                </c:pt>
                <c:pt idx="7">
                  <c:v>0.53</c:v>
                </c:pt>
                <c:pt idx="8">
                  <c:v>0.1</c:v>
                </c:pt>
                <c:pt idx="9">
                  <c:v>0.12</c:v>
                </c:pt>
                <c:pt idx="10">
                  <c:v>0.16</c:v>
                </c:pt>
              </c:numCache>
            </c:numRef>
          </c:val>
          <c:extLst>
            <c:ext xmlns:c16="http://schemas.microsoft.com/office/drawing/2014/chart" uri="{C3380CC4-5D6E-409C-BE32-E72D297353CC}">
              <c16:uniqueId val="{00000000-5D06-4E1B-BEE6-B53916E8B4DA}"/>
            </c:ext>
          </c:extLst>
        </c:ser>
        <c:ser>
          <c:idx val="1"/>
          <c:order val="1"/>
          <c:tx>
            <c:strRef>
              <c:f>Sheet1!$C$1</c:f>
              <c:strCache>
                <c:ptCount val="1"/>
                <c:pt idx="0">
                  <c:v>2 (2.0)</c:v>
                </c:pt>
              </c:strCache>
            </c:strRef>
          </c:tx>
          <c:spPr>
            <a:solidFill>
              <a:srgbClr val="FF5050"/>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Sheet1!$C$2:$C$12</c:f>
              <c:numCache>
                <c:formatCode>0%</c:formatCode>
                <c:ptCount val="11"/>
                <c:pt idx="0">
                  <c:v>0.08</c:v>
                </c:pt>
                <c:pt idx="1">
                  <c:v>7.0000000000000007E-2</c:v>
                </c:pt>
                <c:pt idx="2">
                  <c:v>0.09</c:v>
                </c:pt>
                <c:pt idx="3">
                  <c:v>0.16</c:v>
                </c:pt>
                <c:pt idx="4">
                  <c:v>0</c:v>
                </c:pt>
                <c:pt idx="5">
                  <c:v>0</c:v>
                </c:pt>
                <c:pt idx="6">
                  <c:v>0.06</c:v>
                </c:pt>
                <c:pt idx="7">
                  <c:v>0.31</c:v>
                </c:pt>
                <c:pt idx="8">
                  <c:v>0.08</c:v>
                </c:pt>
                <c:pt idx="9">
                  <c:v>7.0000000000000007E-2</c:v>
                </c:pt>
                <c:pt idx="10">
                  <c:v>0.09</c:v>
                </c:pt>
              </c:numCache>
            </c:numRef>
          </c:val>
          <c:extLst>
            <c:ext xmlns:c16="http://schemas.microsoft.com/office/drawing/2014/chart" uri="{C3380CC4-5D6E-409C-BE32-E72D297353CC}">
              <c16:uniqueId val="{00000001-5D06-4E1B-BEE6-B53916E8B4DA}"/>
            </c:ext>
          </c:extLst>
        </c:ser>
        <c:ser>
          <c:idx val="2"/>
          <c:order val="2"/>
          <c:tx>
            <c:strRef>
              <c:f>Sheet1!$D$1</c:f>
              <c:strCache>
                <c:ptCount val="1"/>
                <c:pt idx="0">
                  <c:v>3 (3.0)</c:v>
                </c:pt>
              </c:strCache>
            </c:strRef>
          </c:tx>
          <c:spPr>
            <a:solidFill>
              <a:srgbClr val="FF7C80"/>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Sheet1!$D$2:$D$12</c:f>
              <c:numCache>
                <c:formatCode>0%</c:formatCode>
                <c:ptCount val="11"/>
                <c:pt idx="0">
                  <c:v>0.08</c:v>
                </c:pt>
                <c:pt idx="1">
                  <c:v>7.0000000000000007E-2</c:v>
                </c:pt>
                <c:pt idx="2">
                  <c:v>0.08</c:v>
                </c:pt>
                <c:pt idx="3">
                  <c:v>0.15</c:v>
                </c:pt>
                <c:pt idx="4">
                  <c:v>0.01</c:v>
                </c:pt>
                <c:pt idx="5">
                  <c:v>0</c:v>
                </c:pt>
                <c:pt idx="6">
                  <c:v>0.19</c:v>
                </c:pt>
                <c:pt idx="7">
                  <c:v>0.09</c:v>
                </c:pt>
                <c:pt idx="8">
                  <c:v>0.08</c:v>
                </c:pt>
                <c:pt idx="9">
                  <c:v>7.0000000000000007E-2</c:v>
                </c:pt>
                <c:pt idx="10">
                  <c:v>0.08</c:v>
                </c:pt>
              </c:numCache>
            </c:numRef>
          </c:val>
          <c:extLst>
            <c:ext xmlns:c16="http://schemas.microsoft.com/office/drawing/2014/chart" uri="{C3380CC4-5D6E-409C-BE32-E72D297353CC}">
              <c16:uniqueId val="{00000002-5D06-4E1B-BEE6-B53916E8B4DA}"/>
            </c:ext>
          </c:extLst>
        </c:ser>
        <c:ser>
          <c:idx val="3"/>
          <c:order val="3"/>
          <c:tx>
            <c:strRef>
              <c:f>Sheet1!$E$1</c:f>
              <c:strCache>
                <c:ptCount val="1"/>
                <c:pt idx="0">
                  <c:v>4 (4.0)</c:v>
                </c:pt>
              </c:strCache>
            </c:strRef>
          </c:tx>
          <c:spPr>
            <a:solidFill>
              <a:srgbClr val="FFC000"/>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Sheet1!$E$2:$E$12</c:f>
              <c:numCache>
                <c:formatCode>0%</c:formatCode>
                <c:ptCount val="11"/>
                <c:pt idx="0">
                  <c:v>0.1</c:v>
                </c:pt>
                <c:pt idx="1">
                  <c:v>0.12</c:v>
                </c:pt>
                <c:pt idx="2">
                  <c:v>0.09</c:v>
                </c:pt>
                <c:pt idx="3">
                  <c:v>0.06</c:v>
                </c:pt>
                <c:pt idx="4">
                  <c:v>0.03</c:v>
                </c:pt>
                <c:pt idx="5">
                  <c:v>0.01</c:v>
                </c:pt>
                <c:pt idx="6">
                  <c:v>0.35</c:v>
                </c:pt>
                <c:pt idx="7">
                  <c:v>0.04</c:v>
                </c:pt>
                <c:pt idx="8">
                  <c:v>0.13</c:v>
                </c:pt>
                <c:pt idx="9">
                  <c:v>0.09</c:v>
                </c:pt>
                <c:pt idx="10">
                  <c:v>0.12</c:v>
                </c:pt>
              </c:numCache>
            </c:numRef>
          </c:val>
          <c:extLst>
            <c:ext xmlns:c16="http://schemas.microsoft.com/office/drawing/2014/chart" uri="{C3380CC4-5D6E-409C-BE32-E72D297353CC}">
              <c16:uniqueId val="{00000003-5D06-4E1B-BEE6-B53916E8B4DA}"/>
            </c:ext>
          </c:extLst>
        </c:ser>
        <c:ser>
          <c:idx val="4"/>
          <c:order val="4"/>
          <c:tx>
            <c:strRef>
              <c:f>Sheet1!$F$1</c:f>
              <c:strCache>
                <c:ptCount val="1"/>
                <c:pt idx="0">
                  <c:v>5 (5.0)</c:v>
                </c:pt>
              </c:strCache>
            </c:strRef>
          </c:tx>
          <c:spPr>
            <a:solidFill>
              <a:srgbClr val="FFC000">
                <a:lumMod val="40000"/>
                <a:lumOff val="60000"/>
              </a:srgb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Sheet1!$F$2:$F$12</c:f>
              <c:numCache>
                <c:formatCode>0%</c:formatCode>
                <c:ptCount val="11"/>
                <c:pt idx="0">
                  <c:v>0.11</c:v>
                </c:pt>
                <c:pt idx="1">
                  <c:v>0.11</c:v>
                </c:pt>
                <c:pt idx="2">
                  <c:v>0.11</c:v>
                </c:pt>
                <c:pt idx="3">
                  <c:v>0.09</c:v>
                </c:pt>
                <c:pt idx="4">
                  <c:v>0.04</c:v>
                </c:pt>
                <c:pt idx="5">
                  <c:v>0.04</c:v>
                </c:pt>
                <c:pt idx="6">
                  <c:v>0.22</c:v>
                </c:pt>
                <c:pt idx="7">
                  <c:v>0.02</c:v>
                </c:pt>
                <c:pt idx="8">
                  <c:v>0.2</c:v>
                </c:pt>
                <c:pt idx="9">
                  <c:v>0.12</c:v>
                </c:pt>
                <c:pt idx="10">
                  <c:v>0.08</c:v>
                </c:pt>
              </c:numCache>
            </c:numRef>
          </c:val>
          <c:extLst>
            <c:ext xmlns:c16="http://schemas.microsoft.com/office/drawing/2014/chart" uri="{C3380CC4-5D6E-409C-BE32-E72D297353CC}">
              <c16:uniqueId val="{00000004-5D06-4E1B-BEE6-B53916E8B4DA}"/>
            </c:ext>
          </c:extLst>
        </c:ser>
        <c:ser>
          <c:idx val="5"/>
          <c:order val="5"/>
          <c:tx>
            <c:strRef>
              <c:f>Sheet1!$G$1</c:f>
              <c:strCache>
                <c:ptCount val="1"/>
                <c:pt idx="0">
                  <c:v>6 (6.0)</c:v>
                </c:pt>
              </c:strCache>
            </c:strRef>
          </c:tx>
          <c:spPr>
            <a:solidFill>
              <a:sysClr val="window" lastClr="FFFFFF">
                <a:lumMod val="75000"/>
              </a:sys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Sheet1!$G$2:$G$12</c:f>
              <c:numCache>
                <c:formatCode>0%</c:formatCode>
                <c:ptCount val="11"/>
                <c:pt idx="0">
                  <c:v>0.1</c:v>
                </c:pt>
                <c:pt idx="1">
                  <c:v>0.11</c:v>
                </c:pt>
                <c:pt idx="2">
                  <c:v>0.1</c:v>
                </c:pt>
                <c:pt idx="3">
                  <c:v>0.06</c:v>
                </c:pt>
                <c:pt idx="4">
                  <c:v>0.11</c:v>
                </c:pt>
                <c:pt idx="5">
                  <c:v>0.06</c:v>
                </c:pt>
                <c:pt idx="6">
                  <c:v>0.11</c:v>
                </c:pt>
                <c:pt idx="7">
                  <c:v>0.01</c:v>
                </c:pt>
                <c:pt idx="8">
                  <c:v>0.19</c:v>
                </c:pt>
                <c:pt idx="9">
                  <c:v>0.12</c:v>
                </c:pt>
                <c:pt idx="10">
                  <c:v>0.08</c:v>
                </c:pt>
              </c:numCache>
            </c:numRef>
          </c:val>
          <c:extLst>
            <c:ext xmlns:c16="http://schemas.microsoft.com/office/drawing/2014/chart" uri="{C3380CC4-5D6E-409C-BE32-E72D297353CC}">
              <c16:uniqueId val="{00000005-5D06-4E1B-BEE6-B53916E8B4DA}"/>
            </c:ext>
          </c:extLst>
        </c:ser>
        <c:ser>
          <c:idx val="6"/>
          <c:order val="6"/>
          <c:tx>
            <c:strRef>
              <c:f>Sheet1!$H$1</c:f>
              <c:strCache>
                <c:ptCount val="1"/>
                <c:pt idx="0">
                  <c:v>7 (7.0)</c:v>
                </c:pt>
              </c:strCache>
            </c:strRef>
          </c:tx>
          <c:spPr>
            <a:solidFill>
              <a:srgbClr val="4472C4">
                <a:lumMod val="60000"/>
                <a:lumOff val="40000"/>
              </a:srgb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Sheet1!$H$2:$H$12</c:f>
              <c:numCache>
                <c:formatCode>0%</c:formatCode>
                <c:ptCount val="11"/>
                <c:pt idx="0">
                  <c:v>0.1</c:v>
                </c:pt>
                <c:pt idx="1">
                  <c:v>0.11</c:v>
                </c:pt>
                <c:pt idx="2">
                  <c:v>0.1</c:v>
                </c:pt>
                <c:pt idx="3">
                  <c:v>0.05</c:v>
                </c:pt>
                <c:pt idx="4">
                  <c:v>0.24</c:v>
                </c:pt>
                <c:pt idx="5">
                  <c:v>7.0000000000000007E-2</c:v>
                </c:pt>
                <c:pt idx="6">
                  <c:v>0.03</c:v>
                </c:pt>
                <c:pt idx="7">
                  <c:v>0</c:v>
                </c:pt>
                <c:pt idx="8">
                  <c:v>0.13</c:v>
                </c:pt>
                <c:pt idx="9">
                  <c:v>0.1</c:v>
                </c:pt>
                <c:pt idx="10">
                  <c:v>0.1</c:v>
                </c:pt>
              </c:numCache>
            </c:numRef>
          </c:val>
          <c:extLst>
            <c:ext xmlns:c16="http://schemas.microsoft.com/office/drawing/2014/chart" uri="{C3380CC4-5D6E-409C-BE32-E72D297353CC}">
              <c16:uniqueId val="{00000006-5D06-4E1B-BEE6-B53916E8B4DA}"/>
            </c:ext>
          </c:extLst>
        </c:ser>
        <c:ser>
          <c:idx val="7"/>
          <c:order val="7"/>
          <c:tx>
            <c:strRef>
              <c:f>Sheet1!$I$1</c:f>
              <c:strCache>
                <c:ptCount val="1"/>
                <c:pt idx="0">
                  <c:v>8 (8.0)</c:v>
                </c:pt>
              </c:strCache>
            </c:strRef>
          </c:tx>
          <c:spPr>
            <a:solidFill>
              <a:srgbClr val="6AF7A9"/>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Sheet1!$I$2:$I$12</c:f>
              <c:numCache>
                <c:formatCode>0%</c:formatCode>
                <c:ptCount val="11"/>
                <c:pt idx="0">
                  <c:v>0.13</c:v>
                </c:pt>
                <c:pt idx="1">
                  <c:v>0.13</c:v>
                </c:pt>
                <c:pt idx="2">
                  <c:v>0.12</c:v>
                </c:pt>
                <c:pt idx="3">
                  <c:v>0.02</c:v>
                </c:pt>
                <c:pt idx="4">
                  <c:v>0.34</c:v>
                </c:pt>
                <c:pt idx="5">
                  <c:v>0.24</c:v>
                </c:pt>
                <c:pt idx="6">
                  <c:v>0.02</c:v>
                </c:pt>
                <c:pt idx="7">
                  <c:v>0</c:v>
                </c:pt>
                <c:pt idx="8">
                  <c:v>0.04</c:v>
                </c:pt>
                <c:pt idx="9">
                  <c:v>0.14000000000000001</c:v>
                </c:pt>
                <c:pt idx="10">
                  <c:v>0.12</c:v>
                </c:pt>
              </c:numCache>
            </c:numRef>
          </c:val>
          <c:extLst>
            <c:ext xmlns:c16="http://schemas.microsoft.com/office/drawing/2014/chart" uri="{C3380CC4-5D6E-409C-BE32-E72D297353CC}">
              <c16:uniqueId val="{00000007-5D06-4E1B-BEE6-B53916E8B4DA}"/>
            </c:ext>
          </c:extLst>
        </c:ser>
        <c:ser>
          <c:idx val="8"/>
          <c:order val="8"/>
          <c:tx>
            <c:strRef>
              <c:f>Sheet1!$J$1</c:f>
              <c:strCache>
                <c:ptCount val="1"/>
                <c:pt idx="0">
                  <c:v>9 (9.0)</c:v>
                </c:pt>
              </c:strCache>
            </c:strRef>
          </c:tx>
          <c:spPr>
            <a:solidFill>
              <a:srgbClr val="92D050"/>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Sheet1!$J$2:$J$12</c:f>
              <c:numCache>
                <c:formatCode>0%</c:formatCode>
                <c:ptCount val="11"/>
                <c:pt idx="0">
                  <c:v>0.08</c:v>
                </c:pt>
                <c:pt idx="1">
                  <c:v>7.0000000000000007E-2</c:v>
                </c:pt>
                <c:pt idx="2">
                  <c:v>0.08</c:v>
                </c:pt>
                <c:pt idx="3">
                  <c:v>0.02</c:v>
                </c:pt>
                <c:pt idx="4">
                  <c:v>0.1</c:v>
                </c:pt>
                <c:pt idx="5">
                  <c:v>0.25</c:v>
                </c:pt>
                <c:pt idx="6">
                  <c:v>0.01</c:v>
                </c:pt>
                <c:pt idx="7">
                  <c:v>0</c:v>
                </c:pt>
                <c:pt idx="8">
                  <c:v>0.02</c:v>
                </c:pt>
                <c:pt idx="9">
                  <c:v>0.08</c:v>
                </c:pt>
                <c:pt idx="10">
                  <c:v>7.0000000000000007E-2</c:v>
                </c:pt>
              </c:numCache>
            </c:numRef>
          </c:val>
          <c:extLst>
            <c:ext xmlns:c16="http://schemas.microsoft.com/office/drawing/2014/chart" uri="{C3380CC4-5D6E-409C-BE32-E72D297353CC}">
              <c16:uniqueId val="{00000008-5D06-4E1B-BEE6-B53916E8B4DA}"/>
            </c:ext>
          </c:extLst>
        </c:ser>
        <c:ser>
          <c:idx val="9"/>
          <c:order val="9"/>
          <c:tx>
            <c:strRef>
              <c:f>Sheet1!$K$1</c:f>
              <c:strCache>
                <c:ptCount val="1"/>
                <c:pt idx="0">
                  <c:v>Very satisfied 10 (10.0)</c:v>
                </c:pt>
              </c:strCache>
            </c:strRef>
          </c:tx>
          <c:spPr>
            <a:solidFill>
              <a:srgbClr val="00B050"/>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Sheet1!$K$2:$K$12</c:f>
              <c:numCache>
                <c:formatCode>0%</c:formatCode>
                <c:ptCount val="11"/>
                <c:pt idx="0">
                  <c:v>0.09</c:v>
                </c:pt>
                <c:pt idx="1">
                  <c:v>0.1</c:v>
                </c:pt>
                <c:pt idx="2">
                  <c:v>0.09</c:v>
                </c:pt>
                <c:pt idx="3">
                  <c:v>0.04</c:v>
                </c:pt>
                <c:pt idx="4">
                  <c:v>0.11</c:v>
                </c:pt>
                <c:pt idx="5">
                  <c:v>0.31</c:v>
                </c:pt>
                <c:pt idx="6">
                  <c:v>0</c:v>
                </c:pt>
                <c:pt idx="7">
                  <c:v>0</c:v>
                </c:pt>
                <c:pt idx="8">
                  <c:v>0.03</c:v>
                </c:pt>
                <c:pt idx="9">
                  <c:v>0.09</c:v>
                </c:pt>
                <c:pt idx="10">
                  <c:v>0.1</c:v>
                </c:pt>
              </c:numCache>
            </c:numRef>
          </c:val>
          <c:extLst>
            <c:ext xmlns:c16="http://schemas.microsoft.com/office/drawing/2014/chart" uri="{C3380CC4-5D6E-409C-BE32-E72D297353CC}">
              <c16:uniqueId val="{00000009-5D06-4E1B-BEE6-B53916E8B4DA}"/>
            </c:ext>
          </c:extLst>
        </c:ser>
        <c:dLbls>
          <c:showLegendKey val="0"/>
          <c:showVal val="0"/>
          <c:showCatName val="0"/>
          <c:showSerName val="0"/>
          <c:showPercent val="0"/>
          <c:showBubbleSize val="0"/>
        </c:dLbls>
        <c:gapWidth val="100"/>
        <c:overlap val="100"/>
        <c:axId val="826811951"/>
        <c:axId val="826794479"/>
      </c:barChart>
      <c:catAx>
        <c:axId val="826811951"/>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826794479"/>
        <c:crosses val="autoZero"/>
        <c:auto val="1"/>
        <c:lblAlgn val="ctr"/>
        <c:lblOffset val="100"/>
        <c:noMultiLvlLbl val="0"/>
      </c:catAx>
      <c:valAx>
        <c:axId val="826794479"/>
        <c:scaling>
          <c:orientation val="minMax"/>
        </c:scaling>
        <c:delete val="1"/>
        <c:axPos val="l"/>
        <c:numFmt formatCode="0%" sourceLinked="1"/>
        <c:majorTickMark val="out"/>
        <c:minorTickMark val="none"/>
        <c:tickLblPos val="nextTo"/>
        <c:crossAx val="826811951"/>
        <c:crosses val="autoZero"/>
        <c:crossBetween val="between"/>
      </c:valAx>
      <c:spPr>
        <a:noFill/>
        <a:ln>
          <a:noFill/>
        </a:ln>
        <a:effectLst/>
      </c:spPr>
    </c:plotArea>
    <c:legend>
      <c:legendPos val="l"/>
      <c:layout>
        <c:manualLayout>
          <c:xMode val="edge"/>
          <c:yMode val="edge"/>
          <c:x val="6.6636350916468448E-3"/>
          <c:y val="5.2593993427196555E-2"/>
          <c:w val="0.16588181930076529"/>
          <c:h val="0.75949700685050536"/>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bg1"/>
          </a:solidFill>
          <a:latin typeface="+mn-lt"/>
        </a:defRPr>
      </a:pPr>
      <a:endParaRPr lang="en-US"/>
    </a:p>
  </c:txPr>
  <c:externalData r:id="rId4">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21704403910854142"/>
          <c:y val="3.6452182408077613E-2"/>
          <c:w val="0.77098182434070262"/>
          <c:h val="0.85592568451562434"/>
        </c:manualLayout>
      </c:layout>
      <c:barChart>
        <c:barDir val="col"/>
        <c:grouping val="percentStacked"/>
        <c:varyColors val="0"/>
        <c:ser>
          <c:idx val="0"/>
          <c:order val="0"/>
          <c:tx>
            <c:strRef>
              <c:f>Sheet1!$B$1</c:f>
              <c:strCache>
                <c:ptCount val="1"/>
                <c:pt idx="0">
                  <c:v>Very unsatisfied 1 (1.0)</c:v>
                </c:pt>
              </c:strCache>
            </c:strRef>
          </c:tx>
          <c:spPr>
            <a:solidFill>
              <a:schemeClr val="accent3">
                <a:shade val="42000"/>
              </a:scheme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Sheet1!$B$2:$B$12</c:f>
              <c:numCache>
                <c:formatCode>0%</c:formatCode>
                <c:ptCount val="11"/>
                <c:pt idx="0">
                  <c:v>0.17</c:v>
                </c:pt>
                <c:pt idx="1">
                  <c:v>0.16</c:v>
                </c:pt>
                <c:pt idx="2">
                  <c:v>0.17</c:v>
                </c:pt>
                <c:pt idx="3">
                  <c:v>0.37</c:v>
                </c:pt>
                <c:pt idx="4">
                  <c:v>0.09</c:v>
                </c:pt>
                <c:pt idx="5">
                  <c:v>0.05</c:v>
                </c:pt>
                <c:pt idx="6">
                  <c:v>0.12</c:v>
                </c:pt>
                <c:pt idx="7">
                  <c:v>0.47</c:v>
                </c:pt>
                <c:pt idx="8">
                  <c:v>0.12</c:v>
                </c:pt>
                <c:pt idx="9">
                  <c:v>0.15</c:v>
                </c:pt>
                <c:pt idx="10">
                  <c:v>0.21</c:v>
                </c:pt>
              </c:numCache>
            </c:numRef>
          </c:val>
          <c:extLst>
            <c:ext xmlns:c16="http://schemas.microsoft.com/office/drawing/2014/chart" uri="{C3380CC4-5D6E-409C-BE32-E72D297353CC}">
              <c16:uniqueId val="{00000000-5D06-4E1B-BEE6-B53916E8B4DA}"/>
            </c:ext>
          </c:extLst>
        </c:ser>
        <c:ser>
          <c:idx val="1"/>
          <c:order val="1"/>
          <c:tx>
            <c:strRef>
              <c:f>Sheet1!$C$1</c:f>
              <c:strCache>
                <c:ptCount val="1"/>
                <c:pt idx="0">
                  <c:v>2 (2.0)</c:v>
                </c:pt>
              </c:strCache>
            </c:strRef>
          </c:tx>
          <c:spPr>
            <a:solidFill>
              <a:srgbClr val="FF5050"/>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Sheet1!$C$2:$C$12</c:f>
              <c:numCache>
                <c:formatCode>0%</c:formatCode>
                <c:ptCount val="11"/>
                <c:pt idx="0">
                  <c:v>0.21</c:v>
                </c:pt>
                <c:pt idx="1">
                  <c:v>0.21</c:v>
                </c:pt>
                <c:pt idx="2">
                  <c:v>0.22</c:v>
                </c:pt>
                <c:pt idx="3">
                  <c:v>0.14000000000000001</c:v>
                </c:pt>
                <c:pt idx="4">
                  <c:v>0.41</c:v>
                </c:pt>
                <c:pt idx="5">
                  <c:v>0.1</c:v>
                </c:pt>
                <c:pt idx="6">
                  <c:v>0.24</c:v>
                </c:pt>
                <c:pt idx="7">
                  <c:v>0.34</c:v>
                </c:pt>
                <c:pt idx="8">
                  <c:v>0.11</c:v>
                </c:pt>
                <c:pt idx="9">
                  <c:v>0.21</c:v>
                </c:pt>
                <c:pt idx="10">
                  <c:v>0.22</c:v>
                </c:pt>
              </c:numCache>
            </c:numRef>
          </c:val>
          <c:extLst>
            <c:ext xmlns:c16="http://schemas.microsoft.com/office/drawing/2014/chart" uri="{C3380CC4-5D6E-409C-BE32-E72D297353CC}">
              <c16:uniqueId val="{00000001-5D06-4E1B-BEE6-B53916E8B4DA}"/>
            </c:ext>
          </c:extLst>
        </c:ser>
        <c:ser>
          <c:idx val="2"/>
          <c:order val="2"/>
          <c:tx>
            <c:strRef>
              <c:f>Sheet1!$D$1</c:f>
              <c:strCache>
                <c:ptCount val="1"/>
                <c:pt idx="0">
                  <c:v>3 (3.0)</c:v>
                </c:pt>
              </c:strCache>
            </c:strRef>
          </c:tx>
          <c:spPr>
            <a:solidFill>
              <a:srgbClr val="FF7C80"/>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Sheet1!$D$2:$D$12</c:f>
              <c:numCache>
                <c:formatCode>0%</c:formatCode>
                <c:ptCount val="11"/>
                <c:pt idx="0">
                  <c:v>0.18</c:v>
                </c:pt>
                <c:pt idx="1">
                  <c:v>0.19</c:v>
                </c:pt>
                <c:pt idx="2">
                  <c:v>0.18</c:v>
                </c:pt>
                <c:pt idx="3">
                  <c:v>0.16</c:v>
                </c:pt>
                <c:pt idx="4">
                  <c:v>0.19</c:v>
                </c:pt>
                <c:pt idx="5">
                  <c:v>0.1</c:v>
                </c:pt>
                <c:pt idx="6">
                  <c:v>0.36</c:v>
                </c:pt>
                <c:pt idx="7">
                  <c:v>0.12</c:v>
                </c:pt>
                <c:pt idx="8">
                  <c:v>0.18</c:v>
                </c:pt>
                <c:pt idx="9">
                  <c:v>0.21</c:v>
                </c:pt>
                <c:pt idx="10">
                  <c:v>0.14000000000000001</c:v>
                </c:pt>
              </c:numCache>
            </c:numRef>
          </c:val>
          <c:extLst>
            <c:ext xmlns:c16="http://schemas.microsoft.com/office/drawing/2014/chart" uri="{C3380CC4-5D6E-409C-BE32-E72D297353CC}">
              <c16:uniqueId val="{00000002-5D06-4E1B-BEE6-B53916E8B4DA}"/>
            </c:ext>
          </c:extLst>
        </c:ser>
        <c:ser>
          <c:idx val="3"/>
          <c:order val="3"/>
          <c:tx>
            <c:strRef>
              <c:f>Sheet1!$E$1</c:f>
              <c:strCache>
                <c:ptCount val="1"/>
                <c:pt idx="0">
                  <c:v>4 (4.0)</c:v>
                </c:pt>
              </c:strCache>
            </c:strRef>
          </c:tx>
          <c:spPr>
            <a:solidFill>
              <a:srgbClr val="FFC000"/>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Sheet1!$E$2:$E$12</c:f>
              <c:numCache>
                <c:formatCode>0%</c:formatCode>
                <c:ptCount val="11"/>
                <c:pt idx="0">
                  <c:v>0.12</c:v>
                </c:pt>
                <c:pt idx="1">
                  <c:v>0.12</c:v>
                </c:pt>
                <c:pt idx="2">
                  <c:v>0.12</c:v>
                </c:pt>
                <c:pt idx="3">
                  <c:v>0.12</c:v>
                </c:pt>
                <c:pt idx="4">
                  <c:v>0.1</c:v>
                </c:pt>
                <c:pt idx="5">
                  <c:v>0.1</c:v>
                </c:pt>
                <c:pt idx="6">
                  <c:v>0.16</c:v>
                </c:pt>
                <c:pt idx="7">
                  <c:v>0.03</c:v>
                </c:pt>
                <c:pt idx="8">
                  <c:v>0.17</c:v>
                </c:pt>
                <c:pt idx="9">
                  <c:v>0.11</c:v>
                </c:pt>
                <c:pt idx="10">
                  <c:v>0.13</c:v>
                </c:pt>
              </c:numCache>
            </c:numRef>
          </c:val>
          <c:extLst>
            <c:ext xmlns:c16="http://schemas.microsoft.com/office/drawing/2014/chart" uri="{C3380CC4-5D6E-409C-BE32-E72D297353CC}">
              <c16:uniqueId val="{00000003-5D06-4E1B-BEE6-B53916E8B4DA}"/>
            </c:ext>
          </c:extLst>
        </c:ser>
        <c:ser>
          <c:idx val="4"/>
          <c:order val="4"/>
          <c:tx>
            <c:strRef>
              <c:f>Sheet1!$F$1</c:f>
              <c:strCache>
                <c:ptCount val="1"/>
                <c:pt idx="0">
                  <c:v>5 (5.0)</c:v>
                </c:pt>
              </c:strCache>
            </c:strRef>
          </c:tx>
          <c:spPr>
            <a:solidFill>
              <a:srgbClr val="FFC000">
                <a:lumMod val="40000"/>
                <a:lumOff val="60000"/>
              </a:srgb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Sheet1!$F$2:$F$12</c:f>
              <c:numCache>
                <c:formatCode>0%</c:formatCode>
                <c:ptCount val="11"/>
                <c:pt idx="0">
                  <c:v>0.13</c:v>
                </c:pt>
                <c:pt idx="1">
                  <c:v>0.12</c:v>
                </c:pt>
                <c:pt idx="2">
                  <c:v>0.13</c:v>
                </c:pt>
                <c:pt idx="3">
                  <c:v>0.06</c:v>
                </c:pt>
                <c:pt idx="4">
                  <c:v>0.13</c:v>
                </c:pt>
                <c:pt idx="5">
                  <c:v>0.25</c:v>
                </c:pt>
                <c:pt idx="6">
                  <c:v>7.0000000000000007E-2</c:v>
                </c:pt>
                <c:pt idx="7">
                  <c:v>0.03</c:v>
                </c:pt>
                <c:pt idx="8">
                  <c:v>0.15</c:v>
                </c:pt>
                <c:pt idx="9">
                  <c:v>0.14000000000000001</c:v>
                </c:pt>
                <c:pt idx="10">
                  <c:v>0.11</c:v>
                </c:pt>
              </c:numCache>
            </c:numRef>
          </c:val>
          <c:extLst>
            <c:ext xmlns:c16="http://schemas.microsoft.com/office/drawing/2014/chart" uri="{C3380CC4-5D6E-409C-BE32-E72D297353CC}">
              <c16:uniqueId val="{00000004-5D06-4E1B-BEE6-B53916E8B4DA}"/>
            </c:ext>
          </c:extLst>
        </c:ser>
        <c:ser>
          <c:idx val="5"/>
          <c:order val="5"/>
          <c:tx>
            <c:strRef>
              <c:f>Sheet1!$G$1</c:f>
              <c:strCache>
                <c:ptCount val="1"/>
                <c:pt idx="0">
                  <c:v>6 (6.0)</c:v>
                </c:pt>
              </c:strCache>
            </c:strRef>
          </c:tx>
          <c:spPr>
            <a:solidFill>
              <a:sysClr val="window" lastClr="FFFFFF">
                <a:lumMod val="75000"/>
              </a:sys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Sheet1!$G$2:$G$12</c:f>
              <c:numCache>
                <c:formatCode>0%</c:formatCode>
                <c:ptCount val="11"/>
                <c:pt idx="0">
                  <c:v>7.0000000000000007E-2</c:v>
                </c:pt>
                <c:pt idx="1">
                  <c:v>0.08</c:v>
                </c:pt>
                <c:pt idx="2">
                  <c:v>7.0000000000000007E-2</c:v>
                </c:pt>
                <c:pt idx="3">
                  <c:v>7.0000000000000007E-2</c:v>
                </c:pt>
                <c:pt idx="4">
                  <c:v>0.04</c:v>
                </c:pt>
                <c:pt idx="5">
                  <c:v>0.22</c:v>
                </c:pt>
                <c:pt idx="6">
                  <c:v>0.01</c:v>
                </c:pt>
                <c:pt idx="7">
                  <c:v>0</c:v>
                </c:pt>
                <c:pt idx="8">
                  <c:v>0.06</c:v>
                </c:pt>
                <c:pt idx="9">
                  <c:v>0.06</c:v>
                </c:pt>
                <c:pt idx="10">
                  <c:v>0.1</c:v>
                </c:pt>
              </c:numCache>
            </c:numRef>
          </c:val>
          <c:extLst>
            <c:ext xmlns:c16="http://schemas.microsoft.com/office/drawing/2014/chart" uri="{C3380CC4-5D6E-409C-BE32-E72D297353CC}">
              <c16:uniqueId val="{00000005-5D06-4E1B-BEE6-B53916E8B4DA}"/>
            </c:ext>
          </c:extLst>
        </c:ser>
        <c:ser>
          <c:idx val="6"/>
          <c:order val="6"/>
          <c:tx>
            <c:strRef>
              <c:f>Sheet1!$H$1</c:f>
              <c:strCache>
                <c:ptCount val="1"/>
                <c:pt idx="0">
                  <c:v>7 (7.0)</c:v>
                </c:pt>
              </c:strCache>
            </c:strRef>
          </c:tx>
          <c:spPr>
            <a:solidFill>
              <a:srgbClr val="4472C4">
                <a:lumMod val="60000"/>
                <a:lumOff val="40000"/>
              </a:srgb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Sheet1!$H$2:$H$12</c:f>
              <c:numCache>
                <c:formatCode>0%</c:formatCode>
                <c:ptCount val="11"/>
                <c:pt idx="0">
                  <c:v>0.04</c:v>
                </c:pt>
                <c:pt idx="1">
                  <c:v>0.04</c:v>
                </c:pt>
                <c:pt idx="2">
                  <c:v>0.05</c:v>
                </c:pt>
                <c:pt idx="3">
                  <c:v>0.01</c:v>
                </c:pt>
                <c:pt idx="4">
                  <c:v>0</c:v>
                </c:pt>
                <c:pt idx="5">
                  <c:v>0.13</c:v>
                </c:pt>
                <c:pt idx="6">
                  <c:v>0.03</c:v>
                </c:pt>
                <c:pt idx="7">
                  <c:v>0.01</c:v>
                </c:pt>
                <c:pt idx="8">
                  <c:v>0.06</c:v>
                </c:pt>
                <c:pt idx="9">
                  <c:v>0.04</c:v>
                </c:pt>
                <c:pt idx="10">
                  <c:v>0.04</c:v>
                </c:pt>
              </c:numCache>
            </c:numRef>
          </c:val>
          <c:extLst>
            <c:ext xmlns:c16="http://schemas.microsoft.com/office/drawing/2014/chart" uri="{C3380CC4-5D6E-409C-BE32-E72D297353CC}">
              <c16:uniqueId val="{00000006-5D06-4E1B-BEE6-B53916E8B4DA}"/>
            </c:ext>
          </c:extLst>
        </c:ser>
        <c:ser>
          <c:idx val="7"/>
          <c:order val="7"/>
          <c:tx>
            <c:strRef>
              <c:f>Sheet1!$I$1</c:f>
              <c:strCache>
                <c:ptCount val="1"/>
                <c:pt idx="0">
                  <c:v>8 (8.0)</c:v>
                </c:pt>
              </c:strCache>
            </c:strRef>
          </c:tx>
          <c:spPr>
            <a:solidFill>
              <a:srgbClr val="6AF7A9"/>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Sheet1!$I$2:$I$12</c:f>
              <c:numCache>
                <c:formatCode>0%</c:formatCode>
                <c:ptCount val="11"/>
                <c:pt idx="0">
                  <c:v>0.02</c:v>
                </c:pt>
                <c:pt idx="1">
                  <c:v>0.02</c:v>
                </c:pt>
                <c:pt idx="2">
                  <c:v>0.01</c:v>
                </c:pt>
                <c:pt idx="3">
                  <c:v>0.04</c:v>
                </c:pt>
                <c:pt idx="4">
                  <c:v>0.01</c:v>
                </c:pt>
                <c:pt idx="5">
                  <c:v>0.04</c:v>
                </c:pt>
                <c:pt idx="6">
                  <c:v>0</c:v>
                </c:pt>
                <c:pt idx="7">
                  <c:v>0</c:v>
                </c:pt>
                <c:pt idx="8">
                  <c:v>0.01</c:v>
                </c:pt>
                <c:pt idx="9">
                  <c:v>0.01</c:v>
                </c:pt>
                <c:pt idx="10">
                  <c:v>0.02</c:v>
                </c:pt>
              </c:numCache>
            </c:numRef>
          </c:val>
          <c:extLst>
            <c:ext xmlns:c16="http://schemas.microsoft.com/office/drawing/2014/chart" uri="{C3380CC4-5D6E-409C-BE32-E72D297353CC}">
              <c16:uniqueId val="{00000007-5D06-4E1B-BEE6-B53916E8B4DA}"/>
            </c:ext>
          </c:extLst>
        </c:ser>
        <c:ser>
          <c:idx val="8"/>
          <c:order val="8"/>
          <c:tx>
            <c:strRef>
              <c:f>Sheet1!$J$1</c:f>
              <c:strCache>
                <c:ptCount val="1"/>
                <c:pt idx="0">
                  <c:v>9 (9.0)</c:v>
                </c:pt>
              </c:strCache>
            </c:strRef>
          </c:tx>
          <c:spPr>
            <a:solidFill>
              <a:srgbClr val="92D050"/>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Sheet1!$J$2:$J$12</c:f>
              <c:numCache>
                <c:formatCode>0%</c:formatCode>
                <c:ptCount val="11"/>
                <c:pt idx="0">
                  <c:v>0.01</c:v>
                </c:pt>
                <c:pt idx="1">
                  <c:v>0.01</c:v>
                </c:pt>
                <c:pt idx="2">
                  <c:v>0</c:v>
                </c:pt>
                <c:pt idx="3">
                  <c:v>0.01</c:v>
                </c:pt>
                <c:pt idx="4">
                  <c:v>0</c:v>
                </c:pt>
                <c:pt idx="5">
                  <c:v>0.01</c:v>
                </c:pt>
                <c:pt idx="6">
                  <c:v>0</c:v>
                </c:pt>
                <c:pt idx="7">
                  <c:v>0</c:v>
                </c:pt>
                <c:pt idx="8">
                  <c:v>0.02</c:v>
                </c:pt>
                <c:pt idx="9">
                  <c:v>0.01</c:v>
                </c:pt>
                <c:pt idx="10">
                  <c:v>0</c:v>
                </c:pt>
              </c:numCache>
            </c:numRef>
          </c:val>
          <c:extLst>
            <c:ext xmlns:c16="http://schemas.microsoft.com/office/drawing/2014/chart" uri="{C3380CC4-5D6E-409C-BE32-E72D297353CC}">
              <c16:uniqueId val="{00000008-5D06-4E1B-BEE6-B53916E8B4DA}"/>
            </c:ext>
          </c:extLst>
        </c:ser>
        <c:ser>
          <c:idx val="9"/>
          <c:order val="9"/>
          <c:tx>
            <c:strRef>
              <c:f>Sheet1!$K$1</c:f>
              <c:strCache>
                <c:ptCount val="1"/>
                <c:pt idx="0">
                  <c:v>Very satisfied 10 (10.0)</c:v>
                </c:pt>
              </c:strCache>
            </c:strRef>
          </c:tx>
          <c:spPr>
            <a:solidFill>
              <a:srgbClr val="00B050"/>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Sheet1!$K$2:$K$12</c:f>
              <c:numCache>
                <c:formatCode>0%</c:formatCode>
                <c:ptCount val="11"/>
                <c:pt idx="0">
                  <c:v>0.01</c:v>
                </c:pt>
                <c:pt idx="1">
                  <c:v>0.02</c:v>
                </c:pt>
                <c:pt idx="2">
                  <c:v>0.01</c:v>
                </c:pt>
                <c:pt idx="3">
                  <c:v>0.02</c:v>
                </c:pt>
                <c:pt idx="4">
                  <c:v>0</c:v>
                </c:pt>
                <c:pt idx="5">
                  <c:v>0.01</c:v>
                </c:pt>
                <c:pt idx="6">
                  <c:v>0</c:v>
                </c:pt>
                <c:pt idx="7">
                  <c:v>0</c:v>
                </c:pt>
                <c:pt idx="8">
                  <c:v>0.03</c:v>
                </c:pt>
                <c:pt idx="9">
                  <c:v>0.02</c:v>
                </c:pt>
                <c:pt idx="10">
                  <c:v>0.01</c:v>
                </c:pt>
              </c:numCache>
            </c:numRef>
          </c:val>
          <c:extLst>
            <c:ext xmlns:c16="http://schemas.microsoft.com/office/drawing/2014/chart" uri="{C3380CC4-5D6E-409C-BE32-E72D297353CC}">
              <c16:uniqueId val="{00000009-5D06-4E1B-BEE6-B53916E8B4DA}"/>
            </c:ext>
          </c:extLst>
        </c:ser>
        <c:dLbls>
          <c:showLegendKey val="0"/>
          <c:showVal val="0"/>
          <c:showCatName val="0"/>
          <c:showSerName val="0"/>
          <c:showPercent val="0"/>
          <c:showBubbleSize val="0"/>
        </c:dLbls>
        <c:gapWidth val="100"/>
        <c:overlap val="100"/>
        <c:axId val="826811951"/>
        <c:axId val="826794479"/>
      </c:barChart>
      <c:catAx>
        <c:axId val="826811951"/>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826794479"/>
        <c:crosses val="autoZero"/>
        <c:auto val="1"/>
        <c:lblAlgn val="ctr"/>
        <c:lblOffset val="100"/>
        <c:noMultiLvlLbl val="0"/>
      </c:catAx>
      <c:valAx>
        <c:axId val="826794479"/>
        <c:scaling>
          <c:orientation val="minMax"/>
        </c:scaling>
        <c:delete val="1"/>
        <c:axPos val="l"/>
        <c:numFmt formatCode="0%" sourceLinked="1"/>
        <c:majorTickMark val="out"/>
        <c:minorTickMark val="none"/>
        <c:tickLblPos val="nextTo"/>
        <c:crossAx val="826811951"/>
        <c:crosses val="autoZero"/>
        <c:crossBetween val="between"/>
      </c:valAx>
      <c:spPr>
        <a:noFill/>
        <a:ln>
          <a:noFill/>
        </a:ln>
        <a:effectLst/>
      </c:spPr>
    </c:plotArea>
    <c:legend>
      <c:legendPos val="l"/>
      <c:layout>
        <c:manualLayout>
          <c:xMode val="edge"/>
          <c:yMode val="edge"/>
          <c:x val="6.6636350916468448E-3"/>
          <c:y val="5.2593993427196555E-2"/>
          <c:w val="0.16588181930076529"/>
          <c:h val="0.75949700685050536"/>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bg1"/>
          </a:solidFill>
          <a:latin typeface="+mn-lt"/>
        </a:defRPr>
      </a:pPr>
      <a:endParaRPr lang="en-US"/>
    </a:p>
  </c:txPr>
  <c:externalData r:id="rId4">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21704403910854142"/>
          <c:y val="3.6452182408077613E-2"/>
          <c:w val="0.77098182434070262"/>
          <c:h val="0.85592568451562434"/>
        </c:manualLayout>
      </c:layout>
      <c:barChart>
        <c:barDir val="col"/>
        <c:grouping val="percentStacked"/>
        <c:varyColors val="0"/>
        <c:ser>
          <c:idx val="0"/>
          <c:order val="0"/>
          <c:tx>
            <c:strRef>
              <c:f>Sheet1!$B$1</c:f>
              <c:strCache>
                <c:ptCount val="1"/>
                <c:pt idx="0">
                  <c:v>Very unsatisfied 1 (1.0)</c:v>
                </c:pt>
              </c:strCache>
            </c:strRef>
          </c:tx>
          <c:spPr>
            <a:solidFill>
              <a:schemeClr val="accent3">
                <a:shade val="42000"/>
              </a:scheme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Sheet1!$B$2:$B$12</c:f>
              <c:numCache>
                <c:formatCode>0%</c:formatCode>
                <c:ptCount val="11"/>
                <c:pt idx="0">
                  <c:v>0.19</c:v>
                </c:pt>
                <c:pt idx="1">
                  <c:v>0.19</c:v>
                </c:pt>
                <c:pt idx="2">
                  <c:v>0.19</c:v>
                </c:pt>
                <c:pt idx="3">
                  <c:v>0.38</c:v>
                </c:pt>
                <c:pt idx="4">
                  <c:v>0.13</c:v>
                </c:pt>
                <c:pt idx="5">
                  <c:v>0.08</c:v>
                </c:pt>
                <c:pt idx="6">
                  <c:v>0.13</c:v>
                </c:pt>
                <c:pt idx="7">
                  <c:v>0.51</c:v>
                </c:pt>
                <c:pt idx="8">
                  <c:v>0.15</c:v>
                </c:pt>
                <c:pt idx="9">
                  <c:v>0.18</c:v>
                </c:pt>
                <c:pt idx="10">
                  <c:v>0.22</c:v>
                </c:pt>
              </c:numCache>
            </c:numRef>
          </c:val>
          <c:extLst>
            <c:ext xmlns:c16="http://schemas.microsoft.com/office/drawing/2014/chart" uri="{C3380CC4-5D6E-409C-BE32-E72D297353CC}">
              <c16:uniqueId val="{00000000-5D06-4E1B-BEE6-B53916E8B4DA}"/>
            </c:ext>
          </c:extLst>
        </c:ser>
        <c:ser>
          <c:idx val="1"/>
          <c:order val="1"/>
          <c:tx>
            <c:strRef>
              <c:f>Sheet1!$C$1</c:f>
              <c:strCache>
                <c:ptCount val="1"/>
                <c:pt idx="0">
                  <c:v>2 (2.0)</c:v>
                </c:pt>
              </c:strCache>
            </c:strRef>
          </c:tx>
          <c:spPr>
            <a:solidFill>
              <a:srgbClr val="FF5050"/>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Sheet1!$C$2:$C$12</c:f>
              <c:numCache>
                <c:formatCode>0%</c:formatCode>
                <c:ptCount val="11"/>
                <c:pt idx="0">
                  <c:v>0.24</c:v>
                </c:pt>
                <c:pt idx="1">
                  <c:v>0.24</c:v>
                </c:pt>
                <c:pt idx="2">
                  <c:v>0.24</c:v>
                </c:pt>
                <c:pt idx="3">
                  <c:v>0.21</c:v>
                </c:pt>
                <c:pt idx="4">
                  <c:v>0.47</c:v>
                </c:pt>
                <c:pt idx="5">
                  <c:v>0.11</c:v>
                </c:pt>
                <c:pt idx="6">
                  <c:v>0.28999999999999998</c:v>
                </c:pt>
                <c:pt idx="7">
                  <c:v>0.3</c:v>
                </c:pt>
                <c:pt idx="8">
                  <c:v>0.13</c:v>
                </c:pt>
                <c:pt idx="9">
                  <c:v>0.22</c:v>
                </c:pt>
                <c:pt idx="10">
                  <c:v>0.27</c:v>
                </c:pt>
              </c:numCache>
            </c:numRef>
          </c:val>
          <c:extLst>
            <c:ext xmlns:c16="http://schemas.microsoft.com/office/drawing/2014/chart" uri="{C3380CC4-5D6E-409C-BE32-E72D297353CC}">
              <c16:uniqueId val="{00000001-5D06-4E1B-BEE6-B53916E8B4DA}"/>
            </c:ext>
          </c:extLst>
        </c:ser>
        <c:ser>
          <c:idx val="2"/>
          <c:order val="2"/>
          <c:tx>
            <c:strRef>
              <c:f>Sheet1!$D$1</c:f>
              <c:strCache>
                <c:ptCount val="1"/>
                <c:pt idx="0">
                  <c:v>3 (3.0)</c:v>
                </c:pt>
              </c:strCache>
            </c:strRef>
          </c:tx>
          <c:spPr>
            <a:solidFill>
              <a:srgbClr val="FF7C80"/>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Sheet1!$D$2:$D$12</c:f>
              <c:numCache>
                <c:formatCode>0%</c:formatCode>
                <c:ptCount val="11"/>
                <c:pt idx="0">
                  <c:v>0.18</c:v>
                </c:pt>
                <c:pt idx="1">
                  <c:v>0.16</c:v>
                </c:pt>
                <c:pt idx="2">
                  <c:v>0.21</c:v>
                </c:pt>
                <c:pt idx="3">
                  <c:v>0.18</c:v>
                </c:pt>
                <c:pt idx="4">
                  <c:v>0.16</c:v>
                </c:pt>
                <c:pt idx="5">
                  <c:v>0.12</c:v>
                </c:pt>
                <c:pt idx="6">
                  <c:v>0.26</c:v>
                </c:pt>
                <c:pt idx="7">
                  <c:v>0.11</c:v>
                </c:pt>
                <c:pt idx="8">
                  <c:v>0.26</c:v>
                </c:pt>
                <c:pt idx="9">
                  <c:v>0.21</c:v>
                </c:pt>
                <c:pt idx="10">
                  <c:v>0.13</c:v>
                </c:pt>
              </c:numCache>
            </c:numRef>
          </c:val>
          <c:extLst>
            <c:ext xmlns:c16="http://schemas.microsoft.com/office/drawing/2014/chart" uri="{C3380CC4-5D6E-409C-BE32-E72D297353CC}">
              <c16:uniqueId val="{00000002-5D06-4E1B-BEE6-B53916E8B4DA}"/>
            </c:ext>
          </c:extLst>
        </c:ser>
        <c:ser>
          <c:idx val="3"/>
          <c:order val="3"/>
          <c:tx>
            <c:strRef>
              <c:f>Sheet1!$E$1</c:f>
              <c:strCache>
                <c:ptCount val="1"/>
                <c:pt idx="0">
                  <c:v>4 (4.0)</c:v>
                </c:pt>
              </c:strCache>
            </c:strRef>
          </c:tx>
          <c:spPr>
            <a:solidFill>
              <a:srgbClr val="FFC000"/>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Sheet1!$E$2:$E$12</c:f>
              <c:numCache>
                <c:formatCode>0%</c:formatCode>
                <c:ptCount val="11"/>
                <c:pt idx="0">
                  <c:v>0.13</c:v>
                </c:pt>
                <c:pt idx="1">
                  <c:v>0.13</c:v>
                </c:pt>
                <c:pt idx="2">
                  <c:v>0.13</c:v>
                </c:pt>
                <c:pt idx="3">
                  <c:v>0.09</c:v>
                </c:pt>
                <c:pt idx="4">
                  <c:v>0.17</c:v>
                </c:pt>
                <c:pt idx="5">
                  <c:v>7.0000000000000007E-2</c:v>
                </c:pt>
                <c:pt idx="6">
                  <c:v>0.2</c:v>
                </c:pt>
                <c:pt idx="7">
                  <c:v>0.06</c:v>
                </c:pt>
                <c:pt idx="8">
                  <c:v>0.17</c:v>
                </c:pt>
                <c:pt idx="9">
                  <c:v>0.13</c:v>
                </c:pt>
                <c:pt idx="10">
                  <c:v>0.15</c:v>
                </c:pt>
              </c:numCache>
            </c:numRef>
          </c:val>
          <c:extLst>
            <c:ext xmlns:c16="http://schemas.microsoft.com/office/drawing/2014/chart" uri="{C3380CC4-5D6E-409C-BE32-E72D297353CC}">
              <c16:uniqueId val="{00000003-5D06-4E1B-BEE6-B53916E8B4DA}"/>
            </c:ext>
          </c:extLst>
        </c:ser>
        <c:ser>
          <c:idx val="4"/>
          <c:order val="4"/>
          <c:tx>
            <c:strRef>
              <c:f>Sheet1!$F$1</c:f>
              <c:strCache>
                <c:ptCount val="1"/>
                <c:pt idx="0">
                  <c:v>5 (5.0)</c:v>
                </c:pt>
              </c:strCache>
            </c:strRef>
          </c:tx>
          <c:spPr>
            <a:solidFill>
              <a:srgbClr val="FFC000">
                <a:lumMod val="40000"/>
                <a:lumOff val="60000"/>
              </a:srgb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Sheet1!$F$2:$F$12</c:f>
              <c:numCache>
                <c:formatCode>0%</c:formatCode>
                <c:ptCount val="11"/>
                <c:pt idx="0">
                  <c:v>0.1</c:v>
                </c:pt>
                <c:pt idx="1">
                  <c:v>0.1</c:v>
                </c:pt>
                <c:pt idx="2">
                  <c:v>0.1</c:v>
                </c:pt>
                <c:pt idx="3">
                  <c:v>0.04</c:v>
                </c:pt>
                <c:pt idx="4">
                  <c:v>0.03</c:v>
                </c:pt>
                <c:pt idx="5">
                  <c:v>0.2</c:v>
                </c:pt>
                <c:pt idx="6">
                  <c:v>0.09</c:v>
                </c:pt>
                <c:pt idx="7">
                  <c:v>0.02</c:v>
                </c:pt>
                <c:pt idx="8">
                  <c:v>0.14000000000000001</c:v>
                </c:pt>
                <c:pt idx="9">
                  <c:v>0.1</c:v>
                </c:pt>
                <c:pt idx="10">
                  <c:v>0.09</c:v>
                </c:pt>
              </c:numCache>
            </c:numRef>
          </c:val>
          <c:extLst>
            <c:ext xmlns:c16="http://schemas.microsoft.com/office/drawing/2014/chart" uri="{C3380CC4-5D6E-409C-BE32-E72D297353CC}">
              <c16:uniqueId val="{00000004-5D06-4E1B-BEE6-B53916E8B4DA}"/>
            </c:ext>
          </c:extLst>
        </c:ser>
        <c:ser>
          <c:idx val="5"/>
          <c:order val="5"/>
          <c:tx>
            <c:strRef>
              <c:f>Sheet1!$G$1</c:f>
              <c:strCache>
                <c:ptCount val="1"/>
                <c:pt idx="0">
                  <c:v>6 (6.0)</c:v>
                </c:pt>
              </c:strCache>
            </c:strRef>
          </c:tx>
          <c:spPr>
            <a:solidFill>
              <a:sysClr val="window" lastClr="FFFFFF">
                <a:lumMod val="75000"/>
              </a:sys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Sheet1!$G$2:$G$12</c:f>
              <c:numCache>
                <c:formatCode>0%</c:formatCode>
                <c:ptCount val="11"/>
                <c:pt idx="0">
                  <c:v>7.0000000000000007E-2</c:v>
                </c:pt>
                <c:pt idx="1">
                  <c:v>0.06</c:v>
                </c:pt>
                <c:pt idx="2">
                  <c:v>7.0000000000000007E-2</c:v>
                </c:pt>
                <c:pt idx="3">
                  <c:v>0.04</c:v>
                </c:pt>
                <c:pt idx="4">
                  <c:v>0.01</c:v>
                </c:pt>
                <c:pt idx="5">
                  <c:v>0.22</c:v>
                </c:pt>
                <c:pt idx="6">
                  <c:v>0.01</c:v>
                </c:pt>
                <c:pt idx="7">
                  <c:v>0</c:v>
                </c:pt>
                <c:pt idx="8">
                  <c:v>0.06</c:v>
                </c:pt>
                <c:pt idx="9">
                  <c:v>0.06</c:v>
                </c:pt>
                <c:pt idx="10">
                  <c:v>7.0000000000000007E-2</c:v>
                </c:pt>
              </c:numCache>
            </c:numRef>
          </c:val>
          <c:extLst>
            <c:ext xmlns:c16="http://schemas.microsoft.com/office/drawing/2014/chart" uri="{C3380CC4-5D6E-409C-BE32-E72D297353CC}">
              <c16:uniqueId val="{00000005-5D06-4E1B-BEE6-B53916E8B4DA}"/>
            </c:ext>
          </c:extLst>
        </c:ser>
        <c:ser>
          <c:idx val="6"/>
          <c:order val="6"/>
          <c:tx>
            <c:strRef>
              <c:f>Sheet1!$H$1</c:f>
              <c:strCache>
                <c:ptCount val="1"/>
                <c:pt idx="0">
                  <c:v>7 (7.0)</c:v>
                </c:pt>
              </c:strCache>
            </c:strRef>
          </c:tx>
          <c:spPr>
            <a:solidFill>
              <a:srgbClr val="4472C4">
                <a:lumMod val="60000"/>
                <a:lumOff val="40000"/>
              </a:srgb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Sheet1!$H$2:$H$12</c:f>
              <c:numCache>
                <c:formatCode>0%</c:formatCode>
                <c:ptCount val="11"/>
                <c:pt idx="0">
                  <c:v>0.05</c:v>
                </c:pt>
                <c:pt idx="1">
                  <c:v>0.05</c:v>
                </c:pt>
                <c:pt idx="2">
                  <c:v>0.05</c:v>
                </c:pt>
                <c:pt idx="3">
                  <c:v>0.05</c:v>
                </c:pt>
                <c:pt idx="4">
                  <c:v>0.03</c:v>
                </c:pt>
                <c:pt idx="5">
                  <c:v>0.13</c:v>
                </c:pt>
                <c:pt idx="6">
                  <c:v>0.02</c:v>
                </c:pt>
                <c:pt idx="7">
                  <c:v>0</c:v>
                </c:pt>
                <c:pt idx="8">
                  <c:v>0.04</c:v>
                </c:pt>
                <c:pt idx="9">
                  <c:v>0.04</c:v>
                </c:pt>
                <c:pt idx="10">
                  <c:v>0.06</c:v>
                </c:pt>
              </c:numCache>
            </c:numRef>
          </c:val>
          <c:extLst>
            <c:ext xmlns:c16="http://schemas.microsoft.com/office/drawing/2014/chart" uri="{C3380CC4-5D6E-409C-BE32-E72D297353CC}">
              <c16:uniqueId val="{00000006-5D06-4E1B-BEE6-B53916E8B4DA}"/>
            </c:ext>
          </c:extLst>
        </c:ser>
        <c:ser>
          <c:idx val="7"/>
          <c:order val="7"/>
          <c:tx>
            <c:strRef>
              <c:f>Sheet1!$I$1</c:f>
              <c:strCache>
                <c:ptCount val="1"/>
                <c:pt idx="0">
                  <c:v>8 (8.0)</c:v>
                </c:pt>
              </c:strCache>
            </c:strRef>
          </c:tx>
          <c:spPr>
            <a:solidFill>
              <a:srgbClr val="6AF7A9"/>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Sheet1!$I$2:$I$12</c:f>
              <c:numCache>
                <c:formatCode>0%</c:formatCode>
                <c:ptCount val="11"/>
                <c:pt idx="0">
                  <c:v>0.01</c:v>
                </c:pt>
                <c:pt idx="1">
                  <c:v>0.02</c:v>
                </c:pt>
                <c:pt idx="2">
                  <c:v>0.01</c:v>
                </c:pt>
                <c:pt idx="3">
                  <c:v>0.02</c:v>
                </c:pt>
                <c:pt idx="4">
                  <c:v>0</c:v>
                </c:pt>
                <c:pt idx="5">
                  <c:v>0.05</c:v>
                </c:pt>
                <c:pt idx="6">
                  <c:v>0</c:v>
                </c:pt>
                <c:pt idx="7">
                  <c:v>0</c:v>
                </c:pt>
                <c:pt idx="8">
                  <c:v>0.01</c:v>
                </c:pt>
                <c:pt idx="9">
                  <c:v>0.02</c:v>
                </c:pt>
                <c:pt idx="10">
                  <c:v>0.01</c:v>
                </c:pt>
              </c:numCache>
            </c:numRef>
          </c:val>
          <c:extLst>
            <c:ext xmlns:c16="http://schemas.microsoft.com/office/drawing/2014/chart" uri="{C3380CC4-5D6E-409C-BE32-E72D297353CC}">
              <c16:uniqueId val="{00000007-5D06-4E1B-BEE6-B53916E8B4DA}"/>
            </c:ext>
          </c:extLst>
        </c:ser>
        <c:ser>
          <c:idx val="8"/>
          <c:order val="8"/>
          <c:tx>
            <c:strRef>
              <c:f>Sheet1!$J$1</c:f>
              <c:strCache>
                <c:ptCount val="1"/>
                <c:pt idx="0">
                  <c:v>9 (9.0)</c:v>
                </c:pt>
              </c:strCache>
            </c:strRef>
          </c:tx>
          <c:spPr>
            <a:solidFill>
              <a:srgbClr val="92D050"/>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Sheet1!$J$2:$J$12</c:f>
              <c:numCache>
                <c:formatCode>0%</c:formatCode>
                <c:ptCount val="11"/>
                <c:pt idx="0">
                  <c:v>0</c:v>
                </c:pt>
                <c:pt idx="1">
                  <c:v>0.01</c:v>
                </c:pt>
                <c:pt idx="2">
                  <c:v>0</c:v>
                </c:pt>
                <c:pt idx="3">
                  <c:v>0.01</c:v>
                </c:pt>
                <c:pt idx="4">
                  <c:v>0</c:v>
                </c:pt>
                <c:pt idx="5">
                  <c:v>0.01</c:v>
                </c:pt>
                <c:pt idx="6">
                  <c:v>0</c:v>
                </c:pt>
                <c:pt idx="7">
                  <c:v>0</c:v>
                </c:pt>
                <c:pt idx="8">
                  <c:v>0.01</c:v>
                </c:pt>
                <c:pt idx="9">
                  <c:v>0.01</c:v>
                </c:pt>
                <c:pt idx="10">
                  <c:v>0</c:v>
                </c:pt>
              </c:numCache>
            </c:numRef>
          </c:val>
          <c:extLst>
            <c:ext xmlns:c16="http://schemas.microsoft.com/office/drawing/2014/chart" uri="{C3380CC4-5D6E-409C-BE32-E72D297353CC}">
              <c16:uniqueId val="{00000008-5D06-4E1B-BEE6-B53916E8B4DA}"/>
            </c:ext>
          </c:extLst>
        </c:ser>
        <c:ser>
          <c:idx val="9"/>
          <c:order val="9"/>
          <c:tx>
            <c:strRef>
              <c:f>Sheet1!$K$1</c:f>
              <c:strCache>
                <c:ptCount val="1"/>
                <c:pt idx="0">
                  <c:v>Very satisfied 10 (10.0)</c:v>
                </c:pt>
              </c:strCache>
            </c:strRef>
          </c:tx>
          <c:spPr>
            <a:solidFill>
              <a:srgbClr val="00B050"/>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Sheet1!$K$2:$K$12</c:f>
              <c:numCache>
                <c:formatCode>0%</c:formatCode>
                <c:ptCount val="11"/>
                <c:pt idx="0">
                  <c:v>0.02</c:v>
                </c:pt>
                <c:pt idx="1">
                  <c:v>0.03</c:v>
                </c:pt>
                <c:pt idx="2">
                  <c:v>0.01</c:v>
                </c:pt>
                <c:pt idx="3">
                  <c:v>0.01</c:v>
                </c:pt>
                <c:pt idx="4">
                  <c:v>0.01</c:v>
                </c:pt>
                <c:pt idx="5">
                  <c:v>0.02</c:v>
                </c:pt>
                <c:pt idx="6">
                  <c:v>0</c:v>
                </c:pt>
                <c:pt idx="7">
                  <c:v>0</c:v>
                </c:pt>
                <c:pt idx="8">
                  <c:v>0.04</c:v>
                </c:pt>
                <c:pt idx="9">
                  <c:v>0.03</c:v>
                </c:pt>
                <c:pt idx="10">
                  <c:v>0</c:v>
                </c:pt>
              </c:numCache>
            </c:numRef>
          </c:val>
          <c:extLst>
            <c:ext xmlns:c16="http://schemas.microsoft.com/office/drawing/2014/chart" uri="{C3380CC4-5D6E-409C-BE32-E72D297353CC}">
              <c16:uniqueId val="{00000009-5D06-4E1B-BEE6-B53916E8B4DA}"/>
            </c:ext>
          </c:extLst>
        </c:ser>
        <c:dLbls>
          <c:showLegendKey val="0"/>
          <c:showVal val="0"/>
          <c:showCatName val="0"/>
          <c:showSerName val="0"/>
          <c:showPercent val="0"/>
          <c:showBubbleSize val="0"/>
        </c:dLbls>
        <c:gapWidth val="100"/>
        <c:overlap val="100"/>
        <c:axId val="826811951"/>
        <c:axId val="826794479"/>
      </c:barChart>
      <c:catAx>
        <c:axId val="826811951"/>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826794479"/>
        <c:crosses val="autoZero"/>
        <c:auto val="1"/>
        <c:lblAlgn val="ctr"/>
        <c:lblOffset val="100"/>
        <c:noMultiLvlLbl val="0"/>
      </c:catAx>
      <c:valAx>
        <c:axId val="826794479"/>
        <c:scaling>
          <c:orientation val="minMax"/>
        </c:scaling>
        <c:delete val="1"/>
        <c:axPos val="l"/>
        <c:numFmt formatCode="0%" sourceLinked="1"/>
        <c:majorTickMark val="out"/>
        <c:minorTickMark val="none"/>
        <c:tickLblPos val="nextTo"/>
        <c:crossAx val="826811951"/>
        <c:crosses val="autoZero"/>
        <c:crossBetween val="between"/>
      </c:valAx>
      <c:spPr>
        <a:noFill/>
        <a:ln>
          <a:noFill/>
        </a:ln>
        <a:effectLst/>
      </c:spPr>
    </c:plotArea>
    <c:legend>
      <c:legendPos val="l"/>
      <c:layout>
        <c:manualLayout>
          <c:xMode val="edge"/>
          <c:yMode val="edge"/>
          <c:x val="6.6636350916468448E-3"/>
          <c:y val="5.2593993427196555E-2"/>
          <c:w val="0.16588181930076529"/>
          <c:h val="0.75949700685050536"/>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bg1"/>
          </a:solidFill>
          <a:latin typeface="+mn-lt"/>
        </a:defRPr>
      </a:pPr>
      <a:endParaRPr lang="en-US"/>
    </a:p>
  </c:txPr>
  <c:externalData r:id="rId4">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21704403910854142"/>
          <c:y val="3.6452182408077613E-2"/>
          <c:w val="0.77098182434070262"/>
          <c:h val="0.85592568451562434"/>
        </c:manualLayout>
      </c:layout>
      <c:barChart>
        <c:barDir val="col"/>
        <c:grouping val="percentStacked"/>
        <c:varyColors val="0"/>
        <c:ser>
          <c:idx val="0"/>
          <c:order val="0"/>
          <c:tx>
            <c:strRef>
              <c:f>Sheet1!$B$1</c:f>
              <c:strCache>
                <c:ptCount val="1"/>
                <c:pt idx="0">
                  <c:v>Very unsatisfied 1 (1.0)</c:v>
                </c:pt>
              </c:strCache>
            </c:strRef>
          </c:tx>
          <c:spPr>
            <a:solidFill>
              <a:schemeClr val="accent3">
                <a:shade val="42000"/>
              </a:scheme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Sheet1!$B$2:$B$12</c:f>
              <c:numCache>
                <c:formatCode>0%</c:formatCode>
                <c:ptCount val="11"/>
                <c:pt idx="0">
                  <c:v>0.16</c:v>
                </c:pt>
                <c:pt idx="1">
                  <c:v>0.17</c:v>
                </c:pt>
                <c:pt idx="2">
                  <c:v>0.16</c:v>
                </c:pt>
                <c:pt idx="3">
                  <c:v>0.38</c:v>
                </c:pt>
                <c:pt idx="4">
                  <c:v>0.08</c:v>
                </c:pt>
                <c:pt idx="5">
                  <c:v>0.08</c:v>
                </c:pt>
                <c:pt idx="6">
                  <c:v>0.05</c:v>
                </c:pt>
                <c:pt idx="7">
                  <c:v>0.45</c:v>
                </c:pt>
                <c:pt idx="8">
                  <c:v>0.14000000000000001</c:v>
                </c:pt>
                <c:pt idx="9">
                  <c:v>0.15</c:v>
                </c:pt>
                <c:pt idx="10">
                  <c:v>0.2</c:v>
                </c:pt>
              </c:numCache>
            </c:numRef>
          </c:val>
          <c:extLst>
            <c:ext xmlns:c16="http://schemas.microsoft.com/office/drawing/2014/chart" uri="{C3380CC4-5D6E-409C-BE32-E72D297353CC}">
              <c16:uniqueId val="{00000000-5D06-4E1B-BEE6-B53916E8B4DA}"/>
            </c:ext>
          </c:extLst>
        </c:ser>
        <c:ser>
          <c:idx val="1"/>
          <c:order val="1"/>
          <c:tx>
            <c:strRef>
              <c:f>Sheet1!$C$1</c:f>
              <c:strCache>
                <c:ptCount val="1"/>
                <c:pt idx="0">
                  <c:v>2 (2.0)</c:v>
                </c:pt>
              </c:strCache>
            </c:strRef>
          </c:tx>
          <c:spPr>
            <a:solidFill>
              <a:srgbClr val="FF5050"/>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Sheet1!$C$2:$C$12</c:f>
              <c:numCache>
                <c:formatCode>0%</c:formatCode>
                <c:ptCount val="11"/>
                <c:pt idx="0">
                  <c:v>0.22</c:v>
                </c:pt>
                <c:pt idx="1">
                  <c:v>0.2</c:v>
                </c:pt>
                <c:pt idx="2">
                  <c:v>0.23</c:v>
                </c:pt>
                <c:pt idx="3">
                  <c:v>0.11</c:v>
                </c:pt>
                <c:pt idx="4">
                  <c:v>0.45</c:v>
                </c:pt>
                <c:pt idx="5">
                  <c:v>0.14000000000000001</c:v>
                </c:pt>
                <c:pt idx="6">
                  <c:v>0.18</c:v>
                </c:pt>
                <c:pt idx="7">
                  <c:v>0.24</c:v>
                </c:pt>
                <c:pt idx="8">
                  <c:v>0.15</c:v>
                </c:pt>
                <c:pt idx="9">
                  <c:v>0.21</c:v>
                </c:pt>
                <c:pt idx="10">
                  <c:v>0.23</c:v>
                </c:pt>
              </c:numCache>
            </c:numRef>
          </c:val>
          <c:extLst>
            <c:ext xmlns:c16="http://schemas.microsoft.com/office/drawing/2014/chart" uri="{C3380CC4-5D6E-409C-BE32-E72D297353CC}">
              <c16:uniqueId val="{00000001-5D06-4E1B-BEE6-B53916E8B4DA}"/>
            </c:ext>
          </c:extLst>
        </c:ser>
        <c:ser>
          <c:idx val="2"/>
          <c:order val="2"/>
          <c:tx>
            <c:strRef>
              <c:f>Sheet1!$D$1</c:f>
              <c:strCache>
                <c:ptCount val="1"/>
                <c:pt idx="0">
                  <c:v>3 (3.0)</c:v>
                </c:pt>
              </c:strCache>
            </c:strRef>
          </c:tx>
          <c:spPr>
            <a:solidFill>
              <a:srgbClr val="FF7C80"/>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Sheet1!$D$2:$D$12</c:f>
              <c:numCache>
                <c:formatCode>0%</c:formatCode>
                <c:ptCount val="11"/>
                <c:pt idx="0">
                  <c:v>0.18</c:v>
                </c:pt>
                <c:pt idx="1">
                  <c:v>0.15</c:v>
                </c:pt>
                <c:pt idx="2">
                  <c:v>0.2</c:v>
                </c:pt>
                <c:pt idx="3">
                  <c:v>0.14000000000000001</c:v>
                </c:pt>
                <c:pt idx="4">
                  <c:v>0.19</c:v>
                </c:pt>
                <c:pt idx="5">
                  <c:v>0.08</c:v>
                </c:pt>
                <c:pt idx="6">
                  <c:v>0.27</c:v>
                </c:pt>
                <c:pt idx="7">
                  <c:v>0.19</c:v>
                </c:pt>
                <c:pt idx="8">
                  <c:v>0.2</c:v>
                </c:pt>
                <c:pt idx="9">
                  <c:v>0.19</c:v>
                </c:pt>
                <c:pt idx="10">
                  <c:v>0.15</c:v>
                </c:pt>
              </c:numCache>
            </c:numRef>
          </c:val>
          <c:extLst>
            <c:ext xmlns:c16="http://schemas.microsoft.com/office/drawing/2014/chart" uri="{C3380CC4-5D6E-409C-BE32-E72D297353CC}">
              <c16:uniqueId val="{00000002-5D06-4E1B-BEE6-B53916E8B4DA}"/>
            </c:ext>
          </c:extLst>
        </c:ser>
        <c:ser>
          <c:idx val="3"/>
          <c:order val="3"/>
          <c:tx>
            <c:strRef>
              <c:f>Sheet1!$E$1</c:f>
              <c:strCache>
                <c:ptCount val="1"/>
                <c:pt idx="0">
                  <c:v>4 (4.0)</c:v>
                </c:pt>
              </c:strCache>
            </c:strRef>
          </c:tx>
          <c:spPr>
            <a:solidFill>
              <a:srgbClr val="FFC000"/>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Sheet1!$E$2:$E$12</c:f>
              <c:numCache>
                <c:formatCode>0%</c:formatCode>
                <c:ptCount val="11"/>
                <c:pt idx="0">
                  <c:v>0.13</c:v>
                </c:pt>
                <c:pt idx="1">
                  <c:v>0.14000000000000001</c:v>
                </c:pt>
                <c:pt idx="2">
                  <c:v>0.11</c:v>
                </c:pt>
                <c:pt idx="3">
                  <c:v>7.0000000000000007E-2</c:v>
                </c:pt>
                <c:pt idx="4">
                  <c:v>0.13</c:v>
                </c:pt>
                <c:pt idx="5">
                  <c:v>0.05</c:v>
                </c:pt>
                <c:pt idx="6">
                  <c:v>0.27</c:v>
                </c:pt>
                <c:pt idx="7">
                  <c:v>7.0000000000000007E-2</c:v>
                </c:pt>
                <c:pt idx="8">
                  <c:v>0.15</c:v>
                </c:pt>
                <c:pt idx="9">
                  <c:v>0.13</c:v>
                </c:pt>
                <c:pt idx="10">
                  <c:v>0.12</c:v>
                </c:pt>
              </c:numCache>
            </c:numRef>
          </c:val>
          <c:extLst>
            <c:ext xmlns:c16="http://schemas.microsoft.com/office/drawing/2014/chart" uri="{C3380CC4-5D6E-409C-BE32-E72D297353CC}">
              <c16:uniqueId val="{00000003-5D06-4E1B-BEE6-B53916E8B4DA}"/>
            </c:ext>
          </c:extLst>
        </c:ser>
        <c:ser>
          <c:idx val="4"/>
          <c:order val="4"/>
          <c:tx>
            <c:strRef>
              <c:f>Sheet1!$F$1</c:f>
              <c:strCache>
                <c:ptCount val="1"/>
                <c:pt idx="0">
                  <c:v>5 (5.0)</c:v>
                </c:pt>
              </c:strCache>
            </c:strRef>
          </c:tx>
          <c:spPr>
            <a:solidFill>
              <a:srgbClr val="FFC000">
                <a:lumMod val="40000"/>
                <a:lumOff val="60000"/>
              </a:srgb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Sheet1!$F$2:$F$12</c:f>
              <c:numCache>
                <c:formatCode>0%</c:formatCode>
                <c:ptCount val="11"/>
                <c:pt idx="0">
                  <c:v>0.16</c:v>
                </c:pt>
                <c:pt idx="1">
                  <c:v>0.17</c:v>
                </c:pt>
                <c:pt idx="2">
                  <c:v>0.15</c:v>
                </c:pt>
                <c:pt idx="3">
                  <c:v>0.09</c:v>
                </c:pt>
                <c:pt idx="4">
                  <c:v>0.11</c:v>
                </c:pt>
                <c:pt idx="5">
                  <c:v>0.28999999999999998</c:v>
                </c:pt>
                <c:pt idx="6">
                  <c:v>0.16</c:v>
                </c:pt>
                <c:pt idx="7">
                  <c:v>0.04</c:v>
                </c:pt>
                <c:pt idx="8">
                  <c:v>0.17</c:v>
                </c:pt>
                <c:pt idx="9">
                  <c:v>0.17</c:v>
                </c:pt>
                <c:pt idx="10">
                  <c:v>0.15</c:v>
                </c:pt>
              </c:numCache>
            </c:numRef>
          </c:val>
          <c:extLst>
            <c:ext xmlns:c16="http://schemas.microsoft.com/office/drawing/2014/chart" uri="{C3380CC4-5D6E-409C-BE32-E72D297353CC}">
              <c16:uniqueId val="{00000004-5D06-4E1B-BEE6-B53916E8B4DA}"/>
            </c:ext>
          </c:extLst>
        </c:ser>
        <c:ser>
          <c:idx val="5"/>
          <c:order val="5"/>
          <c:tx>
            <c:strRef>
              <c:f>Sheet1!$G$1</c:f>
              <c:strCache>
                <c:ptCount val="1"/>
                <c:pt idx="0">
                  <c:v>6 (6.0)</c:v>
                </c:pt>
              </c:strCache>
            </c:strRef>
          </c:tx>
          <c:spPr>
            <a:solidFill>
              <a:sysClr val="window" lastClr="FFFFFF">
                <a:lumMod val="75000"/>
              </a:sys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Sheet1!$G$2:$G$12</c:f>
              <c:numCache>
                <c:formatCode>0%</c:formatCode>
                <c:ptCount val="11"/>
                <c:pt idx="0">
                  <c:v>0.08</c:v>
                </c:pt>
                <c:pt idx="1">
                  <c:v>0.08</c:v>
                </c:pt>
                <c:pt idx="2">
                  <c:v>7.0000000000000007E-2</c:v>
                </c:pt>
                <c:pt idx="3">
                  <c:v>7.0000000000000007E-2</c:v>
                </c:pt>
                <c:pt idx="4">
                  <c:v>0.01</c:v>
                </c:pt>
                <c:pt idx="5">
                  <c:v>0.18</c:v>
                </c:pt>
                <c:pt idx="6">
                  <c:v>0.05</c:v>
                </c:pt>
                <c:pt idx="7">
                  <c:v>0.01</c:v>
                </c:pt>
                <c:pt idx="8">
                  <c:v>0.09</c:v>
                </c:pt>
                <c:pt idx="9">
                  <c:v>7.0000000000000007E-2</c:v>
                </c:pt>
                <c:pt idx="10">
                  <c:v>0.08</c:v>
                </c:pt>
              </c:numCache>
            </c:numRef>
          </c:val>
          <c:extLst>
            <c:ext xmlns:c16="http://schemas.microsoft.com/office/drawing/2014/chart" uri="{C3380CC4-5D6E-409C-BE32-E72D297353CC}">
              <c16:uniqueId val="{00000005-5D06-4E1B-BEE6-B53916E8B4DA}"/>
            </c:ext>
          </c:extLst>
        </c:ser>
        <c:ser>
          <c:idx val="6"/>
          <c:order val="6"/>
          <c:tx>
            <c:strRef>
              <c:f>Sheet1!$H$1</c:f>
              <c:strCache>
                <c:ptCount val="1"/>
                <c:pt idx="0">
                  <c:v>7 (7.0)</c:v>
                </c:pt>
              </c:strCache>
            </c:strRef>
          </c:tx>
          <c:spPr>
            <a:solidFill>
              <a:srgbClr val="4472C4">
                <a:lumMod val="60000"/>
                <a:lumOff val="40000"/>
              </a:srgb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Sheet1!$H$2:$H$12</c:f>
              <c:numCache>
                <c:formatCode>0%</c:formatCode>
                <c:ptCount val="11"/>
                <c:pt idx="0">
                  <c:v>0.04</c:v>
                </c:pt>
                <c:pt idx="1">
                  <c:v>0.04</c:v>
                </c:pt>
                <c:pt idx="2">
                  <c:v>0.04</c:v>
                </c:pt>
                <c:pt idx="3">
                  <c:v>7.0000000000000007E-2</c:v>
                </c:pt>
                <c:pt idx="4">
                  <c:v>0.01</c:v>
                </c:pt>
                <c:pt idx="5">
                  <c:v>0.12</c:v>
                </c:pt>
                <c:pt idx="6">
                  <c:v>0</c:v>
                </c:pt>
                <c:pt idx="7">
                  <c:v>0</c:v>
                </c:pt>
                <c:pt idx="8">
                  <c:v>0.03</c:v>
                </c:pt>
                <c:pt idx="9">
                  <c:v>0.03</c:v>
                </c:pt>
                <c:pt idx="10">
                  <c:v>0.05</c:v>
                </c:pt>
              </c:numCache>
            </c:numRef>
          </c:val>
          <c:extLst>
            <c:ext xmlns:c16="http://schemas.microsoft.com/office/drawing/2014/chart" uri="{C3380CC4-5D6E-409C-BE32-E72D297353CC}">
              <c16:uniqueId val="{00000006-5D06-4E1B-BEE6-B53916E8B4DA}"/>
            </c:ext>
          </c:extLst>
        </c:ser>
        <c:ser>
          <c:idx val="7"/>
          <c:order val="7"/>
          <c:tx>
            <c:strRef>
              <c:f>Sheet1!$I$1</c:f>
              <c:strCache>
                <c:ptCount val="1"/>
                <c:pt idx="0">
                  <c:v>8 (8.0)</c:v>
                </c:pt>
              </c:strCache>
            </c:strRef>
          </c:tx>
          <c:spPr>
            <a:solidFill>
              <a:srgbClr val="6AF7A9"/>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Sheet1!$I$2:$I$12</c:f>
              <c:numCache>
                <c:formatCode>0%</c:formatCode>
                <c:ptCount val="11"/>
                <c:pt idx="0">
                  <c:v>0.02</c:v>
                </c:pt>
                <c:pt idx="1">
                  <c:v>0.02</c:v>
                </c:pt>
                <c:pt idx="2">
                  <c:v>0.02</c:v>
                </c:pt>
                <c:pt idx="3">
                  <c:v>0.05</c:v>
                </c:pt>
                <c:pt idx="4">
                  <c:v>0.01</c:v>
                </c:pt>
                <c:pt idx="5">
                  <c:v>0.02</c:v>
                </c:pt>
                <c:pt idx="6">
                  <c:v>0.01</c:v>
                </c:pt>
                <c:pt idx="7">
                  <c:v>0</c:v>
                </c:pt>
                <c:pt idx="8">
                  <c:v>0.02</c:v>
                </c:pt>
                <c:pt idx="9">
                  <c:v>0.02</c:v>
                </c:pt>
                <c:pt idx="10">
                  <c:v>0.02</c:v>
                </c:pt>
              </c:numCache>
            </c:numRef>
          </c:val>
          <c:extLst>
            <c:ext xmlns:c16="http://schemas.microsoft.com/office/drawing/2014/chart" uri="{C3380CC4-5D6E-409C-BE32-E72D297353CC}">
              <c16:uniqueId val="{00000007-5D06-4E1B-BEE6-B53916E8B4DA}"/>
            </c:ext>
          </c:extLst>
        </c:ser>
        <c:ser>
          <c:idx val="8"/>
          <c:order val="8"/>
          <c:tx>
            <c:strRef>
              <c:f>Sheet1!$J$1</c:f>
              <c:strCache>
                <c:ptCount val="1"/>
                <c:pt idx="0">
                  <c:v>9 (9.0)</c:v>
                </c:pt>
              </c:strCache>
            </c:strRef>
          </c:tx>
          <c:spPr>
            <a:solidFill>
              <a:srgbClr val="92D050"/>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Sheet1!$J$2:$J$12</c:f>
              <c:numCache>
                <c:formatCode>0%</c:formatCode>
                <c:ptCount val="11"/>
                <c:pt idx="0">
                  <c:v>0</c:v>
                </c:pt>
                <c:pt idx="1">
                  <c:v>0.01</c:v>
                </c:pt>
                <c:pt idx="2">
                  <c:v>0</c:v>
                </c:pt>
                <c:pt idx="3">
                  <c:v>0.01</c:v>
                </c:pt>
                <c:pt idx="4">
                  <c:v>0</c:v>
                </c:pt>
                <c:pt idx="5">
                  <c:v>0.01</c:v>
                </c:pt>
                <c:pt idx="6">
                  <c:v>0</c:v>
                </c:pt>
                <c:pt idx="7">
                  <c:v>0</c:v>
                </c:pt>
                <c:pt idx="8">
                  <c:v>0.01</c:v>
                </c:pt>
                <c:pt idx="9">
                  <c:v>0</c:v>
                </c:pt>
                <c:pt idx="10">
                  <c:v>0.01</c:v>
                </c:pt>
              </c:numCache>
            </c:numRef>
          </c:val>
          <c:extLst>
            <c:ext xmlns:c16="http://schemas.microsoft.com/office/drawing/2014/chart" uri="{C3380CC4-5D6E-409C-BE32-E72D297353CC}">
              <c16:uniqueId val="{00000008-5D06-4E1B-BEE6-B53916E8B4DA}"/>
            </c:ext>
          </c:extLst>
        </c:ser>
        <c:ser>
          <c:idx val="9"/>
          <c:order val="9"/>
          <c:tx>
            <c:strRef>
              <c:f>Sheet1!$K$1</c:f>
              <c:strCache>
                <c:ptCount val="1"/>
                <c:pt idx="0">
                  <c:v>Very satisfied 10 (10.0)</c:v>
                </c:pt>
              </c:strCache>
            </c:strRef>
          </c:tx>
          <c:spPr>
            <a:solidFill>
              <a:srgbClr val="00B050"/>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Sheet1!$K$2:$K$12</c:f>
              <c:numCache>
                <c:formatCode>0%</c:formatCode>
                <c:ptCount val="11"/>
                <c:pt idx="0">
                  <c:v>0.02</c:v>
                </c:pt>
                <c:pt idx="1">
                  <c:v>0.03</c:v>
                </c:pt>
                <c:pt idx="2">
                  <c:v>0.01</c:v>
                </c:pt>
                <c:pt idx="3">
                  <c:v>0.02</c:v>
                </c:pt>
                <c:pt idx="4">
                  <c:v>0.01</c:v>
                </c:pt>
                <c:pt idx="5">
                  <c:v>0.02</c:v>
                </c:pt>
                <c:pt idx="6">
                  <c:v>0</c:v>
                </c:pt>
                <c:pt idx="7">
                  <c:v>0</c:v>
                </c:pt>
                <c:pt idx="8">
                  <c:v>0.04</c:v>
                </c:pt>
                <c:pt idx="9">
                  <c:v>0.03</c:v>
                </c:pt>
                <c:pt idx="10">
                  <c:v>0.01</c:v>
                </c:pt>
              </c:numCache>
            </c:numRef>
          </c:val>
          <c:extLst>
            <c:ext xmlns:c16="http://schemas.microsoft.com/office/drawing/2014/chart" uri="{C3380CC4-5D6E-409C-BE32-E72D297353CC}">
              <c16:uniqueId val="{00000009-5D06-4E1B-BEE6-B53916E8B4DA}"/>
            </c:ext>
          </c:extLst>
        </c:ser>
        <c:dLbls>
          <c:showLegendKey val="0"/>
          <c:showVal val="0"/>
          <c:showCatName val="0"/>
          <c:showSerName val="0"/>
          <c:showPercent val="0"/>
          <c:showBubbleSize val="0"/>
        </c:dLbls>
        <c:gapWidth val="100"/>
        <c:overlap val="100"/>
        <c:axId val="826811951"/>
        <c:axId val="826794479"/>
      </c:barChart>
      <c:catAx>
        <c:axId val="826811951"/>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826794479"/>
        <c:crosses val="autoZero"/>
        <c:auto val="1"/>
        <c:lblAlgn val="ctr"/>
        <c:lblOffset val="100"/>
        <c:noMultiLvlLbl val="0"/>
      </c:catAx>
      <c:valAx>
        <c:axId val="826794479"/>
        <c:scaling>
          <c:orientation val="minMax"/>
        </c:scaling>
        <c:delete val="1"/>
        <c:axPos val="l"/>
        <c:numFmt formatCode="0%" sourceLinked="1"/>
        <c:majorTickMark val="out"/>
        <c:minorTickMark val="none"/>
        <c:tickLblPos val="nextTo"/>
        <c:crossAx val="826811951"/>
        <c:crosses val="autoZero"/>
        <c:crossBetween val="between"/>
      </c:valAx>
      <c:spPr>
        <a:noFill/>
        <a:ln>
          <a:noFill/>
        </a:ln>
        <a:effectLst/>
      </c:spPr>
    </c:plotArea>
    <c:legend>
      <c:legendPos val="l"/>
      <c:layout>
        <c:manualLayout>
          <c:xMode val="edge"/>
          <c:yMode val="edge"/>
          <c:x val="6.6636350916468448E-3"/>
          <c:y val="5.2593993427196555E-2"/>
          <c:w val="0.16588181930076529"/>
          <c:h val="0.75949700685050536"/>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bg1"/>
          </a:solidFill>
          <a:latin typeface="+mn-lt"/>
        </a:defRPr>
      </a:pPr>
      <a:endParaRPr lang="en-US"/>
    </a:p>
  </c:txPr>
  <c:externalData r:id="rId4">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6993091506925981"/>
          <c:y val="3.6452182408077613E-2"/>
          <c:w val="0.81785242059605434"/>
          <c:h val="0.85592568451562434"/>
        </c:manualLayout>
      </c:layout>
      <c:barChart>
        <c:barDir val="col"/>
        <c:grouping val="percentStacked"/>
        <c:varyColors val="0"/>
        <c:ser>
          <c:idx val="0"/>
          <c:order val="0"/>
          <c:tx>
            <c:strRef>
              <c:f>Sheet1!$B$1</c:f>
              <c:strCache>
                <c:ptCount val="1"/>
                <c:pt idx="0">
                  <c:v>Presidency</c:v>
                </c:pt>
              </c:strCache>
            </c:strRef>
          </c:tx>
          <c:spPr>
            <a:solidFill>
              <a:srgbClr val="70AD47">
                <a:lumMod val="60000"/>
                <a:lumOff val="40000"/>
              </a:srgb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Sheet1!$B$2:$B$12</c:f>
              <c:numCache>
                <c:formatCode>0%</c:formatCode>
                <c:ptCount val="11"/>
                <c:pt idx="0">
                  <c:v>0.68</c:v>
                </c:pt>
                <c:pt idx="1">
                  <c:v>0.65</c:v>
                </c:pt>
                <c:pt idx="2">
                  <c:v>0.7</c:v>
                </c:pt>
                <c:pt idx="3">
                  <c:v>0.79</c:v>
                </c:pt>
                <c:pt idx="4">
                  <c:v>0.59</c:v>
                </c:pt>
                <c:pt idx="5">
                  <c:v>0.77</c:v>
                </c:pt>
                <c:pt idx="6">
                  <c:v>0.73</c:v>
                </c:pt>
                <c:pt idx="7">
                  <c:v>0.99</c:v>
                </c:pt>
                <c:pt idx="8">
                  <c:v>0.42</c:v>
                </c:pt>
                <c:pt idx="9">
                  <c:v>0.66</c:v>
                </c:pt>
                <c:pt idx="10">
                  <c:v>0.71</c:v>
                </c:pt>
              </c:numCache>
            </c:numRef>
          </c:val>
          <c:extLst>
            <c:ext xmlns:c16="http://schemas.microsoft.com/office/drawing/2014/chart" uri="{C3380CC4-5D6E-409C-BE32-E72D297353CC}">
              <c16:uniqueId val="{00000000-BB1B-427B-A9D0-3B6923B9E7E9}"/>
            </c:ext>
          </c:extLst>
        </c:ser>
        <c:ser>
          <c:idx val="1"/>
          <c:order val="1"/>
          <c:tx>
            <c:strRef>
              <c:f>Sheet1!$C$1</c:f>
              <c:strCache>
                <c:ptCount val="1"/>
                <c:pt idx="0">
                  <c:v>State Governors</c:v>
                </c:pt>
              </c:strCache>
            </c:strRef>
          </c:tx>
          <c:spPr>
            <a:solidFill>
              <a:srgbClr val="44546A">
                <a:lumMod val="60000"/>
                <a:lumOff val="40000"/>
              </a:srgb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Sheet1!$C$2:$C$12</c:f>
              <c:numCache>
                <c:formatCode>0%</c:formatCode>
                <c:ptCount val="11"/>
                <c:pt idx="0">
                  <c:v>0.08</c:v>
                </c:pt>
                <c:pt idx="1">
                  <c:v>0.09</c:v>
                </c:pt>
                <c:pt idx="2">
                  <c:v>0.08</c:v>
                </c:pt>
                <c:pt idx="3">
                  <c:v>0.01</c:v>
                </c:pt>
                <c:pt idx="4">
                  <c:v>0.04</c:v>
                </c:pt>
                <c:pt idx="5">
                  <c:v>0.03</c:v>
                </c:pt>
                <c:pt idx="6">
                  <c:v>0.21</c:v>
                </c:pt>
                <c:pt idx="7">
                  <c:v>0.01</c:v>
                </c:pt>
                <c:pt idx="8">
                  <c:v>0.14000000000000001</c:v>
                </c:pt>
                <c:pt idx="9">
                  <c:v>0.08</c:v>
                </c:pt>
                <c:pt idx="10">
                  <c:v>7.0000000000000007E-2</c:v>
                </c:pt>
              </c:numCache>
            </c:numRef>
          </c:val>
          <c:extLst>
            <c:ext xmlns:c16="http://schemas.microsoft.com/office/drawing/2014/chart" uri="{C3380CC4-5D6E-409C-BE32-E72D297353CC}">
              <c16:uniqueId val="{00000001-BB1B-427B-A9D0-3B6923B9E7E9}"/>
            </c:ext>
          </c:extLst>
        </c:ser>
        <c:ser>
          <c:idx val="2"/>
          <c:order val="2"/>
          <c:tx>
            <c:strRef>
              <c:f>Sheet1!$D$1</c:f>
              <c:strCache>
                <c:ptCount val="1"/>
                <c:pt idx="0">
                  <c:v>National Assembly (Senators &amp; Representatives)</c:v>
                </c:pt>
              </c:strCache>
            </c:strRef>
          </c:tx>
          <c:spPr>
            <a:solidFill>
              <a:srgbClr val="ED7D31">
                <a:lumMod val="60000"/>
                <a:lumOff val="40000"/>
              </a:srgb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Sheet1!$D$2:$D$12</c:f>
              <c:numCache>
                <c:formatCode>0%</c:formatCode>
                <c:ptCount val="11"/>
                <c:pt idx="0">
                  <c:v>0.16</c:v>
                </c:pt>
                <c:pt idx="1">
                  <c:v>0.17</c:v>
                </c:pt>
                <c:pt idx="2">
                  <c:v>0.14000000000000001</c:v>
                </c:pt>
                <c:pt idx="3">
                  <c:v>0.15</c:v>
                </c:pt>
                <c:pt idx="4">
                  <c:v>0.2</c:v>
                </c:pt>
                <c:pt idx="5">
                  <c:v>0.15</c:v>
                </c:pt>
                <c:pt idx="6">
                  <c:v>0.05</c:v>
                </c:pt>
                <c:pt idx="7">
                  <c:v>0</c:v>
                </c:pt>
                <c:pt idx="8">
                  <c:v>0.26</c:v>
                </c:pt>
                <c:pt idx="9">
                  <c:v>0.16</c:v>
                </c:pt>
                <c:pt idx="10">
                  <c:v>0.15</c:v>
                </c:pt>
              </c:numCache>
            </c:numRef>
          </c:val>
          <c:extLst>
            <c:ext xmlns:c16="http://schemas.microsoft.com/office/drawing/2014/chart" uri="{C3380CC4-5D6E-409C-BE32-E72D297353CC}">
              <c16:uniqueId val="{00000002-BB1B-427B-A9D0-3B6923B9E7E9}"/>
            </c:ext>
          </c:extLst>
        </c:ser>
        <c:ser>
          <c:idx val="3"/>
          <c:order val="3"/>
          <c:tx>
            <c:strRef>
              <c:f>Sheet1!$E$1</c:f>
              <c:strCache>
                <c:ptCount val="1"/>
                <c:pt idx="0">
                  <c:v>Local Government</c:v>
                </c:pt>
              </c:strCache>
            </c:strRef>
          </c:tx>
          <c:spPr>
            <a:solidFill>
              <a:schemeClr val="accent2">
                <a:tint val="58000"/>
              </a:scheme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Sheet1!$E$2:$E$12</c:f>
              <c:numCache>
                <c:formatCode>0%</c:formatCode>
                <c:ptCount val="11"/>
                <c:pt idx="0">
                  <c:v>0.09</c:v>
                </c:pt>
                <c:pt idx="1">
                  <c:v>0.09</c:v>
                </c:pt>
                <c:pt idx="2">
                  <c:v>0.09</c:v>
                </c:pt>
                <c:pt idx="3">
                  <c:v>0.05</c:v>
                </c:pt>
                <c:pt idx="4">
                  <c:v>0.16</c:v>
                </c:pt>
                <c:pt idx="5">
                  <c:v>0.05</c:v>
                </c:pt>
                <c:pt idx="6">
                  <c:v>0</c:v>
                </c:pt>
                <c:pt idx="7">
                  <c:v>0</c:v>
                </c:pt>
                <c:pt idx="8">
                  <c:v>0.18</c:v>
                </c:pt>
                <c:pt idx="9">
                  <c:v>0.1</c:v>
                </c:pt>
                <c:pt idx="10">
                  <c:v>7.0000000000000007E-2</c:v>
                </c:pt>
              </c:numCache>
            </c:numRef>
          </c:val>
          <c:extLst>
            <c:ext xmlns:c16="http://schemas.microsoft.com/office/drawing/2014/chart" uri="{C3380CC4-5D6E-409C-BE32-E72D297353CC}">
              <c16:uniqueId val="{00000003-BB1B-427B-A9D0-3B6923B9E7E9}"/>
            </c:ext>
          </c:extLst>
        </c:ser>
        <c:dLbls>
          <c:dLblPos val="ctr"/>
          <c:showLegendKey val="0"/>
          <c:showVal val="1"/>
          <c:showCatName val="0"/>
          <c:showSerName val="0"/>
          <c:showPercent val="0"/>
          <c:showBubbleSize val="0"/>
        </c:dLbls>
        <c:gapWidth val="100"/>
        <c:overlap val="100"/>
        <c:axId val="826811951"/>
        <c:axId val="826794479"/>
      </c:barChart>
      <c:catAx>
        <c:axId val="8268119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826794479"/>
        <c:crosses val="autoZero"/>
        <c:auto val="1"/>
        <c:lblAlgn val="ctr"/>
        <c:lblOffset val="100"/>
        <c:noMultiLvlLbl val="0"/>
      </c:catAx>
      <c:valAx>
        <c:axId val="826794479"/>
        <c:scaling>
          <c:orientation val="minMax"/>
        </c:scaling>
        <c:delete val="1"/>
        <c:axPos val="l"/>
        <c:numFmt formatCode="0%" sourceLinked="1"/>
        <c:majorTickMark val="none"/>
        <c:minorTickMark val="none"/>
        <c:tickLblPos val="nextTo"/>
        <c:crossAx val="826811951"/>
        <c:crosses val="autoZero"/>
        <c:crossBetween val="between"/>
      </c:valAx>
      <c:spPr>
        <a:noFill/>
        <a:ln>
          <a:noFill/>
        </a:ln>
        <a:effectLst/>
      </c:spPr>
    </c:plotArea>
    <c:legend>
      <c:legendPos val="l"/>
      <c:layout>
        <c:manualLayout>
          <c:xMode val="edge"/>
          <c:yMode val="edge"/>
          <c:x val="6.6636350916468448E-3"/>
          <c:y val="5.2593993427196555E-2"/>
          <c:w val="0.15221360360990624"/>
          <c:h val="0.8448082604218061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bg1"/>
          </a:solidFill>
          <a:latin typeface="+mn-lt"/>
        </a:defRPr>
      </a:pPr>
      <a:endParaRPr lang="en-US"/>
    </a:p>
  </c:txPr>
  <c:externalData r:id="rId4">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232907381346407"/>
          <c:y val="6.3817500000000013E-2"/>
          <c:w val="0.84454770591173378"/>
          <c:h val="0.82161222222222219"/>
        </c:manualLayout>
      </c:layout>
      <c:barChart>
        <c:barDir val="col"/>
        <c:grouping val="percentStacked"/>
        <c:varyColors val="0"/>
        <c:ser>
          <c:idx val="0"/>
          <c:order val="0"/>
          <c:tx>
            <c:strRef>
              <c:f>Sheet1!$B$1</c:f>
              <c:strCache>
                <c:ptCount val="1"/>
                <c:pt idx="0">
                  <c:v>Yes</c:v>
                </c:pt>
              </c:strCache>
            </c:strRef>
          </c:tx>
          <c:spPr>
            <a:solidFill>
              <a:srgbClr val="92D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Sheet1!$B$2:$B$12</c:f>
              <c:numCache>
                <c:formatCode>0%</c:formatCode>
                <c:ptCount val="11"/>
                <c:pt idx="0">
                  <c:v>0.14000000000000001</c:v>
                </c:pt>
                <c:pt idx="1">
                  <c:v>0.22</c:v>
                </c:pt>
                <c:pt idx="2">
                  <c:v>0.08</c:v>
                </c:pt>
                <c:pt idx="3">
                  <c:v>0.16</c:v>
                </c:pt>
                <c:pt idx="4">
                  <c:v>0.1</c:v>
                </c:pt>
                <c:pt idx="5">
                  <c:v>0.23</c:v>
                </c:pt>
                <c:pt idx="6">
                  <c:v>0.1</c:v>
                </c:pt>
                <c:pt idx="7">
                  <c:v>0.04</c:v>
                </c:pt>
                <c:pt idx="8">
                  <c:v>0.17</c:v>
                </c:pt>
                <c:pt idx="9">
                  <c:v>0.14000000000000001</c:v>
                </c:pt>
                <c:pt idx="10">
                  <c:v>0.14000000000000001</c:v>
                </c:pt>
              </c:numCache>
            </c:numRef>
          </c:val>
          <c:extLst>
            <c:ext xmlns:c16="http://schemas.microsoft.com/office/drawing/2014/chart" uri="{C3380CC4-5D6E-409C-BE32-E72D297353CC}">
              <c16:uniqueId val="{00000000-E06D-4EDB-B47E-EF404DE4DAD8}"/>
            </c:ext>
          </c:extLst>
        </c:ser>
        <c:ser>
          <c:idx val="1"/>
          <c:order val="1"/>
          <c:tx>
            <c:strRef>
              <c:f>Sheet1!$C$1</c:f>
              <c:strCache>
                <c:ptCount val="1"/>
                <c:pt idx="0">
                  <c:v>No</c:v>
                </c:pt>
              </c:strCache>
            </c:strRef>
          </c:tx>
          <c:spPr>
            <a:solidFill>
              <a:srgbClr val="FF7C8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Sheet1!$C$2:$C$12</c:f>
              <c:numCache>
                <c:formatCode>0%</c:formatCode>
                <c:ptCount val="11"/>
                <c:pt idx="0">
                  <c:v>0.74</c:v>
                </c:pt>
                <c:pt idx="1">
                  <c:v>0.68</c:v>
                </c:pt>
                <c:pt idx="2">
                  <c:v>0.79</c:v>
                </c:pt>
                <c:pt idx="3">
                  <c:v>0.69</c:v>
                </c:pt>
                <c:pt idx="4">
                  <c:v>0.85</c:v>
                </c:pt>
                <c:pt idx="5">
                  <c:v>0.69</c:v>
                </c:pt>
                <c:pt idx="6">
                  <c:v>0.85</c:v>
                </c:pt>
                <c:pt idx="7">
                  <c:v>0.68</c:v>
                </c:pt>
                <c:pt idx="8">
                  <c:v>0.68</c:v>
                </c:pt>
                <c:pt idx="9">
                  <c:v>0.74</c:v>
                </c:pt>
                <c:pt idx="10">
                  <c:v>0.75</c:v>
                </c:pt>
              </c:numCache>
            </c:numRef>
          </c:val>
          <c:extLst>
            <c:ext xmlns:c16="http://schemas.microsoft.com/office/drawing/2014/chart" uri="{C3380CC4-5D6E-409C-BE32-E72D297353CC}">
              <c16:uniqueId val="{00000001-E06D-4EDB-B47E-EF404DE4DAD8}"/>
            </c:ext>
          </c:extLst>
        </c:ser>
        <c:ser>
          <c:idx val="2"/>
          <c:order val="2"/>
          <c:tx>
            <c:strRef>
              <c:f>Sheet1!$D$1</c:f>
              <c:strCache>
                <c:ptCount val="1"/>
                <c:pt idx="0">
                  <c:v>Maybe in the future</c:v>
                </c:pt>
              </c:strCache>
            </c:strRef>
          </c:tx>
          <c:spPr>
            <a:solidFill>
              <a:schemeClr val="accent2">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Sheet1!$D$2:$D$12</c:f>
              <c:numCache>
                <c:formatCode>0%</c:formatCode>
                <c:ptCount val="11"/>
                <c:pt idx="0">
                  <c:v>0.12</c:v>
                </c:pt>
                <c:pt idx="1">
                  <c:v>0.1</c:v>
                </c:pt>
                <c:pt idx="2">
                  <c:v>0.13</c:v>
                </c:pt>
                <c:pt idx="3">
                  <c:v>0.15</c:v>
                </c:pt>
                <c:pt idx="4">
                  <c:v>0.05</c:v>
                </c:pt>
                <c:pt idx="5">
                  <c:v>7.0000000000000007E-2</c:v>
                </c:pt>
                <c:pt idx="6">
                  <c:v>0.05</c:v>
                </c:pt>
                <c:pt idx="7">
                  <c:v>0.28000000000000003</c:v>
                </c:pt>
                <c:pt idx="8">
                  <c:v>0.15</c:v>
                </c:pt>
                <c:pt idx="9">
                  <c:v>0.12</c:v>
                </c:pt>
                <c:pt idx="10">
                  <c:v>0.11</c:v>
                </c:pt>
              </c:numCache>
            </c:numRef>
          </c:val>
          <c:extLst>
            <c:ext xmlns:c16="http://schemas.microsoft.com/office/drawing/2014/chart" uri="{C3380CC4-5D6E-409C-BE32-E72D297353CC}">
              <c16:uniqueId val="{00000002-E06D-4EDB-B47E-EF404DE4DAD8}"/>
            </c:ext>
          </c:extLst>
        </c:ser>
        <c:dLbls>
          <c:dLblPos val="ctr"/>
          <c:showLegendKey val="0"/>
          <c:showVal val="1"/>
          <c:showCatName val="0"/>
          <c:showSerName val="0"/>
          <c:showPercent val="0"/>
          <c:showBubbleSize val="0"/>
        </c:dLbls>
        <c:gapWidth val="50"/>
        <c:overlap val="100"/>
        <c:axId val="184411968"/>
        <c:axId val="187267840"/>
      </c:barChart>
      <c:catAx>
        <c:axId val="184411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87267840"/>
        <c:crosses val="autoZero"/>
        <c:auto val="1"/>
        <c:lblAlgn val="ctr"/>
        <c:lblOffset val="100"/>
        <c:noMultiLvlLbl val="0"/>
      </c:catAx>
      <c:valAx>
        <c:axId val="187267840"/>
        <c:scaling>
          <c:orientation val="minMax"/>
        </c:scaling>
        <c:delete val="1"/>
        <c:axPos val="l"/>
        <c:numFmt formatCode="0%" sourceLinked="1"/>
        <c:majorTickMark val="none"/>
        <c:minorTickMark val="none"/>
        <c:tickLblPos val="nextTo"/>
        <c:crossAx val="184411968"/>
        <c:crosses val="autoZero"/>
        <c:crossBetween val="between"/>
      </c:valAx>
      <c:spPr>
        <a:noFill/>
        <a:ln>
          <a:noFill/>
        </a:ln>
        <a:effectLst/>
      </c:spPr>
    </c:plotArea>
    <c:legend>
      <c:legendPos val="l"/>
      <c:layout>
        <c:manualLayout>
          <c:xMode val="edge"/>
          <c:yMode val="edge"/>
          <c:x val="7.8395061728395062E-3"/>
          <c:y val="0.10047055555555554"/>
          <c:w val="0.14068827160493827"/>
          <c:h val="0.79937638888888884"/>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232907381346407"/>
          <c:y val="7.4400833333333347E-2"/>
          <c:w val="0.84454770591173378"/>
          <c:h val="0.81102888888888891"/>
        </c:manualLayout>
      </c:layout>
      <c:barChart>
        <c:barDir val="col"/>
        <c:grouping val="percentStacked"/>
        <c:varyColors val="0"/>
        <c:ser>
          <c:idx val="0"/>
          <c:order val="0"/>
          <c:tx>
            <c:strRef>
              <c:f>Sheet1!$B$1</c:f>
              <c:strCache>
                <c:ptCount val="1"/>
                <c:pt idx="0">
                  <c:v>Yes, they bring innovation and fresh perspectives</c:v>
                </c:pt>
              </c:strCache>
            </c:strRef>
          </c:tx>
          <c:spPr>
            <a:solidFill>
              <a:srgbClr val="92D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Sheet1!$B$2:$B$12</c:f>
              <c:numCache>
                <c:formatCode>0%</c:formatCode>
                <c:ptCount val="11"/>
                <c:pt idx="0">
                  <c:v>0.72</c:v>
                </c:pt>
                <c:pt idx="1">
                  <c:v>0.73</c:v>
                </c:pt>
                <c:pt idx="2">
                  <c:v>0.72</c:v>
                </c:pt>
                <c:pt idx="3">
                  <c:v>0.84</c:v>
                </c:pt>
                <c:pt idx="4">
                  <c:v>0.77</c:v>
                </c:pt>
                <c:pt idx="5">
                  <c:v>0.93</c:v>
                </c:pt>
                <c:pt idx="6">
                  <c:v>0.41</c:v>
                </c:pt>
                <c:pt idx="7">
                  <c:v>0.69</c:v>
                </c:pt>
                <c:pt idx="8">
                  <c:v>0.66</c:v>
                </c:pt>
                <c:pt idx="9">
                  <c:v>0.69</c:v>
                </c:pt>
                <c:pt idx="10">
                  <c:v>0.79</c:v>
                </c:pt>
              </c:numCache>
            </c:numRef>
          </c:val>
          <c:extLst>
            <c:ext xmlns:c16="http://schemas.microsoft.com/office/drawing/2014/chart" uri="{C3380CC4-5D6E-409C-BE32-E72D297353CC}">
              <c16:uniqueId val="{00000000-E06D-4EDB-B47E-EF404DE4DAD8}"/>
            </c:ext>
          </c:extLst>
        </c:ser>
        <c:ser>
          <c:idx val="1"/>
          <c:order val="1"/>
          <c:tx>
            <c:strRef>
              <c:f>Sheet1!$C$1</c:f>
              <c:strCache>
                <c:ptCount val="1"/>
                <c:pt idx="0">
                  <c:v>No, governance requires more experience and expertise</c:v>
                </c:pt>
              </c:strCache>
            </c:strRef>
          </c:tx>
          <c:spPr>
            <a:solidFill>
              <a:srgbClr val="FF7C8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Sheet1!$C$2:$C$12</c:f>
              <c:numCache>
                <c:formatCode>0%</c:formatCode>
                <c:ptCount val="11"/>
                <c:pt idx="0">
                  <c:v>0.22</c:v>
                </c:pt>
                <c:pt idx="1">
                  <c:v>0.22</c:v>
                </c:pt>
                <c:pt idx="2">
                  <c:v>0.22</c:v>
                </c:pt>
                <c:pt idx="3">
                  <c:v>0.12</c:v>
                </c:pt>
                <c:pt idx="4">
                  <c:v>0.21</c:v>
                </c:pt>
                <c:pt idx="5">
                  <c:v>0.06</c:v>
                </c:pt>
                <c:pt idx="6">
                  <c:v>0.51</c:v>
                </c:pt>
                <c:pt idx="7">
                  <c:v>0.21</c:v>
                </c:pt>
                <c:pt idx="8">
                  <c:v>0.24</c:v>
                </c:pt>
                <c:pt idx="9">
                  <c:v>0.25</c:v>
                </c:pt>
                <c:pt idx="10">
                  <c:v>0.17</c:v>
                </c:pt>
              </c:numCache>
            </c:numRef>
          </c:val>
          <c:extLst>
            <c:ext xmlns:c16="http://schemas.microsoft.com/office/drawing/2014/chart" uri="{C3380CC4-5D6E-409C-BE32-E72D297353CC}">
              <c16:uniqueId val="{00000001-E06D-4EDB-B47E-EF404DE4DAD8}"/>
            </c:ext>
          </c:extLst>
        </c:ser>
        <c:ser>
          <c:idx val="2"/>
          <c:order val="2"/>
          <c:tx>
            <c:strRef>
              <c:f>Sheet1!$D$1</c:f>
              <c:strCache>
                <c:ptCount val="1"/>
                <c:pt idx="0">
                  <c:v>Not sure</c:v>
                </c:pt>
              </c:strCache>
            </c:strRef>
          </c:tx>
          <c:spPr>
            <a:solidFill>
              <a:schemeClr val="accent2">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Sheet1!$D$2:$D$12</c:f>
              <c:numCache>
                <c:formatCode>0%</c:formatCode>
                <c:ptCount val="11"/>
                <c:pt idx="0">
                  <c:v>0.05</c:v>
                </c:pt>
                <c:pt idx="1">
                  <c:v>0.05</c:v>
                </c:pt>
                <c:pt idx="2">
                  <c:v>0.06</c:v>
                </c:pt>
                <c:pt idx="3">
                  <c:v>0.04</c:v>
                </c:pt>
                <c:pt idx="4">
                  <c:v>0.02</c:v>
                </c:pt>
                <c:pt idx="5">
                  <c:v>0.01</c:v>
                </c:pt>
                <c:pt idx="6">
                  <c:v>0.08</c:v>
                </c:pt>
                <c:pt idx="7">
                  <c:v>0.1</c:v>
                </c:pt>
                <c:pt idx="8">
                  <c:v>0.09</c:v>
                </c:pt>
                <c:pt idx="9">
                  <c:v>7.0000000000000007E-2</c:v>
                </c:pt>
                <c:pt idx="10">
                  <c:v>0.03</c:v>
                </c:pt>
              </c:numCache>
            </c:numRef>
          </c:val>
          <c:extLst>
            <c:ext xmlns:c16="http://schemas.microsoft.com/office/drawing/2014/chart" uri="{C3380CC4-5D6E-409C-BE32-E72D297353CC}">
              <c16:uniqueId val="{00000002-E06D-4EDB-B47E-EF404DE4DAD8}"/>
            </c:ext>
          </c:extLst>
        </c:ser>
        <c:dLbls>
          <c:dLblPos val="ctr"/>
          <c:showLegendKey val="0"/>
          <c:showVal val="1"/>
          <c:showCatName val="0"/>
          <c:showSerName val="0"/>
          <c:showPercent val="0"/>
          <c:showBubbleSize val="0"/>
        </c:dLbls>
        <c:gapWidth val="50"/>
        <c:overlap val="100"/>
        <c:axId val="184411968"/>
        <c:axId val="187267840"/>
      </c:barChart>
      <c:catAx>
        <c:axId val="184411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87267840"/>
        <c:crosses val="autoZero"/>
        <c:auto val="1"/>
        <c:lblAlgn val="ctr"/>
        <c:lblOffset val="100"/>
        <c:noMultiLvlLbl val="0"/>
      </c:catAx>
      <c:valAx>
        <c:axId val="187267840"/>
        <c:scaling>
          <c:orientation val="minMax"/>
        </c:scaling>
        <c:delete val="1"/>
        <c:axPos val="l"/>
        <c:numFmt formatCode="0%" sourceLinked="1"/>
        <c:majorTickMark val="none"/>
        <c:minorTickMark val="none"/>
        <c:tickLblPos val="nextTo"/>
        <c:crossAx val="184411968"/>
        <c:crosses val="autoZero"/>
        <c:crossBetween val="between"/>
      </c:valAx>
      <c:spPr>
        <a:noFill/>
        <a:ln>
          <a:noFill/>
        </a:ln>
        <a:effectLst/>
      </c:spPr>
    </c:plotArea>
    <c:legend>
      <c:legendPos val="l"/>
      <c:layout>
        <c:manualLayout>
          <c:xMode val="edge"/>
          <c:yMode val="edge"/>
          <c:x val="7.8395061728395062E-3"/>
          <c:y val="0.10047055555555554"/>
          <c:w val="0.14068827160493827"/>
          <c:h val="0.79937638888888884"/>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2238065796837834"/>
          <c:y val="3.6452182408077613E-2"/>
          <c:w val="0.7639767559815307"/>
          <c:h val="0.85592568451562434"/>
        </c:manualLayout>
      </c:layout>
      <c:barChart>
        <c:barDir val="col"/>
        <c:grouping val="percentStacked"/>
        <c:varyColors val="0"/>
        <c:ser>
          <c:idx val="0"/>
          <c:order val="0"/>
          <c:tx>
            <c:strRef>
              <c:f>Sheet1!$B$1</c:f>
              <c:strCache>
                <c:ptCount val="1"/>
                <c:pt idx="0">
                  <c:v>Frequently (e.g., voting, advocacy, political activism)</c:v>
                </c:pt>
              </c:strCache>
            </c:strRef>
          </c:tx>
          <c:spPr>
            <a:solidFill>
              <a:schemeClr val="accent2">
                <a:shade val="58000"/>
              </a:scheme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Sheet1!$B$2:$B$12</c:f>
              <c:numCache>
                <c:formatCode>0%</c:formatCode>
                <c:ptCount val="11"/>
                <c:pt idx="0">
                  <c:v>0.09</c:v>
                </c:pt>
                <c:pt idx="1">
                  <c:v>0.14000000000000001</c:v>
                </c:pt>
                <c:pt idx="2">
                  <c:v>0.05</c:v>
                </c:pt>
                <c:pt idx="3">
                  <c:v>0.1</c:v>
                </c:pt>
                <c:pt idx="4">
                  <c:v>0.01</c:v>
                </c:pt>
                <c:pt idx="5">
                  <c:v>0.1</c:v>
                </c:pt>
                <c:pt idx="6">
                  <c:v>0.09</c:v>
                </c:pt>
                <c:pt idx="7">
                  <c:v>0.14000000000000001</c:v>
                </c:pt>
                <c:pt idx="8">
                  <c:v>0.13</c:v>
                </c:pt>
                <c:pt idx="9">
                  <c:v>0.09</c:v>
                </c:pt>
                <c:pt idx="10">
                  <c:v>0.09</c:v>
                </c:pt>
              </c:numCache>
            </c:numRef>
          </c:val>
          <c:extLst>
            <c:ext xmlns:c16="http://schemas.microsoft.com/office/drawing/2014/chart" uri="{C3380CC4-5D6E-409C-BE32-E72D297353CC}">
              <c16:uniqueId val="{00000000-3A24-4515-84DE-6868A1356F85}"/>
            </c:ext>
          </c:extLst>
        </c:ser>
        <c:ser>
          <c:idx val="1"/>
          <c:order val="1"/>
          <c:tx>
            <c:strRef>
              <c:f>Sheet1!$C$1</c:f>
              <c:strCache>
                <c:ptCount val="1"/>
                <c:pt idx="0">
                  <c:v>Occasionally (e.g., discussing politics, attending community meetings)</c:v>
                </c:pt>
              </c:strCache>
            </c:strRef>
          </c:tx>
          <c:spPr>
            <a:solidFill>
              <a:srgbClr val="70AD47">
                <a:lumMod val="40000"/>
                <a:lumOff val="60000"/>
              </a:srgb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Sheet1!$C$2:$C$12</c:f>
              <c:numCache>
                <c:formatCode>0%</c:formatCode>
                <c:ptCount val="11"/>
                <c:pt idx="0">
                  <c:v>0.28999999999999998</c:v>
                </c:pt>
                <c:pt idx="1">
                  <c:v>0.35</c:v>
                </c:pt>
                <c:pt idx="2">
                  <c:v>0.24</c:v>
                </c:pt>
                <c:pt idx="3">
                  <c:v>0.38</c:v>
                </c:pt>
                <c:pt idx="4">
                  <c:v>0.18</c:v>
                </c:pt>
                <c:pt idx="5">
                  <c:v>0.3</c:v>
                </c:pt>
                <c:pt idx="6">
                  <c:v>0.6</c:v>
                </c:pt>
                <c:pt idx="7">
                  <c:v>0.16</c:v>
                </c:pt>
                <c:pt idx="8">
                  <c:v>0.21</c:v>
                </c:pt>
                <c:pt idx="9">
                  <c:v>0.27</c:v>
                </c:pt>
                <c:pt idx="10">
                  <c:v>0.32</c:v>
                </c:pt>
              </c:numCache>
            </c:numRef>
          </c:val>
          <c:extLst>
            <c:ext xmlns:c16="http://schemas.microsoft.com/office/drawing/2014/chart" uri="{C3380CC4-5D6E-409C-BE32-E72D297353CC}">
              <c16:uniqueId val="{00000001-3A24-4515-84DE-6868A1356F85}"/>
            </c:ext>
          </c:extLst>
        </c:ser>
        <c:ser>
          <c:idx val="2"/>
          <c:order val="2"/>
          <c:tx>
            <c:strRef>
              <c:f>Sheet1!$D$1</c:f>
              <c:strCache>
                <c:ptCount val="1"/>
                <c:pt idx="0">
                  <c:v>Rarely (e.g., limited involvement beyond general awareness)</c:v>
                </c:pt>
              </c:strCache>
            </c:strRef>
          </c:tx>
          <c:spPr>
            <a:solidFill>
              <a:schemeClr val="accent2">
                <a:tint val="86000"/>
              </a:scheme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Sheet1!$D$2:$D$12</c:f>
              <c:numCache>
                <c:formatCode>0%</c:formatCode>
                <c:ptCount val="11"/>
                <c:pt idx="0">
                  <c:v>0.42</c:v>
                </c:pt>
                <c:pt idx="1">
                  <c:v>0.35</c:v>
                </c:pt>
                <c:pt idx="2">
                  <c:v>0.48</c:v>
                </c:pt>
                <c:pt idx="3">
                  <c:v>0.38</c:v>
                </c:pt>
                <c:pt idx="4">
                  <c:v>0.48</c:v>
                </c:pt>
                <c:pt idx="5">
                  <c:v>0.44</c:v>
                </c:pt>
                <c:pt idx="6">
                  <c:v>0.25</c:v>
                </c:pt>
                <c:pt idx="7">
                  <c:v>0.61</c:v>
                </c:pt>
                <c:pt idx="8">
                  <c:v>0.38</c:v>
                </c:pt>
                <c:pt idx="9">
                  <c:v>0.41</c:v>
                </c:pt>
                <c:pt idx="10">
                  <c:v>0.43</c:v>
                </c:pt>
              </c:numCache>
            </c:numRef>
          </c:val>
          <c:extLst>
            <c:ext xmlns:c16="http://schemas.microsoft.com/office/drawing/2014/chart" uri="{C3380CC4-5D6E-409C-BE32-E72D297353CC}">
              <c16:uniqueId val="{00000002-3A24-4515-84DE-6868A1356F85}"/>
            </c:ext>
          </c:extLst>
        </c:ser>
        <c:ser>
          <c:idx val="3"/>
          <c:order val="3"/>
          <c:tx>
            <c:strRef>
              <c:f>Sheet1!$E$1</c:f>
              <c:strCache>
                <c:ptCount val="1"/>
                <c:pt idx="0">
                  <c:v>Never</c:v>
                </c:pt>
              </c:strCache>
            </c:strRef>
          </c:tx>
          <c:spPr>
            <a:solidFill>
              <a:schemeClr val="accent2">
                <a:tint val="58000"/>
              </a:scheme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Sheet1!$E$2:$E$12</c:f>
              <c:numCache>
                <c:formatCode>0%</c:formatCode>
                <c:ptCount val="11"/>
                <c:pt idx="0">
                  <c:v>0.2</c:v>
                </c:pt>
                <c:pt idx="1">
                  <c:v>0.16</c:v>
                </c:pt>
                <c:pt idx="2">
                  <c:v>0.23</c:v>
                </c:pt>
                <c:pt idx="3">
                  <c:v>0.14000000000000001</c:v>
                </c:pt>
                <c:pt idx="4">
                  <c:v>0.33</c:v>
                </c:pt>
                <c:pt idx="5">
                  <c:v>0.16</c:v>
                </c:pt>
                <c:pt idx="6">
                  <c:v>7.0000000000000007E-2</c:v>
                </c:pt>
                <c:pt idx="7">
                  <c:v>0.08</c:v>
                </c:pt>
                <c:pt idx="8">
                  <c:v>0.28999999999999998</c:v>
                </c:pt>
                <c:pt idx="9">
                  <c:v>0.23</c:v>
                </c:pt>
                <c:pt idx="10">
                  <c:v>0.16</c:v>
                </c:pt>
              </c:numCache>
            </c:numRef>
          </c:val>
          <c:extLst>
            <c:ext xmlns:c16="http://schemas.microsoft.com/office/drawing/2014/chart" uri="{C3380CC4-5D6E-409C-BE32-E72D297353CC}">
              <c16:uniqueId val="{00000003-3A24-4515-84DE-6868A1356F85}"/>
            </c:ext>
          </c:extLst>
        </c:ser>
        <c:dLbls>
          <c:dLblPos val="ctr"/>
          <c:showLegendKey val="0"/>
          <c:showVal val="1"/>
          <c:showCatName val="0"/>
          <c:showSerName val="0"/>
          <c:showPercent val="0"/>
          <c:showBubbleSize val="0"/>
        </c:dLbls>
        <c:gapWidth val="100"/>
        <c:overlap val="100"/>
        <c:axId val="826811951"/>
        <c:axId val="826794479"/>
      </c:barChart>
      <c:catAx>
        <c:axId val="8268119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826794479"/>
        <c:crosses val="autoZero"/>
        <c:auto val="1"/>
        <c:lblAlgn val="ctr"/>
        <c:lblOffset val="100"/>
        <c:noMultiLvlLbl val="0"/>
      </c:catAx>
      <c:valAx>
        <c:axId val="826794479"/>
        <c:scaling>
          <c:orientation val="minMax"/>
        </c:scaling>
        <c:delete val="1"/>
        <c:axPos val="l"/>
        <c:numFmt formatCode="0%" sourceLinked="1"/>
        <c:majorTickMark val="none"/>
        <c:minorTickMark val="none"/>
        <c:tickLblPos val="nextTo"/>
        <c:crossAx val="826811951"/>
        <c:crosses val="autoZero"/>
        <c:crossBetween val="between"/>
      </c:valAx>
      <c:spPr>
        <a:noFill/>
        <a:ln>
          <a:noFill/>
        </a:ln>
        <a:effectLst/>
      </c:spPr>
    </c:plotArea>
    <c:legend>
      <c:legendPos val="l"/>
      <c:layout>
        <c:manualLayout>
          <c:xMode val="edge"/>
          <c:yMode val="edge"/>
          <c:x val="6.6636350916468448E-3"/>
          <c:y val="5.2593993427196555E-2"/>
          <c:w val="0.20663329019168883"/>
          <c:h val="0.91771252509512258"/>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bg1"/>
          </a:solidFill>
          <a:latin typeface="MTN Brighter Sans" panose="00000500000000000000"/>
        </a:defRPr>
      </a:pPr>
      <a:endParaRPr lang="en-US"/>
    </a:p>
  </c:txPr>
  <c:externalData r:id="rId4">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
          <c:y val="0.12616742550188501"/>
          <c:w val="1"/>
          <c:h val="0.80716492380228699"/>
        </c:manualLayout>
      </c:layout>
      <c:barChart>
        <c:barDir val="col"/>
        <c:grouping val="clustered"/>
        <c:varyColors val="0"/>
        <c:ser>
          <c:idx val="0"/>
          <c:order val="0"/>
          <c:tx>
            <c:strRef>
              <c:f>Sheet1!$B$1</c:f>
              <c:strCache>
                <c:ptCount val="1"/>
                <c:pt idx="0">
                  <c:v>Their track record in community or professional leadership</c:v>
                </c:pt>
              </c:strCache>
            </c:strRef>
          </c:tx>
          <c:spPr>
            <a:solidFill>
              <a:srgbClr val="802AB7"/>
            </a:solidFill>
            <a:ln w="6350">
              <a:solidFill>
                <a:srgbClr val="FFFFFF"/>
              </a:solidFill>
            </a:ln>
            <a:effectLst/>
          </c:spPr>
          <c:invertIfNegative val="0"/>
          <c:dPt>
            <c:idx val="0"/>
            <c:invertIfNegative val="0"/>
            <c:bubble3D val="0"/>
            <c:extLst>
              <c:ext xmlns:c16="http://schemas.microsoft.com/office/drawing/2014/chart" uri="{C3380CC4-5D6E-409C-BE32-E72D297353CC}">
                <c16:uniqueId val="{00000000-398A-4D4C-9AAF-B6FFED8251BD}"/>
              </c:ext>
            </c:extLst>
          </c:dPt>
          <c:dPt>
            <c:idx val="1"/>
            <c:invertIfNegative val="0"/>
            <c:bubble3D val="0"/>
            <c:extLst>
              <c:ext xmlns:c16="http://schemas.microsoft.com/office/drawing/2014/chart" uri="{C3380CC4-5D6E-409C-BE32-E72D297353CC}">
                <c16:uniqueId val="{00000001-398A-4D4C-9AAF-B6FFED8251BD}"/>
              </c:ext>
            </c:extLst>
          </c:dPt>
          <c:dPt>
            <c:idx val="2"/>
            <c:invertIfNegative val="0"/>
            <c:bubble3D val="0"/>
            <c:extLst>
              <c:ext xmlns:c16="http://schemas.microsoft.com/office/drawing/2014/chart" uri="{C3380CC4-5D6E-409C-BE32-E72D297353CC}">
                <c16:uniqueId val="{00000002-398A-4D4C-9AAF-B6FFED8251BD}"/>
              </c:ext>
            </c:extLst>
          </c:dPt>
          <c:dPt>
            <c:idx val="3"/>
            <c:invertIfNegative val="0"/>
            <c:bubble3D val="0"/>
            <c:extLst>
              <c:ext xmlns:c16="http://schemas.microsoft.com/office/drawing/2014/chart" uri="{C3380CC4-5D6E-409C-BE32-E72D297353CC}">
                <c16:uniqueId val="{00000003-398A-4D4C-9AAF-B6FFED8251BD}"/>
              </c:ext>
            </c:extLst>
          </c:dPt>
          <c:dPt>
            <c:idx val="4"/>
            <c:invertIfNegative val="0"/>
            <c:bubble3D val="0"/>
            <c:extLst>
              <c:ext xmlns:c16="http://schemas.microsoft.com/office/drawing/2014/chart" uri="{C3380CC4-5D6E-409C-BE32-E72D297353CC}">
                <c16:uniqueId val="{00000004-398A-4D4C-9AAF-B6FFED8251BD}"/>
              </c:ext>
            </c:extLst>
          </c:dPt>
          <c:dPt>
            <c:idx val="5"/>
            <c:invertIfNegative val="0"/>
            <c:bubble3D val="0"/>
            <c:extLst>
              <c:ext xmlns:c16="http://schemas.microsoft.com/office/drawing/2014/chart" uri="{C3380CC4-5D6E-409C-BE32-E72D297353CC}">
                <c16:uniqueId val="{00000005-398A-4D4C-9AAF-B6FFED8251BD}"/>
              </c:ext>
            </c:extLst>
          </c:dPt>
          <c:dPt>
            <c:idx val="6"/>
            <c:invertIfNegative val="0"/>
            <c:bubble3D val="0"/>
            <c:extLst>
              <c:ext xmlns:c16="http://schemas.microsoft.com/office/drawing/2014/chart" uri="{C3380CC4-5D6E-409C-BE32-E72D297353CC}">
                <c16:uniqueId val="{00000006-398A-4D4C-9AAF-B6FFED8251BD}"/>
              </c:ext>
            </c:extLst>
          </c:dPt>
          <c:dPt>
            <c:idx val="7"/>
            <c:invertIfNegative val="0"/>
            <c:bubble3D val="0"/>
            <c:extLst>
              <c:ext xmlns:c16="http://schemas.microsoft.com/office/drawing/2014/chart" uri="{C3380CC4-5D6E-409C-BE32-E72D297353CC}">
                <c16:uniqueId val="{00000007-398A-4D4C-9AAF-B6FFED8251BD}"/>
              </c:ext>
            </c:extLst>
          </c:dPt>
          <c:dPt>
            <c:idx val="8"/>
            <c:invertIfNegative val="0"/>
            <c:bubble3D val="0"/>
            <c:extLst>
              <c:ext xmlns:c16="http://schemas.microsoft.com/office/drawing/2014/chart" uri="{C3380CC4-5D6E-409C-BE32-E72D297353CC}">
                <c16:uniqueId val="{00000008-398A-4D4C-9AAF-B6FFED8251BD}"/>
              </c:ext>
            </c:extLst>
          </c:dPt>
          <c:dPt>
            <c:idx val="9"/>
            <c:invertIfNegative val="0"/>
            <c:bubble3D val="0"/>
            <c:extLst>
              <c:ext xmlns:c16="http://schemas.microsoft.com/office/drawing/2014/chart" uri="{C3380CC4-5D6E-409C-BE32-E72D297353CC}">
                <c16:uniqueId val="{00000009-398A-4D4C-9AAF-B6FFED8251BD}"/>
              </c:ext>
            </c:extLst>
          </c:dPt>
          <c:dPt>
            <c:idx val="10"/>
            <c:invertIfNegative val="0"/>
            <c:bubble3D val="0"/>
            <c:extLst>
              <c:ext xmlns:c16="http://schemas.microsoft.com/office/drawing/2014/chart" uri="{C3380CC4-5D6E-409C-BE32-E72D297353CC}">
                <c16:uniqueId val="{0000000A-398A-4D4C-9AAF-B6FFED8251BD}"/>
              </c:ext>
            </c:extLst>
          </c:dPt>
          <c:dPt>
            <c:idx val="11"/>
            <c:invertIfNegative val="0"/>
            <c:bubble3D val="0"/>
            <c:extLst>
              <c:ext xmlns:c16="http://schemas.microsoft.com/office/drawing/2014/chart" uri="{C3380CC4-5D6E-409C-BE32-E72D297353CC}">
                <c16:uniqueId val="{0000000B-398A-4D4C-9AAF-B6FFED8251BD}"/>
              </c:ext>
            </c:extLst>
          </c:dPt>
          <c:dPt>
            <c:idx val="12"/>
            <c:invertIfNegative val="0"/>
            <c:bubble3D val="0"/>
            <c:extLst>
              <c:ext xmlns:c16="http://schemas.microsoft.com/office/drawing/2014/chart" uri="{C3380CC4-5D6E-409C-BE32-E72D297353CC}">
                <c16:uniqueId val="{0000000C-398A-4D4C-9AAF-B6FFED8251BD}"/>
              </c:ext>
            </c:extLst>
          </c:dPt>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Sheet1!$B$2:$B$12</c:f>
              <c:numCache>
                <c:formatCode>0%</c:formatCode>
                <c:ptCount val="11"/>
                <c:pt idx="0">
                  <c:v>0.59</c:v>
                </c:pt>
                <c:pt idx="1">
                  <c:v>0.59</c:v>
                </c:pt>
                <c:pt idx="2">
                  <c:v>0.59</c:v>
                </c:pt>
                <c:pt idx="3">
                  <c:v>0.39</c:v>
                </c:pt>
                <c:pt idx="4">
                  <c:v>0.75</c:v>
                </c:pt>
                <c:pt idx="5">
                  <c:v>0.86</c:v>
                </c:pt>
                <c:pt idx="6">
                  <c:v>0.42</c:v>
                </c:pt>
                <c:pt idx="7">
                  <c:v>0.79</c:v>
                </c:pt>
                <c:pt idx="8">
                  <c:v>0.34</c:v>
                </c:pt>
                <c:pt idx="9">
                  <c:v>0.55000000000000004</c:v>
                </c:pt>
                <c:pt idx="10">
                  <c:v>0.65</c:v>
                </c:pt>
              </c:numCache>
            </c:numRef>
          </c:val>
          <c:extLst>
            <c:ext xmlns:c16="http://schemas.microsoft.com/office/drawing/2014/chart" uri="{C3380CC4-5D6E-409C-BE32-E72D297353CC}">
              <c16:uniqueId val="{0000000D-398A-4D4C-9AAF-B6FFED8251BD}"/>
            </c:ext>
          </c:extLst>
        </c:ser>
        <c:ser>
          <c:idx val="1"/>
          <c:order val="1"/>
          <c:tx>
            <c:strRef>
              <c:f>Sheet1!$C$1</c:f>
              <c:strCache>
                <c:ptCount val="1"/>
                <c:pt idx="0">
                  <c:v>Their ability to present clear policies and governance strategies</c:v>
                </c:pt>
              </c:strCache>
            </c:strRef>
          </c:tx>
          <c:spPr>
            <a:solidFill>
              <a:srgbClr val="C700D3"/>
            </a:solidFill>
            <a:ln w="6350">
              <a:solidFill>
                <a:srgbClr val="FFFFFF"/>
              </a:solidFill>
            </a:ln>
          </c:spPr>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Sheet1!$C$2:$C$12</c:f>
              <c:numCache>
                <c:formatCode>0%</c:formatCode>
                <c:ptCount val="11"/>
                <c:pt idx="0">
                  <c:v>0.5</c:v>
                </c:pt>
                <c:pt idx="1">
                  <c:v>0.49</c:v>
                </c:pt>
                <c:pt idx="2">
                  <c:v>0.51</c:v>
                </c:pt>
                <c:pt idx="3">
                  <c:v>0.54</c:v>
                </c:pt>
                <c:pt idx="4">
                  <c:v>0.22</c:v>
                </c:pt>
                <c:pt idx="5">
                  <c:v>0.48</c:v>
                </c:pt>
                <c:pt idx="6">
                  <c:v>0.71</c:v>
                </c:pt>
                <c:pt idx="7">
                  <c:v>0.73</c:v>
                </c:pt>
                <c:pt idx="8">
                  <c:v>0.51</c:v>
                </c:pt>
                <c:pt idx="9">
                  <c:v>0.49</c:v>
                </c:pt>
                <c:pt idx="10">
                  <c:v>0.53</c:v>
                </c:pt>
              </c:numCache>
            </c:numRef>
          </c:val>
          <c:extLst>
            <c:ext xmlns:c16="http://schemas.microsoft.com/office/drawing/2014/chart" uri="{C3380CC4-5D6E-409C-BE32-E72D297353CC}">
              <c16:uniqueId val="{0000000E-398A-4D4C-9AAF-B6FFED8251BD}"/>
            </c:ext>
          </c:extLst>
        </c:ser>
        <c:ser>
          <c:idx val="2"/>
          <c:order val="2"/>
          <c:tx>
            <c:strRef>
              <c:f>Sheet1!$D$1</c:f>
              <c:strCache>
                <c:ptCount val="1"/>
                <c:pt idx="0">
                  <c:v>Their educational background and expertise</c:v>
                </c:pt>
              </c:strCache>
            </c:strRef>
          </c:tx>
          <c:spPr>
            <a:solidFill>
              <a:srgbClr val="0060FF"/>
            </a:solidFill>
            <a:ln w="6350">
              <a:solidFill>
                <a:srgbClr val="FFFFFF"/>
              </a:solidFill>
            </a:ln>
          </c:spPr>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Sheet1!$D$2:$D$12</c:f>
              <c:numCache>
                <c:formatCode>0%</c:formatCode>
                <c:ptCount val="11"/>
                <c:pt idx="0">
                  <c:v>0.52</c:v>
                </c:pt>
                <c:pt idx="1">
                  <c:v>0.5</c:v>
                </c:pt>
                <c:pt idx="2">
                  <c:v>0.53</c:v>
                </c:pt>
                <c:pt idx="3">
                  <c:v>0.43</c:v>
                </c:pt>
                <c:pt idx="4">
                  <c:v>0.64</c:v>
                </c:pt>
                <c:pt idx="5">
                  <c:v>0.61</c:v>
                </c:pt>
                <c:pt idx="6">
                  <c:v>0.47</c:v>
                </c:pt>
                <c:pt idx="7">
                  <c:v>0.7</c:v>
                </c:pt>
                <c:pt idx="8">
                  <c:v>0.33</c:v>
                </c:pt>
                <c:pt idx="9">
                  <c:v>0.5</c:v>
                </c:pt>
                <c:pt idx="10">
                  <c:v>0.55000000000000004</c:v>
                </c:pt>
              </c:numCache>
            </c:numRef>
          </c:val>
          <c:extLst>
            <c:ext xmlns:c16="http://schemas.microsoft.com/office/drawing/2014/chart" uri="{C3380CC4-5D6E-409C-BE32-E72D297353CC}">
              <c16:uniqueId val="{0000000F-398A-4D4C-9AAF-B6FFED8251BD}"/>
            </c:ext>
          </c:extLst>
        </c:ser>
        <c:ser>
          <c:idx val="3"/>
          <c:order val="3"/>
          <c:tx>
            <c:strRef>
              <c:f>Sheet1!$E$1</c:f>
              <c:strCache>
                <c:ptCount val="1"/>
                <c:pt idx="0">
                  <c:v>Their alignment with personal values and beliefs</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Sheet1!$E$2:$E$12</c:f>
              <c:numCache>
                <c:formatCode>0%</c:formatCode>
                <c:ptCount val="11"/>
                <c:pt idx="0">
                  <c:v>0.43</c:v>
                </c:pt>
                <c:pt idx="1">
                  <c:v>0.45</c:v>
                </c:pt>
                <c:pt idx="2">
                  <c:v>0.41</c:v>
                </c:pt>
                <c:pt idx="3">
                  <c:v>0.61</c:v>
                </c:pt>
                <c:pt idx="4">
                  <c:v>0.17</c:v>
                </c:pt>
                <c:pt idx="5">
                  <c:v>0.55000000000000004</c:v>
                </c:pt>
                <c:pt idx="6">
                  <c:v>0.4</c:v>
                </c:pt>
                <c:pt idx="7">
                  <c:v>0.59</c:v>
                </c:pt>
                <c:pt idx="8">
                  <c:v>0.41</c:v>
                </c:pt>
                <c:pt idx="9">
                  <c:v>0.41</c:v>
                </c:pt>
                <c:pt idx="10">
                  <c:v>0.47</c:v>
                </c:pt>
              </c:numCache>
            </c:numRef>
          </c:val>
          <c:extLst>
            <c:ext xmlns:c16="http://schemas.microsoft.com/office/drawing/2014/chart" uri="{C3380CC4-5D6E-409C-BE32-E72D297353CC}">
              <c16:uniqueId val="{00000010-398A-4D4C-9AAF-B6FFED8251BD}"/>
            </c:ext>
          </c:extLst>
        </c:ser>
        <c:ser>
          <c:idx val="4"/>
          <c:order val="4"/>
          <c:tx>
            <c:strRef>
              <c:f>Sheet1!$F$1</c:f>
              <c:strCache>
                <c:ptCount val="1"/>
                <c:pt idx="0">
                  <c:v>Their financial independence and lack of corruption scandals</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Sheet1!$F$2:$F$12</c:f>
              <c:numCache>
                <c:formatCode>0%</c:formatCode>
                <c:ptCount val="11"/>
                <c:pt idx="0">
                  <c:v>0.39</c:v>
                </c:pt>
                <c:pt idx="1">
                  <c:v>0.4</c:v>
                </c:pt>
                <c:pt idx="2">
                  <c:v>0.38</c:v>
                </c:pt>
                <c:pt idx="3">
                  <c:v>0.31</c:v>
                </c:pt>
                <c:pt idx="4">
                  <c:v>0.59</c:v>
                </c:pt>
                <c:pt idx="5">
                  <c:v>0.37</c:v>
                </c:pt>
                <c:pt idx="6">
                  <c:v>0.16</c:v>
                </c:pt>
                <c:pt idx="7">
                  <c:v>0.64</c:v>
                </c:pt>
                <c:pt idx="8">
                  <c:v>0.31</c:v>
                </c:pt>
                <c:pt idx="9">
                  <c:v>0.39</c:v>
                </c:pt>
                <c:pt idx="10">
                  <c:v>0.4</c:v>
                </c:pt>
              </c:numCache>
            </c:numRef>
          </c:val>
          <c:extLst>
            <c:ext xmlns:c16="http://schemas.microsoft.com/office/drawing/2014/chart" uri="{C3380CC4-5D6E-409C-BE32-E72D297353CC}">
              <c16:uniqueId val="{00000011-398A-4D4C-9AAF-B6FFED8251BD}"/>
            </c:ext>
          </c:extLst>
        </c:ser>
        <c:dLbls>
          <c:dLblPos val="outEnd"/>
          <c:showLegendKey val="0"/>
          <c:showVal val="1"/>
          <c:showCatName val="0"/>
          <c:showSerName val="0"/>
          <c:showPercent val="0"/>
          <c:showBubbleSize val="0"/>
        </c:dLbls>
        <c:gapWidth val="500"/>
        <c:overlap val="-50"/>
        <c:axId val="351810248"/>
        <c:axId val="351810640"/>
      </c:barChart>
      <c:catAx>
        <c:axId val="351810248"/>
        <c:scaling>
          <c:orientation val="minMax"/>
        </c:scaling>
        <c:delete val="0"/>
        <c:axPos val="b"/>
        <c:numFmt formatCode="General" sourceLinked="1"/>
        <c:majorTickMark val="out"/>
        <c:minorTickMark val="none"/>
        <c:tickLblPos val="nextTo"/>
        <c:spPr>
          <a:noFill/>
          <a:ln w="9525" cap="flat" cmpd="sng" algn="ctr">
            <a:noFill/>
            <a:round/>
          </a:ln>
          <a:effectLst/>
        </c:spPr>
        <c:txPr>
          <a:bodyPr rot="-60000000" vert="horz"/>
          <a:lstStyle/>
          <a:p>
            <a:pPr>
              <a:defRPr/>
            </a:pPr>
            <a:endParaRPr lang="en-US"/>
          </a:p>
        </c:txPr>
        <c:crossAx val="351810640"/>
        <c:crosses val="autoZero"/>
        <c:auto val="1"/>
        <c:lblAlgn val="ctr"/>
        <c:lblOffset val="100"/>
        <c:noMultiLvlLbl val="0"/>
      </c:catAx>
      <c:valAx>
        <c:axId val="351810640"/>
        <c:scaling>
          <c:orientation val="minMax"/>
        </c:scaling>
        <c:delete val="1"/>
        <c:axPos val="l"/>
        <c:numFmt formatCode="0%" sourceLinked="1"/>
        <c:majorTickMark val="out"/>
        <c:minorTickMark val="none"/>
        <c:tickLblPos val="nextTo"/>
        <c:crossAx val="351810248"/>
        <c:crosses val="autoZero"/>
        <c:crossBetween val="between"/>
      </c:valAx>
      <c:spPr>
        <a:noFill/>
        <a:ln>
          <a:noFill/>
        </a:ln>
        <a:effectLst/>
      </c:spPr>
    </c:plotArea>
    <c:legend>
      <c:legendPos val="t"/>
      <c:layout>
        <c:manualLayout>
          <c:xMode val="edge"/>
          <c:yMode val="edge"/>
          <c:x val="1.3225650672785916E-2"/>
          <c:y val="4.3620211780635354E-2"/>
          <c:w val="0.71421229588282209"/>
          <c:h val="0.18879153452155148"/>
        </c:manualLayout>
      </c:layout>
      <c:overlay val="0"/>
    </c:legend>
    <c:plotVisOnly val="1"/>
    <c:dispBlanksAs val="gap"/>
    <c:showDLblsOverMax val="0"/>
  </c:chart>
  <c:spPr>
    <a:noFill/>
    <a:ln>
      <a:noFill/>
    </a:ln>
    <a:effectLst/>
  </c:spPr>
  <c:txPr>
    <a:bodyPr/>
    <a:lstStyle/>
    <a:p>
      <a:pPr>
        <a:defRPr sz="1200">
          <a:solidFill>
            <a:srgbClr val="333333"/>
          </a:solidFill>
          <a:latin typeface="+mn-lt"/>
        </a:defRPr>
      </a:pPr>
      <a:endParaRPr lang="en-US"/>
    </a:p>
  </c:txPr>
  <c:externalData r:id="rId2">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2238065796837834"/>
          <c:y val="3.6452182408077613E-2"/>
          <c:w val="0.7639767559815307"/>
          <c:h val="0.85592568451562434"/>
        </c:manualLayout>
      </c:layout>
      <c:barChart>
        <c:barDir val="col"/>
        <c:grouping val="percentStacked"/>
        <c:varyColors val="0"/>
        <c:ser>
          <c:idx val="0"/>
          <c:order val="0"/>
          <c:tx>
            <c:strRef>
              <c:f>Sheet1!$B$1</c:f>
              <c:strCache>
                <c:ptCount val="1"/>
                <c:pt idx="0">
                  <c:v>Yes, significantly more</c:v>
                </c:pt>
              </c:strCache>
            </c:strRef>
          </c:tx>
          <c:spPr>
            <a:solidFill>
              <a:srgbClr val="70AD47">
                <a:lumMod val="50000"/>
              </a:srgb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Sheet1!$B$2:$B$12</c:f>
              <c:numCache>
                <c:formatCode>0%</c:formatCode>
                <c:ptCount val="11"/>
                <c:pt idx="0">
                  <c:v>0.55000000000000004</c:v>
                </c:pt>
                <c:pt idx="1">
                  <c:v>0.5</c:v>
                </c:pt>
                <c:pt idx="2">
                  <c:v>0.59</c:v>
                </c:pt>
                <c:pt idx="3">
                  <c:v>0.66</c:v>
                </c:pt>
                <c:pt idx="4">
                  <c:v>0.71</c:v>
                </c:pt>
                <c:pt idx="5">
                  <c:v>0.69</c:v>
                </c:pt>
                <c:pt idx="6">
                  <c:v>0.28999999999999998</c:v>
                </c:pt>
                <c:pt idx="7">
                  <c:v>0.51</c:v>
                </c:pt>
                <c:pt idx="8">
                  <c:v>0.44</c:v>
                </c:pt>
                <c:pt idx="9">
                  <c:v>0.5</c:v>
                </c:pt>
                <c:pt idx="10">
                  <c:v>0.65</c:v>
                </c:pt>
              </c:numCache>
            </c:numRef>
          </c:val>
          <c:extLst>
            <c:ext xmlns:c16="http://schemas.microsoft.com/office/drawing/2014/chart" uri="{C3380CC4-5D6E-409C-BE32-E72D297353CC}">
              <c16:uniqueId val="{00000000-3A24-4515-84DE-6868A1356F85}"/>
            </c:ext>
          </c:extLst>
        </c:ser>
        <c:ser>
          <c:idx val="1"/>
          <c:order val="1"/>
          <c:tx>
            <c:strRef>
              <c:f>Sheet1!$C$1</c:f>
              <c:strCache>
                <c:ptCount val="1"/>
                <c:pt idx="0">
                  <c:v>Yes, but only in certain sectors</c:v>
                </c:pt>
              </c:strCache>
            </c:strRef>
          </c:tx>
          <c:spPr>
            <a:solidFill>
              <a:srgbClr val="70AD47">
                <a:lumMod val="40000"/>
                <a:lumOff val="60000"/>
              </a:srgb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Sheet1!$C$2:$C$12</c:f>
              <c:numCache>
                <c:formatCode>0%</c:formatCode>
                <c:ptCount val="11"/>
                <c:pt idx="0">
                  <c:v>0.28000000000000003</c:v>
                </c:pt>
                <c:pt idx="1">
                  <c:v>0.28999999999999998</c:v>
                </c:pt>
                <c:pt idx="2">
                  <c:v>0.27</c:v>
                </c:pt>
                <c:pt idx="3">
                  <c:v>0.16</c:v>
                </c:pt>
                <c:pt idx="4">
                  <c:v>0.14000000000000001</c:v>
                </c:pt>
                <c:pt idx="5">
                  <c:v>0.26</c:v>
                </c:pt>
                <c:pt idx="6">
                  <c:v>0.35</c:v>
                </c:pt>
                <c:pt idx="7">
                  <c:v>0.33</c:v>
                </c:pt>
                <c:pt idx="8">
                  <c:v>0.41</c:v>
                </c:pt>
                <c:pt idx="9">
                  <c:v>0.31</c:v>
                </c:pt>
                <c:pt idx="10">
                  <c:v>0.23</c:v>
                </c:pt>
              </c:numCache>
            </c:numRef>
          </c:val>
          <c:extLst>
            <c:ext xmlns:c16="http://schemas.microsoft.com/office/drawing/2014/chart" uri="{C3380CC4-5D6E-409C-BE32-E72D297353CC}">
              <c16:uniqueId val="{00000001-3A24-4515-84DE-6868A1356F85}"/>
            </c:ext>
          </c:extLst>
        </c:ser>
        <c:ser>
          <c:idx val="2"/>
          <c:order val="2"/>
          <c:tx>
            <c:strRef>
              <c:f>Sheet1!$D$1</c:f>
              <c:strCache>
                <c:ptCount val="1"/>
                <c:pt idx="0">
                  <c:v>No, men and women face similar challenges</c:v>
                </c:pt>
              </c:strCache>
            </c:strRef>
          </c:tx>
          <c:spPr>
            <a:solidFill>
              <a:schemeClr val="accent2">
                <a:tint val="86000"/>
              </a:scheme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Sheet1!$D$2:$D$12</c:f>
              <c:numCache>
                <c:formatCode>0%</c:formatCode>
                <c:ptCount val="11"/>
                <c:pt idx="0">
                  <c:v>0.13</c:v>
                </c:pt>
                <c:pt idx="1">
                  <c:v>0.16</c:v>
                </c:pt>
                <c:pt idx="2">
                  <c:v>0.11</c:v>
                </c:pt>
                <c:pt idx="3">
                  <c:v>0.12</c:v>
                </c:pt>
                <c:pt idx="4">
                  <c:v>0.14000000000000001</c:v>
                </c:pt>
                <c:pt idx="5">
                  <c:v>0.03</c:v>
                </c:pt>
                <c:pt idx="6">
                  <c:v>0.31</c:v>
                </c:pt>
                <c:pt idx="7">
                  <c:v>0.11</c:v>
                </c:pt>
                <c:pt idx="8">
                  <c:v>0.12</c:v>
                </c:pt>
                <c:pt idx="9">
                  <c:v>0.15</c:v>
                </c:pt>
                <c:pt idx="10">
                  <c:v>0.1</c:v>
                </c:pt>
              </c:numCache>
            </c:numRef>
          </c:val>
          <c:extLst>
            <c:ext xmlns:c16="http://schemas.microsoft.com/office/drawing/2014/chart" uri="{C3380CC4-5D6E-409C-BE32-E72D297353CC}">
              <c16:uniqueId val="{00000002-3A24-4515-84DE-6868A1356F85}"/>
            </c:ext>
          </c:extLst>
        </c:ser>
        <c:ser>
          <c:idx val="3"/>
          <c:order val="3"/>
          <c:tx>
            <c:strRef>
              <c:f>Sheet1!$E$1</c:f>
              <c:strCache>
                <c:ptCount val="1"/>
                <c:pt idx="0">
                  <c:v>Not sure</c:v>
                </c:pt>
              </c:strCache>
            </c:strRef>
          </c:tx>
          <c:spPr>
            <a:solidFill>
              <a:schemeClr val="accent2">
                <a:tint val="58000"/>
              </a:scheme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Sheet1!$E$2:$E$12</c:f>
              <c:numCache>
                <c:formatCode>0%</c:formatCode>
                <c:ptCount val="11"/>
                <c:pt idx="0">
                  <c:v>0.04</c:v>
                </c:pt>
                <c:pt idx="1">
                  <c:v>0.04</c:v>
                </c:pt>
                <c:pt idx="2">
                  <c:v>0.03</c:v>
                </c:pt>
                <c:pt idx="3">
                  <c:v>0.06</c:v>
                </c:pt>
                <c:pt idx="4">
                  <c:v>0.01</c:v>
                </c:pt>
                <c:pt idx="5">
                  <c:v>0.02</c:v>
                </c:pt>
                <c:pt idx="6">
                  <c:v>0.05</c:v>
                </c:pt>
                <c:pt idx="7">
                  <c:v>0.05</c:v>
                </c:pt>
                <c:pt idx="8">
                  <c:v>0.04</c:v>
                </c:pt>
                <c:pt idx="9">
                  <c:v>0.04</c:v>
                </c:pt>
                <c:pt idx="10">
                  <c:v>0.02</c:v>
                </c:pt>
              </c:numCache>
            </c:numRef>
          </c:val>
          <c:extLst>
            <c:ext xmlns:c16="http://schemas.microsoft.com/office/drawing/2014/chart" uri="{C3380CC4-5D6E-409C-BE32-E72D297353CC}">
              <c16:uniqueId val="{00000003-3A24-4515-84DE-6868A1356F85}"/>
            </c:ext>
          </c:extLst>
        </c:ser>
        <c:dLbls>
          <c:dLblPos val="ctr"/>
          <c:showLegendKey val="0"/>
          <c:showVal val="1"/>
          <c:showCatName val="0"/>
          <c:showSerName val="0"/>
          <c:showPercent val="0"/>
          <c:showBubbleSize val="0"/>
        </c:dLbls>
        <c:gapWidth val="100"/>
        <c:overlap val="100"/>
        <c:axId val="826811951"/>
        <c:axId val="826794479"/>
      </c:barChart>
      <c:catAx>
        <c:axId val="8268119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826794479"/>
        <c:crosses val="autoZero"/>
        <c:auto val="1"/>
        <c:lblAlgn val="ctr"/>
        <c:lblOffset val="100"/>
        <c:noMultiLvlLbl val="0"/>
      </c:catAx>
      <c:valAx>
        <c:axId val="826794479"/>
        <c:scaling>
          <c:orientation val="minMax"/>
        </c:scaling>
        <c:delete val="1"/>
        <c:axPos val="l"/>
        <c:numFmt formatCode="0%" sourceLinked="1"/>
        <c:majorTickMark val="none"/>
        <c:minorTickMark val="none"/>
        <c:tickLblPos val="nextTo"/>
        <c:crossAx val="826811951"/>
        <c:crosses val="autoZero"/>
        <c:crossBetween val="between"/>
      </c:valAx>
      <c:spPr>
        <a:noFill/>
        <a:ln>
          <a:noFill/>
        </a:ln>
        <a:effectLst/>
      </c:spPr>
    </c:plotArea>
    <c:legend>
      <c:legendPos val="l"/>
      <c:layout>
        <c:manualLayout>
          <c:xMode val="edge"/>
          <c:yMode val="edge"/>
          <c:x val="6.6636350916468448E-3"/>
          <c:y val="5.2593993427196555E-2"/>
          <c:w val="0.20663329019168883"/>
          <c:h val="0.65591957870983797"/>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bg1"/>
          </a:solidFill>
          <a:latin typeface="MTN Brighter Sans" panose="00000500000000000000"/>
        </a:defRPr>
      </a:pPr>
      <a:endParaRPr lang="en-US"/>
    </a:p>
  </c:txPr>
  <c:externalData r:id="rId4">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
          <c:y val="0.12616742550188501"/>
          <c:w val="1"/>
          <c:h val="0.80716492380228699"/>
        </c:manualLayout>
      </c:layout>
      <c:barChart>
        <c:barDir val="col"/>
        <c:grouping val="clustered"/>
        <c:varyColors val="0"/>
        <c:ser>
          <c:idx val="0"/>
          <c:order val="0"/>
          <c:tx>
            <c:strRef>
              <c:f>Sheet1!$B$1</c:f>
              <c:strCache>
                <c:ptCount val="1"/>
                <c:pt idx="0">
                  <c:v>Cultural and societal norms limiting women's political engagement</c:v>
                </c:pt>
              </c:strCache>
            </c:strRef>
          </c:tx>
          <c:spPr>
            <a:solidFill>
              <a:srgbClr val="802AB7"/>
            </a:solidFill>
            <a:ln w="6350">
              <a:solidFill>
                <a:srgbClr val="FFFFFF"/>
              </a:solidFill>
            </a:ln>
            <a:effectLst/>
          </c:spPr>
          <c:invertIfNegative val="0"/>
          <c:dPt>
            <c:idx val="0"/>
            <c:invertIfNegative val="0"/>
            <c:bubble3D val="0"/>
            <c:extLst>
              <c:ext xmlns:c16="http://schemas.microsoft.com/office/drawing/2014/chart" uri="{C3380CC4-5D6E-409C-BE32-E72D297353CC}">
                <c16:uniqueId val="{00000000-398A-4D4C-9AAF-B6FFED8251BD}"/>
              </c:ext>
            </c:extLst>
          </c:dPt>
          <c:dPt>
            <c:idx val="1"/>
            <c:invertIfNegative val="0"/>
            <c:bubble3D val="0"/>
            <c:extLst>
              <c:ext xmlns:c16="http://schemas.microsoft.com/office/drawing/2014/chart" uri="{C3380CC4-5D6E-409C-BE32-E72D297353CC}">
                <c16:uniqueId val="{00000001-398A-4D4C-9AAF-B6FFED8251BD}"/>
              </c:ext>
            </c:extLst>
          </c:dPt>
          <c:dPt>
            <c:idx val="2"/>
            <c:invertIfNegative val="0"/>
            <c:bubble3D val="0"/>
            <c:extLst>
              <c:ext xmlns:c16="http://schemas.microsoft.com/office/drawing/2014/chart" uri="{C3380CC4-5D6E-409C-BE32-E72D297353CC}">
                <c16:uniqueId val="{00000002-398A-4D4C-9AAF-B6FFED8251BD}"/>
              </c:ext>
            </c:extLst>
          </c:dPt>
          <c:dPt>
            <c:idx val="3"/>
            <c:invertIfNegative val="0"/>
            <c:bubble3D val="0"/>
            <c:extLst>
              <c:ext xmlns:c16="http://schemas.microsoft.com/office/drawing/2014/chart" uri="{C3380CC4-5D6E-409C-BE32-E72D297353CC}">
                <c16:uniqueId val="{00000003-398A-4D4C-9AAF-B6FFED8251BD}"/>
              </c:ext>
            </c:extLst>
          </c:dPt>
          <c:dPt>
            <c:idx val="4"/>
            <c:invertIfNegative val="0"/>
            <c:bubble3D val="0"/>
            <c:extLst>
              <c:ext xmlns:c16="http://schemas.microsoft.com/office/drawing/2014/chart" uri="{C3380CC4-5D6E-409C-BE32-E72D297353CC}">
                <c16:uniqueId val="{00000004-398A-4D4C-9AAF-B6FFED8251BD}"/>
              </c:ext>
            </c:extLst>
          </c:dPt>
          <c:dPt>
            <c:idx val="5"/>
            <c:invertIfNegative val="0"/>
            <c:bubble3D val="0"/>
            <c:extLst>
              <c:ext xmlns:c16="http://schemas.microsoft.com/office/drawing/2014/chart" uri="{C3380CC4-5D6E-409C-BE32-E72D297353CC}">
                <c16:uniqueId val="{00000005-398A-4D4C-9AAF-B6FFED8251BD}"/>
              </c:ext>
            </c:extLst>
          </c:dPt>
          <c:dPt>
            <c:idx val="6"/>
            <c:invertIfNegative val="0"/>
            <c:bubble3D val="0"/>
            <c:extLst>
              <c:ext xmlns:c16="http://schemas.microsoft.com/office/drawing/2014/chart" uri="{C3380CC4-5D6E-409C-BE32-E72D297353CC}">
                <c16:uniqueId val="{00000006-398A-4D4C-9AAF-B6FFED8251BD}"/>
              </c:ext>
            </c:extLst>
          </c:dPt>
          <c:dPt>
            <c:idx val="7"/>
            <c:invertIfNegative val="0"/>
            <c:bubble3D val="0"/>
            <c:extLst>
              <c:ext xmlns:c16="http://schemas.microsoft.com/office/drawing/2014/chart" uri="{C3380CC4-5D6E-409C-BE32-E72D297353CC}">
                <c16:uniqueId val="{00000007-398A-4D4C-9AAF-B6FFED8251BD}"/>
              </c:ext>
            </c:extLst>
          </c:dPt>
          <c:dPt>
            <c:idx val="8"/>
            <c:invertIfNegative val="0"/>
            <c:bubble3D val="0"/>
            <c:extLst>
              <c:ext xmlns:c16="http://schemas.microsoft.com/office/drawing/2014/chart" uri="{C3380CC4-5D6E-409C-BE32-E72D297353CC}">
                <c16:uniqueId val="{00000008-398A-4D4C-9AAF-B6FFED8251BD}"/>
              </c:ext>
            </c:extLst>
          </c:dPt>
          <c:dPt>
            <c:idx val="9"/>
            <c:invertIfNegative val="0"/>
            <c:bubble3D val="0"/>
            <c:extLst>
              <c:ext xmlns:c16="http://schemas.microsoft.com/office/drawing/2014/chart" uri="{C3380CC4-5D6E-409C-BE32-E72D297353CC}">
                <c16:uniqueId val="{00000009-398A-4D4C-9AAF-B6FFED8251BD}"/>
              </c:ext>
            </c:extLst>
          </c:dPt>
          <c:dPt>
            <c:idx val="10"/>
            <c:invertIfNegative val="0"/>
            <c:bubble3D val="0"/>
            <c:extLst>
              <c:ext xmlns:c16="http://schemas.microsoft.com/office/drawing/2014/chart" uri="{C3380CC4-5D6E-409C-BE32-E72D297353CC}">
                <c16:uniqueId val="{0000000A-398A-4D4C-9AAF-B6FFED8251BD}"/>
              </c:ext>
            </c:extLst>
          </c:dPt>
          <c:dPt>
            <c:idx val="11"/>
            <c:invertIfNegative val="0"/>
            <c:bubble3D val="0"/>
            <c:extLst>
              <c:ext xmlns:c16="http://schemas.microsoft.com/office/drawing/2014/chart" uri="{C3380CC4-5D6E-409C-BE32-E72D297353CC}">
                <c16:uniqueId val="{0000000B-398A-4D4C-9AAF-B6FFED8251BD}"/>
              </c:ext>
            </c:extLst>
          </c:dPt>
          <c:dPt>
            <c:idx val="12"/>
            <c:invertIfNegative val="0"/>
            <c:bubble3D val="0"/>
            <c:extLst>
              <c:ext xmlns:c16="http://schemas.microsoft.com/office/drawing/2014/chart" uri="{C3380CC4-5D6E-409C-BE32-E72D297353CC}">
                <c16:uniqueId val="{0000000C-398A-4D4C-9AAF-B6FFED8251BD}"/>
              </c:ext>
            </c:extLst>
          </c:dPt>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Sheet1!$B$2:$B$12</c:f>
              <c:numCache>
                <c:formatCode>0%</c:formatCode>
                <c:ptCount val="11"/>
                <c:pt idx="0">
                  <c:v>0.34</c:v>
                </c:pt>
                <c:pt idx="1">
                  <c:v>0.35</c:v>
                </c:pt>
                <c:pt idx="2">
                  <c:v>0.33</c:v>
                </c:pt>
                <c:pt idx="3">
                  <c:v>0.1</c:v>
                </c:pt>
                <c:pt idx="4">
                  <c:v>0.59</c:v>
                </c:pt>
                <c:pt idx="5">
                  <c:v>0.6</c:v>
                </c:pt>
                <c:pt idx="6">
                  <c:v>0.28999999999999998</c:v>
                </c:pt>
                <c:pt idx="7">
                  <c:v>0.13</c:v>
                </c:pt>
                <c:pt idx="8">
                  <c:v>0.17</c:v>
                </c:pt>
                <c:pt idx="9">
                  <c:v>0.31</c:v>
                </c:pt>
                <c:pt idx="10">
                  <c:v>0.4</c:v>
                </c:pt>
              </c:numCache>
            </c:numRef>
          </c:val>
          <c:extLst>
            <c:ext xmlns:c16="http://schemas.microsoft.com/office/drawing/2014/chart" uri="{C3380CC4-5D6E-409C-BE32-E72D297353CC}">
              <c16:uniqueId val="{0000000D-398A-4D4C-9AAF-B6FFED8251BD}"/>
            </c:ext>
          </c:extLst>
        </c:ser>
        <c:ser>
          <c:idx val="1"/>
          <c:order val="1"/>
          <c:tx>
            <c:strRef>
              <c:f>Sheet1!$C$1</c:f>
              <c:strCache>
                <c:ptCount val="1"/>
                <c:pt idx="0">
                  <c:v>Gender bias and discrimination in leadership selection</c:v>
                </c:pt>
              </c:strCache>
            </c:strRef>
          </c:tx>
          <c:spPr>
            <a:solidFill>
              <a:srgbClr val="C700D3"/>
            </a:solidFill>
            <a:ln w="6350">
              <a:solidFill>
                <a:srgbClr val="FFFFFF"/>
              </a:solidFill>
            </a:ln>
          </c:spPr>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Sheet1!$C$2:$C$12</c:f>
              <c:numCache>
                <c:formatCode>0%</c:formatCode>
                <c:ptCount val="11"/>
                <c:pt idx="0">
                  <c:v>0.28000000000000003</c:v>
                </c:pt>
                <c:pt idx="1">
                  <c:v>0.27</c:v>
                </c:pt>
                <c:pt idx="2">
                  <c:v>0.3</c:v>
                </c:pt>
                <c:pt idx="3">
                  <c:v>0.45</c:v>
                </c:pt>
                <c:pt idx="4">
                  <c:v>0.13</c:v>
                </c:pt>
                <c:pt idx="5">
                  <c:v>0.3</c:v>
                </c:pt>
                <c:pt idx="6">
                  <c:v>0.37</c:v>
                </c:pt>
                <c:pt idx="7">
                  <c:v>0.21</c:v>
                </c:pt>
                <c:pt idx="8">
                  <c:v>0.3</c:v>
                </c:pt>
                <c:pt idx="9">
                  <c:v>0.26</c:v>
                </c:pt>
                <c:pt idx="10">
                  <c:v>0.32</c:v>
                </c:pt>
              </c:numCache>
            </c:numRef>
          </c:val>
          <c:extLst>
            <c:ext xmlns:c16="http://schemas.microsoft.com/office/drawing/2014/chart" uri="{C3380CC4-5D6E-409C-BE32-E72D297353CC}">
              <c16:uniqueId val="{0000000E-398A-4D4C-9AAF-B6FFED8251BD}"/>
            </c:ext>
          </c:extLst>
        </c:ser>
        <c:ser>
          <c:idx val="2"/>
          <c:order val="2"/>
          <c:tx>
            <c:strRef>
              <c:f>Sheet1!$D$1</c:f>
              <c:strCache>
                <c:ptCount val="1"/>
                <c:pt idx="0">
                  <c:v>Lack of political and financial support for female candidates</c:v>
                </c:pt>
              </c:strCache>
            </c:strRef>
          </c:tx>
          <c:spPr>
            <a:solidFill>
              <a:srgbClr val="0060FF"/>
            </a:solidFill>
            <a:ln w="6350">
              <a:solidFill>
                <a:srgbClr val="FFFFFF"/>
              </a:solidFill>
            </a:ln>
          </c:spPr>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Sheet1!$D$2:$D$12</c:f>
              <c:numCache>
                <c:formatCode>0%</c:formatCode>
                <c:ptCount val="11"/>
                <c:pt idx="0">
                  <c:v>0.14000000000000001</c:v>
                </c:pt>
                <c:pt idx="1">
                  <c:v>0.14000000000000001</c:v>
                </c:pt>
                <c:pt idx="2">
                  <c:v>0.14000000000000001</c:v>
                </c:pt>
                <c:pt idx="3">
                  <c:v>0.14000000000000001</c:v>
                </c:pt>
                <c:pt idx="4">
                  <c:v>0.01</c:v>
                </c:pt>
                <c:pt idx="5">
                  <c:v>7.0000000000000007E-2</c:v>
                </c:pt>
                <c:pt idx="6">
                  <c:v>0.24</c:v>
                </c:pt>
                <c:pt idx="7">
                  <c:v>0.25</c:v>
                </c:pt>
                <c:pt idx="8">
                  <c:v>0.19</c:v>
                </c:pt>
                <c:pt idx="9">
                  <c:v>0.16</c:v>
                </c:pt>
                <c:pt idx="10">
                  <c:v>0.09</c:v>
                </c:pt>
              </c:numCache>
            </c:numRef>
          </c:val>
          <c:extLst>
            <c:ext xmlns:c16="http://schemas.microsoft.com/office/drawing/2014/chart" uri="{C3380CC4-5D6E-409C-BE32-E72D297353CC}">
              <c16:uniqueId val="{0000000F-398A-4D4C-9AAF-B6FFED8251BD}"/>
            </c:ext>
          </c:extLst>
        </c:ser>
        <c:ser>
          <c:idx val="3"/>
          <c:order val="3"/>
          <c:tx>
            <c:strRef>
              <c:f>Sheet1!$E$1</c:f>
              <c:strCache>
                <c:ptCount val="1"/>
                <c:pt idx="0">
                  <c:v>Gender Abuse (e.g., harassment…..)</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Sheet1!$E$2:$E$12</c:f>
              <c:numCache>
                <c:formatCode>0%</c:formatCode>
                <c:ptCount val="11"/>
                <c:pt idx="0">
                  <c:v>0.13</c:v>
                </c:pt>
                <c:pt idx="1">
                  <c:v>0.12</c:v>
                </c:pt>
                <c:pt idx="2">
                  <c:v>0.14000000000000001</c:v>
                </c:pt>
                <c:pt idx="3">
                  <c:v>0.13</c:v>
                </c:pt>
                <c:pt idx="4">
                  <c:v>0.22</c:v>
                </c:pt>
                <c:pt idx="5">
                  <c:v>0.02</c:v>
                </c:pt>
                <c:pt idx="6">
                  <c:v>0.04</c:v>
                </c:pt>
                <c:pt idx="7">
                  <c:v>0.27</c:v>
                </c:pt>
                <c:pt idx="8">
                  <c:v>0.15</c:v>
                </c:pt>
                <c:pt idx="9">
                  <c:v>0.15</c:v>
                </c:pt>
                <c:pt idx="10">
                  <c:v>0.11</c:v>
                </c:pt>
              </c:numCache>
            </c:numRef>
          </c:val>
          <c:extLst>
            <c:ext xmlns:c16="http://schemas.microsoft.com/office/drawing/2014/chart" uri="{C3380CC4-5D6E-409C-BE32-E72D297353CC}">
              <c16:uniqueId val="{00000010-398A-4D4C-9AAF-B6FFED8251BD}"/>
            </c:ext>
          </c:extLst>
        </c:ser>
        <c:ser>
          <c:idx val="4"/>
          <c:order val="4"/>
          <c:tx>
            <c:strRef>
              <c:f>Sheet1!$F$1</c:f>
              <c:strCache>
                <c:ptCount val="1"/>
                <c:pt idx="0">
                  <c:v>Economic challenges and unpaid domestic labor burden</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Sheet1!$F$2:$F$12</c:f>
              <c:numCache>
                <c:formatCode>0%</c:formatCode>
                <c:ptCount val="11"/>
                <c:pt idx="0">
                  <c:v>7.0000000000000007E-2</c:v>
                </c:pt>
                <c:pt idx="1">
                  <c:v>0.08</c:v>
                </c:pt>
                <c:pt idx="2">
                  <c:v>0.06</c:v>
                </c:pt>
                <c:pt idx="3">
                  <c:v>0.09</c:v>
                </c:pt>
                <c:pt idx="4">
                  <c:v>0</c:v>
                </c:pt>
                <c:pt idx="5">
                  <c:v>0.02</c:v>
                </c:pt>
                <c:pt idx="6">
                  <c:v>0.06</c:v>
                </c:pt>
                <c:pt idx="7">
                  <c:v>0.13</c:v>
                </c:pt>
                <c:pt idx="8">
                  <c:v>0.14000000000000001</c:v>
                </c:pt>
                <c:pt idx="9">
                  <c:v>0.08</c:v>
                </c:pt>
                <c:pt idx="10">
                  <c:v>0.05</c:v>
                </c:pt>
              </c:numCache>
            </c:numRef>
          </c:val>
          <c:extLst>
            <c:ext xmlns:c16="http://schemas.microsoft.com/office/drawing/2014/chart" uri="{C3380CC4-5D6E-409C-BE32-E72D297353CC}">
              <c16:uniqueId val="{00000011-398A-4D4C-9AAF-B6FFED8251BD}"/>
            </c:ext>
          </c:extLst>
        </c:ser>
        <c:ser>
          <c:idx val="5"/>
          <c:order val="5"/>
          <c:tx>
            <c:strRef>
              <c:f>Sheet1!$G$1</c:f>
              <c:strCache>
                <c:ptCount val="1"/>
                <c:pt idx="0">
                  <c:v>Security Concerns (e.g., violence in political spaces…..)</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Sheet1!$G$2:$G$12</c:f>
              <c:numCache>
                <c:formatCode>0%</c:formatCode>
                <c:ptCount val="11"/>
                <c:pt idx="0">
                  <c:v>0.03</c:v>
                </c:pt>
                <c:pt idx="1">
                  <c:v>0.04</c:v>
                </c:pt>
                <c:pt idx="2">
                  <c:v>0.02</c:v>
                </c:pt>
                <c:pt idx="3">
                  <c:v>7.0000000000000007E-2</c:v>
                </c:pt>
                <c:pt idx="4">
                  <c:v>0.03</c:v>
                </c:pt>
                <c:pt idx="5">
                  <c:v>0</c:v>
                </c:pt>
                <c:pt idx="6">
                  <c:v>0</c:v>
                </c:pt>
                <c:pt idx="7">
                  <c:v>0.02</c:v>
                </c:pt>
                <c:pt idx="8">
                  <c:v>0.05</c:v>
                </c:pt>
                <c:pt idx="9">
                  <c:v>0.04</c:v>
                </c:pt>
                <c:pt idx="10">
                  <c:v>0.02</c:v>
                </c:pt>
              </c:numCache>
            </c:numRef>
          </c:val>
          <c:extLst>
            <c:ext xmlns:c16="http://schemas.microsoft.com/office/drawing/2014/chart" uri="{C3380CC4-5D6E-409C-BE32-E72D297353CC}">
              <c16:uniqueId val="{00000000-C5C4-4909-92E8-3BC21CA8DB56}"/>
            </c:ext>
          </c:extLst>
        </c:ser>
        <c:dLbls>
          <c:dLblPos val="outEnd"/>
          <c:showLegendKey val="0"/>
          <c:showVal val="1"/>
          <c:showCatName val="0"/>
          <c:showSerName val="0"/>
          <c:showPercent val="0"/>
          <c:showBubbleSize val="0"/>
        </c:dLbls>
        <c:gapWidth val="250"/>
        <c:overlap val="-50"/>
        <c:axId val="351810248"/>
        <c:axId val="351810640"/>
      </c:barChart>
      <c:catAx>
        <c:axId val="351810248"/>
        <c:scaling>
          <c:orientation val="minMax"/>
        </c:scaling>
        <c:delete val="0"/>
        <c:axPos val="b"/>
        <c:numFmt formatCode="General" sourceLinked="1"/>
        <c:majorTickMark val="out"/>
        <c:minorTickMark val="none"/>
        <c:tickLblPos val="nextTo"/>
        <c:spPr>
          <a:noFill/>
          <a:ln w="9525" cap="flat" cmpd="sng" algn="ctr">
            <a:noFill/>
            <a:round/>
          </a:ln>
          <a:effectLst/>
        </c:spPr>
        <c:txPr>
          <a:bodyPr rot="-60000000" vert="horz"/>
          <a:lstStyle/>
          <a:p>
            <a:pPr>
              <a:defRPr/>
            </a:pPr>
            <a:endParaRPr lang="en-US"/>
          </a:p>
        </c:txPr>
        <c:crossAx val="351810640"/>
        <c:crosses val="autoZero"/>
        <c:auto val="1"/>
        <c:lblAlgn val="ctr"/>
        <c:lblOffset val="100"/>
        <c:noMultiLvlLbl val="0"/>
      </c:catAx>
      <c:valAx>
        <c:axId val="351810640"/>
        <c:scaling>
          <c:orientation val="minMax"/>
        </c:scaling>
        <c:delete val="1"/>
        <c:axPos val="l"/>
        <c:numFmt formatCode="0%" sourceLinked="1"/>
        <c:majorTickMark val="out"/>
        <c:minorTickMark val="none"/>
        <c:tickLblPos val="nextTo"/>
        <c:crossAx val="351810248"/>
        <c:crosses val="autoZero"/>
        <c:crossBetween val="between"/>
      </c:valAx>
      <c:spPr>
        <a:noFill/>
        <a:ln>
          <a:noFill/>
        </a:ln>
        <a:effectLst/>
      </c:spPr>
    </c:plotArea>
    <c:legend>
      <c:legendPos val="t"/>
      <c:layout>
        <c:manualLayout>
          <c:xMode val="edge"/>
          <c:yMode val="edge"/>
          <c:x val="1.3225650672785916E-2"/>
          <c:y val="4.3620211780635354E-2"/>
          <c:w val="0.98677434932721408"/>
          <c:h val="0.17146641505526625"/>
        </c:manualLayout>
      </c:layout>
      <c:overlay val="0"/>
    </c:legend>
    <c:plotVisOnly val="1"/>
    <c:dispBlanksAs val="gap"/>
    <c:showDLblsOverMax val="0"/>
  </c:chart>
  <c:spPr>
    <a:noFill/>
    <a:ln>
      <a:noFill/>
    </a:ln>
    <a:effectLst/>
  </c:spPr>
  <c:txPr>
    <a:bodyPr/>
    <a:lstStyle/>
    <a:p>
      <a:pPr>
        <a:defRPr sz="1200">
          <a:solidFill>
            <a:srgbClr val="333333"/>
          </a:solidFill>
          <a:latin typeface="+mn-lt"/>
        </a:defRPr>
      </a:pPr>
      <a:endParaRPr lang="en-US"/>
    </a:p>
  </c:txPr>
  <c:externalData r:id="rId2">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05736407230199"/>
          <c:y val="7.4400833333333347E-2"/>
          <c:w val="0.81581935923092441"/>
          <c:h val="0.81102888888888891"/>
        </c:manualLayout>
      </c:layout>
      <c:barChart>
        <c:barDir val="col"/>
        <c:grouping val="percentStacked"/>
        <c:varyColors val="0"/>
        <c:ser>
          <c:idx val="0"/>
          <c:order val="0"/>
          <c:tx>
            <c:strRef>
              <c:f>Sheet1!$B$1</c:f>
              <c:strCache>
                <c:ptCount val="1"/>
                <c:pt idx="0">
                  <c:v>Yes, affirmative action is necessary to ensure equal opportunities</c:v>
                </c:pt>
              </c:strCache>
            </c:strRef>
          </c:tx>
          <c:spPr>
            <a:solidFill>
              <a:srgbClr val="92D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Sheet1!$B$2:$B$12</c:f>
              <c:numCache>
                <c:formatCode>0%</c:formatCode>
                <c:ptCount val="11"/>
                <c:pt idx="0">
                  <c:v>0.7</c:v>
                </c:pt>
                <c:pt idx="1">
                  <c:v>0.66</c:v>
                </c:pt>
                <c:pt idx="2">
                  <c:v>0.74</c:v>
                </c:pt>
                <c:pt idx="3">
                  <c:v>0.77</c:v>
                </c:pt>
                <c:pt idx="4">
                  <c:v>0.82</c:v>
                </c:pt>
                <c:pt idx="5">
                  <c:v>0.77</c:v>
                </c:pt>
                <c:pt idx="6">
                  <c:v>0.49</c:v>
                </c:pt>
                <c:pt idx="7">
                  <c:v>0.76</c:v>
                </c:pt>
                <c:pt idx="8">
                  <c:v>0.61</c:v>
                </c:pt>
                <c:pt idx="9">
                  <c:v>0.64</c:v>
                </c:pt>
                <c:pt idx="10">
                  <c:v>0.82</c:v>
                </c:pt>
              </c:numCache>
            </c:numRef>
          </c:val>
          <c:extLst>
            <c:ext xmlns:c16="http://schemas.microsoft.com/office/drawing/2014/chart" uri="{C3380CC4-5D6E-409C-BE32-E72D297353CC}">
              <c16:uniqueId val="{00000000-E06D-4EDB-B47E-EF404DE4DAD8}"/>
            </c:ext>
          </c:extLst>
        </c:ser>
        <c:ser>
          <c:idx val="1"/>
          <c:order val="1"/>
          <c:tx>
            <c:strRef>
              <c:f>Sheet1!$C$1</c:f>
              <c:strCache>
                <c:ptCount val="1"/>
                <c:pt idx="0">
                  <c:v>No, leadership should be based solely on merit without gender-based policies</c:v>
                </c:pt>
              </c:strCache>
            </c:strRef>
          </c:tx>
          <c:spPr>
            <a:solidFill>
              <a:srgbClr val="FF7C8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Sheet1!$C$2:$C$12</c:f>
              <c:numCache>
                <c:formatCode>0%</c:formatCode>
                <c:ptCount val="11"/>
                <c:pt idx="0">
                  <c:v>0.25</c:v>
                </c:pt>
                <c:pt idx="1">
                  <c:v>0.3</c:v>
                </c:pt>
                <c:pt idx="2">
                  <c:v>0.21</c:v>
                </c:pt>
                <c:pt idx="3">
                  <c:v>0.16</c:v>
                </c:pt>
                <c:pt idx="4">
                  <c:v>0.15</c:v>
                </c:pt>
                <c:pt idx="5">
                  <c:v>0.22</c:v>
                </c:pt>
                <c:pt idx="6">
                  <c:v>0.45</c:v>
                </c:pt>
                <c:pt idx="7">
                  <c:v>0.11</c:v>
                </c:pt>
                <c:pt idx="8">
                  <c:v>0.35</c:v>
                </c:pt>
                <c:pt idx="9">
                  <c:v>0.31</c:v>
                </c:pt>
                <c:pt idx="10">
                  <c:v>0.14000000000000001</c:v>
                </c:pt>
              </c:numCache>
            </c:numRef>
          </c:val>
          <c:extLst>
            <c:ext xmlns:c16="http://schemas.microsoft.com/office/drawing/2014/chart" uri="{C3380CC4-5D6E-409C-BE32-E72D297353CC}">
              <c16:uniqueId val="{00000001-E06D-4EDB-B47E-EF404DE4DAD8}"/>
            </c:ext>
          </c:extLst>
        </c:ser>
        <c:ser>
          <c:idx val="2"/>
          <c:order val="2"/>
          <c:tx>
            <c:strRef>
              <c:f>Sheet1!$D$1</c:f>
              <c:strCache>
                <c:ptCount val="1"/>
                <c:pt idx="0">
                  <c:v>Not sure</c:v>
                </c:pt>
              </c:strCache>
            </c:strRef>
          </c:tx>
          <c:spPr>
            <a:solidFill>
              <a:schemeClr val="accent2">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Sheet1!$D$2:$D$12</c:f>
              <c:numCache>
                <c:formatCode>0%</c:formatCode>
                <c:ptCount val="11"/>
                <c:pt idx="0">
                  <c:v>0.05</c:v>
                </c:pt>
                <c:pt idx="1">
                  <c:v>0.04</c:v>
                </c:pt>
                <c:pt idx="2">
                  <c:v>0.05</c:v>
                </c:pt>
                <c:pt idx="3">
                  <c:v>0.06</c:v>
                </c:pt>
                <c:pt idx="4">
                  <c:v>0.03</c:v>
                </c:pt>
                <c:pt idx="5">
                  <c:v>0.01</c:v>
                </c:pt>
                <c:pt idx="6">
                  <c:v>0.06</c:v>
                </c:pt>
                <c:pt idx="7">
                  <c:v>0.13</c:v>
                </c:pt>
                <c:pt idx="8">
                  <c:v>0.04</c:v>
                </c:pt>
                <c:pt idx="9">
                  <c:v>0.05</c:v>
                </c:pt>
                <c:pt idx="10">
                  <c:v>0.04</c:v>
                </c:pt>
              </c:numCache>
            </c:numRef>
          </c:val>
          <c:extLst>
            <c:ext xmlns:c16="http://schemas.microsoft.com/office/drawing/2014/chart" uri="{C3380CC4-5D6E-409C-BE32-E72D297353CC}">
              <c16:uniqueId val="{00000002-E06D-4EDB-B47E-EF404DE4DAD8}"/>
            </c:ext>
          </c:extLst>
        </c:ser>
        <c:dLbls>
          <c:dLblPos val="ctr"/>
          <c:showLegendKey val="0"/>
          <c:showVal val="1"/>
          <c:showCatName val="0"/>
          <c:showSerName val="0"/>
          <c:showPercent val="0"/>
          <c:showBubbleSize val="0"/>
        </c:dLbls>
        <c:gapWidth val="100"/>
        <c:overlap val="100"/>
        <c:axId val="184411968"/>
        <c:axId val="187267840"/>
      </c:barChart>
      <c:catAx>
        <c:axId val="184411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87267840"/>
        <c:crosses val="autoZero"/>
        <c:auto val="1"/>
        <c:lblAlgn val="ctr"/>
        <c:lblOffset val="100"/>
        <c:noMultiLvlLbl val="0"/>
      </c:catAx>
      <c:valAx>
        <c:axId val="187267840"/>
        <c:scaling>
          <c:orientation val="minMax"/>
        </c:scaling>
        <c:delete val="1"/>
        <c:axPos val="l"/>
        <c:numFmt formatCode="0%" sourceLinked="1"/>
        <c:majorTickMark val="none"/>
        <c:minorTickMark val="none"/>
        <c:tickLblPos val="nextTo"/>
        <c:crossAx val="184411968"/>
        <c:crosses val="autoZero"/>
        <c:crossBetween val="between"/>
      </c:valAx>
      <c:spPr>
        <a:noFill/>
        <a:ln>
          <a:noFill/>
        </a:ln>
        <a:effectLst/>
      </c:spPr>
    </c:plotArea>
    <c:legend>
      <c:legendPos val="l"/>
      <c:layout>
        <c:manualLayout>
          <c:xMode val="edge"/>
          <c:yMode val="edge"/>
          <c:x val="7.8395061728395062E-3"/>
          <c:y val="0.10047055555555554"/>
          <c:w val="0.16711828186017988"/>
          <c:h val="0.79937638888888884"/>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2238065796837834"/>
          <c:y val="3.6452182408077613E-2"/>
          <c:w val="0.7639767559815307"/>
          <c:h val="0.85592568451562434"/>
        </c:manualLayout>
      </c:layout>
      <c:barChart>
        <c:barDir val="col"/>
        <c:grouping val="percentStacked"/>
        <c:varyColors val="0"/>
        <c:ser>
          <c:idx val="0"/>
          <c:order val="0"/>
          <c:tx>
            <c:strRef>
              <c:f>Sheet1!$B$1</c:f>
              <c:strCache>
                <c:ptCount val="1"/>
                <c:pt idx="0">
                  <c:v>It improves governance by increasing diversity and inclusivity</c:v>
                </c:pt>
              </c:strCache>
            </c:strRef>
          </c:tx>
          <c:spPr>
            <a:solidFill>
              <a:srgbClr val="70AD47">
                <a:lumMod val="50000"/>
              </a:srgb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Sheet1!$B$2:$B$12</c:f>
              <c:numCache>
                <c:formatCode>0%</c:formatCode>
                <c:ptCount val="11"/>
                <c:pt idx="0">
                  <c:v>0.55000000000000004</c:v>
                </c:pt>
                <c:pt idx="1">
                  <c:v>0.46</c:v>
                </c:pt>
                <c:pt idx="2">
                  <c:v>0.64</c:v>
                </c:pt>
                <c:pt idx="3">
                  <c:v>0.51</c:v>
                </c:pt>
                <c:pt idx="4">
                  <c:v>0.53</c:v>
                </c:pt>
                <c:pt idx="5">
                  <c:v>0.57999999999999996</c:v>
                </c:pt>
                <c:pt idx="6">
                  <c:v>0.47</c:v>
                </c:pt>
                <c:pt idx="7">
                  <c:v>0.78</c:v>
                </c:pt>
                <c:pt idx="8">
                  <c:v>0.52</c:v>
                </c:pt>
                <c:pt idx="9">
                  <c:v>0.52</c:v>
                </c:pt>
                <c:pt idx="10">
                  <c:v>0.62</c:v>
                </c:pt>
              </c:numCache>
            </c:numRef>
          </c:val>
          <c:extLst>
            <c:ext xmlns:c16="http://schemas.microsoft.com/office/drawing/2014/chart" uri="{C3380CC4-5D6E-409C-BE32-E72D297353CC}">
              <c16:uniqueId val="{00000000-3A24-4515-84DE-6868A1356F85}"/>
            </c:ext>
          </c:extLst>
        </c:ser>
        <c:ser>
          <c:idx val="1"/>
          <c:order val="1"/>
          <c:tx>
            <c:strRef>
              <c:f>Sheet1!$C$1</c:f>
              <c:strCache>
                <c:ptCount val="1"/>
                <c:pt idx="0">
                  <c:v>It has no significant impact on governance quality</c:v>
                </c:pt>
              </c:strCache>
            </c:strRef>
          </c:tx>
          <c:spPr>
            <a:solidFill>
              <a:srgbClr val="70AD47">
                <a:lumMod val="40000"/>
                <a:lumOff val="60000"/>
              </a:srgb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Sheet1!$C$2:$C$12</c:f>
              <c:numCache>
                <c:formatCode>0%</c:formatCode>
                <c:ptCount val="11"/>
                <c:pt idx="0">
                  <c:v>0.25</c:v>
                </c:pt>
                <c:pt idx="1">
                  <c:v>0.28999999999999998</c:v>
                </c:pt>
                <c:pt idx="2">
                  <c:v>0.21</c:v>
                </c:pt>
                <c:pt idx="3">
                  <c:v>0.14000000000000001</c:v>
                </c:pt>
                <c:pt idx="4">
                  <c:v>0.27</c:v>
                </c:pt>
                <c:pt idx="5">
                  <c:v>0.09</c:v>
                </c:pt>
                <c:pt idx="6">
                  <c:v>0.38</c:v>
                </c:pt>
                <c:pt idx="7">
                  <c:v>0.16</c:v>
                </c:pt>
                <c:pt idx="8">
                  <c:v>0.37</c:v>
                </c:pt>
                <c:pt idx="9">
                  <c:v>0.28999999999999998</c:v>
                </c:pt>
                <c:pt idx="10">
                  <c:v>0.17</c:v>
                </c:pt>
              </c:numCache>
            </c:numRef>
          </c:val>
          <c:extLst>
            <c:ext xmlns:c16="http://schemas.microsoft.com/office/drawing/2014/chart" uri="{C3380CC4-5D6E-409C-BE32-E72D297353CC}">
              <c16:uniqueId val="{00000001-3A24-4515-84DE-6868A1356F85}"/>
            </c:ext>
          </c:extLst>
        </c:ser>
        <c:ser>
          <c:idx val="2"/>
          <c:order val="2"/>
          <c:tx>
            <c:strRef>
              <c:f>Sheet1!$D$1</c:f>
              <c:strCache>
                <c:ptCount val="1"/>
                <c:pt idx="0">
                  <c:v>It could negatively impact governance if not based on merit</c:v>
                </c:pt>
              </c:strCache>
            </c:strRef>
          </c:tx>
          <c:spPr>
            <a:solidFill>
              <a:schemeClr val="accent2">
                <a:tint val="86000"/>
              </a:scheme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Sheet1!$D$2:$D$12</c:f>
              <c:numCache>
                <c:formatCode>0%</c:formatCode>
                <c:ptCount val="11"/>
                <c:pt idx="0">
                  <c:v>0.2</c:v>
                </c:pt>
                <c:pt idx="1">
                  <c:v>0.24</c:v>
                </c:pt>
                <c:pt idx="2">
                  <c:v>0.15</c:v>
                </c:pt>
                <c:pt idx="3">
                  <c:v>0.32</c:v>
                </c:pt>
                <c:pt idx="4">
                  <c:v>0.2</c:v>
                </c:pt>
                <c:pt idx="5">
                  <c:v>0.33</c:v>
                </c:pt>
                <c:pt idx="6">
                  <c:v>0.15</c:v>
                </c:pt>
                <c:pt idx="7">
                  <c:v>0.05</c:v>
                </c:pt>
                <c:pt idx="8">
                  <c:v>0.11</c:v>
                </c:pt>
                <c:pt idx="9">
                  <c:v>0.19</c:v>
                </c:pt>
                <c:pt idx="10">
                  <c:v>0.2</c:v>
                </c:pt>
              </c:numCache>
            </c:numRef>
          </c:val>
          <c:extLst>
            <c:ext xmlns:c16="http://schemas.microsoft.com/office/drawing/2014/chart" uri="{C3380CC4-5D6E-409C-BE32-E72D297353CC}">
              <c16:uniqueId val="{00000002-3A24-4515-84DE-6868A1356F85}"/>
            </c:ext>
          </c:extLst>
        </c:ser>
        <c:ser>
          <c:idx val="3"/>
          <c:order val="3"/>
          <c:tx>
            <c:strRef>
              <c:f>Sheet1!$E$1</c:f>
              <c:strCache>
                <c:ptCount val="1"/>
                <c:pt idx="0">
                  <c:v>Others</c:v>
                </c:pt>
              </c:strCache>
            </c:strRef>
          </c:tx>
          <c:spPr>
            <a:solidFill>
              <a:schemeClr val="accent2">
                <a:tint val="58000"/>
              </a:scheme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Sheet1!$E$2:$E$12</c:f>
              <c:numCache>
                <c:formatCode>0%</c:formatCode>
                <c:ptCount val="11"/>
                <c:pt idx="0">
                  <c:v>0</c:v>
                </c:pt>
                <c:pt idx="1">
                  <c:v>0.01</c:v>
                </c:pt>
                <c:pt idx="2">
                  <c:v>0</c:v>
                </c:pt>
                <c:pt idx="3">
                  <c:v>0.02</c:v>
                </c:pt>
                <c:pt idx="4">
                  <c:v>0</c:v>
                </c:pt>
                <c:pt idx="5">
                  <c:v>0</c:v>
                </c:pt>
                <c:pt idx="6">
                  <c:v>0</c:v>
                </c:pt>
                <c:pt idx="7">
                  <c:v>0.01</c:v>
                </c:pt>
                <c:pt idx="8">
                  <c:v>0</c:v>
                </c:pt>
                <c:pt idx="9">
                  <c:v>0</c:v>
                </c:pt>
                <c:pt idx="10">
                  <c:v>0.01</c:v>
                </c:pt>
              </c:numCache>
            </c:numRef>
          </c:val>
          <c:extLst>
            <c:ext xmlns:c16="http://schemas.microsoft.com/office/drawing/2014/chart" uri="{C3380CC4-5D6E-409C-BE32-E72D297353CC}">
              <c16:uniqueId val="{00000003-3A24-4515-84DE-6868A1356F85}"/>
            </c:ext>
          </c:extLst>
        </c:ser>
        <c:dLbls>
          <c:dLblPos val="ctr"/>
          <c:showLegendKey val="0"/>
          <c:showVal val="1"/>
          <c:showCatName val="0"/>
          <c:showSerName val="0"/>
          <c:showPercent val="0"/>
          <c:showBubbleSize val="0"/>
        </c:dLbls>
        <c:gapWidth val="100"/>
        <c:overlap val="100"/>
        <c:axId val="826811951"/>
        <c:axId val="826794479"/>
      </c:barChart>
      <c:catAx>
        <c:axId val="826811951"/>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826794479"/>
        <c:crosses val="autoZero"/>
        <c:auto val="1"/>
        <c:lblAlgn val="ctr"/>
        <c:lblOffset val="100"/>
        <c:noMultiLvlLbl val="0"/>
      </c:catAx>
      <c:valAx>
        <c:axId val="826794479"/>
        <c:scaling>
          <c:orientation val="minMax"/>
        </c:scaling>
        <c:delete val="0"/>
        <c:axPos val="l"/>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bg1"/>
                </a:solidFill>
                <a:latin typeface="MTN Brighter Sans" panose="00000500000000000000"/>
                <a:ea typeface="+mn-ea"/>
                <a:cs typeface="+mn-cs"/>
              </a:defRPr>
            </a:pPr>
            <a:endParaRPr lang="en-US"/>
          </a:p>
        </c:txPr>
        <c:crossAx val="826811951"/>
        <c:crosses val="autoZero"/>
        <c:crossBetween val="between"/>
      </c:valAx>
      <c:spPr>
        <a:noFill/>
        <a:ln>
          <a:noFill/>
        </a:ln>
        <a:effectLst/>
      </c:spPr>
    </c:plotArea>
    <c:legend>
      <c:legendPos val="l"/>
      <c:layout>
        <c:manualLayout>
          <c:xMode val="edge"/>
          <c:yMode val="edge"/>
          <c:x val="6.6636350916468448E-3"/>
          <c:y val="5.2593993427196555E-2"/>
          <c:w val="0.14554996851825941"/>
          <c:h val="0.91771252509512258"/>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bg1"/>
          </a:solidFill>
          <a:latin typeface="MTN Brighter Sans" panose="00000500000000000000"/>
        </a:defRPr>
      </a:pPr>
      <a:endParaRPr lang="en-US"/>
    </a:p>
  </c:txPr>
  <c:externalData r:id="rId4">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232907381346407"/>
          <c:y val="7.4400833333333347E-2"/>
          <c:w val="0.84454770591173378"/>
          <c:h val="0.81102888888888891"/>
        </c:manualLayout>
      </c:layout>
      <c:barChart>
        <c:barDir val="col"/>
        <c:grouping val="percentStacked"/>
        <c:varyColors val="0"/>
        <c:ser>
          <c:idx val="0"/>
          <c:order val="0"/>
          <c:tx>
            <c:strRef>
              <c:f>Sheet1!$B$1</c:f>
              <c:strCache>
                <c:ptCount val="1"/>
                <c:pt idx="0">
                  <c:v>Yes, women leaders receive equal and fair media coverage</c:v>
                </c:pt>
              </c:strCache>
            </c:strRef>
          </c:tx>
          <c:spPr>
            <a:solidFill>
              <a:srgbClr val="92D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Sheet1!$B$2:$B$12</c:f>
              <c:numCache>
                <c:formatCode>0%</c:formatCode>
                <c:ptCount val="11"/>
                <c:pt idx="0">
                  <c:v>0.44</c:v>
                </c:pt>
                <c:pt idx="1">
                  <c:v>0.42</c:v>
                </c:pt>
                <c:pt idx="2">
                  <c:v>0.46</c:v>
                </c:pt>
                <c:pt idx="3">
                  <c:v>0.71</c:v>
                </c:pt>
                <c:pt idx="4">
                  <c:v>0.19</c:v>
                </c:pt>
                <c:pt idx="5">
                  <c:v>0.62</c:v>
                </c:pt>
                <c:pt idx="6">
                  <c:v>0.35</c:v>
                </c:pt>
                <c:pt idx="7">
                  <c:v>0.27</c:v>
                </c:pt>
                <c:pt idx="8">
                  <c:v>0.52</c:v>
                </c:pt>
                <c:pt idx="9">
                  <c:v>0.42</c:v>
                </c:pt>
                <c:pt idx="10">
                  <c:v>0.48</c:v>
                </c:pt>
              </c:numCache>
            </c:numRef>
          </c:val>
          <c:extLst>
            <c:ext xmlns:c16="http://schemas.microsoft.com/office/drawing/2014/chart" uri="{C3380CC4-5D6E-409C-BE32-E72D297353CC}">
              <c16:uniqueId val="{00000000-E06D-4EDB-B47E-EF404DE4DAD8}"/>
            </c:ext>
          </c:extLst>
        </c:ser>
        <c:ser>
          <c:idx val="1"/>
          <c:order val="1"/>
          <c:tx>
            <c:strRef>
              <c:f>Sheet1!$C$1</c:f>
              <c:strCache>
                <c:ptCount val="1"/>
                <c:pt idx="0">
                  <c:v>No, women leaders face more scrutiny and negative stereotypes</c:v>
                </c:pt>
              </c:strCache>
            </c:strRef>
          </c:tx>
          <c:spPr>
            <a:solidFill>
              <a:srgbClr val="FF7C8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Sheet1!$C$2:$C$12</c:f>
              <c:numCache>
                <c:formatCode>0%</c:formatCode>
                <c:ptCount val="11"/>
                <c:pt idx="0">
                  <c:v>0.44</c:v>
                </c:pt>
                <c:pt idx="1">
                  <c:v>0.46</c:v>
                </c:pt>
                <c:pt idx="2">
                  <c:v>0.42</c:v>
                </c:pt>
                <c:pt idx="3">
                  <c:v>0.21</c:v>
                </c:pt>
                <c:pt idx="4">
                  <c:v>0.68</c:v>
                </c:pt>
                <c:pt idx="5">
                  <c:v>0.28999999999999998</c:v>
                </c:pt>
                <c:pt idx="6">
                  <c:v>0.59</c:v>
                </c:pt>
                <c:pt idx="7">
                  <c:v>0.45</c:v>
                </c:pt>
                <c:pt idx="8">
                  <c:v>0.39</c:v>
                </c:pt>
                <c:pt idx="9">
                  <c:v>0.46</c:v>
                </c:pt>
                <c:pt idx="10">
                  <c:v>0.4</c:v>
                </c:pt>
              </c:numCache>
            </c:numRef>
          </c:val>
          <c:extLst>
            <c:ext xmlns:c16="http://schemas.microsoft.com/office/drawing/2014/chart" uri="{C3380CC4-5D6E-409C-BE32-E72D297353CC}">
              <c16:uniqueId val="{00000001-E06D-4EDB-B47E-EF404DE4DAD8}"/>
            </c:ext>
          </c:extLst>
        </c:ser>
        <c:ser>
          <c:idx val="2"/>
          <c:order val="2"/>
          <c:tx>
            <c:strRef>
              <c:f>Sheet1!$D$1</c:f>
              <c:strCache>
                <c:ptCount val="1"/>
                <c:pt idx="0">
                  <c:v>Not sure</c:v>
                </c:pt>
              </c:strCache>
            </c:strRef>
          </c:tx>
          <c:spPr>
            <a:solidFill>
              <a:schemeClr val="accent2">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Sheet1!$D$2:$D$12</c:f>
              <c:numCache>
                <c:formatCode>0%</c:formatCode>
                <c:ptCount val="11"/>
                <c:pt idx="0">
                  <c:v>0.12</c:v>
                </c:pt>
                <c:pt idx="1">
                  <c:v>0.12</c:v>
                </c:pt>
                <c:pt idx="2">
                  <c:v>0.12</c:v>
                </c:pt>
                <c:pt idx="3">
                  <c:v>0.09</c:v>
                </c:pt>
                <c:pt idx="4">
                  <c:v>0.13</c:v>
                </c:pt>
                <c:pt idx="5">
                  <c:v>0.1</c:v>
                </c:pt>
                <c:pt idx="6">
                  <c:v>7.0000000000000007E-2</c:v>
                </c:pt>
                <c:pt idx="7">
                  <c:v>0.28000000000000003</c:v>
                </c:pt>
                <c:pt idx="8">
                  <c:v>0.09</c:v>
                </c:pt>
                <c:pt idx="9">
                  <c:v>0.12</c:v>
                </c:pt>
                <c:pt idx="10">
                  <c:v>0.12</c:v>
                </c:pt>
              </c:numCache>
            </c:numRef>
          </c:val>
          <c:extLst>
            <c:ext xmlns:c16="http://schemas.microsoft.com/office/drawing/2014/chart" uri="{C3380CC4-5D6E-409C-BE32-E72D297353CC}">
              <c16:uniqueId val="{00000002-E06D-4EDB-B47E-EF404DE4DAD8}"/>
            </c:ext>
          </c:extLst>
        </c:ser>
        <c:dLbls>
          <c:dLblPos val="ctr"/>
          <c:showLegendKey val="0"/>
          <c:showVal val="1"/>
          <c:showCatName val="0"/>
          <c:showSerName val="0"/>
          <c:showPercent val="0"/>
          <c:showBubbleSize val="0"/>
        </c:dLbls>
        <c:gapWidth val="100"/>
        <c:overlap val="100"/>
        <c:axId val="184411968"/>
        <c:axId val="187267840"/>
      </c:barChart>
      <c:catAx>
        <c:axId val="184411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87267840"/>
        <c:crosses val="autoZero"/>
        <c:auto val="1"/>
        <c:lblAlgn val="ctr"/>
        <c:lblOffset val="100"/>
        <c:noMultiLvlLbl val="0"/>
      </c:catAx>
      <c:valAx>
        <c:axId val="187267840"/>
        <c:scaling>
          <c:orientation val="minMax"/>
        </c:scaling>
        <c:delete val="1"/>
        <c:axPos val="l"/>
        <c:numFmt formatCode="0%" sourceLinked="1"/>
        <c:majorTickMark val="none"/>
        <c:minorTickMark val="none"/>
        <c:tickLblPos val="nextTo"/>
        <c:crossAx val="184411968"/>
        <c:crosses val="autoZero"/>
        <c:crossBetween val="between"/>
      </c:valAx>
      <c:spPr>
        <a:noFill/>
        <a:ln>
          <a:noFill/>
        </a:ln>
        <a:effectLst/>
      </c:spPr>
    </c:plotArea>
    <c:legend>
      <c:legendPos val="l"/>
      <c:layout>
        <c:manualLayout>
          <c:xMode val="edge"/>
          <c:yMode val="edge"/>
          <c:x val="7.8395061728395062E-3"/>
          <c:y val="0.10047055555555554"/>
          <c:w val="0.15562695460011852"/>
          <c:h val="0.79937638888888884"/>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
          <c:y val="0.19042273142869318"/>
          <c:w val="1"/>
          <c:h val="0.73480776028613948"/>
        </c:manualLayout>
      </c:layout>
      <c:barChart>
        <c:barDir val="col"/>
        <c:grouping val="clustered"/>
        <c:varyColors val="0"/>
        <c:ser>
          <c:idx val="0"/>
          <c:order val="0"/>
          <c:tx>
            <c:strRef>
              <c:f>Sheet1!$B$1</c:f>
              <c:strCache>
                <c:ptCount val="1"/>
                <c:pt idx="0">
                  <c:v>Public awareness campaigns to change gender perceptions</c:v>
                </c:pt>
              </c:strCache>
            </c:strRef>
          </c:tx>
          <c:spPr>
            <a:solidFill>
              <a:srgbClr val="802AB7"/>
            </a:solidFill>
            <a:ln w="6350">
              <a:solidFill>
                <a:srgbClr val="FFFFFF"/>
              </a:solidFill>
            </a:ln>
            <a:effectLst/>
          </c:spPr>
          <c:invertIfNegative val="0"/>
          <c:dPt>
            <c:idx val="0"/>
            <c:invertIfNegative val="0"/>
            <c:bubble3D val="0"/>
            <c:extLst>
              <c:ext xmlns:c16="http://schemas.microsoft.com/office/drawing/2014/chart" uri="{C3380CC4-5D6E-409C-BE32-E72D297353CC}">
                <c16:uniqueId val="{00000000-398A-4D4C-9AAF-B6FFED8251BD}"/>
              </c:ext>
            </c:extLst>
          </c:dPt>
          <c:dPt>
            <c:idx val="1"/>
            <c:invertIfNegative val="0"/>
            <c:bubble3D val="0"/>
            <c:extLst>
              <c:ext xmlns:c16="http://schemas.microsoft.com/office/drawing/2014/chart" uri="{C3380CC4-5D6E-409C-BE32-E72D297353CC}">
                <c16:uniqueId val="{00000001-398A-4D4C-9AAF-B6FFED8251BD}"/>
              </c:ext>
            </c:extLst>
          </c:dPt>
          <c:dPt>
            <c:idx val="2"/>
            <c:invertIfNegative val="0"/>
            <c:bubble3D val="0"/>
            <c:extLst>
              <c:ext xmlns:c16="http://schemas.microsoft.com/office/drawing/2014/chart" uri="{C3380CC4-5D6E-409C-BE32-E72D297353CC}">
                <c16:uniqueId val="{00000002-398A-4D4C-9AAF-B6FFED8251BD}"/>
              </c:ext>
            </c:extLst>
          </c:dPt>
          <c:dPt>
            <c:idx val="3"/>
            <c:invertIfNegative val="0"/>
            <c:bubble3D val="0"/>
            <c:extLst>
              <c:ext xmlns:c16="http://schemas.microsoft.com/office/drawing/2014/chart" uri="{C3380CC4-5D6E-409C-BE32-E72D297353CC}">
                <c16:uniqueId val="{00000003-398A-4D4C-9AAF-B6FFED8251BD}"/>
              </c:ext>
            </c:extLst>
          </c:dPt>
          <c:dPt>
            <c:idx val="4"/>
            <c:invertIfNegative val="0"/>
            <c:bubble3D val="0"/>
            <c:extLst>
              <c:ext xmlns:c16="http://schemas.microsoft.com/office/drawing/2014/chart" uri="{C3380CC4-5D6E-409C-BE32-E72D297353CC}">
                <c16:uniqueId val="{00000004-398A-4D4C-9AAF-B6FFED8251BD}"/>
              </c:ext>
            </c:extLst>
          </c:dPt>
          <c:dPt>
            <c:idx val="5"/>
            <c:invertIfNegative val="0"/>
            <c:bubble3D val="0"/>
            <c:extLst>
              <c:ext xmlns:c16="http://schemas.microsoft.com/office/drawing/2014/chart" uri="{C3380CC4-5D6E-409C-BE32-E72D297353CC}">
                <c16:uniqueId val="{00000005-398A-4D4C-9AAF-B6FFED8251BD}"/>
              </c:ext>
            </c:extLst>
          </c:dPt>
          <c:dPt>
            <c:idx val="6"/>
            <c:invertIfNegative val="0"/>
            <c:bubble3D val="0"/>
            <c:extLst>
              <c:ext xmlns:c16="http://schemas.microsoft.com/office/drawing/2014/chart" uri="{C3380CC4-5D6E-409C-BE32-E72D297353CC}">
                <c16:uniqueId val="{00000006-398A-4D4C-9AAF-B6FFED8251BD}"/>
              </c:ext>
            </c:extLst>
          </c:dPt>
          <c:dPt>
            <c:idx val="7"/>
            <c:invertIfNegative val="0"/>
            <c:bubble3D val="0"/>
            <c:extLst>
              <c:ext xmlns:c16="http://schemas.microsoft.com/office/drawing/2014/chart" uri="{C3380CC4-5D6E-409C-BE32-E72D297353CC}">
                <c16:uniqueId val="{00000007-398A-4D4C-9AAF-B6FFED8251BD}"/>
              </c:ext>
            </c:extLst>
          </c:dPt>
          <c:dPt>
            <c:idx val="8"/>
            <c:invertIfNegative val="0"/>
            <c:bubble3D val="0"/>
            <c:extLst>
              <c:ext xmlns:c16="http://schemas.microsoft.com/office/drawing/2014/chart" uri="{C3380CC4-5D6E-409C-BE32-E72D297353CC}">
                <c16:uniqueId val="{00000008-398A-4D4C-9AAF-B6FFED8251BD}"/>
              </c:ext>
            </c:extLst>
          </c:dPt>
          <c:dPt>
            <c:idx val="9"/>
            <c:invertIfNegative val="0"/>
            <c:bubble3D val="0"/>
            <c:extLst>
              <c:ext xmlns:c16="http://schemas.microsoft.com/office/drawing/2014/chart" uri="{C3380CC4-5D6E-409C-BE32-E72D297353CC}">
                <c16:uniqueId val="{00000009-398A-4D4C-9AAF-B6FFED8251BD}"/>
              </c:ext>
            </c:extLst>
          </c:dPt>
          <c:dPt>
            <c:idx val="10"/>
            <c:invertIfNegative val="0"/>
            <c:bubble3D val="0"/>
            <c:extLst>
              <c:ext xmlns:c16="http://schemas.microsoft.com/office/drawing/2014/chart" uri="{C3380CC4-5D6E-409C-BE32-E72D297353CC}">
                <c16:uniqueId val="{0000000A-398A-4D4C-9AAF-B6FFED8251BD}"/>
              </c:ext>
            </c:extLst>
          </c:dPt>
          <c:dPt>
            <c:idx val="11"/>
            <c:invertIfNegative val="0"/>
            <c:bubble3D val="0"/>
            <c:extLst>
              <c:ext xmlns:c16="http://schemas.microsoft.com/office/drawing/2014/chart" uri="{C3380CC4-5D6E-409C-BE32-E72D297353CC}">
                <c16:uniqueId val="{0000000B-398A-4D4C-9AAF-B6FFED8251BD}"/>
              </c:ext>
            </c:extLst>
          </c:dPt>
          <c:dPt>
            <c:idx val="12"/>
            <c:invertIfNegative val="0"/>
            <c:bubble3D val="0"/>
            <c:extLst>
              <c:ext xmlns:c16="http://schemas.microsoft.com/office/drawing/2014/chart" uri="{C3380CC4-5D6E-409C-BE32-E72D297353CC}">
                <c16:uniqueId val="{0000000C-398A-4D4C-9AAF-B6FFED8251BD}"/>
              </c:ext>
            </c:extLst>
          </c:dPt>
          <c:dLbls>
            <c:spPr>
              <a:noFill/>
              <a:ln>
                <a:noFill/>
              </a:ln>
              <a:effectLst/>
            </c:spPr>
            <c:txPr>
              <a:bodyPr/>
              <a:lstStyle/>
              <a:p>
                <a:pPr>
                  <a:defRPr sz="10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Sheet1!$B$2:$B$12</c:f>
              <c:numCache>
                <c:formatCode>0%</c:formatCode>
                <c:ptCount val="11"/>
                <c:pt idx="0">
                  <c:v>0.59</c:v>
                </c:pt>
                <c:pt idx="1">
                  <c:v>0.6</c:v>
                </c:pt>
                <c:pt idx="2">
                  <c:v>0.57999999999999996</c:v>
                </c:pt>
                <c:pt idx="3">
                  <c:v>0.56000000000000005</c:v>
                </c:pt>
                <c:pt idx="4">
                  <c:v>0.3</c:v>
                </c:pt>
                <c:pt idx="5">
                  <c:v>0.83</c:v>
                </c:pt>
                <c:pt idx="6">
                  <c:v>0.71</c:v>
                </c:pt>
                <c:pt idx="7">
                  <c:v>0.56000000000000005</c:v>
                </c:pt>
                <c:pt idx="8">
                  <c:v>0.59</c:v>
                </c:pt>
                <c:pt idx="9">
                  <c:v>0.6</c:v>
                </c:pt>
                <c:pt idx="10">
                  <c:v>0.56999999999999995</c:v>
                </c:pt>
              </c:numCache>
            </c:numRef>
          </c:val>
          <c:extLst>
            <c:ext xmlns:c16="http://schemas.microsoft.com/office/drawing/2014/chart" uri="{C3380CC4-5D6E-409C-BE32-E72D297353CC}">
              <c16:uniqueId val="{0000000D-398A-4D4C-9AAF-B6FFED8251BD}"/>
            </c:ext>
          </c:extLst>
        </c:ser>
        <c:ser>
          <c:idx val="1"/>
          <c:order val="1"/>
          <c:tx>
            <c:strRef>
              <c:f>Sheet1!$C$1</c:f>
              <c:strCache>
                <c:ptCount val="1"/>
                <c:pt idx="0">
                  <c:v>Leadership training and mentorship for women</c:v>
                </c:pt>
              </c:strCache>
            </c:strRef>
          </c:tx>
          <c:spPr>
            <a:solidFill>
              <a:srgbClr val="C700D3"/>
            </a:solidFill>
            <a:ln w="6350">
              <a:solidFill>
                <a:srgbClr val="FFFFFF"/>
              </a:solidFill>
            </a:ln>
          </c:spPr>
          <c:invertIfNegative val="0"/>
          <c:dLbls>
            <c:spPr>
              <a:noFill/>
              <a:ln>
                <a:noFill/>
              </a:ln>
              <a:effectLst/>
            </c:spPr>
            <c:txPr>
              <a:bodyPr/>
              <a:lstStyle/>
              <a:p>
                <a:pPr>
                  <a:defRPr sz="10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Sheet1!$C$2:$C$12</c:f>
              <c:numCache>
                <c:formatCode>0%</c:formatCode>
                <c:ptCount val="11"/>
                <c:pt idx="0">
                  <c:v>0.52</c:v>
                </c:pt>
                <c:pt idx="1">
                  <c:v>0.51</c:v>
                </c:pt>
                <c:pt idx="2">
                  <c:v>0.53</c:v>
                </c:pt>
                <c:pt idx="3">
                  <c:v>0.55000000000000004</c:v>
                </c:pt>
                <c:pt idx="4">
                  <c:v>0.74</c:v>
                </c:pt>
                <c:pt idx="5">
                  <c:v>0.48</c:v>
                </c:pt>
                <c:pt idx="6">
                  <c:v>0.38</c:v>
                </c:pt>
                <c:pt idx="7">
                  <c:v>0.59</c:v>
                </c:pt>
                <c:pt idx="8">
                  <c:v>0.42</c:v>
                </c:pt>
                <c:pt idx="9">
                  <c:v>0.48</c:v>
                </c:pt>
                <c:pt idx="10">
                  <c:v>0.6</c:v>
                </c:pt>
              </c:numCache>
            </c:numRef>
          </c:val>
          <c:extLst>
            <c:ext xmlns:c16="http://schemas.microsoft.com/office/drawing/2014/chart" uri="{C3380CC4-5D6E-409C-BE32-E72D297353CC}">
              <c16:uniqueId val="{0000000E-398A-4D4C-9AAF-B6FFED8251BD}"/>
            </c:ext>
          </c:extLst>
        </c:ser>
        <c:ser>
          <c:idx val="2"/>
          <c:order val="2"/>
          <c:tx>
            <c:strRef>
              <c:f>Sheet1!$D$1</c:f>
              <c:strCache>
                <c:ptCount val="1"/>
                <c:pt idx="0">
                  <c:v>Economic empowerment programs to support female candidates</c:v>
                </c:pt>
              </c:strCache>
            </c:strRef>
          </c:tx>
          <c:spPr>
            <a:solidFill>
              <a:srgbClr val="0060FF"/>
            </a:solidFill>
            <a:ln w="6350">
              <a:solidFill>
                <a:srgbClr val="FFFFFF"/>
              </a:solidFill>
            </a:ln>
          </c:spPr>
          <c:invertIfNegative val="0"/>
          <c:dLbls>
            <c:spPr>
              <a:noFill/>
              <a:ln>
                <a:noFill/>
              </a:ln>
              <a:effectLst/>
            </c:spPr>
            <c:txPr>
              <a:bodyPr/>
              <a:lstStyle/>
              <a:p>
                <a:pPr>
                  <a:defRPr sz="10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Sheet1!$D$2:$D$12</c:f>
              <c:numCache>
                <c:formatCode>0%</c:formatCode>
                <c:ptCount val="11"/>
                <c:pt idx="0">
                  <c:v>0.51</c:v>
                </c:pt>
                <c:pt idx="1">
                  <c:v>0.53</c:v>
                </c:pt>
                <c:pt idx="2">
                  <c:v>0.5</c:v>
                </c:pt>
                <c:pt idx="3">
                  <c:v>0.52</c:v>
                </c:pt>
                <c:pt idx="4">
                  <c:v>0.84</c:v>
                </c:pt>
                <c:pt idx="5">
                  <c:v>0.6</c:v>
                </c:pt>
                <c:pt idx="6">
                  <c:v>0.26</c:v>
                </c:pt>
                <c:pt idx="7">
                  <c:v>0.42</c:v>
                </c:pt>
                <c:pt idx="8">
                  <c:v>0.35</c:v>
                </c:pt>
                <c:pt idx="9">
                  <c:v>0.47</c:v>
                </c:pt>
                <c:pt idx="10">
                  <c:v>0.59</c:v>
                </c:pt>
              </c:numCache>
            </c:numRef>
          </c:val>
          <c:extLst>
            <c:ext xmlns:c16="http://schemas.microsoft.com/office/drawing/2014/chart" uri="{C3380CC4-5D6E-409C-BE32-E72D297353CC}">
              <c16:uniqueId val="{0000000F-398A-4D4C-9AAF-B6FFED8251BD}"/>
            </c:ext>
          </c:extLst>
        </c:ser>
        <c:ser>
          <c:idx val="3"/>
          <c:order val="3"/>
          <c:tx>
            <c:strRef>
              <c:f>Sheet1!$E$1</c:f>
              <c:strCache>
                <c:ptCount val="1"/>
                <c:pt idx="0">
                  <c:v>Legal reforms to ensure equal political participation</c:v>
                </c:pt>
              </c:strCache>
            </c:strRef>
          </c:tx>
          <c:invertIfNegative val="0"/>
          <c:dLbls>
            <c:spPr>
              <a:noFill/>
              <a:ln>
                <a:noFill/>
              </a:ln>
              <a:effectLst/>
            </c:spPr>
            <c:txPr>
              <a:bodyPr/>
              <a:lstStyle/>
              <a:p>
                <a:pPr>
                  <a:defRPr sz="10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Sheet1!$E$2:$E$12</c:f>
              <c:numCache>
                <c:formatCode>0%</c:formatCode>
                <c:ptCount val="11"/>
                <c:pt idx="0">
                  <c:v>0.35</c:v>
                </c:pt>
                <c:pt idx="1">
                  <c:v>0.36</c:v>
                </c:pt>
                <c:pt idx="2">
                  <c:v>0.34</c:v>
                </c:pt>
                <c:pt idx="3">
                  <c:v>0.65</c:v>
                </c:pt>
                <c:pt idx="4">
                  <c:v>0.1</c:v>
                </c:pt>
                <c:pt idx="5">
                  <c:v>0.13</c:v>
                </c:pt>
                <c:pt idx="6">
                  <c:v>0.57999999999999996</c:v>
                </c:pt>
                <c:pt idx="7">
                  <c:v>0.42</c:v>
                </c:pt>
                <c:pt idx="8">
                  <c:v>0.43</c:v>
                </c:pt>
                <c:pt idx="9">
                  <c:v>0.33</c:v>
                </c:pt>
                <c:pt idx="10">
                  <c:v>0.4</c:v>
                </c:pt>
              </c:numCache>
            </c:numRef>
          </c:val>
          <c:extLst>
            <c:ext xmlns:c16="http://schemas.microsoft.com/office/drawing/2014/chart" uri="{C3380CC4-5D6E-409C-BE32-E72D297353CC}">
              <c16:uniqueId val="{00000010-398A-4D4C-9AAF-B6FFED8251BD}"/>
            </c:ext>
          </c:extLst>
        </c:ser>
        <c:dLbls>
          <c:dLblPos val="outEnd"/>
          <c:showLegendKey val="0"/>
          <c:showVal val="1"/>
          <c:showCatName val="0"/>
          <c:showSerName val="0"/>
          <c:showPercent val="0"/>
          <c:showBubbleSize val="0"/>
        </c:dLbls>
        <c:gapWidth val="250"/>
        <c:overlap val="-50"/>
        <c:axId val="351810248"/>
        <c:axId val="351810640"/>
      </c:barChart>
      <c:catAx>
        <c:axId val="351810248"/>
        <c:scaling>
          <c:orientation val="minMax"/>
        </c:scaling>
        <c:delete val="0"/>
        <c:axPos val="b"/>
        <c:numFmt formatCode="General" sourceLinked="1"/>
        <c:majorTickMark val="out"/>
        <c:minorTickMark val="none"/>
        <c:tickLblPos val="nextTo"/>
        <c:spPr>
          <a:noFill/>
          <a:ln w="9525" cap="flat" cmpd="sng" algn="ctr">
            <a:noFill/>
            <a:round/>
          </a:ln>
          <a:effectLst/>
        </c:spPr>
        <c:txPr>
          <a:bodyPr rot="-60000000" vert="horz"/>
          <a:lstStyle/>
          <a:p>
            <a:pPr>
              <a:defRPr/>
            </a:pPr>
            <a:endParaRPr lang="en-US"/>
          </a:p>
        </c:txPr>
        <c:crossAx val="351810640"/>
        <c:crosses val="autoZero"/>
        <c:auto val="1"/>
        <c:lblAlgn val="ctr"/>
        <c:lblOffset val="100"/>
        <c:noMultiLvlLbl val="0"/>
      </c:catAx>
      <c:valAx>
        <c:axId val="351810640"/>
        <c:scaling>
          <c:orientation val="minMax"/>
        </c:scaling>
        <c:delete val="1"/>
        <c:axPos val="l"/>
        <c:numFmt formatCode="0%" sourceLinked="1"/>
        <c:majorTickMark val="out"/>
        <c:minorTickMark val="none"/>
        <c:tickLblPos val="nextTo"/>
        <c:crossAx val="351810248"/>
        <c:crosses val="autoZero"/>
        <c:crossBetween val="between"/>
      </c:valAx>
      <c:spPr>
        <a:noFill/>
        <a:ln>
          <a:noFill/>
        </a:ln>
        <a:effectLst/>
      </c:spPr>
    </c:plotArea>
    <c:legend>
      <c:legendPos val="t"/>
      <c:layout>
        <c:manualLayout>
          <c:xMode val="edge"/>
          <c:yMode val="edge"/>
          <c:x val="1.2112985139694719E-2"/>
          <c:y val="2.7226249364303862E-3"/>
          <c:w val="0.98677434932721408"/>
          <c:h val="0.17146641505526625"/>
        </c:manualLayout>
      </c:layout>
      <c:overlay val="0"/>
    </c:legend>
    <c:plotVisOnly val="1"/>
    <c:dispBlanksAs val="gap"/>
    <c:showDLblsOverMax val="0"/>
  </c:chart>
  <c:spPr>
    <a:noFill/>
    <a:ln>
      <a:noFill/>
    </a:ln>
    <a:effectLst/>
  </c:spPr>
  <c:txPr>
    <a:bodyPr/>
    <a:lstStyle/>
    <a:p>
      <a:pPr>
        <a:defRPr sz="1200">
          <a:solidFill>
            <a:srgbClr val="333333"/>
          </a:solidFill>
          <a:latin typeface="+mn-lt"/>
        </a:defRPr>
      </a:pPr>
      <a:endParaRPr lang="en-US"/>
    </a:p>
  </c:txPr>
  <c:externalData r:id="rId2">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21704403910854142"/>
          <c:y val="3.6452182408077613E-2"/>
          <c:w val="0.77098182434070262"/>
          <c:h val="0.85592568451562434"/>
        </c:manualLayout>
      </c:layout>
      <c:barChart>
        <c:barDir val="col"/>
        <c:grouping val="percentStacked"/>
        <c:varyColors val="0"/>
        <c:ser>
          <c:idx val="0"/>
          <c:order val="0"/>
          <c:tx>
            <c:strRef>
              <c:f>Sheet1!$B$1</c:f>
              <c:strCache>
                <c:ptCount val="1"/>
                <c:pt idx="0">
                  <c:v>Very Poor – Systemic barriers prevent women’s leadership participation (1.0)</c:v>
                </c:pt>
              </c:strCache>
            </c:strRef>
          </c:tx>
          <c:spPr>
            <a:solidFill>
              <a:schemeClr val="accent3">
                <a:shade val="53000"/>
              </a:scheme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Sheet1!$B$2:$B$12</c:f>
              <c:numCache>
                <c:formatCode>0%</c:formatCode>
                <c:ptCount val="11"/>
                <c:pt idx="0">
                  <c:v>0.25</c:v>
                </c:pt>
                <c:pt idx="1">
                  <c:v>0.22</c:v>
                </c:pt>
                <c:pt idx="2">
                  <c:v>0.28000000000000003</c:v>
                </c:pt>
                <c:pt idx="3">
                  <c:v>0.26</c:v>
                </c:pt>
                <c:pt idx="4">
                  <c:v>0.12</c:v>
                </c:pt>
                <c:pt idx="5">
                  <c:v>0.23</c:v>
                </c:pt>
                <c:pt idx="6">
                  <c:v>0.18</c:v>
                </c:pt>
                <c:pt idx="7">
                  <c:v>0.8</c:v>
                </c:pt>
                <c:pt idx="8">
                  <c:v>0.17</c:v>
                </c:pt>
                <c:pt idx="9">
                  <c:v>0.24</c:v>
                </c:pt>
                <c:pt idx="10">
                  <c:v>0.27</c:v>
                </c:pt>
              </c:numCache>
            </c:numRef>
          </c:val>
          <c:extLst>
            <c:ext xmlns:c16="http://schemas.microsoft.com/office/drawing/2014/chart" uri="{C3380CC4-5D6E-409C-BE32-E72D297353CC}">
              <c16:uniqueId val="{00000000-5D06-4E1B-BEE6-B53916E8B4DA}"/>
            </c:ext>
          </c:extLst>
        </c:ser>
        <c:ser>
          <c:idx val="1"/>
          <c:order val="1"/>
          <c:tx>
            <c:strRef>
              <c:f>Sheet1!$C$1</c:f>
              <c:strCache>
                <c:ptCount val="1"/>
                <c:pt idx="0">
                  <c:v>Poor – Women are significantly underrepresented in leadership (2.0)</c:v>
                </c:pt>
              </c:strCache>
            </c:strRef>
          </c:tx>
          <c:spPr>
            <a:solidFill>
              <a:srgbClr val="FF5050"/>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Sheet1!$C$2:$C$12</c:f>
              <c:numCache>
                <c:formatCode>0%</c:formatCode>
                <c:ptCount val="11"/>
                <c:pt idx="0">
                  <c:v>0.3</c:v>
                </c:pt>
                <c:pt idx="1">
                  <c:v>0.28999999999999998</c:v>
                </c:pt>
                <c:pt idx="2">
                  <c:v>0.3</c:v>
                </c:pt>
                <c:pt idx="3">
                  <c:v>0.28000000000000003</c:v>
                </c:pt>
                <c:pt idx="4">
                  <c:v>0.25</c:v>
                </c:pt>
                <c:pt idx="5">
                  <c:v>0.15</c:v>
                </c:pt>
                <c:pt idx="6">
                  <c:v>0.59</c:v>
                </c:pt>
                <c:pt idx="7">
                  <c:v>0.18</c:v>
                </c:pt>
                <c:pt idx="8">
                  <c:v>0.34</c:v>
                </c:pt>
                <c:pt idx="9">
                  <c:v>0.31</c:v>
                </c:pt>
                <c:pt idx="10">
                  <c:v>0.28000000000000003</c:v>
                </c:pt>
              </c:numCache>
            </c:numRef>
          </c:val>
          <c:extLst>
            <c:ext xmlns:c16="http://schemas.microsoft.com/office/drawing/2014/chart" uri="{C3380CC4-5D6E-409C-BE32-E72D297353CC}">
              <c16:uniqueId val="{00000001-5D06-4E1B-BEE6-B53916E8B4DA}"/>
            </c:ext>
          </c:extLst>
        </c:ser>
        <c:ser>
          <c:idx val="2"/>
          <c:order val="2"/>
          <c:tx>
            <c:strRef>
              <c:f>Sheet1!$D$1</c:f>
              <c:strCache>
                <c:ptCount val="1"/>
                <c:pt idx="0">
                  <c:v>Average – Gender gaps still exist in key leadership roles (3.0)</c:v>
                </c:pt>
              </c:strCache>
            </c:strRef>
          </c:tx>
          <c:spPr>
            <a:solidFill>
              <a:srgbClr val="FF7C80"/>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Sheet1!$D$2:$D$12</c:f>
              <c:numCache>
                <c:formatCode>0%</c:formatCode>
                <c:ptCount val="11"/>
                <c:pt idx="0">
                  <c:v>0.31</c:v>
                </c:pt>
                <c:pt idx="1">
                  <c:v>0.32</c:v>
                </c:pt>
                <c:pt idx="2">
                  <c:v>0.31</c:v>
                </c:pt>
                <c:pt idx="3">
                  <c:v>0.28000000000000003</c:v>
                </c:pt>
                <c:pt idx="4">
                  <c:v>0.46</c:v>
                </c:pt>
                <c:pt idx="5">
                  <c:v>0.45</c:v>
                </c:pt>
                <c:pt idx="6">
                  <c:v>0.15</c:v>
                </c:pt>
                <c:pt idx="7">
                  <c:v>0.03</c:v>
                </c:pt>
                <c:pt idx="8">
                  <c:v>0.33</c:v>
                </c:pt>
                <c:pt idx="9">
                  <c:v>0.32</c:v>
                </c:pt>
                <c:pt idx="10">
                  <c:v>0.3</c:v>
                </c:pt>
              </c:numCache>
            </c:numRef>
          </c:val>
          <c:extLst>
            <c:ext xmlns:c16="http://schemas.microsoft.com/office/drawing/2014/chart" uri="{C3380CC4-5D6E-409C-BE32-E72D297353CC}">
              <c16:uniqueId val="{00000002-5D06-4E1B-BEE6-B53916E8B4DA}"/>
            </c:ext>
          </c:extLst>
        </c:ser>
        <c:ser>
          <c:idx val="3"/>
          <c:order val="3"/>
          <c:tx>
            <c:strRef>
              <c:f>Sheet1!$E$1</c:f>
              <c:strCache>
                <c:ptCount val="1"/>
                <c:pt idx="0">
                  <c:v>Good – Some progress, but challenges remain (4.0)</c:v>
                </c:pt>
              </c:strCache>
            </c:strRef>
          </c:tx>
          <c:spPr>
            <a:solidFill>
              <a:srgbClr val="70AD47">
                <a:lumMod val="60000"/>
                <a:lumOff val="40000"/>
              </a:srgb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Sheet1!$E$2:$E$12</c:f>
              <c:numCache>
                <c:formatCode>0%</c:formatCode>
                <c:ptCount val="11"/>
                <c:pt idx="0">
                  <c:v>0.13</c:v>
                </c:pt>
                <c:pt idx="1">
                  <c:v>0.15</c:v>
                </c:pt>
                <c:pt idx="2">
                  <c:v>0.11</c:v>
                </c:pt>
                <c:pt idx="3">
                  <c:v>0.15</c:v>
                </c:pt>
                <c:pt idx="4">
                  <c:v>0.18</c:v>
                </c:pt>
                <c:pt idx="5">
                  <c:v>0.16</c:v>
                </c:pt>
                <c:pt idx="6">
                  <c:v>7.0000000000000007E-2</c:v>
                </c:pt>
                <c:pt idx="7">
                  <c:v>0</c:v>
                </c:pt>
                <c:pt idx="8">
                  <c:v>0.15</c:v>
                </c:pt>
                <c:pt idx="9">
                  <c:v>0.12</c:v>
                </c:pt>
                <c:pt idx="10">
                  <c:v>0.15</c:v>
                </c:pt>
              </c:numCache>
            </c:numRef>
          </c:val>
          <c:extLst>
            <c:ext xmlns:c16="http://schemas.microsoft.com/office/drawing/2014/chart" uri="{C3380CC4-5D6E-409C-BE32-E72D297353CC}">
              <c16:uniqueId val="{00000003-5D06-4E1B-BEE6-B53916E8B4DA}"/>
            </c:ext>
          </c:extLst>
        </c:ser>
        <c:ser>
          <c:idx val="4"/>
          <c:order val="4"/>
          <c:tx>
            <c:strRef>
              <c:f>Sheet1!$F$1</c:f>
              <c:strCache>
                <c:ptCount val="1"/>
                <c:pt idx="0">
                  <c:v>Excellent – Strong gender balance in leadership positions (5.0)</c:v>
                </c:pt>
              </c:strCache>
            </c:strRef>
          </c:tx>
          <c:spPr>
            <a:solidFill>
              <a:srgbClr val="70AD47">
                <a:lumMod val="75000"/>
              </a:srgb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Sheet1!$F$2:$F$12</c:f>
              <c:numCache>
                <c:formatCode>0%</c:formatCode>
                <c:ptCount val="11"/>
                <c:pt idx="0">
                  <c:v>0.01</c:v>
                </c:pt>
                <c:pt idx="1">
                  <c:v>0.01</c:v>
                </c:pt>
                <c:pt idx="2">
                  <c:v>0</c:v>
                </c:pt>
                <c:pt idx="3">
                  <c:v>0.02</c:v>
                </c:pt>
                <c:pt idx="4">
                  <c:v>0</c:v>
                </c:pt>
                <c:pt idx="5">
                  <c:v>0.01</c:v>
                </c:pt>
                <c:pt idx="6">
                  <c:v>0.01</c:v>
                </c:pt>
                <c:pt idx="7">
                  <c:v>0</c:v>
                </c:pt>
                <c:pt idx="8">
                  <c:v>0.01</c:v>
                </c:pt>
                <c:pt idx="9">
                  <c:v>0.01</c:v>
                </c:pt>
                <c:pt idx="10">
                  <c:v>0.01</c:v>
                </c:pt>
              </c:numCache>
            </c:numRef>
          </c:val>
          <c:extLst>
            <c:ext xmlns:c16="http://schemas.microsoft.com/office/drawing/2014/chart" uri="{C3380CC4-5D6E-409C-BE32-E72D297353CC}">
              <c16:uniqueId val="{00000004-5D06-4E1B-BEE6-B53916E8B4DA}"/>
            </c:ext>
          </c:extLst>
        </c:ser>
        <c:dLbls>
          <c:showLegendKey val="0"/>
          <c:showVal val="0"/>
          <c:showCatName val="0"/>
          <c:showSerName val="0"/>
          <c:showPercent val="0"/>
          <c:showBubbleSize val="0"/>
        </c:dLbls>
        <c:gapWidth val="100"/>
        <c:overlap val="100"/>
        <c:axId val="826811951"/>
        <c:axId val="826794479"/>
      </c:barChart>
      <c:catAx>
        <c:axId val="826811951"/>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826794479"/>
        <c:crosses val="autoZero"/>
        <c:auto val="1"/>
        <c:lblAlgn val="ctr"/>
        <c:lblOffset val="100"/>
        <c:noMultiLvlLbl val="0"/>
      </c:catAx>
      <c:valAx>
        <c:axId val="826794479"/>
        <c:scaling>
          <c:orientation val="minMax"/>
        </c:scaling>
        <c:delete val="1"/>
        <c:axPos val="l"/>
        <c:numFmt formatCode="0%" sourceLinked="1"/>
        <c:majorTickMark val="out"/>
        <c:minorTickMark val="none"/>
        <c:tickLblPos val="nextTo"/>
        <c:crossAx val="826811951"/>
        <c:crosses val="autoZero"/>
        <c:crossBetween val="between"/>
      </c:valAx>
      <c:spPr>
        <a:noFill/>
        <a:ln>
          <a:noFill/>
        </a:ln>
        <a:effectLst/>
      </c:spPr>
    </c:plotArea>
    <c:legend>
      <c:legendPos val="l"/>
      <c:layout>
        <c:manualLayout>
          <c:xMode val="edge"/>
          <c:yMode val="edge"/>
          <c:x val="6.6636350916468448E-3"/>
          <c:y val="5.2593993427196555E-2"/>
          <c:w val="0.2126181513853142"/>
          <c:h val="0.85228438025288478"/>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bg1"/>
          </a:solidFill>
          <a:latin typeface="+mn-lt"/>
        </a:defRPr>
      </a:pPr>
      <a:endParaRPr lang="en-US"/>
    </a:p>
  </c:txPr>
  <c:externalData r:id="rId4">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2238065796837834"/>
          <c:y val="3.6452182408077613E-2"/>
          <c:w val="0.7639767559815307"/>
          <c:h val="0.85592568451562434"/>
        </c:manualLayout>
      </c:layout>
      <c:barChart>
        <c:barDir val="col"/>
        <c:grouping val="percentStacked"/>
        <c:varyColors val="0"/>
        <c:ser>
          <c:idx val="0"/>
          <c:order val="0"/>
          <c:tx>
            <c:strRef>
              <c:f>Sheet1!$B$1</c:f>
              <c:strCache>
                <c:ptCount val="1"/>
                <c:pt idx="0">
                  <c:v>It promotes economic growth by ensuring diversity in decision-making</c:v>
                </c:pt>
              </c:strCache>
            </c:strRef>
          </c:tx>
          <c:spPr>
            <a:solidFill>
              <a:srgbClr val="70AD47">
                <a:lumMod val="50000"/>
              </a:srgb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Sheet1!$B$2:$B$12</c:f>
              <c:numCache>
                <c:formatCode>0%</c:formatCode>
                <c:ptCount val="11"/>
                <c:pt idx="0">
                  <c:v>0.54</c:v>
                </c:pt>
                <c:pt idx="1">
                  <c:v>0.53</c:v>
                </c:pt>
                <c:pt idx="2">
                  <c:v>0.55000000000000004</c:v>
                </c:pt>
                <c:pt idx="3">
                  <c:v>0.44</c:v>
                </c:pt>
                <c:pt idx="4">
                  <c:v>0.48</c:v>
                </c:pt>
                <c:pt idx="5">
                  <c:v>0.66</c:v>
                </c:pt>
                <c:pt idx="6">
                  <c:v>0.61</c:v>
                </c:pt>
                <c:pt idx="7">
                  <c:v>0.49</c:v>
                </c:pt>
                <c:pt idx="8">
                  <c:v>0.53</c:v>
                </c:pt>
                <c:pt idx="9">
                  <c:v>0.56000000000000005</c:v>
                </c:pt>
                <c:pt idx="10">
                  <c:v>0.51</c:v>
                </c:pt>
              </c:numCache>
            </c:numRef>
          </c:val>
          <c:extLst>
            <c:ext xmlns:c16="http://schemas.microsoft.com/office/drawing/2014/chart" uri="{C3380CC4-5D6E-409C-BE32-E72D297353CC}">
              <c16:uniqueId val="{00000000-3A24-4515-84DE-6868A1356F85}"/>
            </c:ext>
          </c:extLst>
        </c:ser>
        <c:ser>
          <c:idx val="1"/>
          <c:order val="1"/>
          <c:tx>
            <c:strRef>
              <c:f>Sheet1!$C$1</c:f>
              <c:strCache>
                <c:ptCount val="1"/>
                <c:pt idx="0">
                  <c:v>It leads to more inclusive and people-centered policies</c:v>
                </c:pt>
              </c:strCache>
            </c:strRef>
          </c:tx>
          <c:spPr>
            <a:solidFill>
              <a:srgbClr val="70AD47">
                <a:lumMod val="40000"/>
                <a:lumOff val="60000"/>
              </a:srgb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Sheet1!$C$2:$C$12</c:f>
              <c:numCache>
                <c:formatCode>0%</c:formatCode>
                <c:ptCount val="11"/>
                <c:pt idx="0">
                  <c:v>0.25</c:v>
                </c:pt>
                <c:pt idx="1">
                  <c:v>0.24</c:v>
                </c:pt>
                <c:pt idx="2">
                  <c:v>0.26</c:v>
                </c:pt>
                <c:pt idx="3">
                  <c:v>0.35</c:v>
                </c:pt>
                <c:pt idx="4">
                  <c:v>0.13</c:v>
                </c:pt>
                <c:pt idx="5">
                  <c:v>0.18</c:v>
                </c:pt>
                <c:pt idx="6">
                  <c:v>0.25</c:v>
                </c:pt>
                <c:pt idx="7">
                  <c:v>0.32</c:v>
                </c:pt>
                <c:pt idx="8">
                  <c:v>0.33</c:v>
                </c:pt>
                <c:pt idx="9">
                  <c:v>0.23</c:v>
                </c:pt>
                <c:pt idx="10">
                  <c:v>0.27</c:v>
                </c:pt>
              </c:numCache>
            </c:numRef>
          </c:val>
          <c:extLst>
            <c:ext xmlns:c16="http://schemas.microsoft.com/office/drawing/2014/chart" uri="{C3380CC4-5D6E-409C-BE32-E72D297353CC}">
              <c16:uniqueId val="{00000001-3A24-4515-84DE-6868A1356F85}"/>
            </c:ext>
          </c:extLst>
        </c:ser>
        <c:ser>
          <c:idx val="2"/>
          <c:order val="2"/>
          <c:tx>
            <c:strRef>
              <c:f>Sheet1!$D$1</c:f>
              <c:strCache>
                <c:ptCount val="1"/>
                <c:pt idx="0">
                  <c:v>It has minimal impact on national development</c:v>
                </c:pt>
              </c:strCache>
            </c:strRef>
          </c:tx>
          <c:spPr>
            <a:solidFill>
              <a:schemeClr val="accent2">
                <a:tint val="86000"/>
              </a:scheme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Sheet1!$D$2:$D$12</c:f>
              <c:numCache>
                <c:formatCode>0%</c:formatCode>
                <c:ptCount val="11"/>
                <c:pt idx="0">
                  <c:v>0.18</c:v>
                </c:pt>
                <c:pt idx="1">
                  <c:v>0.2</c:v>
                </c:pt>
                <c:pt idx="2">
                  <c:v>0.16</c:v>
                </c:pt>
                <c:pt idx="3">
                  <c:v>0.16</c:v>
                </c:pt>
                <c:pt idx="4">
                  <c:v>0.35</c:v>
                </c:pt>
                <c:pt idx="5">
                  <c:v>0.15</c:v>
                </c:pt>
                <c:pt idx="6">
                  <c:v>0.13</c:v>
                </c:pt>
                <c:pt idx="7">
                  <c:v>0.16</c:v>
                </c:pt>
                <c:pt idx="8">
                  <c:v>0.1</c:v>
                </c:pt>
                <c:pt idx="9">
                  <c:v>0.17</c:v>
                </c:pt>
                <c:pt idx="10">
                  <c:v>0.19</c:v>
                </c:pt>
              </c:numCache>
            </c:numRef>
          </c:val>
          <c:extLst>
            <c:ext xmlns:c16="http://schemas.microsoft.com/office/drawing/2014/chart" uri="{C3380CC4-5D6E-409C-BE32-E72D297353CC}">
              <c16:uniqueId val="{00000002-3A24-4515-84DE-6868A1356F85}"/>
            </c:ext>
          </c:extLst>
        </c:ser>
        <c:ser>
          <c:idx val="3"/>
          <c:order val="3"/>
          <c:tx>
            <c:strRef>
              <c:f>Sheet1!$E$1</c:f>
              <c:strCache>
                <c:ptCount val="1"/>
                <c:pt idx="0">
                  <c:v>Not sure</c:v>
                </c:pt>
              </c:strCache>
            </c:strRef>
          </c:tx>
          <c:spPr>
            <a:solidFill>
              <a:schemeClr val="accent2">
                <a:tint val="58000"/>
              </a:scheme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Sheet1!$E$2:$E$12</c:f>
              <c:numCache>
                <c:formatCode>0%</c:formatCode>
                <c:ptCount val="11"/>
                <c:pt idx="0">
                  <c:v>0.03</c:v>
                </c:pt>
                <c:pt idx="1">
                  <c:v>0.03</c:v>
                </c:pt>
                <c:pt idx="2">
                  <c:v>0.03</c:v>
                </c:pt>
                <c:pt idx="3">
                  <c:v>0.06</c:v>
                </c:pt>
                <c:pt idx="4">
                  <c:v>0.04</c:v>
                </c:pt>
                <c:pt idx="5">
                  <c:v>0.01</c:v>
                </c:pt>
                <c:pt idx="6">
                  <c:v>0.01</c:v>
                </c:pt>
                <c:pt idx="7">
                  <c:v>0.03</c:v>
                </c:pt>
                <c:pt idx="8">
                  <c:v>0.04</c:v>
                </c:pt>
                <c:pt idx="9">
                  <c:v>0.04</c:v>
                </c:pt>
                <c:pt idx="10">
                  <c:v>0.02</c:v>
                </c:pt>
              </c:numCache>
            </c:numRef>
          </c:val>
          <c:extLst>
            <c:ext xmlns:c16="http://schemas.microsoft.com/office/drawing/2014/chart" uri="{C3380CC4-5D6E-409C-BE32-E72D297353CC}">
              <c16:uniqueId val="{00000003-3A24-4515-84DE-6868A1356F85}"/>
            </c:ext>
          </c:extLst>
        </c:ser>
        <c:dLbls>
          <c:dLblPos val="ctr"/>
          <c:showLegendKey val="0"/>
          <c:showVal val="1"/>
          <c:showCatName val="0"/>
          <c:showSerName val="0"/>
          <c:showPercent val="0"/>
          <c:showBubbleSize val="0"/>
        </c:dLbls>
        <c:gapWidth val="100"/>
        <c:overlap val="100"/>
        <c:axId val="826811951"/>
        <c:axId val="826794479"/>
      </c:barChart>
      <c:catAx>
        <c:axId val="8268119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826794479"/>
        <c:crosses val="autoZero"/>
        <c:auto val="1"/>
        <c:lblAlgn val="ctr"/>
        <c:lblOffset val="100"/>
        <c:noMultiLvlLbl val="0"/>
      </c:catAx>
      <c:valAx>
        <c:axId val="826794479"/>
        <c:scaling>
          <c:orientation val="minMax"/>
        </c:scaling>
        <c:delete val="1"/>
        <c:axPos val="l"/>
        <c:numFmt formatCode="0%" sourceLinked="1"/>
        <c:majorTickMark val="none"/>
        <c:minorTickMark val="none"/>
        <c:tickLblPos val="nextTo"/>
        <c:crossAx val="826811951"/>
        <c:crosses val="autoZero"/>
        <c:crossBetween val="between"/>
      </c:valAx>
      <c:spPr>
        <a:noFill/>
        <a:ln>
          <a:noFill/>
        </a:ln>
        <a:effectLst/>
      </c:spPr>
    </c:plotArea>
    <c:legend>
      <c:legendPos val="l"/>
      <c:layout>
        <c:manualLayout>
          <c:xMode val="edge"/>
          <c:yMode val="edge"/>
          <c:x val="6.6636350916468448E-3"/>
          <c:y val="5.2593993427196555E-2"/>
          <c:w val="0.20663329019168883"/>
          <c:h val="0.7818452997559243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bg1"/>
          </a:solidFill>
          <a:latin typeface="MTN Brighter Sans" panose="00000500000000000000"/>
        </a:defRPr>
      </a:pPr>
      <a:endParaRPr lang="en-US"/>
    </a:p>
  </c:txPr>
  <c:externalData r:id="rId4">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232907381346407"/>
          <c:y val="7.4400833333333347E-2"/>
          <c:w val="0.84454770591173378"/>
          <c:h val="0.81102888888888891"/>
        </c:manualLayout>
      </c:layout>
      <c:barChart>
        <c:barDir val="col"/>
        <c:grouping val="percentStacked"/>
        <c:varyColors val="0"/>
        <c:ser>
          <c:idx val="0"/>
          <c:order val="0"/>
          <c:tx>
            <c:strRef>
              <c:f>Sheet1!$B$1</c:f>
              <c:strCache>
                <c:ptCount val="1"/>
                <c:pt idx="0">
                  <c:v>Yes, diversity leads to better accountability and ethical leadership</c:v>
                </c:pt>
              </c:strCache>
            </c:strRef>
          </c:tx>
          <c:spPr>
            <a:solidFill>
              <a:srgbClr val="92D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Sheet1!$B$2:$B$12</c:f>
              <c:numCache>
                <c:formatCode>0%</c:formatCode>
                <c:ptCount val="11"/>
                <c:pt idx="0">
                  <c:v>0.52</c:v>
                </c:pt>
                <c:pt idx="1">
                  <c:v>0.45</c:v>
                </c:pt>
                <c:pt idx="2">
                  <c:v>0.56999999999999995</c:v>
                </c:pt>
                <c:pt idx="3">
                  <c:v>0.77</c:v>
                </c:pt>
                <c:pt idx="4">
                  <c:v>0.38</c:v>
                </c:pt>
                <c:pt idx="5">
                  <c:v>0.7</c:v>
                </c:pt>
                <c:pt idx="6">
                  <c:v>0.46</c:v>
                </c:pt>
                <c:pt idx="7">
                  <c:v>0.44</c:v>
                </c:pt>
                <c:pt idx="8">
                  <c:v>0.42</c:v>
                </c:pt>
                <c:pt idx="9">
                  <c:v>0.47</c:v>
                </c:pt>
                <c:pt idx="10">
                  <c:v>0.59</c:v>
                </c:pt>
              </c:numCache>
            </c:numRef>
          </c:val>
          <c:extLst>
            <c:ext xmlns:c16="http://schemas.microsoft.com/office/drawing/2014/chart" uri="{C3380CC4-5D6E-409C-BE32-E72D297353CC}">
              <c16:uniqueId val="{00000000-E06D-4EDB-B47E-EF404DE4DAD8}"/>
            </c:ext>
          </c:extLst>
        </c:ser>
        <c:ser>
          <c:idx val="1"/>
          <c:order val="1"/>
          <c:tx>
            <c:strRef>
              <c:f>Sheet1!$C$1</c:f>
              <c:strCache>
                <c:ptCount val="1"/>
                <c:pt idx="0">
                  <c:v>No, corruption is not influenced by gender balance</c:v>
                </c:pt>
              </c:strCache>
            </c:strRef>
          </c:tx>
          <c:spPr>
            <a:solidFill>
              <a:srgbClr val="FF7C8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Sheet1!$C$2:$C$12</c:f>
              <c:numCache>
                <c:formatCode>0%</c:formatCode>
                <c:ptCount val="11"/>
                <c:pt idx="0">
                  <c:v>0.41</c:v>
                </c:pt>
                <c:pt idx="1">
                  <c:v>0.47</c:v>
                </c:pt>
                <c:pt idx="2">
                  <c:v>0.35</c:v>
                </c:pt>
                <c:pt idx="3">
                  <c:v>0.15</c:v>
                </c:pt>
                <c:pt idx="4">
                  <c:v>0.57999999999999996</c:v>
                </c:pt>
                <c:pt idx="5">
                  <c:v>0.17</c:v>
                </c:pt>
                <c:pt idx="6">
                  <c:v>0.51</c:v>
                </c:pt>
                <c:pt idx="7">
                  <c:v>0.39</c:v>
                </c:pt>
                <c:pt idx="8">
                  <c:v>0.54</c:v>
                </c:pt>
                <c:pt idx="9">
                  <c:v>0.45</c:v>
                </c:pt>
                <c:pt idx="10">
                  <c:v>0.33</c:v>
                </c:pt>
              </c:numCache>
            </c:numRef>
          </c:val>
          <c:extLst>
            <c:ext xmlns:c16="http://schemas.microsoft.com/office/drawing/2014/chart" uri="{C3380CC4-5D6E-409C-BE32-E72D297353CC}">
              <c16:uniqueId val="{00000001-E06D-4EDB-B47E-EF404DE4DAD8}"/>
            </c:ext>
          </c:extLst>
        </c:ser>
        <c:ser>
          <c:idx val="2"/>
          <c:order val="2"/>
          <c:tx>
            <c:strRef>
              <c:f>Sheet1!$D$1</c:f>
              <c:strCache>
                <c:ptCount val="1"/>
                <c:pt idx="0">
                  <c:v>Not sure</c:v>
                </c:pt>
              </c:strCache>
            </c:strRef>
          </c:tx>
          <c:spPr>
            <a:solidFill>
              <a:schemeClr val="accent2">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Sheet1!$D$2:$D$12</c:f>
              <c:numCache>
                <c:formatCode>0%</c:formatCode>
                <c:ptCount val="11"/>
                <c:pt idx="0">
                  <c:v>0.08</c:v>
                </c:pt>
                <c:pt idx="1">
                  <c:v>0.08</c:v>
                </c:pt>
                <c:pt idx="2">
                  <c:v>7.0000000000000007E-2</c:v>
                </c:pt>
                <c:pt idx="3">
                  <c:v>0.08</c:v>
                </c:pt>
                <c:pt idx="4">
                  <c:v>0.04</c:v>
                </c:pt>
                <c:pt idx="5">
                  <c:v>0.13</c:v>
                </c:pt>
                <c:pt idx="6">
                  <c:v>0.03</c:v>
                </c:pt>
                <c:pt idx="7">
                  <c:v>0.17</c:v>
                </c:pt>
                <c:pt idx="8">
                  <c:v>0.04</c:v>
                </c:pt>
                <c:pt idx="9">
                  <c:v>7.0000000000000007E-2</c:v>
                </c:pt>
                <c:pt idx="10">
                  <c:v>0.08</c:v>
                </c:pt>
              </c:numCache>
            </c:numRef>
          </c:val>
          <c:extLst>
            <c:ext xmlns:c16="http://schemas.microsoft.com/office/drawing/2014/chart" uri="{C3380CC4-5D6E-409C-BE32-E72D297353CC}">
              <c16:uniqueId val="{00000002-E06D-4EDB-B47E-EF404DE4DAD8}"/>
            </c:ext>
          </c:extLst>
        </c:ser>
        <c:dLbls>
          <c:dLblPos val="ctr"/>
          <c:showLegendKey val="0"/>
          <c:showVal val="1"/>
          <c:showCatName val="0"/>
          <c:showSerName val="0"/>
          <c:showPercent val="0"/>
          <c:showBubbleSize val="0"/>
        </c:dLbls>
        <c:gapWidth val="100"/>
        <c:overlap val="100"/>
        <c:axId val="184411968"/>
        <c:axId val="187267840"/>
      </c:barChart>
      <c:catAx>
        <c:axId val="184411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87267840"/>
        <c:crosses val="autoZero"/>
        <c:auto val="1"/>
        <c:lblAlgn val="ctr"/>
        <c:lblOffset val="100"/>
        <c:noMultiLvlLbl val="0"/>
      </c:catAx>
      <c:valAx>
        <c:axId val="187267840"/>
        <c:scaling>
          <c:orientation val="minMax"/>
        </c:scaling>
        <c:delete val="1"/>
        <c:axPos val="l"/>
        <c:numFmt formatCode="0%" sourceLinked="1"/>
        <c:majorTickMark val="none"/>
        <c:minorTickMark val="none"/>
        <c:tickLblPos val="nextTo"/>
        <c:crossAx val="184411968"/>
        <c:crosses val="autoZero"/>
        <c:crossBetween val="between"/>
      </c:valAx>
      <c:spPr>
        <a:noFill/>
        <a:ln>
          <a:noFill/>
        </a:ln>
        <a:effectLst/>
      </c:spPr>
    </c:plotArea>
    <c:legend>
      <c:legendPos val="l"/>
      <c:layout>
        <c:manualLayout>
          <c:xMode val="edge"/>
          <c:yMode val="edge"/>
          <c:x val="7.8395061728395062E-3"/>
          <c:y val="0.10047055555555554"/>
          <c:w val="0.15562695460011852"/>
          <c:h val="0.79937638888888884"/>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
          <c:y val="0.19042273142869318"/>
          <c:w val="1"/>
          <c:h val="0.73480776028613948"/>
        </c:manualLayout>
      </c:layout>
      <c:barChart>
        <c:barDir val="col"/>
        <c:grouping val="clustered"/>
        <c:varyColors val="0"/>
        <c:ser>
          <c:idx val="0"/>
          <c:order val="0"/>
          <c:tx>
            <c:strRef>
              <c:f>Sheet1!$B$1</c:f>
              <c:strCache>
                <c:ptCount val="1"/>
                <c:pt idx="0">
                  <c:v>Mentoring and supporting female leaders in political and professional spaces</c:v>
                </c:pt>
              </c:strCache>
            </c:strRef>
          </c:tx>
          <c:spPr>
            <a:solidFill>
              <a:srgbClr val="802AB7"/>
            </a:solidFill>
            <a:ln w="6350">
              <a:solidFill>
                <a:srgbClr val="FFFFFF"/>
              </a:solidFill>
            </a:ln>
            <a:effectLst/>
          </c:spPr>
          <c:invertIfNegative val="0"/>
          <c:dPt>
            <c:idx val="0"/>
            <c:invertIfNegative val="0"/>
            <c:bubble3D val="0"/>
            <c:extLst>
              <c:ext xmlns:c16="http://schemas.microsoft.com/office/drawing/2014/chart" uri="{C3380CC4-5D6E-409C-BE32-E72D297353CC}">
                <c16:uniqueId val="{00000000-398A-4D4C-9AAF-B6FFED8251BD}"/>
              </c:ext>
            </c:extLst>
          </c:dPt>
          <c:dPt>
            <c:idx val="1"/>
            <c:invertIfNegative val="0"/>
            <c:bubble3D val="0"/>
            <c:extLst>
              <c:ext xmlns:c16="http://schemas.microsoft.com/office/drawing/2014/chart" uri="{C3380CC4-5D6E-409C-BE32-E72D297353CC}">
                <c16:uniqueId val="{00000001-398A-4D4C-9AAF-B6FFED8251BD}"/>
              </c:ext>
            </c:extLst>
          </c:dPt>
          <c:dPt>
            <c:idx val="2"/>
            <c:invertIfNegative val="0"/>
            <c:bubble3D val="0"/>
            <c:extLst>
              <c:ext xmlns:c16="http://schemas.microsoft.com/office/drawing/2014/chart" uri="{C3380CC4-5D6E-409C-BE32-E72D297353CC}">
                <c16:uniqueId val="{00000002-398A-4D4C-9AAF-B6FFED8251BD}"/>
              </c:ext>
            </c:extLst>
          </c:dPt>
          <c:dPt>
            <c:idx val="3"/>
            <c:invertIfNegative val="0"/>
            <c:bubble3D val="0"/>
            <c:extLst>
              <c:ext xmlns:c16="http://schemas.microsoft.com/office/drawing/2014/chart" uri="{C3380CC4-5D6E-409C-BE32-E72D297353CC}">
                <c16:uniqueId val="{00000003-398A-4D4C-9AAF-B6FFED8251BD}"/>
              </c:ext>
            </c:extLst>
          </c:dPt>
          <c:dPt>
            <c:idx val="4"/>
            <c:invertIfNegative val="0"/>
            <c:bubble3D val="0"/>
            <c:extLst>
              <c:ext xmlns:c16="http://schemas.microsoft.com/office/drawing/2014/chart" uri="{C3380CC4-5D6E-409C-BE32-E72D297353CC}">
                <c16:uniqueId val="{00000004-398A-4D4C-9AAF-B6FFED8251BD}"/>
              </c:ext>
            </c:extLst>
          </c:dPt>
          <c:dPt>
            <c:idx val="5"/>
            <c:invertIfNegative val="0"/>
            <c:bubble3D val="0"/>
            <c:extLst>
              <c:ext xmlns:c16="http://schemas.microsoft.com/office/drawing/2014/chart" uri="{C3380CC4-5D6E-409C-BE32-E72D297353CC}">
                <c16:uniqueId val="{00000005-398A-4D4C-9AAF-B6FFED8251BD}"/>
              </c:ext>
            </c:extLst>
          </c:dPt>
          <c:dPt>
            <c:idx val="6"/>
            <c:invertIfNegative val="0"/>
            <c:bubble3D val="0"/>
            <c:extLst>
              <c:ext xmlns:c16="http://schemas.microsoft.com/office/drawing/2014/chart" uri="{C3380CC4-5D6E-409C-BE32-E72D297353CC}">
                <c16:uniqueId val="{00000006-398A-4D4C-9AAF-B6FFED8251BD}"/>
              </c:ext>
            </c:extLst>
          </c:dPt>
          <c:dPt>
            <c:idx val="7"/>
            <c:invertIfNegative val="0"/>
            <c:bubble3D val="0"/>
            <c:extLst>
              <c:ext xmlns:c16="http://schemas.microsoft.com/office/drawing/2014/chart" uri="{C3380CC4-5D6E-409C-BE32-E72D297353CC}">
                <c16:uniqueId val="{00000007-398A-4D4C-9AAF-B6FFED8251BD}"/>
              </c:ext>
            </c:extLst>
          </c:dPt>
          <c:dPt>
            <c:idx val="8"/>
            <c:invertIfNegative val="0"/>
            <c:bubble3D val="0"/>
            <c:extLst>
              <c:ext xmlns:c16="http://schemas.microsoft.com/office/drawing/2014/chart" uri="{C3380CC4-5D6E-409C-BE32-E72D297353CC}">
                <c16:uniqueId val="{00000008-398A-4D4C-9AAF-B6FFED8251BD}"/>
              </c:ext>
            </c:extLst>
          </c:dPt>
          <c:dPt>
            <c:idx val="9"/>
            <c:invertIfNegative val="0"/>
            <c:bubble3D val="0"/>
            <c:extLst>
              <c:ext xmlns:c16="http://schemas.microsoft.com/office/drawing/2014/chart" uri="{C3380CC4-5D6E-409C-BE32-E72D297353CC}">
                <c16:uniqueId val="{00000009-398A-4D4C-9AAF-B6FFED8251BD}"/>
              </c:ext>
            </c:extLst>
          </c:dPt>
          <c:dPt>
            <c:idx val="10"/>
            <c:invertIfNegative val="0"/>
            <c:bubble3D val="0"/>
            <c:extLst>
              <c:ext xmlns:c16="http://schemas.microsoft.com/office/drawing/2014/chart" uri="{C3380CC4-5D6E-409C-BE32-E72D297353CC}">
                <c16:uniqueId val="{0000000A-398A-4D4C-9AAF-B6FFED8251BD}"/>
              </c:ext>
            </c:extLst>
          </c:dPt>
          <c:dPt>
            <c:idx val="11"/>
            <c:invertIfNegative val="0"/>
            <c:bubble3D val="0"/>
            <c:extLst>
              <c:ext xmlns:c16="http://schemas.microsoft.com/office/drawing/2014/chart" uri="{C3380CC4-5D6E-409C-BE32-E72D297353CC}">
                <c16:uniqueId val="{0000000B-398A-4D4C-9AAF-B6FFED8251BD}"/>
              </c:ext>
            </c:extLst>
          </c:dPt>
          <c:dPt>
            <c:idx val="12"/>
            <c:invertIfNegative val="0"/>
            <c:bubble3D val="0"/>
            <c:extLst>
              <c:ext xmlns:c16="http://schemas.microsoft.com/office/drawing/2014/chart" uri="{C3380CC4-5D6E-409C-BE32-E72D297353CC}">
                <c16:uniqueId val="{0000000C-398A-4D4C-9AAF-B6FFED8251BD}"/>
              </c:ext>
            </c:extLst>
          </c:dPt>
          <c:dLbls>
            <c:spPr>
              <a:noFill/>
              <a:ln>
                <a:noFill/>
              </a:ln>
              <a:effectLst/>
            </c:spPr>
            <c:txPr>
              <a:bodyPr/>
              <a:lstStyle/>
              <a:p>
                <a:pPr>
                  <a:defRPr sz="10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Sheet1!$B$2:$B$12</c:f>
              <c:numCache>
                <c:formatCode>0%</c:formatCode>
                <c:ptCount val="11"/>
                <c:pt idx="0">
                  <c:v>0.61</c:v>
                </c:pt>
                <c:pt idx="1">
                  <c:v>0.62</c:v>
                </c:pt>
                <c:pt idx="2">
                  <c:v>0.6</c:v>
                </c:pt>
                <c:pt idx="3">
                  <c:v>0.44</c:v>
                </c:pt>
                <c:pt idx="4">
                  <c:v>0.61</c:v>
                </c:pt>
                <c:pt idx="5">
                  <c:v>0.72</c:v>
                </c:pt>
                <c:pt idx="6">
                  <c:v>0.71</c:v>
                </c:pt>
                <c:pt idx="7">
                  <c:v>0.69</c:v>
                </c:pt>
                <c:pt idx="8">
                  <c:v>0.5</c:v>
                </c:pt>
                <c:pt idx="9">
                  <c:v>0.59</c:v>
                </c:pt>
                <c:pt idx="10">
                  <c:v>0.65</c:v>
                </c:pt>
              </c:numCache>
            </c:numRef>
          </c:val>
          <c:extLst>
            <c:ext xmlns:c16="http://schemas.microsoft.com/office/drawing/2014/chart" uri="{C3380CC4-5D6E-409C-BE32-E72D297353CC}">
              <c16:uniqueId val="{0000000D-398A-4D4C-9AAF-B6FFED8251BD}"/>
            </c:ext>
          </c:extLst>
        </c:ser>
        <c:ser>
          <c:idx val="1"/>
          <c:order val="1"/>
          <c:tx>
            <c:strRef>
              <c:f>Sheet1!$C$1</c:f>
              <c:strCache>
                <c:ptCount val="1"/>
                <c:pt idx="0">
                  <c:v>Advocating for policies that promote women’s leadership</c:v>
                </c:pt>
              </c:strCache>
            </c:strRef>
          </c:tx>
          <c:spPr>
            <a:solidFill>
              <a:srgbClr val="C700D3"/>
            </a:solidFill>
            <a:ln w="6350">
              <a:solidFill>
                <a:srgbClr val="FFFFFF"/>
              </a:solidFill>
            </a:ln>
          </c:spPr>
          <c:invertIfNegative val="0"/>
          <c:dLbls>
            <c:spPr>
              <a:noFill/>
              <a:ln>
                <a:noFill/>
              </a:ln>
              <a:effectLst/>
            </c:spPr>
            <c:txPr>
              <a:bodyPr/>
              <a:lstStyle/>
              <a:p>
                <a:pPr>
                  <a:defRPr sz="10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Sheet1!$C$2:$C$12</c:f>
              <c:numCache>
                <c:formatCode>0%</c:formatCode>
                <c:ptCount val="11"/>
                <c:pt idx="0">
                  <c:v>0.52</c:v>
                </c:pt>
                <c:pt idx="1">
                  <c:v>0.52</c:v>
                </c:pt>
                <c:pt idx="2">
                  <c:v>0.53</c:v>
                </c:pt>
                <c:pt idx="3">
                  <c:v>0.54</c:v>
                </c:pt>
                <c:pt idx="4">
                  <c:v>0.32</c:v>
                </c:pt>
                <c:pt idx="5">
                  <c:v>0.7</c:v>
                </c:pt>
                <c:pt idx="6">
                  <c:v>0.51</c:v>
                </c:pt>
                <c:pt idx="7">
                  <c:v>0.74</c:v>
                </c:pt>
                <c:pt idx="8">
                  <c:v>0.44</c:v>
                </c:pt>
                <c:pt idx="9">
                  <c:v>0.49</c:v>
                </c:pt>
                <c:pt idx="10">
                  <c:v>0.57999999999999996</c:v>
                </c:pt>
              </c:numCache>
            </c:numRef>
          </c:val>
          <c:extLst>
            <c:ext xmlns:c16="http://schemas.microsoft.com/office/drawing/2014/chart" uri="{C3380CC4-5D6E-409C-BE32-E72D297353CC}">
              <c16:uniqueId val="{0000000E-398A-4D4C-9AAF-B6FFED8251BD}"/>
            </c:ext>
          </c:extLst>
        </c:ser>
        <c:ser>
          <c:idx val="2"/>
          <c:order val="2"/>
          <c:tx>
            <c:strRef>
              <c:f>Sheet1!$D$1</c:f>
              <c:strCache>
                <c:ptCount val="1"/>
                <c:pt idx="0">
                  <c:v>Challenging gender stereotypes in leadership roles</c:v>
                </c:pt>
              </c:strCache>
            </c:strRef>
          </c:tx>
          <c:spPr>
            <a:solidFill>
              <a:srgbClr val="0060FF"/>
            </a:solidFill>
            <a:ln w="6350">
              <a:solidFill>
                <a:srgbClr val="FFFFFF"/>
              </a:solidFill>
            </a:ln>
          </c:spPr>
          <c:invertIfNegative val="0"/>
          <c:dLbls>
            <c:spPr>
              <a:noFill/>
              <a:ln>
                <a:noFill/>
              </a:ln>
              <a:effectLst/>
            </c:spPr>
            <c:txPr>
              <a:bodyPr/>
              <a:lstStyle/>
              <a:p>
                <a:pPr>
                  <a:defRPr sz="10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Sheet1!$D$2:$D$12</c:f>
              <c:numCache>
                <c:formatCode>0%</c:formatCode>
                <c:ptCount val="11"/>
                <c:pt idx="0">
                  <c:v>0.46</c:v>
                </c:pt>
                <c:pt idx="1">
                  <c:v>0.49</c:v>
                </c:pt>
                <c:pt idx="2">
                  <c:v>0.44</c:v>
                </c:pt>
                <c:pt idx="3">
                  <c:v>0.71</c:v>
                </c:pt>
                <c:pt idx="4">
                  <c:v>0.16</c:v>
                </c:pt>
                <c:pt idx="5">
                  <c:v>0.4</c:v>
                </c:pt>
                <c:pt idx="6">
                  <c:v>0.5</c:v>
                </c:pt>
                <c:pt idx="7">
                  <c:v>0.65</c:v>
                </c:pt>
                <c:pt idx="8">
                  <c:v>0.53</c:v>
                </c:pt>
                <c:pt idx="9">
                  <c:v>0.45</c:v>
                </c:pt>
                <c:pt idx="10">
                  <c:v>0.49</c:v>
                </c:pt>
              </c:numCache>
            </c:numRef>
          </c:val>
          <c:extLst>
            <c:ext xmlns:c16="http://schemas.microsoft.com/office/drawing/2014/chart" uri="{C3380CC4-5D6E-409C-BE32-E72D297353CC}">
              <c16:uniqueId val="{0000000F-398A-4D4C-9AAF-B6FFED8251BD}"/>
            </c:ext>
          </c:extLst>
        </c:ser>
        <c:ser>
          <c:idx val="3"/>
          <c:order val="3"/>
          <c:tx>
            <c:strRef>
              <c:f>Sheet1!$E$1</c:f>
              <c:strCache>
                <c:ptCount val="1"/>
                <c:pt idx="0">
                  <c:v>Encouraging equal participation at home and in decision-making</c:v>
                </c:pt>
              </c:strCache>
            </c:strRef>
          </c:tx>
          <c:invertIfNegative val="0"/>
          <c:dLbls>
            <c:spPr>
              <a:noFill/>
              <a:ln>
                <a:noFill/>
              </a:ln>
              <a:effectLst/>
            </c:spPr>
            <c:txPr>
              <a:bodyPr/>
              <a:lstStyle/>
              <a:p>
                <a:pPr>
                  <a:defRPr sz="10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Sheet1!$E$2:$E$12</c:f>
              <c:numCache>
                <c:formatCode>0%</c:formatCode>
                <c:ptCount val="11"/>
                <c:pt idx="0">
                  <c:v>0.44</c:v>
                </c:pt>
                <c:pt idx="1">
                  <c:v>0.42</c:v>
                </c:pt>
                <c:pt idx="2">
                  <c:v>0.46</c:v>
                </c:pt>
                <c:pt idx="3">
                  <c:v>0.36</c:v>
                </c:pt>
                <c:pt idx="4">
                  <c:v>0.79</c:v>
                </c:pt>
                <c:pt idx="5">
                  <c:v>0.24</c:v>
                </c:pt>
                <c:pt idx="6">
                  <c:v>0.22</c:v>
                </c:pt>
                <c:pt idx="7">
                  <c:v>0.8</c:v>
                </c:pt>
                <c:pt idx="8">
                  <c:v>0.32</c:v>
                </c:pt>
                <c:pt idx="9">
                  <c:v>0.43</c:v>
                </c:pt>
                <c:pt idx="10">
                  <c:v>0.47</c:v>
                </c:pt>
              </c:numCache>
            </c:numRef>
          </c:val>
          <c:extLst>
            <c:ext xmlns:c16="http://schemas.microsoft.com/office/drawing/2014/chart" uri="{C3380CC4-5D6E-409C-BE32-E72D297353CC}">
              <c16:uniqueId val="{00000010-398A-4D4C-9AAF-B6FFED8251BD}"/>
            </c:ext>
          </c:extLst>
        </c:ser>
        <c:dLbls>
          <c:dLblPos val="outEnd"/>
          <c:showLegendKey val="0"/>
          <c:showVal val="1"/>
          <c:showCatName val="0"/>
          <c:showSerName val="0"/>
          <c:showPercent val="0"/>
          <c:showBubbleSize val="0"/>
        </c:dLbls>
        <c:gapWidth val="250"/>
        <c:overlap val="-50"/>
        <c:axId val="351810248"/>
        <c:axId val="351810640"/>
      </c:barChart>
      <c:catAx>
        <c:axId val="351810248"/>
        <c:scaling>
          <c:orientation val="minMax"/>
        </c:scaling>
        <c:delete val="0"/>
        <c:axPos val="b"/>
        <c:numFmt formatCode="General" sourceLinked="1"/>
        <c:majorTickMark val="out"/>
        <c:minorTickMark val="none"/>
        <c:tickLblPos val="nextTo"/>
        <c:spPr>
          <a:noFill/>
          <a:ln w="9525" cap="flat" cmpd="sng" algn="ctr">
            <a:noFill/>
            <a:round/>
          </a:ln>
          <a:effectLst/>
        </c:spPr>
        <c:txPr>
          <a:bodyPr rot="-60000000" vert="horz"/>
          <a:lstStyle/>
          <a:p>
            <a:pPr>
              <a:defRPr/>
            </a:pPr>
            <a:endParaRPr lang="en-US"/>
          </a:p>
        </c:txPr>
        <c:crossAx val="351810640"/>
        <c:crosses val="autoZero"/>
        <c:auto val="1"/>
        <c:lblAlgn val="ctr"/>
        <c:lblOffset val="100"/>
        <c:noMultiLvlLbl val="0"/>
      </c:catAx>
      <c:valAx>
        <c:axId val="351810640"/>
        <c:scaling>
          <c:orientation val="minMax"/>
        </c:scaling>
        <c:delete val="1"/>
        <c:axPos val="l"/>
        <c:numFmt formatCode="0%" sourceLinked="1"/>
        <c:majorTickMark val="out"/>
        <c:minorTickMark val="none"/>
        <c:tickLblPos val="nextTo"/>
        <c:crossAx val="351810248"/>
        <c:crosses val="autoZero"/>
        <c:crossBetween val="between"/>
      </c:valAx>
      <c:spPr>
        <a:noFill/>
        <a:ln>
          <a:noFill/>
        </a:ln>
        <a:effectLst/>
      </c:spPr>
    </c:plotArea>
    <c:legend>
      <c:legendPos val="t"/>
      <c:layout>
        <c:manualLayout>
          <c:xMode val="edge"/>
          <c:yMode val="edge"/>
          <c:x val="1.2112985139694719E-2"/>
          <c:y val="2.7226249364303862E-3"/>
          <c:w val="0.98677434932721408"/>
          <c:h val="0.17146641505526625"/>
        </c:manualLayout>
      </c:layout>
      <c:overlay val="0"/>
    </c:legend>
    <c:plotVisOnly val="1"/>
    <c:dispBlanksAs val="gap"/>
    <c:showDLblsOverMax val="0"/>
  </c:chart>
  <c:spPr>
    <a:noFill/>
    <a:ln>
      <a:noFill/>
    </a:ln>
    <a:effectLst/>
  </c:spPr>
  <c:txPr>
    <a:bodyPr/>
    <a:lstStyle/>
    <a:p>
      <a:pPr>
        <a:defRPr sz="1200">
          <a:solidFill>
            <a:srgbClr val="333333"/>
          </a:solidFill>
          <a:latin typeface="+mn-lt"/>
        </a:defRPr>
      </a:pPr>
      <a:endParaRPr lang="en-US"/>
    </a:p>
  </c:txPr>
  <c:externalData r:id="rId2">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a:pPr>
            <a:r>
              <a:rPr lang="en-GB" dirty="0"/>
              <a:t>Proportion of Yes</a:t>
            </a:r>
          </a:p>
        </c:rich>
      </c:tx>
      <c:layout/>
      <c:overlay val="0"/>
    </c:title>
    <c:autoTitleDeleted val="0"/>
    <c:plotArea>
      <c:layout>
        <c:manualLayout>
          <c:layoutTarget val="inner"/>
          <c:xMode val="edge"/>
          <c:yMode val="edge"/>
          <c:x val="0"/>
          <c:y val="0.12616742550188501"/>
          <c:w val="1"/>
          <c:h val="0.80716492380228699"/>
        </c:manualLayout>
      </c:layout>
      <c:lineChart>
        <c:grouping val="standard"/>
        <c:varyColors val="0"/>
        <c:ser>
          <c:idx val="0"/>
          <c:order val="0"/>
          <c:tx>
            <c:strRef>
              <c:f>Sheet1!$B$1</c:f>
              <c:strCache>
                <c:ptCount val="1"/>
                <c:pt idx="0">
                  <c:v>Local Government Chairman</c:v>
                </c:pt>
              </c:strCache>
            </c:strRef>
          </c:tx>
          <c:spPr>
            <a:ln w="25400">
              <a:solidFill>
                <a:srgbClr val="ED7D31"/>
              </a:solidFill>
            </a:ln>
            <a:effectLst/>
          </c:spPr>
          <c:marker>
            <c:symbol val="none"/>
          </c:marker>
          <c:dPt>
            <c:idx val="0"/>
            <c:bubble3D val="0"/>
            <c:extLst>
              <c:ext xmlns:c16="http://schemas.microsoft.com/office/drawing/2014/chart" uri="{C3380CC4-5D6E-409C-BE32-E72D297353CC}">
                <c16:uniqueId val="{00000000-398A-4D4C-9AAF-B6FFED8251BD}"/>
              </c:ext>
            </c:extLst>
          </c:dPt>
          <c:dPt>
            <c:idx val="1"/>
            <c:bubble3D val="0"/>
            <c:extLst>
              <c:ext xmlns:c16="http://schemas.microsoft.com/office/drawing/2014/chart" uri="{C3380CC4-5D6E-409C-BE32-E72D297353CC}">
                <c16:uniqueId val="{00000001-398A-4D4C-9AAF-B6FFED8251BD}"/>
              </c:ext>
            </c:extLst>
          </c:dPt>
          <c:dPt>
            <c:idx val="2"/>
            <c:bubble3D val="0"/>
            <c:extLst>
              <c:ext xmlns:c16="http://schemas.microsoft.com/office/drawing/2014/chart" uri="{C3380CC4-5D6E-409C-BE32-E72D297353CC}">
                <c16:uniqueId val="{00000002-398A-4D4C-9AAF-B6FFED8251BD}"/>
              </c:ext>
            </c:extLst>
          </c:dPt>
          <c:dPt>
            <c:idx val="3"/>
            <c:bubble3D val="0"/>
            <c:extLst>
              <c:ext xmlns:c16="http://schemas.microsoft.com/office/drawing/2014/chart" uri="{C3380CC4-5D6E-409C-BE32-E72D297353CC}">
                <c16:uniqueId val="{00000003-398A-4D4C-9AAF-B6FFED8251BD}"/>
              </c:ext>
            </c:extLst>
          </c:dPt>
          <c:dPt>
            <c:idx val="4"/>
            <c:bubble3D val="0"/>
            <c:extLst>
              <c:ext xmlns:c16="http://schemas.microsoft.com/office/drawing/2014/chart" uri="{C3380CC4-5D6E-409C-BE32-E72D297353CC}">
                <c16:uniqueId val="{00000004-398A-4D4C-9AAF-B6FFED8251BD}"/>
              </c:ext>
            </c:extLst>
          </c:dPt>
          <c:dPt>
            <c:idx val="5"/>
            <c:bubble3D val="0"/>
            <c:extLst>
              <c:ext xmlns:c16="http://schemas.microsoft.com/office/drawing/2014/chart" uri="{C3380CC4-5D6E-409C-BE32-E72D297353CC}">
                <c16:uniqueId val="{00000005-398A-4D4C-9AAF-B6FFED8251BD}"/>
              </c:ext>
            </c:extLst>
          </c:dPt>
          <c:dPt>
            <c:idx val="6"/>
            <c:bubble3D val="0"/>
            <c:extLst>
              <c:ext xmlns:c16="http://schemas.microsoft.com/office/drawing/2014/chart" uri="{C3380CC4-5D6E-409C-BE32-E72D297353CC}">
                <c16:uniqueId val="{00000006-398A-4D4C-9AAF-B6FFED8251BD}"/>
              </c:ext>
            </c:extLst>
          </c:dPt>
          <c:dPt>
            <c:idx val="7"/>
            <c:bubble3D val="0"/>
            <c:extLst>
              <c:ext xmlns:c16="http://schemas.microsoft.com/office/drawing/2014/chart" uri="{C3380CC4-5D6E-409C-BE32-E72D297353CC}">
                <c16:uniqueId val="{00000007-398A-4D4C-9AAF-B6FFED8251BD}"/>
              </c:ext>
            </c:extLst>
          </c:dPt>
          <c:dPt>
            <c:idx val="8"/>
            <c:bubble3D val="0"/>
            <c:extLst>
              <c:ext xmlns:c16="http://schemas.microsoft.com/office/drawing/2014/chart" uri="{C3380CC4-5D6E-409C-BE32-E72D297353CC}">
                <c16:uniqueId val="{00000008-398A-4D4C-9AAF-B6FFED8251BD}"/>
              </c:ext>
            </c:extLst>
          </c:dPt>
          <c:dPt>
            <c:idx val="9"/>
            <c:bubble3D val="0"/>
            <c:extLst>
              <c:ext xmlns:c16="http://schemas.microsoft.com/office/drawing/2014/chart" uri="{C3380CC4-5D6E-409C-BE32-E72D297353CC}">
                <c16:uniqueId val="{00000009-398A-4D4C-9AAF-B6FFED8251BD}"/>
              </c:ext>
            </c:extLst>
          </c:dPt>
          <c:dPt>
            <c:idx val="10"/>
            <c:bubble3D val="0"/>
            <c:extLst>
              <c:ext xmlns:c16="http://schemas.microsoft.com/office/drawing/2014/chart" uri="{C3380CC4-5D6E-409C-BE32-E72D297353CC}">
                <c16:uniqueId val="{0000000A-398A-4D4C-9AAF-B6FFED8251BD}"/>
              </c:ext>
            </c:extLst>
          </c:dPt>
          <c:dPt>
            <c:idx val="11"/>
            <c:bubble3D val="0"/>
            <c:extLst>
              <c:ext xmlns:c16="http://schemas.microsoft.com/office/drawing/2014/chart" uri="{C3380CC4-5D6E-409C-BE32-E72D297353CC}">
                <c16:uniqueId val="{0000000B-398A-4D4C-9AAF-B6FFED8251BD}"/>
              </c:ext>
            </c:extLst>
          </c:dPt>
          <c:dPt>
            <c:idx val="12"/>
            <c:bubble3D val="0"/>
            <c:extLst>
              <c:ext xmlns:c16="http://schemas.microsoft.com/office/drawing/2014/chart" uri="{C3380CC4-5D6E-409C-BE32-E72D297353CC}">
                <c16:uniqueId val="{0000000C-398A-4D4C-9AAF-B6FFED8251BD}"/>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Sheet1!$B$2:$B$12</c:f>
              <c:numCache>
                <c:formatCode>0%</c:formatCode>
                <c:ptCount val="11"/>
                <c:pt idx="0">
                  <c:v>0.02</c:v>
                </c:pt>
                <c:pt idx="1">
                  <c:v>0.03</c:v>
                </c:pt>
                <c:pt idx="2">
                  <c:v>0.01</c:v>
                </c:pt>
                <c:pt idx="3">
                  <c:v>0.01</c:v>
                </c:pt>
                <c:pt idx="4">
                  <c:v>0.01</c:v>
                </c:pt>
                <c:pt idx="5">
                  <c:v>0.06</c:v>
                </c:pt>
                <c:pt idx="6">
                  <c:v>0.01</c:v>
                </c:pt>
                <c:pt idx="7">
                  <c:v>0.01</c:v>
                </c:pt>
                <c:pt idx="8">
                  <c:v>0</c:v>
                </c:pt>
                <c:pt idx="9">
                  <c:v>0.02</c:v>
                </c:pt>
                <c:pt idx="10">
                  <c:v>0.01</c:v>
                </c:pt>
              </c:numCache>
            </c:numRef>
          </c:val>
          <c:smooth val="0"/>
          <c:extLst>
            <c:ext xmlns:c16="http://schemas.microsoft.com/office/drawing/2014/chart" uri="{C3380CC4-5D6E-409C-BE32-E72D297353CC}">
              <c16:uniqueId val="{0000000D-398A-4D4C-9AAF-B6FFED8251BD}"/>
            </c:ext>
          </c:extLst>
        </c:ser>
        <c:ser>
          <c:idx val="1"/>
          <c:order val="1"/>
          <c:tx>
            <c:strRef>
              <c:f>Sheet1!$C$1</c:f>
              <c:strCache>
                <c:ptCount val="1"/>
                <c:pt idx="0">
                  <c:v>Governor</c:v>
                </c:pt>
              </c:strCache>
            </c:strRef>
          </c:tx>
          <c:spPr>
            <a:ln w="25400">
              <a:solidFill>
                <a:srgbClr val="00B0F0"/>
              </a:solidFill>
            </a:ln>
          </c:spPr>
          <c:marker>
            <c:symbol val="none"/>
          </c:marker>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Sheet1!$C$2:$C$12</c:f>
              <c:numCache>
                <c:formatCode>0%</c:formatCode>
                <c:ptCount val="11"/>
                <c:pt idx="0">
                  <c:v>0.04</c:v>
                </c:pt>
                <c:pt idx="1">
                  <c:v>7.0000000000000007E-2</c:v>
                </c:pt>
                <c:pt idx="2">
                  <c:v>0.02</c:v>
                </c:pt>
                <c:pt idx="3">
                  <c:v>0.01</c:v>
                </c:pt>
                <c:pt idx="4">
                  <c:v>0.02</c:v>
                </c:pt>
                <c:pt idx="5">
                  <c:v>0.17</c:v>
                </c:pt>
                <c:pt idx="6">
                  <c:v>0.02</c:v>
                </c:pt>
                <c:pt idx="7">
                  <c:v>0.01</c:v>
                </c:pt>
                <c:pt idx="8">
                  <c:v>0.01</c:v>
                </c:pt>
                <c:pt idx="9">
                  <c:v>0.04</c:v>
                </c:pt>
                <c:pt idx="10">
                  <c:v>0.04</c:v>
                </c:pt>
              </c:numCache>
            </c:numRef>
          </c:val>
          <c:smooth val="0"/>
          <c:extLst>
            <c:ext xmlns:c16="http://schemas.microsoft.com/office/drawing/2014/chart" uri="{C3380CC4-5D6E-409C-BE32-E72D297353CC}">
              <c16:uniqueId val="{0000000E-398A-4D4C-9AAF-B6FFED8251BD}"/>
            </c:ext>
          </c:extLst>
        </c:ser>
        <c:ser>
          <c:idx val="2"/>
          <c:order val="2"/>
          <c:tx>
            <c:strRef>
              <c:f>Sheet1!$D$1</c:f>
              <c:strCache>
                <c:ptCount val="1"/>
                <c:pt idx="0">
                  <c:v>State House of Assembly Member</c:v>
                </c:pt>
              </c:strCache>
            </c:strRef>
          </c:tx>
          <c:spPr>
            <a:ln w="25400">
              <a:solidFill>
                <a:srgbClr val="FFC000">
                  <a:lumMod val="75000"/>
                </a:srgbClr>
              </a:solidFill>
            </a:ln>
          </c:spPr>
          <c:marker>
            <c:symbol val="none"/>
          </c:marker>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Sheet1!$D$2:$D$12</c:f>
              <c:numCache>
                <c:formatCode>0%</c:formatCode>
                <c:ptCount val="11"/>
                <c:pt idx="0">
                  <c:v>0.01</c:v>
                </c:pt>
                <c:pt idx="1">
                  <c:v>0.02</c:v>
                </c:pt>
                <c:pt idx="2">
                  <c:v>0.01</c:v>
                </c:pt>
                <c:pt idx="3">
                  <c:v>0.01</c:v>
                </c:pt>
                <c:pt idx="4">
                  <c:v>0.01</c:v>
                </c:pt>
                <c:pt idx="5">
                  <c:v>0.04</c:v>
                </c:pt>
                <c:pt idx="6">
                  <c:v>0.01</c:v>
                </c:pt>
                <c:pt idx="7">
                  <c:v>0.01</c:v>
                </c:pt>
                <c:pt idx="8">
                  <c:v>0</c:v>
                </c:pt>
                <c:pt idx="9">
                  <c:v>0.02</c:v>
                </c:pt>
                <c:pt idx="10">
                  <c:v>0.01</c:v>
                </c:pt>
              </c:numCache>
            </c:numRef>
          </c:val>
          <c:smooth val="0"/>
          <c:extLst>
            <c:ext xmlns:c16="http://schemas.microsoft.com/office/drawing/2014/chart" uri="{C3380CC4-5D6E-409C-BE32-E72D297353CC}">
              <c16:uniqueId val="{0000000F-398A-4D4C-9AAF-B6FFED8251BD}"/>
            </c:ext>
          </c:extLst>
        </c:ser>
        <c:ser>
          <c:idx val="3"/>
          <c:order val="3"/>
          <c:tx>
            <c:strRef>
              <c:f>Sheet1!$E$1</c:f>
              <c:strCache>
                <c:ptCount val="1"/>
                <c:pt idx="0">
                  <c:v>House of Representatives Member</c:v>
                </c:pt>
              </c:strCache>
            </c:strRef>
          </c:tx>
          <c:spPr>
            <a:ln w="25400"/>
          </c:spPr>
          <c:marker>
            <c:symbol val="none"/>
          </c:marker>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Sheet1!$E$2:$E$12</c:f>
              <c:numCache>
                <c:formatCode>0%</c:formatCode>
                <c:ptCount val="11"/>
                <c:pt idx="0">
                  <c:v>0.02</c:v>
                </c:pt>
                <c:pt idx="1">
                  <c:v>0.03</c:v>
                </c:pt>
                <c:pt idx="2">
                  <c:v>0.01</c:v>
                </c:pt>
                <c:pt idx="3">
                  <c:v>0.02</c:v>
                </c:pt>
                <c:pt idx="4">
                  <c:v>0.01</c:v>
                </c:pt>
                <c:pt idx="5">
                  <c:v>7.0000000000000007E-2</c:v>
                </c:pt>
                <c:pt idx="6">
                  <c:v>0.02</c:v>
                </c:pt>
                <c:pt idx="7">
                  <c:v>0</c:v>
                </c:pt>
                <c:pt idx="8">
                  <c:v>0</c:v>
                </c:pt>
                <c:pt idx="9">
                  <c:v>0.02</c:v>
                </c:pt>
                <c:pt idx="10">
                  <c:v>0.02</c:v>
                </c:pt>
              </c:numCache>
            </c:numRef>
          </c:val>
          <c:smooth val="0"/>
          <c:extLst>
            <c:ext xmlns:c16="http://schemas.microsoft.com/office/drawing/2014/chart" uri="{C3380CC4-5D6E-409C-BE32-E72D297353CC}">
              <c16:uniqueId val="{00000010-398A-4D4C-9AAF-B6FFED8251BD}"/>
            </c:ext>
          </c:extLst>
        </c:ser>
        <c:ser>
          <c:idx val="4"/>
          <c:order val="4"/>
          <c:tx>
            <c:strRef>
              <c:f>Sheet1!$F$1</c:f>
              <c:strCache>
                <c:ptCount val="1"/>
                <c:pt idx="0">
                  <c:v>House of Representatives Member2</c:v>
                </c:pt>
              </c:strCache>
            </c:strRef>
          </c:tx>
          <c:spPr>
            <a:ln w="25400"/>
          </c:spPr>
          <c:marker>
            <c:symbol val="none"/>
          </c:marker>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Sheet1!$F$2:$F$12</c:f>
              <c:numCache>
                <c:formatCode>0%</c:formatCode>
                <c:ptCount val="11"/>
                <c:pt idx="0">
                  <c:v>0.02</c:v>
                </c:pt>
                <c:pt idx="1">
                  <c:v>0.03</c:v>
                </c:pt>
                <c:pt idx="2">
                  <c:v>0.01</c:v>
                </c:pt>
                <c:pt idx="3">
                  <c:v>0.02</c:v>
                </c:pt>
                <c:pt idx="4">
                  <c:v>0</c:v>
                </c:pt>
                <c:pt idx="5">
                  <c:v>0.06</c:v>
                </c:pt>
                <c:pt idx="6">
                  <c:v>0.02</c:v>
                </c:pt>
                <c:pt idx="7">
                  <c:v>0</c:v>
                </c:pt>
                <c:pt idx="8">
                  <c:v>0</c:v>
                </c:pt>
                <c:pt idx="9">
                  <c:v>0.02</c:v>
                </c:pt>
                <c:pt idx="10">
                  <c:v>0.01</c:v>
                </c:pt>
              </c:numCache>
            </c:numRef>
          </c:val>
          <c:smooth val="0"/>
          <c:extLst>
            <c:ext xmlns:c16="http://schemas.microsoft.com/office/drawing/2014/chart" uri="{C3380CC4-5D6E-409C-BE32-E72D297353CC}">
              <c16:uniqueId val="{00000011-398A-4D4C-9AAF-B6FFED8251BD}"/>
            </c:ext>
          </c:extLst>
        </c:ser>
        <c:ser>
          <c:idx val="5"/>
          <c:order val="5"/>
          <c:tx>
            <c:strRef>
              <c:f>Sheet1!$G$1</c:f>
              <c:strCache>
                <c:ptCount val="1"/>
                <c:pt idx="0">
                  <c:v>President</c:v>
                </c:pt>
              </c:strCache>
            </c:strRef>
          </c:tx>
          <c:spPr>
            <a:ln w="25400"/>
          </c:spPr>
          <c:marker>
            <c:symbol val="none"/>
          </c:marker>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Sheet1!$A$2:$A$12</c:f>
              <c:strCache>
                <c:ptCount val="11"/>
                <c:pt idx="0">
                  <c:v>Total</c:v>
                </c:pt>
                <c:pt idx="1">
                  <c:v>Male</c:v>
                </c:pt>
                <c:pt idx="2">
                  <c:v>Female</c:v>
                </c:pt>
                <c:pt idx="3">
                  <c:v>FCT</c:v>
                </c:pt>
                <c:pt idx="4">
                  <c:v>Bauchi</c:v>
                </c:pt>
                <c:pt idx="5">
                  <c:v>Kano</c:v>
                </c:pt>
                <c:pt idx="6">
                  <c:v>Enugu</c:v>
                </c:pt>
                <c:pt idx="7">
                  <c:v>Edo</c:v>
                </c:pt>
                <c:pt idx="8">
                  <c:v>Lagos</c:v>
                </c:pt>
                <c:pt idx="9">
                  <c:v>Urban</c:v>
                </c:pt>
                <c:pt idx="10">
                  <c:v>Rural</c:v>
                </c:pt>
              </c:strCache>
            </c:strRef>
          </c:cat>
          <c:val>
            <c:numRef>
              <c:f>Sheet1!$G$2:$G$12</c:f>
              <c:numCache>
                <c:formatCode>0%</c:formatCode>
                <c:ptCount val="11"/>
                <c:pt idx="0">
                  <c:v>7.0000000000000007E-2</c:v>
                </c:pt>
                <c:pt idx="1">
                  <c:v>0.11</c:v>
                </c:pt>
                <c:pt idx="2">
                  <c:v>0.03</c:v>
                </c:pt>
                <c:pt idx="3">
                  <c:v>0.01</c:v>
                </c:pt>
                <c:pt idx="4">
                  <c:v>0.03</c:v>
                </c:pt>
                <c:pt idx="5">
                  <c:v>0.26</c:v>
                </c:pt>
                <c:pt idx="6">
                  <c:v>0.05</c:v>
                </c:pt>
                <c:pt idx="7">
                  <c:v>0.04</c:v>
                </c:pt>
                <c:pt idx="8">
                  <c:v>0.01</c:v>
                </c:pt>
                <c:pt idx="9">
                  <c:v>7.0000000000000007E-2</c:v>
                </c:pt>
                <c:pt idx="10">
                  <c:v>7.0000000000000007E-2</c:v>
                </c:pt>
              </c:numCache>
            </c:numRef>
          </c:val>
          <c:smooth val="0"/>
          <c:extLst>
            <c:ext xmlns:c16="http://schemas.microsoft.com/office/drawing/2014/chart" uri="{C3380CC4-5D6E-409C-BE32-E72D297353CC}">
              <c16:uniqueId val="{00000000-C5C4-4909-92E8-3BC21CA8DB56}"/>
            </c:ext>
          </c:extLst>
        </c:ser>
        <c:dLbls>
          <c:showLegendKey val="0"/>
          <c:showVal val="1"/>
          <c:showCatName val="0"/>
          <c:showSerName val="0"/>
          <c:showPercent val="0"/>
          <c:showBubbleSize val="0"/>
        </c:dLbls>
        <c:smooth val="0"/>
        <c:axId val="351810248"/>
        <c:axId val="351810640"/>
      </c:lineChart>
      <c:catAx>
        <c:axId val="351810248"/>
        <c:scaling>
          <c:orientation val="minMax"/>
        </c:scaling>
        <c:delete val="0"/>
        <c:axPos val="b"/>
        <c:numFmt formatCode="General" sourceLinked="1"/>
        <c:majorTickMark val="out"/>
        <c:minorTickMark val="none"/>
        <c:tickLblPos val="nextTo"/>
        <c:spPr>
          <a:noFill/>
          <a:ln w="9525" cap="flat" cmpd="sng" algn="ctr">
            <a:noFill/>
            <a:round/>
          </a:ln>
          <a:effectLst/>
        </c:spPr>
        <c:txPr>
          <a:bodyPr rot="-60000000" vert="horz"/>
          <a:lstStyle/>
          <a:p>
            <a:pPr>
              <a:defRPr/>
            </a:pPr>
            <a:endParaRPr lang="en-US"/>
          </a:p>
        </c:txPr>
        <c:crossAx val="351810640"/>
        <c:crosses val="autoZero"/>
        <c:auto val="1"/>
        <c:lblAlgn val="ctr"/>
        <c:lblOffset val="100"/>
        <c:noMultiLvlLbl val="0"/>
      </c:catAx>
      <c:valAx>
        <c:axId val="351810640"/>
        <c:scaling>
          <c:orientation val="minMax"/>
        </c:scaling>
        <c:delete val="1"/>
        <c:axPos val="l"/>
        <c:numFmt formatCode="0%" sourceLinked="1"/>
        <c:majorTickMark val="out"/>
        <c:minorTickMark val="none"/>
        <c:tickLblPos val="nextTo"/>
        <c:crossAx val="351810248"/>
        <c:crosses val="autoZero"/>
        <c:crossBetween val="between"/>
      </c:valAx>
      <c:spPr>
        <a:noFill/>
        <a:ln>
          <a:noFill/>
        </a:ln>
        <a:effectLst/>
      </c:spPr>
    </c:plotArea>
    <c:legend>
      <c:legendPos val="t"/>
      <c:layout>
        <c:manualLayout>
          <c:xMode val="edge"/>
          <c:yMode val="edge"/>
          <c:x val="1.3225650672785918E-2"/>
          <c:y val="6.8787957530915336E-2"/>
          <c:w val="0.66696720317588032"/>
          <c:h val="0.12428803890497517"/>
        </c:manualLayout>
      </c:layout>
      <c:overlay val="0"/>
    </c:legend>
    <c:plotVisOnly val="1"/>
    <c:dispBlanksAs val="gap"/>
    <c:showDLblsOverMax val="0"/>
  </c:chart>
  <c:spPr>
    <a:noFill/>
    <a:ln>
      <a:noFill/>
    </a:ln>
    <a:effectLst/>
  </c:spPr>
  <c:txPr>
    <a:bodyPr/>
    <a:lstStyle/>
    <a:p>
      <a:pPr>
        <a:defRPr sz="1200">
          <a:solidFill>
            <a:srgbClr val="333333"/>
          </a:solidFill>
          <a:latin typeface="+mn-lt"/>
        </a:defRPr>
      </a:pPr>
      <a:endParaRPr lang="en-US"/>
    </a:p>
  </c:txPr>
  <c:externalData r:id="rId2">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9.xml><?xml version="1.0" encoding="utf-8"?>
<cs:colorStyle xmlns:cs="http://schemas.microsoft.com/office/drawing/2012/chartStyle" xmlns:a="http://schemas.openxmlformats.org/drawingml/2006/main" meth="withinLinear" id="16">
  <a:schemeClr val="accent3"/>
</cs:colorStyle>
</file>

<file path=ppt/charts/colors40.xml><?xml version="1.0" encoding="utf-8"?>
<cs:colorStyle xmlns:cs="http://schemas.microsoft.com/office/drawing/2012/chartStyle" xmlns:a="http://schemas.openxmlformats.org/drawingml/2006/main" meth="withinLinear" id="16">
  <a:schemeClr val="accent3"/>
</cs:colorStyle>
</file>

<file path=ppt/charts/colors41.xml><?xml version="1.0" encoding="utf-8"?>
<cs:colorStyle xmlns:cs="http://schemas.microsoft.com/office/drawing/2012/chartStyle" xmlns:a="http://schemas.openxmlformats.org/drawingml/2006/main" meth="withinLinear" id="16">
  <a:schemeClr val="accent3"/>
</cs:colorStyle>
</file>

<file path=ppt/charts/colors42.xml><?xml version="1.0" encoding="utf-8"?>
<cs:colorStyle xmlns:cs="http://schemas.microsoft.com/office/drawing/2012/chartStyle" xmlns:a="http://schemas.openxmlformats.org/drawingml/2006/main" meth="withinLinear" id="16">
  <a:schemeClr val="accent3"/>
</cs:colorStyle>
</file>

<file path=ppt/charts/colors43.xml><?xml version="1.0" encoding="utf-8"?>
<cs:colorStyle xmlns:cs="http://schemas.microsoft.com/office/drawing/2012/chartStyle" xmlns:a="http://schemas.openxmlformats.org/drawingml/2006/main" meth="withinLinear" id="16">
  <a:schemeClr val="accent3"/>
</cs:colorStyle>
</file>

<file path=ppt/charts/colors44.xml><?xml version="1.0" encoding="utf-8"?>
<cs:colorStyle xmlns:cs="http://schemas.microsoft.com/office/drawing/2012/chartStyle" xmlns:a="http://schemas.openxmlformats.org/drawingml/2006/main" meth="withinLinear" id="15">
  <a:schemeClr val="accent2"/>
</cs:colorStyle>
</file>

<file path=ppt/charts/colors4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7.xml><?xml version="1.0" encoding="utf-8"?>
<cs:colorStyle xmlns:cs="http://schemas.microsoft.com/office/drawing/2012/chartStyle" xmlns:a="http://schemas.openxmlformats.org/drawingml/2006/main" meth="withinLinear" id="15">
  <a:schemeClr val="accent2"/>
</cs:colorStyle>
</file>

<file path=ppt/charts/colors48.xml><?xml version="1.0" encoding="utf-8"?>
<cs:colorStyle xmlns:cs="http://schemas.microsoft.com/office/drawing/2012/chartStyle" xmlns:a="http://schemas.openxmlformats.org/drawingml/2006/main" meth="withinLinear" id="15">
  <a:schemeClr val="accent2"/>
</cs:colorStyle>
</file>

<file path=ppt/charts/colors4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0.xml><?xml version="1.0" encoding="utf-8"?>
<cs:colorStyle xmlns:cs="http://schemas.microsoft.com/office/drawing/2012/chartStyle" xmlns:a="http://schemas.openxmlformats.org/drawingml/2006/main" meth="withinLinear" id="15">
  <a:schemeClr val="accent2"/>
</cs:colorStyle>
</file>

<file path=ppt/charts/colors5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2.xml><?xml version="1.0" encoding="utf-8"?>
<cs:colorStyle xmlns:cs="http://schemas.microsoft.com/office/drawing/2012/chartStyle" xmlns:a="http://schemas.openxmlformats.org/drawingml/2006/main" meth="withinLinear" id="16">
  <a:schemeClr val="accent3"/>
</cs:colorStyle>
</file>

<file path=ppt/charts/colors53.xml><?xml version="1.0" encoding="utf-8"?>
<cs:colorStyle xmlns:cs="http://schemas.microsoft.com/office/drawing/2012/chartStyle" xmlns:a="http://schemas.openxmlformats.org/drawingml/2006/main" meth="withinLinear" id="15">
  <a:schemeClr val="accent2"/>
</cs:colorStyle>
</file>

<file path=ppt/charts/colors5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3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1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8.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1_Basic Layout">
    <p:bg>
      <p:bgPr>
        <a:solidFill>
          <a:schemeClr val="bg1"/>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8347E771-EB9F-4EB8-2EA9-A987D8CFAD87}"/>
              </a:ext>
            </a:extLst>
          </p:cNvPr>
          <p:cNvCxnSpPr/>
          <p:nvPr userDrawn="1"/>
        </p:nvCxnSpPr>
        <p:spPr>
          <a:xfrm>
            <a:off x="0" y="6087291"/>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CAC7338-2D9C-CC2E-67E8-BC0F7780F8B7}"/>
              </a:ext>
            </a:extLst>
          </p:cNvPr>
          <p:cNvCxnSpPr>
            <a:cxnSpLocks/>
          </p:cNvCxnSpPr>
          <p:nvPr userDrawn="1"/>
        </p:nvCxnSpPr>
        <p:spPr>
          <a:xfrm>
            <a:off x="655950" y="6234099"/>
            <a:ext cx="0" cy="40763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40227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1_Basic Layout">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0858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Image slide layout">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EB4B8690-C2B1-47A4-B862-E0A11E36324B}"/>
              </a:ext>
            </a:extLst>
          </p:cNvPr>
          <p:cNvSpPr/>
          <p:nvPr userDrawn="1"/>
        </p:nvSpPr>
        <p:spPr>
          <a:xfrm>
            <a:off x="-72829" y="-120964"/>
            <a:ext cx="7099930" cy="709992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Picture Placeholder 16">
            <a:extLst>
              <a:ext uri="{FF2B5EF4-FFF2-40B4-BE49-F238E27FC236}">
                <a16:creationId xmlns:a16="http://schemas.microsoft.com/office/drawing/2014/main" id="{59F91C3C-C84D-45C7-BD4D-E34DF3A7CA15}"/>
              </a:ext>
            </a:extLst>
          </p:cNvPr>
          <p:cNvSpPr>
            <a:spLocks noGrp="1"/>
          </p:cNvSpPr>
          <p:nvPr>
            <p:ph type="pic" sz="quarter" idx="15" hasCustomPrompt="1"/>
          </p:nvPr>
        </p:nvSpPr>
        <p:spPr>
          <a:xfrm>
            <a:off x="872608" y="3531407"/>
            <a:ext cx="4212569" cy="3029626"/>
          </a:xfrm>
          <a:custGeom>
            <a:avLst/>
            <a:gdLst>
              <a:gd name="connsiteX0" fmla="*/ 2587894 w 4212569"/>
              <a:gd name="connsiteY0" fmla="*/ 0 h 3029626"/>
              <a:gd name="connsiteX1" fmla="*/ 4212569 w 4212569"/>
              <a:gd name="connsiteY1" fmla="*/ 2581665 h 3029626"/>
              <a:gd name="connsiteX2" fmla="*/ 4097442 w 4212569"/>
              <a:gd name="connsiteY2" fmla="*/ 2651607 h 3029626"/>
              <a:gd name="connsiteX3" fmla="*/ 2604529 w 4212569"/>
              <a:gd name="connsiteY3" fmla="*/ 3029626 h 3029626"/>
              <a:gd name="connsiteX4" fmla="*/ 7398 w 4212569"/>
              <a:gd name="connsiteY4" fmla="*/ 1648743 h 3029626"/>
              <a:gd name="connsiteX5" fmla="*/ 0 w 4212569"/>
              <a:gd name="connsiteY5" fmla="*/ 1636566 h 3029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12569" h="3029626">
                <a:moveTo>
                  <a:pt x="2587894" y="0"/>
                </a:moveTo>
                <a:lnTo>
                  <a:pt x="4212569" y="2581665"/>
                </a:lnTo>
                <a:lnTo>
                  <a:pt x="4097442" y="2651607"/>
                </a:lnTo>
                <a:cubicBezTo>
                  <a:pt x="3653654" y="2892687"/>
                  <a:pt x="3145083" y="3029626"/>
                  <a:pt x="2604529" y="3029626"/>
                </a:cubicBezTo>
                <a:cubicBezTo>
                  <a:pt x="1523420" y="3029626"/>
                  <a:pt x="570247" y="2481869"/>
                  <a:pt x="7398" y="1648743"/>
                </a:cubicBezTo>
                <a:lnTo>
                  <a:pt x="0" y="1636566"/>
                </a:lnTo>
                <a:close/>
              </a:path>
            </a:pathLst>
          </a:cu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lgn="ctr">
              <a:buNone/>
              <a:defRPr lang="ko-KR" altLang="en-US" sz="1600" dirty="0">
                <a:solidFill>
                  <a:schemeClr val="tx1">
                    <a:lumMod val="75000"/>
                    <a:lumOff val="25000"/>
                  </a:schemeClr>
                </a:solidFill>
              </a:defRPr>
            </a:lvl1pPr>
          </a:lstStyle>
          <a:p>
            <a:pPr marL="0" lvl="0" algn="ctr"/>
            <a:r>
              <a:rPr lang="en-US" altLang="ko-KR" dirty="0"/>
              <a:t>Place Your Picture Here and send to back</a:t>
            </a:r>
            <a:endParaRPr lang="ko-KR" altLang="en-US" dirty="0"/>
          </a:p>
        </p:txBody>
      </p:sp>
      <p:sp>
        <p:nvSpPr>
          <p:cNvPr id="8" name="Picture Placeholder 14">
            <a:extLst>
              <a:ext uri="{FF2B5EF4-FFF2-40B4-BE49-F238E27FC236}">
                <a16:creationId xmlns:a16="http://schemas.microsoft.com/office/drawing/2014/main" id="{FB945981-7C40-405E-A762-0A3C8FBFC5A9}"/>
              </a:ext>
            </a:extLst>
          </p:cNvPr>
          <p:cNvSpPr>
            <a:spLocks noGrp="1"/>
          </p:cNvSpPr>
          <p:nvPr>
            <p:ph type="pic" sz="quarter" idx="17" hasCustomPrompt="1"/>
          </p:nvPr>
        </p:nvSpPr>
        <p:spPr>
          <a:xfrm>
            <a:off x="1869095" y="296968"/>
            <a:ext cx="4212570" cy="3029626"/>
          </a:xfrm>
          <a:custGeom>
            <a:avLst/>
            <a:gdLst>
              <a:gd name="connsiteX0" fmla="*/ 1608042 w 4212570"/>
              <a:gd name="connsiteY0" fmla="*/ 0 h 3029626"/>
              <a:gd name="connsiteX1" fmla="*/ 4205172 w 4212570"/>
              <a:gd name="connsiteY1" fmla="*/ 1380883 h 3029626"/>
              <a:gd name="connsiteX2" fmla="*/ 4212570 w 4212570"/>
              <a:gd name="connsiteY2" fmla="*/ 1393060 h 3029626"/>
              <a:gd name="connsiteX3" fmla="*/ 1624674 w 4212570"/>
              <a:gd name="connsiteY3" fmla="*/ 3029626 h 3029626"/>
              <a:gd name="connsiteX4" fmla="*/ 0 w 4212570"/>
              <a:gd name="connsiteY4" fmla="*/ 447962 h 3029626"/>
              <a:gd name="connsiteX5" fmla="*/ 115129 w 4212570"/>
              <a:gd name="connsiteY5" fmla="*/ 378019 h 3029626"/>
              <a:gd name="connsiteX6" fmla="*/ 1608042 w 4212570"/>
              <a:gd name="connsiteY6" fmla="*/ 0 h 3029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2570" h="3029626">
                <a:moveTo>
                  <a:pt x="1608042" y="0"/>
                </a:moveTo>
                <a:cubicBezTo>
                  <a:pt x="2689150" y="0"/>
                  <a:pt x="3642324" y="547757"/>
                  <a:pt x="4205172" y="1380883"/>
                </a:cubicBezTo>
                <a:lnTo>
                  <a:pt x="4212570" y="1393060"/>
                </a:lnTo>
                <a:lnTo>
                  <a:pt x="1624674" y="3029626"/>
                </a:lnTo>
                <a:lnTo>
                  <a:pt x="0" y="447962"/>
                </a:lnTo>
                <a:lnTo>
                  <a:pt x="115129" y="378019"/>
                </a:lnTo>
                <a:cubicBezTo>
                  <a:pt x="558917" y="136939"/>
                  <a:pt x="1067487" y="0"/>
                  <a:pt x="1608042" y="0"/>
                </a:cubicBezTo>
                <a:close/>
              </a:path>
            </a:pathLst>
          </a:cu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lgn="ctr">
              <a:buNone/>
              <a:defRPr lang="ko-KR" altLang="en-US" sz="1600" dirty="0">
                <a:solidFill>
                  <a:schemeClr val="tx1">
                    <a:lumMod val="75000"/>
                    <a:lumOff val="25000"/>
                  </a:schemeClr>
                </a:solidFill>
              </a:defRPr>
            </a:lvl1pPr>
          </a:lstStyle>
          <a:p>
            <a:pPr marL="0" lvl="0" algn="ctr"/>
            <a:r>
              <a:rPr lang="en-US" altLang="ko-KR" dirty="0"/>
              <a:t>Place Your Picture Here and send to back</a:t>
            </a:r>
            <a:endParaRPr lang="ko-KR" altLang="en-US" dirty="0"/>
          </a:p>
        </p:txBody>
      </p:sp>
      <p:sp>
        <p:nvSpPr>
          <p:cNvPr id="9" name="Picture Placeholder 13">
            <a:extLst>
              <a:ext uri="{FF2B5EF4-FFF2-40B4-BE49-F238E27FC236}">
                <a16:creationId xmlns:a16="http://schemas.microsoft.com/office/drawing/2014/main" id="{6694F5FC-308C-4B15-BF84-1E78482AD920}"/>
              </a:ext>
            </a:extLst>
          </p:cNvPr>
          <p:cNvSpPr>
            <a:spLocks noGrp="1"/>
          </p:cNvSpPr>
          <p:nvPr>
            <p:ph type="pic" sz="quarter" idx="18" hasCustomPrompt="1"/>
          </p:nvPr>
        </p:nvSpPr>
        <p:spPr>
          <a:xfrm>
            <a:off x="345104" y="819868"/>
            <a:ext cx="3032380" cy="4209576"/>
          </a:xfrm>
          <a:custGeom>
            <a:avLst/>
            <a:gdLst>
              <a:gd name="connsiteX0" fmla="*/ 1400640 w 3032380"/>
              <a:gd name="connsiteY0" fmla="*/ 0 h 4209576"/>
              <a:gd name="connsiteX1" fmla="*/ 3032380 w 3032380"/>
              <a:gd name="connsiteY1" fmla="*/ 2580264 h 4209576"/>
              <a:gd name="connsiteX2" fmla="*/ 443346 w 3032380"/>
              <a:gd name="connsiteY2" fmla="*/ 4209576 h 4209576"/>
              <a:gd name="connsiteX3" fmla="*/ 378020 w 3032380"/>
              <a:gd name="connsiteY3" fmla="*/ 4102046 h 4209576"/>
              <a:gd name="connsiteX4" fmla="*/ 0 w 3032380"/>
              <a:gd name="connsiteY4" fmla="*/ 2609133 h 4209576"/>
              <a:gd name="connsiteX5" fmla="*/ 1380883 w 3032380"/>
              <a:gd name="connsiteY5" fmla="*/ 12002 h 4209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32380" h="4209576">
                <a:moveTo>
                  <a:pt x="1400640" y="0"/>
                </a:moveTo>
                <a:lnTo>
                  <a:pt x="3032380" y="2580264"/>
                </a:lnTo>
                <a:lnTo>
                  <a:pt x="443346" y="4209576"/>
                </a:lnTo>
                <a:lnTo>
                  <a:pt x="378020" y="4102046"/>
                </a:lnTo>
                <a:cubicBezTo>
                  <a:pt x="136939" y="3658258"/>
                  <a:pt x="0" y="3149687"/>
                  <a:pt x="0" y="2609133"/>
                </a:cubicBezTo>
                <a:cubicBezTo>
                  <a:pt x="0" y="1528024"/>
                  <a:pt x="547757" y="574851"/>
                  <a:pt x="1380883" y="12002"/>
                </a:cubicBezTo>
                <a:close/>
              </a:path>
            </a:pathLst>
          </a:cu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lgn="ctr">
              <a:buNone/>
              <a:defRPr lang="ko-KR" altLang="en-US" sz="1600" dirty="0">
                <a:solidFill>
                  <a:schemeClr val="tx1">
                    <a:lumMod val="75000"/>
                    <a:lumOff val="25000"/>
                  </a:schemeClr>
                </a:solidFill>
              </a:defRPr>
            </a:lvl1pPr>
          </a:lstStyle>
          <a:p>
            <a:pPr marL="0" lvl="0" algn="ctr"/>
            <a:r>
              <a:rPr lang="en-US" altLang="ko-KR" dirty="0"/>
              <a:t>Place Your Picture Here and send to back</a:t>
            </a:r>
            <a:endParaRPr lang="ko-KR" altLang="en-US" dirty="0"/>
          </a:p>
        </p:txBody>
      </p:sp>
    </p:spTree>
    <p:extLst>
      <p:ext uri="{BB962C8B-B14F-4D97-AF65-F5344CB8AC3E}">
        <p14:creationId xmlns:p14="http://schemas.microsoft.com/office/powerpoint/2010/main" val="26258685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0_Image slide layout">
    <p:bg>
      <p:bgPr>
        <a:solidFill>
          <a:schemeClr val="accent4"/>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1C77F8F-8CA6-4AA9-B704-12A7278A94D8}"/>
              </a:ext>
            </a:extLst>
          </p:cNvPr>
          <p:cNvSpPr/>
          <p:nvPr userDrawn="1"/>
        </p:nvSpPr>
        <p:spPr>
          <a:xfrm>
            <a:off x="0" y="0"/>
            <a:ext cx="12191999" cy="6858000"/>
          </a:xfrm>
          <a:prstGeom prst="rect">
            <a:avLst/>
          </a:prstGeom>
          <a:solidFill>
            <a:srgbClr val="E3CBA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a:ea typeface="+mn-ea"/>
              <a:cs typeface="+mn-cs"/>
            </a:endParaRPr>
          </a:p>
        </p:txBody>
      </p:sp>
      <p:sp>
        <p:nvSpPr>
          <p:cNvPr id="2" name="그림 개체 틀 2">
            <a:extLst>
              <a:ext uri="{FF2B5EF4-FFF2-40B4-BE49-F238E27FC236}">
                <a16:creationId xmlns:a16="http://schemas.microsoft.com/office/drawing/2014/main" id="{DDB49639-FE47-44C5-AD62-716168A4D8D8}"/>
              </a:ext>
            </a:extLst>
          </p:cNvPr>
          <p:cNvSpPr>
            <a:spLocks noGrp="1"/>
          </p:cNvSpPr>
          <p:nvPr>
            <p:ph type="pic" sz="quarter" idx="14" hasCustomPrompt="1"/>
          </p:nvPr>
        </p:nvSpPr>
        <p:spPr>
          <a:xfrm>
            <a:off x="0" y="0"/>
            <a:ext cx="6511687" cy="6858000"/>
          </a:xfrm>
          <a:custGeom>
            <a:avLst/>
            <a:gdLst>
              <a:gd name="connsiteX0" fmla="*/ 0 w 5995863"/>
              <a:gd name="connsiteY0" fmla="*/ 0 h 6858000"/>
              <a:gd name="connsiteX1" fmla="*/ 5995863 w 5995863"/>
              <a:gd name="connsiteY1" fmla="*/ 0 h 6858000"/>
              <a:gd name="connsiteX2" fmla="*/ 5995863 w 5995863"/>
              <a:gd name="connsiteY2" fmla="*/ 6858000 h 6858000"/>
              <a:gd name="connsiteX3" fmla="*/ 0 w 5995863"/>
              <a:gd name="connsiteY3" fmla="*/ 6858000 h 6858000"/>
              <a:gd name="connsiteX4" fmla="*/ 0 w 5995863"/>
              <a:gd name="connsiteY4" fmla="*/ 0 h 6858000"/>
              <a:gd name="connsiteX0" fmla="*/ 0 w 6001966"/>
              <a:gd name="connsiteY0" fmla="*/ 0 h 6858000"/>
              <a:gd name="connsiteX1" fmla="*/ 5995863 w 6001966"/>
              <a:gd name="connsiteY1" fmla="*/ 0 h 6858000"/>
              <a:gd name="connsiteX2" fmla="*/ 6001966 w 6001966"/>
              <a:gd name="connsiteY2" fmla="*/ 3258766 h 6858000"/>
              <a:gd name="connsiteX3" fmla="*/ 5995863 w 6001966"/>
              <a:gd name="connsiteY3" fmla="*/ 6858000 h 6858000"/>
              <a:gd name="connsiteX4" fmla="*/ 0 w 6001966"/>
              <a:gd name="connsiteY4" fmla="*/ 6858000 h 6858000"/>
              <a:gd name="connsiteX5" fmla="*/ 0 w 6001966"/>
              <a:gd name="connsiteY5" fmla="*/ 0 h 6858000"/>
              <a:gd name="connsiteX0" fmla="*/ 0 w 5995869"/>
              <a:gd name="connsiteY0" fmla="*/ 0 h 6858000"/>
              <a:gd name="connsiteX1" fmla="*/ 5995863 w 5995869"/>
              <a:gd name="connsiteY1" fmla="*/ 0 h 6858000"/>
              <a:gd name="connsiteX2" fmla="*/ 5554494 w 5995869"/>
              <a:gd name="connsiteY2" fmla="*/ 3307405 h 6858000"/>
              <a:gd name="connsiteX3" fmla="*/ 5995863 w 5995869"/>
              <a:gd name="connsiteY3" fmla="*/ 6858000 h 6858000"/>
              <a:gd name="connsiteX4" fmla="*/ 0 w 5995869"/>
              <a:gd name="connsiteY4" fmla="*/ 6858000 h 6858000"/>
              <a:gd name="connsiteX5" fmla="*/ 0 w 5995869"/>
              <a:gd name="connsiteY5" fmla="*/ 0 h 6858000"/>
              <a:gd name="connsiteX0" fmla="*/ 0 w 5995869"/>
              <a:gd name="connsiteY0" fmla="*/ 0 h 6858000"/>
              <a:gd name="connsiteX1" fmla="*/ 5995863 w 5995869"/>
              <a:gd name="connsiteY1" fmla="*/ 0 h 6858000"/>
              <a:gd name="connsiteX2" fmla="*/ 5554494 w 5995869"/>
              <a:gd name="connsiteY2" fmla="*/ 3307405 h 6858000"/>
              <a:gd name="connsiteX3" fmla="*/ 5704033 w 5995869"/>
              <a:gd name="connsiteY3" fmla="*/ 6838544 h 6858000"/>
              <a:gd name="connsiteX4" fmla="*/ 0 w 5995869"/>
              <a:gd name="connsiteY4" fmla="*/ 6858000 h 6858000"/>
              <a:gd name="connsiteX5" fmla="*/ 0 w 5995869"/>
              <a:gd name="connsiteY5" fmla="*/ 0 h 6858000"/>
              <a:gd name="connsiteX0" fmla="*/ 0 w 5995869"/>
              <a:gd name="connsiteY0" fmla="*/ 0 h 6858000"/>
              <a:gd name="connsiteX1" fmla="*/ 5995863 w 5995869"/>
              <a:gd name="connsiteY1" fmla="*/ 0 h 6858000"/>
              <a:gd name="connsiteX2" fmla="*/ 5496128 w 5995869"/>
              <a:gd name="connsiteY2" fmla="*/ 3307405 h 6858000"/>
              <a:gd name="connsiteX3" fmla="*/ 5704033 w 5995869"/>
              <a:gd name="connsiteY3" fmla="*/ 6838544 h 6858000"/>
              <a:gd name="connsiteX4" fmla="*/ 0 w 5995869"/>
              <a:gd name="connsiteY4" fmla="*/ 6858000 h 6858000"/>
              <a:gd name="connsiteX5" fmla="*/ 0 w 5995869"/>
              <a:gd name="connsiteY5" fmla="*/ 0 h 6858000"/>
              <a:gd name="connsiteX0" fmla="*/ 0 w 6268240"/>
              <a:gd name="connsiteY0" fmla="*/ 0 h 6858000"/>
              <a:gd name="connsiteX1" fmla="*/ 6268237 w 6268240"/>
              <a:gd name="connsiteY1" fmla="*/ 0 h 6858000"/>
              <a:gd name="connsiteX2" fmla="*/ 5496128 w 6268240"/>
              <a:gd name="connsiteY2" fmla="*/ 3307405 h 6858000"/>
              <a:gd name="connsiteX3" fmla="*/ 5704033 w 6268240"/>
              <a:gd name="connsiteY3" fmla="*/ 6838544 h 6858000"/>
              <a:gd name="connsiteX4" fmla="*/ 0 w 6268240"/>
              <a:gd name="connsiteY4" fmla="*/ 6858000 h 6858000"/>
              <a:gd name="connsiteX5" fmla="*/ 0 w 6268240"/>
              <a:gd name="connsiteY5" fmla="*/ 0 h 6858000"/>
              <a:gd name="connsiteX0" fmla="*/ 0 w 6268240"/>
              <a:gd name="connsiteY0" fmla="*/ 0 h 6858000"/>
              <a:gd name="connsiteX1" fmla="*/ 6268237 w 6268240"/>
              <a:gd name="connsiteY1" fmla="*/ 0 h 6858000"/>
              <a:gd name="connsiteX2" fmla="*/ 5496128 w 6268240"/>
              <a:gd name="connsiteY2" fmla="*/ 3307405 h 6858000"/>
              <a:gd name="connsiteX3" fmla="*/ 5742943 w 6268240"/>
              <a:gd name="connsiteY3" fmla="*/ 6857999 h 6858000"/>
              <a:gd name="connsiteX4" fmla="*/ 0 w 6268240"/>
              <a:gd name="connsiteY4" fmla="*/ 6858000 h 6858000"/>
              <a:gd name="connsiteX5" fmla="*/ 0 w 6268240"/>
              <a:gd name="connsiteY5" fmla="*/ 0 h 6858000"/>
              <a:gd name="connsiteX0" fmla="*/ 0 w 6268240"/>
              <a:gd name="connsiteY0" fmla="*/ 0 h 6858000"/>
              <a:gd name="connsiteX1" fmla="*/ 6268237 w 6268240"/>
              <a:gd name="connsiteY1" fmla="*/ 0 h 6858000"/>
              <a:gd name="connsiteX2" fmla="*/ 5496128 w 6268240"/>
              <a:gd name="connsiteY2" fmla="*/ 3307405 h 6858000"/>
              <a:gd name="connsiteX3" fmla="*/ 5742943 w 6268240"/>
              <a:gd name="connsiteY3" fmla="*/ 6857999 h 6858000"/>
              <a:gd name="connsiteX4" fmla="*/ 0 w 6268240"/>
              <a:gd name="connsiteY4" fmla="*/ 6858000 h 6858000"/>
              <a:gd name="connsiteX5" fmla="*/ 0 w 6268240"/>
              <a:gd name="connsiteY5" fmla="*/ 0 h 6858000"/>
              <a:gd name="connsiteX0" fmla="*/ 0 w 6268239"/>
              <a:gd name="connsiteY0" fmla="*/ 0 h 6858000"/>
              <a:gd name="connsiteX1" fmla="*/ 6268237 w 6268239"/>
              <a:gd name="connsiteY1" fmla="*/ 0 h 6858000"/>
              <a:gd name="connsiteX2" fmla="*/ 5223754 w 6268239"/>
              <a:gd name="connsiteY2" fmla="*/ 4270443 h 6858000"/>
              <a:gd name="connsiteX3" fmla="*/ 5742943 w 6268239"/>
              <a:gd name="connsiteY3" fmla="*/ 6857999 h 6858000"/>
              <a:gd name="connsiteX4" fmla="*/ 0 w 6268239"/>
              <a:gd name="connsiteY4" fmla="*/ 6858000 h 6858000"/>
              <a:gd name="connsiteX5" fmla="*/ 0 w 6268239"/>
              <a:gd name="connsiteY5" fmla="*/ 0 h 6858000"/>
              <a:gd name="connsiteX0" fmla="*/ 0 w 6268239"/>
              <a:gd name="connsiteY0" fmla="*/ 0 h 6858000"/>
              <a:gd name="connsiteX1" fmla="*/ 6268237 w 6268239"/>
              <a:gd name="connsiteY1" fmla="*/ 0 h 6858000"/>
              <a:gd name="connsiteX2" fmla="*/ 5223754 w 6268239"/>
              <a:gd name="connsiteY2" fmla="*/ 4270443 h 6858000"/>
              <a:gd name="connsiteX3" fmla="*/ 5742943 w 6268239"/>
              <a:gd name="connsiteY3" fmla="*/ 6857999 h 6858000"/>
              <a:gd name="connsiteX4" fmla="*/ 0 w 6268239"/>
              <a:gd name="connsiteY4" fmla="*/ 6858000 h 6858000"/>
              <a:gd name="connsiteX5" fmla="*/ 0 w 6268239"/>
              <a:gd name="connsiteY5" fmla="*/ 0 h 6858000"/>
              <a:gd name="connsiteX0" fmla="*/ 0 w 6511430"/>
              <a:gd name="connsiteY0" fmla="*/ 0 h 6858000"/>
              <a:gd name="connsiteX1" fmla="*/ 6511428 w 6511430"/>
              <a:gd name="connsiteY1" fmla="*/ 9727 h 6858000"/>
              <a:gd name="connsiteX2" fmla="*/ 5223754 w 6511430"/>
              <a:gd name="connsiteY2" fmla="*/ 4270443 h 6858000"/>
              <a:gd name="connsiteX3" fmla="*/ 5742943 w 6511430"/>
              <a:gd name="connsiteY3" fmla="*/ 6857999 h 6858000"/>
              <a:gd name="connsiteX4" fmla="*/ 0 w 6511430"/>
              <a:gd name="connsiteY4" fmla="*/ 6858000 h 6858000"/>
              <a:gd name="connsiteX5" fmla="*/ 0 w 6511430"/>
              <a:gd name="connsiteY5" fmla="*/ 0 h 6858000"/>
              <a:gd name="connsiteX0" fmla="*/ 0 w 6511689"/>
              <a:gd name="connsiteY0" fmla="*/ 0 h 6858000"/>
              <a:gd name="connsiteX1" fmla="*/ 6511428 w 6511689"/>
              <a:gd name="connsiteY1" fmla="*/ 9727 h 6858000"/>
              <a:gd name="connsiteX2" fmla="*/ 5223754 w 6511689"/>
              <a:gd name="connsiteY2" fmla="*/ 4270443 h 6858000"/>
              <a:gd name="connsiteX3" fmla="*/ 5742943 w 6511689"/>
              <a:gd name="connsiteY3" fmla="*/ 6857999 h 6858000"/>
              <a:gd name="connsiteX4" fmla="*/ 0 w 6511689"/>
              <a:gd name="connsiteY4" fmla="*/ 6858000 h 6858000"/>
              <a:gd name="connsiteX5" fmla="*/ 0 w 6511689"/>
              <a:gd name="connsiteY5" fmla="*/ 0 h 6858000"/>
              <a:gd name="connsiteX0" fmla="*/ 0 w 6511673"/>
              <a:gd name="connsiteY0" fmla="*/ 0 h 6858000"/>
              <a:gd name="connsiteX1" fmla="*/ 6511428 w 6511673"/>
              <a:gd name="connsiteY1" fmla="*/ 9727 h 6858000"/>
              <a:gd name="connsiteX2" fmla="*/ 5136205 w 6511673"/>
              <a:gd name="connsiteY2" fmla="*/ 4659549 h 6858000"/>
              <a:gd name="connsiteX3" fmla="*/ 5742943 w 6511673"/>
              <a:gd name="connsiteY3" fmla="*/ 6857999 h 6858000"/>
              <a:gd name="connsiteX4" fmla="*/ 0 w 6511673"/>
              <a:gd name="connsiteY4" fmla="*/ 6858000 h 6858000"/>
              <a:gd name="connsiteX5" fmla="*/ 0 w 6511673"/>
              <a:gd name="connsiteY5" fmla="*/ 0 h 6858000"/>
              <a:gd name="connsiteX0" fmla="*/ 0 w 6511660"/>
              <a:gd name="connsiteY0" fmla="*/ 0 h 6858000"/>
              <a:gd name="connsiteX1" fmla="*/ 6511428 w 6511660"/>
              <a:gd name="connsiteY1" fmla="*/ 9727 h 6858000"/>
              <a:gd name="connsiteX2" fmla="*/ 5058384 w 6511660"/>
              <a:gd name="connsiteY2" fmla="*/ 4737370 h 6858000"/>
              <a:gd name="connsiteX3" fmla="*/ 5742943 w 6511660"/>
              <a:gd name="connsiteY3" fmla="*/ 6857999 h 6858000"/>
              <a:gd name="connsiteX4" fmla="*/ 0 w 6511660"/>
              <a:gd name="connsiteY4" fmla="*/ 6858000 h 6858000"/>
              <a:gd name="connsiteX5" fmla="*/ 0 w 6511660"/>
              <a:gd name="connsiteY5" fmla="*/ 0 h 6858000"/>
              <a:gd name="connsiteX0" fmla="*/ 0 w 6511654"/>
              <a:gd name="connsiteY0" fmla="*/ 0 h 6858000"/>
              <a:gd name="connsiteX1" fmla="*/ 6511428 w 6511654"/>
              <a:gd name="connsiteY1" fmla="*/ 9727 h 6858000"/>
              <a:gd name="connsiteX2" fmla="*/ 5019473 w 6511654"/>
              <a:gd name="connsiteY2" fmla="*/ 4679004 h 6858000"/>
              <a:gd name="connsiteX3" fmla="*/ 5742943 w 6511654"/>
              <a:gd name="connsiteY3" fmla="*/ 6857999 h 6858000"/>
              <a:gd name="connsiteX4" fmla="*/ 0 w 6511654"/>
              <a:gd name="connsiteY4" fmla="*/ 6858000 h 6858000"/>
              <a:gd name="connsiteX5" fmla="*/ 0 w 6511654"/>
              <a:gd name="connsiteY5" fmla="*/ 0 h 6858000"/>
              <a:gd name="connsiteX0" fmla="*/ 0 w 6511695"/>
              <a:gd name="connsiteY0" fmla="*/ 0 h 6858000"/>
              <a:gd name="connsiteX1" fmla="*/ 6511428 w 6511695"/>
              <a:gd name="connsiteY1" fmla="*/ 9727 h 6858000"/>
              <a:gd name="connsiteX2" fmla="*/ 5252937 w 6511695"/>
              <a:gd name="connsiteY2" fmla="*/ 4766553 h 6858000"/>
              <a:gd name="connsiteX3" fmla="*/ 5742943 w 6511695"/>
              <a:gd name="connsiteY3" fmla="*/ 6857999 h 6858000"/>
              <a:gd name="connsiteX4" fmla="*/ 0 w 6511695"/>
              <a:gd name="connsiteY4" fmla="*/ 6858000 h 6858000"/>
              <a:gd name="connsiteX5" fmla="*/ 0 w 6511695"/>
              <a:gd name="connsiteY5" fmla="*/ 0 h 6858000"/>
              <a:gd name="connsiteX0" fmla="*/ 0 w 6511695"/>
              <a:gd name="connsiteY0" fmla="*/ 0 h 6858000"/>
              <a:gd name="connsiteX1" fmla="*/ 6511428 w 6511695"/>
              <a:gd name="connsiteY1" fmla="*/ 9727 h 6858000"/>
              <a:gd name="connsiteX2" fmla="*/ 5252937 w 6511695"/>
              <a:gd name="connsiteY2" fmla="*/ 4766553 h 6858000"/>
              <a:gd name="connsiteX3" fmla="*/ 5742943 w 6511695"/>
              <a:gd name="connsiteY3" fmla="*/ 6857999 h 6858000"/>
              <a:gd name="connsiteX4" fmla="*/ 0 w 6511695"/>
              <a:gd name="connsiteY4" fmla="*/ 6858000 h 6858000"/>
              <a:gd name="connsiteX5" fmla="*/ 0 w 6511695"/>
              <a:gd name="connsiteY5" fmla="*/ 0 h 6858000"/>
              <a:gd name="connsiteX0" fmla="*/ 0 w 6511687"/>
              <a:gd name="connsiteY0" fmla="*/ 0 h 6858000"/>
              <a:gd name="connsiteX1" fmla="*/ 6511428 w 6511687"/>
              <a:gd name="connsiteY1" fmla="*/ 9727 h 6858000"/>
              <a:gd name="connsiteX2" fmla="*/ 5214027 w 6511687"/>
              <a:gd name="connsiteY2" fmla="*/ 4824918 h 6858000"/>
              <a:gd name="connsiteX3" fmla="*/ 5742943 w 6511687"/>
              <a:gd name="connsiteY3" fmla="*/ 6857999 h 6858000"/>
              <a:gd name="connsiteX4" fmla="*/ 0 w 6511687"/>
              <a:gd name="connsiteY4" fmla="*/ 6858000 h 6858000"/>
              <a:gd name="connsiteX5" fmla="*/ 0 w 6511687"/>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1687" h="6858000">
                <a:moveTo>
                  <a:pt x="0" y="0"/>
                </a:moveTo>
                <a:lnTo>
                  <a:pt x="6511428" y="9727"/>
                </a:lnTo>
                <a:cubicBezTo>
                  <a:pt x="6532917" y="1913105"/>
                  <a:pt x="5211993" y="3738663"/>
                  <a:pt x="5214027" y="4824918"/>
                </a:cubicBezTo>
                <a:cubicBezTo>
                  <a:pt x="5211993" y="6024663"/>
                  <a:pt x="5628245" y="6310007"/>
                  <a:pt x="5742943" y="6857999"/>
                </a:cubicBezTo>
                <a:lnTo>
                  <a:pt x="0" y="6858000"/>
                </a:lnTo>
                <a:lnTo>
                  <a:pt x="0" y="0"/>
                </a:lnTo>
                <a:close/>
              </a:path>
            </a:pathLst>
          </a:cu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lgn="ctr">
              <a:buNone/>
              <a:defRPr lang="ko-KR" altLang="en-US" sz="1600" dirty="0">
                <a:solidFill>
                  <a:schemeClr val="tx1">
                    <a:lumMod val="75000"/>
                    <a:lumOff val="25000"/>
                  </a:schemeClr>
                </a:solidFill>
              </a:defRPr>
            </a:lvl1pPr>
          </a:lstStyle>
          <a:p>
            <a:pPr marL="0" lvl="0" algn="ctr"/>
            <a:r>
              <a:rPr lang="en-US" altLang="ko-KR" dirty="0"/>
              <a:t>Place Your Picture Here and send to back</a:t>
            </a:r>
            <a:endParaRPr lang="ko-KR" altLang="en-US" dirty="0"/>
          </a:p>
        </p:txBody>
      </p:sp>
    </p:spTree>
    <p:extLst>
      <p:ext uri="{BB962C8B-B14F-4D97-AF65-F5344CB8AC3E}">
        <p14:creationId xmlns:p14="http://schemas.microsoft.com/office/powerpoint/2010/main" val="1797127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1_Image slide layout">
    <p:bg>
      <p:bgPr>
        <a:solidFill>
          <a:schemeClr val="accent4"/>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1C77F8F-8CA6-4AA9-B704-12A7278A94D8}"/>
              </a:ext>
            </a:extLst>
          </p:cNvPr>
          <p:cNvSpPr/>
          <p:nvPr userDrawn="1"/>
        </p:nvSpPr>
        <p:spPr>
          <a:xfrm>
            <a:off x="0" y="0"/>
            <a:ext cx="12191999" cy="6858000"/>
          </a:xfrm>
          <a:prstGeom prst="rect">
            <a:avLst/>
          </a:prstGeom>
          <a:gradFill flip="none" rotWithShape="1">
            <a:gsLst>
              <a:gs pos="0">
                <a:srgbClr val="C40830">
                  <a:shade val="30000"/>
                  <a:satMod val="115000"/>
                </a:srgbClr>
              </a:gs>
              <a:gs pos="50000">
                <a:srgbClr val="C40830">
                  <a:shade val="67500"/>
                  <a:satMod val="115000"/>
                </a:srgbClr>
              </a:gs>
              <a:gs pos="100000">
                <a:srgbClr val="C40830">
                  <a:shade val="100000"/>
                  <a:satMod val="115000"/>
                </a:srgbClr>
              </a:gs>
            </a:gsLst>
            <a:lin ang="810000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a:ea typeface="+mn-ea"/>
              <a:cs typeface="+mn-cs"/>
            </a:endParaRPr>
          </a:p>
        </p:txBody>
      </p:sp>
      <p:sp>
        <p:nvSpPr>
          <p:cNvPr id="4" name="그림 개체 틀 2">
            <a:extLst>
              <a:ext uri="{FF2B5EF4-FFF2-40B4-BE49-F238E27FC236}">
                <a16:creationId xmlns:a16="http://schemas.microsoft.com/office/drawing/2014/main" id="{938550DE-2212-4396-8880-C3AFBD1BFC3B}"/>
              </a:ext>
            </a:extLst>
          </p:cNvPr>
          <p:cNvSpPr>
            <a:spLocks noGrp="1"/>
          </p:cNvSpPr>
          <p:nvPr>
            <p:ph type="pic" sz="quarter" idx="14" hasCustomPrompt="1"/>
          </p:nvPr>
        </p:nvSpPr>
        <p:spPr>
          <a:xfrm>
            <a:off x="0" y="0"/>
            <a:ext cx="6511687" cy="6858000"/>
          </a:xfrm>
          <a:custGeom>
            <a:avLst/>
            <a:gdLst>
              <a:gd name="connsiteX0" fmla="*/ 0 w 5995863"/>
              <a:gd name="connsiteY0" fmla="*/ 0 h 6858000"/>
              <a:gd name="connsiteX1" fmla="*/ 5995863 w 5995863"/>
              <a:gd name="connsiteY1" fmla="*/ 0 h 6858000"/>
              <a:gd name="connsiteX2" fmla="*/ 5995863 w 5995863"/>
              <a:gd name="connsiteY2" fmla="*/ 6858000 h 6858000"/>
              <a:gd name="connsiteX3" fmla="*/ 0 w 5995863"/>
              <a:gd name="connsiteY3" fmla="*/ 6858000 h 6858000"/>
              <a:gd name="connsiteX4" fmla="*/ 0 w 5995863"/>
              <a:gd name="connsiteY4" fmla="*/ 0 h 6858000"/>
              <a:gd name="connsiteX0" fmla="*/ 0 w 6001966"/>
              <a:gd name="connsiteY0" fmla="*/ 0 h 6858000"/>
              <a:gd name="connsiteX1" fmla="*/ 5995863 w 6001966"/>
              <a:gd name="connsiteY1" fmla="*/ 0 h 6858000"/>
              <a:gd name="connsiteX2" fmla="*/ 6001966 w 6001966"/>
              <a:gd name="connsiteY2" fmla="*/ 3258766 h 6858000"/>
              <a:gd name="connsiteX3" fmla="*/ 5995863 w 6001966"/>
              <a:gd name="connsiteY3" fmla="*/ 6858000 h 6858000"/>
              <a:gd name="connsiteX4" fmla="*/ 0 w 6001966"/>
              <a:gd name="connsiteY4" fmla="*/ 6858000 h 6858000"/>
              <a:gd name="connsiteX5" fmla="*/ 0 w 6001966"/>
              <a:gd name="connsiteY5" fmla="*/ 0 h 6858000"/>
              <a:gd name="connsiteX0" fmla="*/ 0 w 5995869"/>
              <a:gd name="connsiteY0" fmla="*/ 0 h 6858000"/>
              <a:gd name="connsiteX1" fmla="*/ 5995863 w 5995869"/>
              <a:gd name="connsiteY1" fmla="*/ 0 h 6858000"/>
              <a:gd name="connsiteX2" fmla="*/ 5554494 w 5995869"/>
              <a:gd name="connsiteY2" fmla="*/ 3307405 h 6858000"/>
              <a:gd name="connsiteX3" fmla="*/ 5995863 w 5995869"/>
              <a:gd name="connsiteY3" fmla="*/ 6858000 h 6858000"/>
              <a:gd name="connsiteX4" fmla="*/ 0 w 5995869"/>
              <a:gd name="connsiteY4" fmla="*/ 6858000 h 6858000"/>
              <a:gd name="connsiteX5" fmla="*/ 0 w 5995869"/>
              <a:gd name="connsiteY5" fmla="*/ 0 h 6858000"/>
              <a:gd name="connsiteX0" fmla="*/ 0 w 5995869"/>
              <a:gd name="connsiteY0" fmla="*/ 0 h 6858000"/>
              <a:gd name="connsiteX1" fmla="*/ 5995863 w 5995869"/>
              <a:gd name="connsiteY1" fmla="*/ 0 h 6858000"/>
              <a:gd name="connsiteX2" fmla="*/ 5554494 w 5995869"/>
              <a:gd name="connsiteY2" fmla="*/ 3307405 h 6858000"/>
              <a:gd name="connsiteX3" fmla="*/ 5704033 w 5995869"/>
              <a:gd name="connsiteY3" fmla="*/ 6838544 h 6858000"/>
              <a:gd name="connsiteX4" fmla="*/ 0 w 5995869"/>
              <a:gd name="connsiteY4" fmla="*/ 6858000 h 6858000"/>
              <a:gd name="connsiteX5" fmla="*/ 0 w 5995869"/>
              <a:gd name="connsiteY5" fmla="*/ 0 h 6858000"/>
              <a:gd name="connsiteX0" fmla="*/ 0 w 5995869"/>
              <a:gd name="connsiteY0" fmla="*/ 0 h 6858000"/>
              <a:gd name="connsiteX1" fmla="*/ 5995863 w 5995869"/>
              <a:gd name="connsiteY1" fmla="*/ 0 h 6858000"/>
              <a:gd name="connsiteX2" fmla="*/ 5496128 w 5995869"/>
              <a:gd name="connsiteY2" fmla="*/ 3307405 h 6858000"/>
              <a:gd name="connsiteX3" fmla="*/ 5704033 w 5995869"/>
              <a:gd name="connsiteY3" fmla="*/ 6838544 h 6858000"/>
              <a:gd name="connsiteX4" fmla="*/ 0 w 5995869"/>
              <a:gd name="connsiteY4" fmla="*/ 6858000 h 6858000"/>
              <a:gd name="connsiteX5" fmla="*/ 0 w 5995869"/>
              <a:gd name="connsiteY5" fmla="*/ 0 h 6858000"/>
              <a:gd name="connsiteX0" fmla="*/ 0 w 6268240"/>
              <a:gd name="connsiteY0" fmla="*/ 0 h 6858000"/>
              <a:gd name="connsiteX1" fmla="*/ 6268237 w 6268240"/>
              <a:gd name="connsiteY1" fmla="*/ 0 h 6858000"/>
              <a:gd name="connsiteX2" fmla="*/ 5496128 w 6268240"/>
              <a:gd name="connsiteY2" fmla="*/ 3307405 h 6858000"/>
              <a:gd name="connsiteX3" fmla="*/ 5704033 w 6268240"/>
              <a:gd name="connsiteY3" fmla="*/ 6838544 h 6858000"/>
              <a:gd name="connsiteX4" fmla="*/ 0 w 6268240"/>
              <a:gd name="connsiteY4" fmla="*/ 6858000 h 6858000"/>
              <a:gd name="connsiteX5" fmla="*/ 0 w 6268240"/>
              <a:gd name="connsiteY5" fmla="*/ 0 h 6858000"/>
              <a:gd name="connsiteX0" fmla="*/ 0 w 6268240"/>
              <a:gd name="connsiteY0" fmla="*/ 0 h 6858000"/>
              <a:gd name="connsiteX1" fmla="*/ 6268237 w 6268240"/>
              <a:gd name="connsiteY1" fmla="*/ 0 h 6858000"/>
              <a:gd name="connsiteX2" fmla="*/ 5496128 w 6268240"/>
              <a:gd name="connsiteY2" fmla="*/ 3307405 h 6858000"/>
              <a:gd name="connsiteX3" fmla="*/ 5742943 w 6268240"/>
              <a:gd name="connsiteY3" fmla="*/ 6857999 h 6858000"/>
              <a:gd name="connsiteX4" fmla="*/ 0 w 6268240"/>
              <a:gd name="connsiteY4" fmla="*/ 6858000 h 6858000"/>
              <a:gd name="connsiteX5" fmla="*/ 0 w 6268240"/>
              <a:gd name="connsiteY5" fmla="*/ 0 h 6858000"/>
              <a:gd name="connsiteX0" fmla="*/ 0 w 6268240"/>
              <a:gd name="connsiteY0" fmla="*/ 0 h 6858000"/>
              <a:gd name="connsiteX1" fmla="*/ 6268237 w 6268240"/>
              <a:gd name="connsiteY1" fmla="*/ 0 h 6858000"/>
              <a:gd name="connsiteX2" fmla="*/ 5496128 w 6268240"/>
              <a:gd name="connsiteY2" fmla="*/ 3307405 h 6858000"/>
              <a:gd name="connsiteX3" fmla="*/ 5742943 w 6268240"/>
              <a:gd name="connsiteY3" fmla="*/ 6857999 h 6858000"/>
              <a:gd name="connsiteX4" fmla="*/ 0 w 6268240"/>
              <a:gd name="connsiteY4" fmla="*/ 6858000 h 6858000"/>
              <a:gd name="connsiteX5" fmla="*/ 0 w 6268240"/>
              <a:gd name="connsiteY5" fmla="*/ 0 h 6858000"/>
              <a:gd name="connsiteX0" fmla="*/ 0 w 6268239"/>
              <a:gd name="connsiteY0" fmla="*/ 0 h 6858000"/>
              <a:gd name="connsiteX1" fmla="*/ 6268237 w 6268239"/>
              <a:gd name="connsiteY1" fmla="*/ 0 h 6858000"/>
              <a:gd name="connsiteX2" fmla="*/ 5223754 w 6268239"/>
              <a:gd name="connsiteY2" fmla="*/ 4270443 h 6858000"/>
              <a:gd name="connsiteX3" fmla="*/ 5742943 w 6268239"/>
              <a:gd name="connsiteY3" fmla="*/ 6857999 h 6858000"/>
              <a:gd name="connsiteX4" fmla="*/ 0 w 6268239"/>
              <a:gd name="connsiteY4" fmla="*/ 6858000 h 6858000"/>
              <a:gd name="connsiteX5" fmla="*/ 0 w 6268239"/>
              <a:gd name="connsiteY5" fmla="*/ 0 h 6858000"/>
              <a:gd name="connsiteX0" fmla="*/ 0 w 6268239"/>
              <a:gd name="connsiteY0" fmla="*/ 0 h 6858000"/>
              <a:gd name="connsiteX1" fmla="*/ 6268237 w 6268239"/>
              <a:gd name="connsiteY1" fmla="*/ 0 h 6858000"/>
              <a:gd name="connsiteX2" fmla="*/ 5223754 w 6268239"/>
              <a:gd name="connsiteY2" fmla="*/ 4270443 h 6858000"/>
              <a:gd name="connsiteX3" fmla="*/ 5742943 w 6268239"/>
              <a:gd name="connsiteY3" fmla="*/ 6857999 h 6858000"/>
              <a:gd name="connsiteX4" fmla="*/ 0 w 6268239"/>
              <a:gd name="connsiteY4" fmla="*/ 6858000 h 6858000"/>
              <a:gd name="connsiteX5" fmla="*/ 0 w 6268239"/>
              <a:gd name="connsiteY5" fmla="*/ 0 h 6858000"/>
              <a:gd name="connsiteX0" fmla="*/ 0 w 6511430"/>
              <a:gd name="connsiteY0" fmla="*/ 0 h 6858000"/>
              <a:gd name="connsiteX1" fmla="*/ 6511428 w 6511430"/>
              <a:gd name="connsiteY1" fmla="*/ 9727 h 6858000"/>
              <a:gd name="connsiteX2" fmla="*/ 5223754 w 6511430"/>
              <a:gd name="connsiteY2" fmla="*/ 4270443 h 6858000"/>
              <a:gd name="connsiteX3" fmla="*/ 5742943 w 6511430"/>
              <a:gd name="connsiteY3" fmla="*/ 6857999 h 6858000"/>
              <a:gd name="connsiteX4" fmla="*/ 0 w 6511430"/>
              <a:gd name="connsiteY4" fmla="*/ 6858000 h 6858000"/>
              <a:gd name="connsiteX5" fmla="*/ 0 w 6511430"/>
              <a:gd name="connsiteY5" fmla="*/ 0 h 6858000"/>
              <a:gd name="connsiteX0" fmla="*/ 0 w 6511689"/>
              <a:gd name="connsiteY0" fmla="*/ 0 h 6858000"/>
              <a:gd name="connsiteX1" fmla="*/ 6511428 w 6511689"/>
              <a:gd name="connsiteY1" fmla="*/ 9727 h 6858000"/>
              <a:gd name="connsiteX2" fmla="*/ 5223754 w 6511689"/>
              <a:gd name="connsiteY2" fmla="*/ 4270443 h 6858000"/>
              <a:gd name="connsiteX3" fmla="*/ 5742943 w 6511689"/>
              <a:gd name="connsiteY3" fmla="*/ 6857999 h 6858000"/>
              <a:gd name="connsiteX4" fmla="*/ 0 w 6511689"/>
              <a:gd name="connsiteY4" fmla="*/ 6858000 h 6858000"/>
              <a:gd name="connsiteX5" fmla="*/ 0 w 6511689"/>
              <a:gd name="connsiteY5" fmla="*/ 0 h 6858000"/>
              <a:gd name="connsiteX0" fmla="*/ 0 w 6511673"/>
              <a:gd name="connsiteY0" fmla="*/ 0 h 6858000"/>
              <a:gd name="connsiteX1" fmla="*/ 6511428 w 6511673"/>
              <a:gd name="connsiteY1" fmla="*/ 9727 h 6858000"/>
              <a:gd name="connsiteX2" fmla="*/ 5136205 w 6511673"/>
              <a:gd name="connsiteY2" fmla="*/ 4659549 h 6858000"/>
              <a:gd name="connsiteX3" fmla="*/ 5742943 w 6511673"/>
              <a:gd name="connsiteY3" fmla="*/ 6857999 h 6858000"/>
              <a:gd name="connsiteX4" fmla="*/ 0 w 6511673"/>
              <a:gd name="connsiteY4" fmla="*/ 6858000 h 6858000"/>
              <a:gd name="connsiteX5" fmla="*/ 0 w 6511673"/>
              <a:gd name="connsiteY5" fmla="*/ 0 h 6858000"/>
              <a:gd name="connsiteX0" fmla="*/ 0 w 6511660"/>
              <a:gd name="connsiteY0" fmla="*/ 0 h 6858000"/>
              <a:gd name="connsiteX1" fmla="*/ 6511428 w 6511660"/>
              <a:gd name="connsiteY1" fmla="*/ 9727 h 6858000"/>
              <a:gd name="connsiteX2" fmla="*/ 5058384 w 6511660"/>
              <a:gd name="connsiteY2" fmla="*/ 4737370 h 6858000"/>
              <a:gd name="connsiteX3" fmla="*/ 5742943 w 6511660"/>
              <a:gd name="connsiteY3" fmla="*/ 6857999 h 6858000"/>
              <a:gd name="connsiteX4" fmla="*/ 0 w 6511660"/>
              <a:gd name="connsiteY4" fmla="*/ 6858000 h 6858000"/>
              <a:gd name="connsiteX5" fmla="*/ 0 w 6511660"/>
              <a:gd name="connsiteY5" fmla="*/ 0 h 6858000"/>
              <a:gd name="connsiteX0" fmla="*/ 0 w 6511654"/>
              <a:gd name="connsiteY0" fmla="*/ 0 h 6858000"/>
              <a:gd name="connsiteX1" fmla="*/ 6511428 w 6511654"/>
              <a:gd name="connsiteY1" fmla="*/ 9727 h 6858000"/>
              <a:gd name="connsiteX2" fmla="*/ 5019473 w 6511654"/>
              <a:gd name="connsiteY2" fmla="*/ 4679004 h 6858000"/>
              <a:gd name="connsiteX3" fmla="*/ 5742943 w 6511654"/>
              <a:gd name="connsiteY3" fmla="*/ 6857999 h 6858000"/>
              <a:gd name="connsiteX4" fmla="*/ 0 w 6511654"/>
              <a:gd name="connsiteY4" fmla="*/ 6858000 h 6858000"/>
              <a:gd name="connsiteX5" fmla="*/ 0 w 6511654"/>
              <a:gd name="connsiteY5" fmla="*/ 0 h 6858000"/>
              <a:gd name="connsiteX0" fmla="*/ 0 w 6511695"/>
              <a:gd name="connsiteY0" fmla="*/ 0 h 6858000"/>
              <a:gd name="connsiteX1" fmla="*/ 6511428 w 6511695"/>
              <a:gd name="connsiteY1" fmla="*/ 9727 h 6858000"/>
              <a:gd name="connsiteX2" fmla="*/ 5252937 w 6511695"/>
              <a:gd name="connsiteY2" fmla="*/ 4766553 h 6858000"/>
              <a:gd name="connsiteX3" fmla="*/ 5742943 w 6511695"/>
              <a:gd name="connsiteY3" fmla="*/ 6857999 h 6858000"/>
              <a:gd name="connsiteX4" fmla="*/ 0 w 6511695"/>
              <a:gd name="connsiteY4" fmla="*/ 6858000 h 6858000"/>
              <a:gd name="connsiteX5" fmla="*/ 0 w 6511695"/>
              <a:gd name="connsiteY5" fmla="*/ 0 h 6858000"/>
              <a:gd name="connsiteX0" fmla="*/ 0 w 6511695"/>
              <a:gd name="connsiteY0" fmla="*/ 0 h 6858000"/>
              <a:gd name="connsiteX1" fmla="*/ 6511428 w 6511695"/>
              <a:gd name="connsiteY1" fmla="*/ 9727 h 6858000"/>
              <a:gd name="connsiteX2" fmla="*/ 5252937 w 6511695"/>
              <a:gd name="connsiteY2" fmla="*/ 4766553 h 6858000"/>
              <a:gd name="connsiteX3" fmla="*/ 5742943 w 6511695"/>
              <a:gd name="connsiteY3" fmla="*/ 6857999 h 6858000"/>
              <a:gd name="connsiteX4" fmla="*/ 0 w 6511695"/>
              <a:gd name="connsiteY4" fmla="*/ 6858000 h 6858000"/>
              <a:gd name="connsiteX5" fmla="*/ 0 w 6511695"/>
              <a:gd name="connsiteY5" fmla="*/ 0 h 6858000"/>
              <a:gd name="connsiteX0" fmla="*/ 0 w 6511687"/>
              <a:gd name="connsiteY0" fmla="*/ 0 h 6858000"/>
              <a:gd name="connsiteX1" fmla="*/ 6511428 w 6511687"/>
              <a:gd name="connsiteY1" fmla="*/ 9727 h 6858000"/>
              <a:gd name="connsiteX2" fmla="*/ 5214027 w 6511687"/>
              <a:gd name="connsiteY2" fmla="*/ 4824918 h 6858000"/>
              <a:gd name="connsiteX3" fmla="*/ 5742943 w 6511687"/>
              <a:gd name="connsiteY3" fmla="*/ 6857999 h 6858000"/>
              <a:gd name="connsiteX4" fmla="*/ 0 w 6511687"/>
              <a:gd name="connsiteY4" fmla="*/ 6858000 h 6858000"/>
              <a:gd name="connsiteX5" fmla="*/ 0 w 6511687"/>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1687" h="6858000">
                <a:moveTo>
                  <a:pt x="0" y="0"/>
                </a:moveTo>
                <a:lnTo>
                  <a:pt x="6511428" y="9727"/>
                </a:lnTo>
                <a:cubicBezTo>
                  <a:pt x="6532917" y="1913105"/>
                  <a:pt x="5211993" y="3738663"/>
                  <a:pt x="5214027" y="4824918"/>
                </a:cubicBezTo>
                <a:cubicBezTo>
                  <a:pt x="5211993" y="6024663"/>
                  <a:pt x="5628245" y="6310007"/>
                  <a:pt x="5742943" y="6857999"/>
                </a:cubicBezTo>
                <a:lnTo>
                  <a:pt x="0" y="6858000"/>
                </a:lnTo>
                <a:lnTo>
                  <a:pt x="0" y="0"/>
                </a:lnTo>
                <a:close/>
              </a:path>
            </a:pathLst>
          </a:cu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lgn="ctr">
              <a:buNone/>
              <a:defRPr lang="ko-KR" altLang="en-US" sz="1600" dirty="0">
                <a:solidFill>
                  <a:schemeClr val="tx1">
                    <a:lumMod val="75000"/>
                    <a:lumOff val="25000"/>
                  </a:schemeClr>
                </a:solidFill>
              </a:defRPr>
            </a:lvl1pPr>
          </a:lstStyle>
          <a:p>
            <a:pPr marL="0" lvl="0" algn="ctr"/>
            <a:r>
              <a:rPr lang="en-US" altLang="ko-KR" dirty="0"/>
              <a:t>Place Your Picture Here and send to back</a:t>
            </a:r>
            <a:endParaRPr lang="ko-KR" altLang="en-US" dirty="0"/>
          </a:p>
        </p:txBody>
      </p:sp>
    </p:spTree>
    <p:extLst>
      <p:ext uri="{BB962C8B-B14F-4D97-AF65-F5344CB8AC3E}">
        <p14:creationId xmlns:p14="http://schemas.microsoft.com/office/powerpoint/2010/main" val="4010758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E319C-7D76-4616-8CC2-497AD235CD6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1691354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CEA5D-0AB5-4D35-A18B-CEF9C4A696C7}"/>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7891374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CBA5E-D321-40B0-B5B7-23331793246B}"/>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977540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45035E70-F038-423A-B951-75CAB4734685}"/>
              </a:ext>
            </a:extLst>
          </p:cNvPr>
          <p:cNvSpPr txBox="1"/>
          <p:nvPr userDrawn="1"/>
        </p:nvSpPr>
        <p:spPr>
          <a:xfrm>
            <a:off x="320577" y="241881"/>
            <a:ext cx="7381122" cy="584775"/>
          </a:xfrm>
          <a:custGeom>
            <a:avLst/>
            <a:gdLst>
              <a:gd name="connsiteX0" fmla="*/ 0 w 8067554"/>
              <a:gd name="connsiteY0" fmla="*/ 0 h 740780"/>
              <a:gd name="connsiteX1" fmla="*/ 8067554 w 8067554"/>
              <a:gd name="connsiteY1" fmla="*/ 0 h 740780"/>
              <a:gd name="connsiteX2" fmla="*/ 8067554 w 8067554"/>
              <a:gd name="connsiteY2" fmla="*/ 740780 h 740780"/>
              <a:gd name="connsiteX3" fmla="*/ 0 w 8067554"/>
              <a:gd name="connsiteY3" fmla="*/ 740780 h 740780"/>
              <a:gd name="connsiteX4" fmla="*/ 0 w 8067554"/>
              <a:gd name="connsiteY4" fmla="*/ 0 h 740780"/>
              <a:gd name="connsiteX0" fmla="*/ 0 w 8067554"/>
              <a:gd name="connsiteY0" fmla="*/ 0 h 740780"/>
              <a:gd name="connsiteX1" fmla="*/ 8067554 w 8067554"/>
              <a:gd name="connsiteY1" fmla="*/ 0 h 740780"/>
              <a:gd name="connsiteX2" fmla="*/ 7315200 w 8067554"/>
              <a:gd name="connsiteY2" fmla="*/ 740780 h 740780"/>
              <a:gd name="connsiteX3" fmla="*/ 0 w 8067554"/>
              <a:gd name="connsiteY3" fmla="*/ 740780 h 740780"/>
              <a:gd name="connsiteX4" fmla="*/ 0 w 8067554"/>
              <a:gd name="connsiteY4" fmla="*/ 0 h 740780"/>
              <a:gd name="connsiteX0" fmla="*/ 0 w 7917083"/>
              <a:gd name="connsiteY0" fmla="*/ 11574 h 752354"/>
              <a:gd name="connsiteX1" fmla="*/ 7917083 w 7917083"/>
              <a:gd name="connsiteY1" fmla="*/ 0 h 752354"/>
              <a:gd name="connsiteX2" fmla="*/ 7315200 w 7917083"/>
              <a:gd name="connsiteY2" fmla="*/ 752354 h 752354"/>
              <a:gd name="connsiteX3" fmla="*/ 0 w 7917083"/>
              <a:gd name="connsiteY3" fmla="*/ 752354 h 752354"/>
              <a:gd name="connsiteX4" fmla="*/ 0 w 7917083"/>
              <a:gd name="connsiteY4" fmla="*/ 11574 h 752354"/>
              <a:gd name="connsiteX0" fmla="*/ 0 w 7917083"/>
              <a:gd name="connsiteY0" fmla="*/ 11574 h 752354"/>
              <a:gd name="connsiteX1" fmla="*/ 7917083 w 7917083"/>
              <a:gd name="connsiteY1" fmla="*/ 0 h 752354"/>
              <a:gd name="connsiteX2" fmla="*/ 7315200 w 7917083"/>
              <a:gd name="connsiteY2" fmla="*/ 752354 h 752354"/>
              <a:gd name="connsiteX3" fmla="*/ 0 w 7917083"/>
              <a:gd name="connsiteY3" fmla="*/ 752354 h 752354"/>
              <a:gd name="connsiteX4" fmla="*/ 0 w 7917083"/>
              <a:gd name="connsiteY4" fmla="*/ 11574 h 752354"/>
              <a:gd name="connsiteX0" fmla="*/ 0 w 7917083"/>
              <a:gd name="connsiteY0" fmla="*/ 0 h 740780"/>
              <a:gd name="connsiteX1" fmla="*/ 7917083 w 7917083"/>
              <a:gd name="connsiteY1" fmla="*/ 1 h 740780"/>
              <a:gd name="connsiteX2" fmla="*/ 7315200 w 7917083"/>
              <a:gd name="connsiteY2" fmla="*/ 740780 h 740780"/>
              <a:gd name="connsiteX3" fmla="*/ 0 w 7917083"/>
              <a:gd name="connsiteY3" fmla="*/ 740780 h 740780"/>
              <a:gd name="connsiteX4" fmla="*/ 0 w 7917083"/>
              <a:gd name="connsiteY4" fmla="*/ 0 h 740780"/>
              <a:gd name="connsiteX0" fmla="*/ 0 w 7315200"/>
              <a:gd name="connsiteY0" fmla="*/ 0 h 740780"/>
              <a:gd name="connsiteX1" fmla="*/ 7075547 w 7315200"/>
              <a:gd name="connsiteY1" fmla="*/ 14664 h 740780"/>
              <a:gd name="connsiteX2" fmla="*/ 7315200 w 7315200"/>
              <a:gd name="connsiteY2" fmla="*/ 740780 h 740780"/>
              <a:gd name="connsiteX3" fmla="*/ 0 w 7315200"/>
              <a:gd name="connsiteY3" fmla="*/ 740780 h 740780"/>
              <a:gd name="connsiteX4" fmla="*/ 0 w 7315200"/>
              <a:gd name="connsiteY4" fmla="*/ 0 h 7407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15200" h="740780">
                <a:moveTo>
                  <a:pt x="0" y="0"/>
                </a:moveTo>
                <a:lnTo>
                  <a:pt x="7075547" y="14664"/>
                </a:lnTo>
                <a:lnTo>
                  <a:pt x="7315200" y="740780"/>
                </a:lnTo>
                <a:lnTo>
                  <a:pt x="0" y="740780"/>
                </a:lnTo>
                <a:lnTo>
                  <a:pt x="0" y="0"/>
                </a:lnTo>
                <a:close/>
              </a:path>
            </a:pathLst>
          </a:custGeom>
          <a:solidFill>
            <a:srgbClr val="90D3D0"/>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3200" b="1" i="0" u="none" strike="noStrike" kern="0" cap="none" spc="0" normalizeH="0" baseline="0" noProof="0" dirty="0">
              <a:ln>
                <a:noFill/>
              </a:ln>
              <a:solidFill>
                <a:srgbClr val="FFFFFF"/>
              </a:solidFill>
              <a:effectLst/>
              <a:uLnTx/>
              <a:uFillTx/>
              <a:latin typeface="+mj-lt"/>
              <a:ea typeface="Tahoma" panose="020B0604030504040204" pitchFamily="34" charset="0"/>
              <a:cs typeface="Tahoma" panose="020B0604030504040204" pitchFamily="34" charset="0"/>
            </a:endParaRPr>
          </a:p>
        </p:txBody>
      </p:sp>
      <p:sp>
        <p:nvSpPr>
          <p:cNvPr id="18" name="Text Placeholder 17">
            <a:extLst>
              <a:ext uri="{FF2B5EF4-FFF2-40B4-BE49-F238E27FC236}">
                <a16:creationId xmlns:a16="http://schemas.microsoft.com/office/drawing/2014/main" id="{462CEDE2-2944-4291-B163-1707EA29317C}"/>
              </a:ext>
            </a:extLst>
          </p:cNvPr>
          <p:cNvSpPr>
            <a:spLocks noGrp="1"/>
          </p:cNvSpPr>
          <p:nvPr>
            <p:ph type="body" sz="quarter" idx="12"/>
          </p:nvPr>
        </p:nvSpPr>
        <p:spPr>
          <a:xfrm>
            <a:off x="320675" y="6419850"/>
            <a:ext cx="1234748" cy="301624"/>
          </a:xfrm>
        </p:spPr>
        <p:txBody>
          <a:bodyPr anchor="ctr">
            <a:noAutofit/>
          </a:bodyPr>
          <a:lstStyle>
            <a:lvl1pPr marL="0" indent="0">
              <a:buNone/>
              <a:defRPr sz="1000"/>
            </a:lvl1pPr>
          </a:lstStyle>
          <a:p>
            <a:pPr lvl="0"/>
            <a:endParaRPr lang="en-US" dirty="0"/>
          </a:p>
        </p:txBody>
      </p:sp>
      <p:sp>
        <p:nvSpPr>
          <p:cNvPr id="20" name="Text Placeholder 19">
            <a:extLst>
              <a:ext uri="{FF2B5EF4-FFF2-40B4-BE49-F238E27FC236}">
                <a16:creationId xmlns:a16="http://schemas.microsoft.com/office/drawing/2014/main" id="{ED4CDFDE-5939-4B59-A515-46A8A00CA01E}"/>
              </a:ext>
            </a:extLst>
          </p:cNvPr>
          <p:cNvSpPr>
            <a:spLocks noGrp="1"/>
          </p:cNvSpPr>
          <p:nvPr>
            <p:ph type="body" sz="quarter" idx="13"/>
          </p:nvPr>
        </p:nvSpPr>
        <p:spPr>
          <a:xfrm>
            <a:off x="1735138" y="6419850"/>
            <a:ext cx="8691562" cy="301625"/>
          </a:xfrm>
        </p:spPr>
        <p:txBody>
          <a:bodyPr anchor="ctr">
            <a:normAutofit/>
          </a:bodyPr>
          <a:lstStyle>
            <a:lvl1pPr marL="0" indent="0">
              <a:buNone/>
              <a:defRPr sz="1000"/>
            </a:lvl1pPr>
          </a:lstStyle>
          <a:p>
            <a:pPr lvl="0"/>
            <a:endParaRPr lang="en-US" dirty="0"/>
          </a:p>
        </p:txBody>
      </p:sp>
      <p:cxnSp>
        <p:nvCxnSpPr>
          <p:cNvPr id="30" name="Straight Connector 29">
            <a:extLst>
              <a:ext uri="{FF2B5EF4-FFF2-40B4-BE49-F238E27FC236}">
                <a16:creationId xmlns:a16="http://schemas.microsoft.com/office/drawing/2014/main" id="{5227861E-DC76-495E-9927-992689BD251A}"/>
              </a:ext>
            </a:extLst>
          </p:cNvPr>
          <p:cNvCxnSpPr/>
          <p:nvPr userDrawn="1"/>
        </p:nvCxnSpPr>
        <p:spPr>
          <a:xfrm>
            <a:off x="320577" y="923827"/>
            <a:ext cx="2856256" cy="0"/>
          </a:xfrm>
          <a:prstGeom prst="line">
            <a:avLst/>
          </a:prstGeom>
          <a:ln w="28575">
            <a:solidFill>
              <a:srgbClr val="9DD9D6"/>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991638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4_Basic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B792DC9-A2A3-4084-B7E8-9A7BAAB578AB}"/>
              </a:ext>
            </a:extLst>
          </p:cNvPr>
          <p:cNvSpPr/>
          <p:nvPr userDrawn="1"/>
        </p:nvSpPr>
        <p:spPr>
          <a:xfrm>
            <a:off x="596900" y="-18774"/>
            <a:ext cx="11593512" cy="68767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4" name="Rectangle 3">
            <a:extLst>
              <a:ext uri="{FF2B5EF4-FFF2-40B4-BE49-F238E27FC236}">
                <a16:creationId xmlns:a16="http://schemas.microsoft.com/office/drawing/2014/main" id="{F86E822B-C562-470B-8D0B-5C373492FBE2}"/>
              </a:ext>
            </a:extLst>
          </p:cNvPr>
          <p:cNvSpPr/>
          <p:nvPr userDrawn="1"/>
        </p:nvSpPr>
        <p:spPr>
          <a:xfrm>
            <a:off x="596900" y="-18774"/>
            <a:ext cx="424070" cy="654878"/>
          </a:xfrm>
          <a:prstGeom prst="rect">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5" name="Rectangle 4">
            <a:extLst>
              <a:ext uri="{FF2B5EF4-FFF2-40B4-BE49-F238E27FC236}">
                <a16:creationId xmlns:a16="http://schemas.microsoft.com/office/drawing/2014/main" id="{EB612896-10DD-4436-8860-6639059B6751}"/>
              </a:ext>
            </a:extLst>
          </p:cNvPr>
          <p:cNvSpPr/>
          <p:nvPr userDrawn="1"/>
        </p:nvSpPr>
        <p:spPr>
          <a:xfrm>
            <a:off x="11766342" y="6626"/>
            <a:ext cx="424070" cy="629478"/>
          </a:xfrm>
          <a:prstGeom prst="rect">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6" name="Rectangle 5"/>
          <p:cNvSpPr/>
          <p:nvPr userDrawn="1"/>
        </p:nvSpPr>
        <p:spPr>
          <a:xfrm>
            <a:off x="-12700" y="-18774"/>
            <a:ext cx="609600" cy="6876774"/>
          </a:xfrm>
          <a:prstGeom prst="rect">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813908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49_Images &amp; Contents Layout">
    <p:spTree>
      <p:nvGrpSpPr>
        <p:cNvPr id="1" name=""/>
        <p:cNvGrpSpPr/>
        <p:nvPr/>
      </p:nvGrpSpPr>
      <p:grpSpPr>
        <a:xfrm>
          <a:off x="0" y="0"/>
          <a:ext cx="0" cy="0"/>
          <a:chOff x="0" y="0"/>
          <a:chExt cx="0" cy="0"/>
        </a:xfrm>
      </p:grpSpPr>
      <p:cxnSp>
        <p:nvCxnSpPr>
          <p:cNvPr id="7" name="직선 연결선 6">
            <a:extLst>
              <a:ext uri="{FF2B5EF4-FFF2-40B4-BE49-F238E27FC236}">
                <a16:creationId xmlns:a16="http://schemas.microsoft.com/office/drawing/2014/main" id="{E34B3B3A-542A-46E1-A720-8928C9B91FC2}"/>
              </a:ext>
            </a:extLst>
          </p:cNvPr>
          <p:cNvCxnSpPr>
            <a:cxnSpLocks/>
          </p:cNvCxnSpPr>
          <p:nvPr userDrawn="1"/>
        </p:nvCxnSpPr>
        <p:spPr>
          <a:xfrm>
            <a:off x="6238876" y="1638302"/>
            <a:ext cx="5953124" cy="0"/>
          </a:xfrm>
          <a:prstGeom prst="line">
            <a:avLst/>
          </a:prstGeom>
          <a:ln w="38100">
            <a:solidFill>
              <a:srgbClr val="E67817"/>
            </a:solidFill>
          </a:ln>
        </p:spPr>
        <p:style>
          <a:lnRef idx="1">
            <a:schemeClr val="accent1"/>
          </a:lnRef>
          <a:fillRef idx="0">
            <a:schemeClr val="accent1"/>
          </a:fillRef>
          <a:effectRef idx="0">
            <a:schemeClr val="accent1"/>
          </a:effectRef>
          <a:fontRef idx="minor">
            <a:schemeClr val="tx1"/>
          </a:fontRef>
        </p:style>
      </p:cxnSp>
      <p:sp>
        <p:nvSpPr>
          <p:cNvPr id="5" name="자유형: 도형 4">
            <a:extLst>
              <a:ext uri="{FF2B5EF4-FFF2-40B4-BE49-F238E27FC236}">
                <a16:creationId xmlns:a16="http://schemas.microsoft.com/office/drawing/2014/main" id="{35A586F4-88B7-45EE-9708-47716F743070}"/>
              </a:ext>
            </a:extLst>
          </p:cNvPr>
          <p:cNvSpPr/>
          <p:nvPr userDrawn="1"/>
        </p:nvSpPr>
        <p:spPr>
          <a:xfrm flipV="1">
            <a:off x="152400" y="-1"/>
            <a:ext cx="6238876" cy="6848475"/>
          </a:xfrm>
          <a:custGeom>
            <a:avLst/>
            <a:gdLst>
              <a:gd name="connsiteX0" fmla="*/ 0 w 6238876"/>
              <a:gd name="connsiteY0" fmla="*/ 0 h 6858000"/>
              <a:gd name="connsiteX1" fmla="*/ 4819651 w 6238876"/>
              <a:gd name="connsiteY1" fmla="*/ 0 h 6858000"/>
              <a:gd name="connsiteX2" fmla="*/ 6238876 w 6238876"/>
              <a:gd name="connsiteY2" fmla="*/ 5229225 h 6858000"/>
              <a:gd name="connsiteX3" fmla="*/ 4819651 w 6238876"/>
              <a:gd name="connsiteY3" fmla="*/ 6858000 h 6858000"/>
              <a:gd name="connsiteX4" fmla="*/ 0 w 6238876"/>
              <a:gd name="connsiteY4" fmla="*/ 6858000 h 6858000"/>
              <a:gd name="connsiteX0" fmla="*/ 0 w 6238876"/>
              <a:gd name="connsiteY0" fmla="*/ 0 h 6858000"/>
              <a:gd name="connsiteX1" fmla="*/ 4819651 w 6238876"/>
              <a:gd name="connsiteY1" fmla="*/ 0 h 6858000"/>
              <a:gd name="connsiteX2" fmla="*/ 6238876 w 6238876"/>
              <a:gd name="connsiteY2" fmla="*/ 5229225 h 6858000"/>
              <a:gd name="connsiteX3" fmla="*/ 4819651 w 6238876"/>
              <a:gd name="connsiteY3" fmla="*/ 6858000 h 6858000"/>
              <a:gd name="connsiteX4" fmla="*/ 0 w 6238876"/>
              <a:gd name="connsiteY4" fmla="*/ 6858000 h 6858000"/>
              <a:gd name="connsiteX5" fmla="*/ 0 w 6238876"/>
              <a:gd name="connsiteY5" fmla="*/ 0 h 6858000"/>
              <a:gd name="connsiteX0" fmla="*/ 0 w 6238876"/>
              <a:gd name="connsiteY0" fmla="*/ 0 h 6858000"/>
              <a:gd name="connsiteX1" fmla="*/ 4819651 w 6238876"/>
              <a:gd name="connsiteY1" fmla="*/ 0 h 6858000"/>
              <a:gd name="connsiteX2" fmla="*/ 6238876 w 6238876"/>
              <a:gd name="connsiteY2" fmla="*/ 5229225 h 6858000"/>
              <a:gd name="connsiteX3" fmla="*/ 4819651 w 6238876"/>
              <a:gd name="connsiteY3" fmla="*/ 6858000 h 6858000"/>
              <a:gd name="connsiteX4" fmla="*/ 0 w 6238876"/>
              <a:gd name="connsiteY4" fmla="*/ 6858000 h 6858000"/>
              <a:gd name="connsiteX5" fmla="*/ 0 w 6238876"/>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38876" h="6858000">
                <a:moveTo>
                  <a:pt x="0" y="0"/>
                </a:moveTo>
                <a:lnTo>
                  <a:pt x="4819651" y="0"/>
                </a:lnTo>
                <a:cubicBezTo>
                  <a:pt x="4819651" y="1689100"/>
                  <a:pt x="5153027" y="4273550"/>
                  <a:pt x="6238876" y="5229225"/>
                </a:cubicBezTo>
                <a:cubicBezTo>
                  <a:pt x="5286376" y="5778500"/>
                  <a:pt x="4883152" y="6283325"/>
                  <a:pt x="4819651" y="6858000"/>
                </a:cubicBezTo>
                <a:lnTo>
                  <a:pt x="0" y="6858000"/>
                </a:lnTo>
                <a:lnTo>
                  <a:pt x="0" y="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86"/>
            <a:endParaRPr lang="ko-KR" altLang="en-US">
              <a:solidFill>
                <a:prstClr val="white"/>
              </a:solidFill>
            </a:endParaRPr>
          </a:p>
        </p:txBody>
      </p:sp>
      <p:sp>
        <p:nvSpPr>
          <p:cNvPr id="16" name="그림 개체 틀 15">
            <a:extLst>
              <a:ext uri="{FF2B5EF4-FFF2-40B4-BE49-F238E27FC236}">
                <a16:creationId xmlns:a16="http://schemas.microsoft.com/office/drawing/2014/main" id="{F31766EE-B13B-4F0C-AAE1-FB140846B864}"/>
              </a:ext>
            </a:extLst>
          </p:cNvPr>
          <p:cNvSpPr>
            <a:spLocks noGrp="1"/>
          </p:cNvSpPr>
          <p:nvPr>
            <p:ph type="pic" sz="quarter" idx="10" hasCustomPrompt="1"/>
          </p:nvPr>
        </p:nvSpPr>
        <p:spPr>
          <a:xfrm>
            <a:off x="0" y="0"/>
            <a:ext cx="6238876" cy="6858000"/>
          </a:xfrm>
          <a:custGeom>
            <a:avLst/>
            <a:gdLst>
              <a:gd name="connsiteX0" fmla="*/ 0 w 6238876"/>
              <a:gd name="connsiteY0" fmla="*/ 0 h 6858000"/>
              <a:gd name="connsiteX1" fmla="*/ 4819651 w 6238876"/>
              <a:gd name="connsiteY1" fmla="*/ 0 h 6858000"/>
              <a:gd name="connsiteX2" fmla="*/ 6238876 w 6238876"/>
              <a:gd name="connsiteY2" fmla="*/ 1628775 h 6858000"/>
              <a:gd name="connsiteX3" fmla="*/ 4819651 w 6238876"/>
              <a:gd name="connsiteY3" fmla="*/ 6858000 h 6858000"/>
              <a:gd name="connsiteX4" fmla="*/ 0 w 623887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38876" h="6858000">
                <a:moveTo>
                  <a:pt x="0" y="0"/>
                </a:moveTo>
                <a:lnTo>
                  <a:pt x="4819651" y="0"/>
                </a:lnTo>
                <a:cubicBezTo>
                  <a:pt x="4845052" y="371475"/>
                  <a:pt x="5222876" y="1143000"/>
                  <a:pt x="6238876" y="1628775"/>
                </a:cubicBezTo>
                <a:cubicBezTo>
                  <a:pt x="5153027" y="2584450"/>
                  <a:pt x="4819651" y="5168900"/>
                  <a:pt x="4819651" y="6858000"/>
                </a:cubicBezTo>
                <a:lnTo>
                  <a:pt x="0" y="6858000"/>
                </a:lnTo>
                <a:close/>
              </a:path>
            </a:pathLst>
          </a:custGeom>
          <a:solidFill>
            <a:schemeClr val="bg1">
              <a:lumMod val="95000"/>
            </a:schemeClr>
          </a:solidFill>
          <a:effectLst/>
        </p:spPr>
        <p:txBody>
          <a:bodyPr wrap="square" anchor="ctr">
            <a:noAutofit/>
          </a:bodyPr>
          <a:lstStyle>
            <a:lvl1pPr marL="0" marR="0" indent="0" algn="ctr" defTabSz="914400" rtl="0" eaLnBrk="1" fontAlgn="auto" latinLnBrk="1" hangingPunct="1">
              <a:lnSpc>
                <a:spcPct val="90000"/>
              </a:lnSpc>
              <a:spcBef>
                <a:spcPts val="1000"/>
              </a:spcBef>
              <a:spcAft>
                <a:spcPts val="0"/>
              </a:spcAft>
              <a:buClrTx/>
              <a:buSzTx/>
              <a:buFontTx/>
              <a:buNone/>
              <a:tabLst/>
              <a:defRPr sz="1200"/>
            </a:lvl1pPr>
          </a:lstStyle>
          <a:p>
            <a:r>
              <a:rPr lang="en-US" altLang="ko-KR" dirty="0"/>
              <a:t>Your Picture Here</a:t>
            </a:r>
            <a:endParaRPr lang="ko-KR" altLang="en-US" dirty="0"/>
          </a:p>
        </p:txBody>
      </p:sp>
    </p:spTree>
    <p:extLst>
      <p:ext uri="{BB962C8B-B14F-4D97-AF65-F5344CB8AC3E}">
        <p14:creationId xmlns:p14="http://schemas.microsoft.com/office/powerpoint/2010/main" val="1597522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0563593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1236871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7/28/2025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8618414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7/28/2025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4864347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7/28/2025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508686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7/28/2025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1553260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7/28/2025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0384348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7/28/2025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9542991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7/28/2025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2540291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1822409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8502430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1_Basic Layout">
    <p:bg>
      <p:bgPr>
        <a:solidFill>
          <a:schemeClr val="bg1"/>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8347E771-EB9F-4EB8-2EA9-A987D8CFAD87}"/>
              </a:ext>
            </a:extLst>
          </p:cNvPr>
          <p:cNvCxnSpPr/>
          <p:nvPr userDrawn="1"/>
        </p:nvCxnSpPr>
        <p:spPr>
          <a:xfrm>
            <a:off x="0" y="6087291"/>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CAC7338-2D9C-CC2E-67E8-BC0F7780F8B7}"/>
              </a:ext>
            </a:extLst>
          </p:cNvPr>
          <p:cNvCxnSpPr>
            <a:cxnSpLocks/>
          </p:cNvCxnSpPr>
          <p:nvPr userDrawn="1"/>
        </p:nvCxnSpPr>
        <p:spPr>
          <a:xfrm>
            <a:off x="655950" y="6234099"/>
            <a:ext cx="0" cy="40763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800353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5" Type="http://schemas.openxmlformats.org/officeDocument/2006/relationships/slideLayout" Target="../slideLayouts/slideLayout7.xml"/><Relationship Id="rId10" Type="http://schemas.openxmlformats.org/officeDocument/2006/relationships/theme" Target="../theme/theme4.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5.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6107307"/>
      </p:ext>
    </p:extLst>
  </p:cSld>
  <p:clrMap bg1="lt1" tx1="dk1" bg2="lt2" tx2="dk2" accent1="accent1" accent2="accent2" accent3="accent3" accent4="accent4" accent5="accent5" accent6="accent6" hlink="hlink" folHlink="folHlink"/>
  <p:sldLayoutIdLst>
    <p:sldLayoutId id="2147483661" r:id="rId1"/>
  </p:sldLayoutIdLst>
  <p:txStyles>
    <p:titleStyle>
      <a:lvl1pPr algn="l" defTabSz="91442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5" algn="l" defTabSz="914423" rtl="0" eaLnBrk="1" latinLnBrk="0" hangingPunct="1">
        <a:defRPr sz="1800" kern="1200">
          <a:solidFill>
            <a:schemeClr val="tx1"/>
          </a:solidFill>
          <a:latin typeface="+mn-lt"/>
          <a:ea typeface="+mn-ea"/>
          <a:cs typeface="+mn-cs"/>
        </a:defRPr>
      </a:lvl4pPr>
      <a:lvl5pPr marL="1828845" algn="l" defTabSz="914423" rtl="0" eaLnBrk="1" latinLnBrk="0" hangingPunct="1">
        <a:defRPr sz="1800" kern="1200">
          <a:solidFill>
            <a:schemeClr val="tx1"/>
          </a:solidFill>
          <a:latin typeface="+mn-lt"/>
          <a:ea typeface="+mn-ea"/>
          <a:cs typeface="+mn-cs"/>
        </a:defRPr>
      </a:lvl5pPr>
      <a:lvl6pPr marL="2286058" algn="l" defTabSz="914423" rtl="0" eaLnBrk="1" latinLnBrk="0" hangingPunct="1">
        <a:defRPr sz="1800" kern="1200">
          <a:solidFill>
            <a:schemeClr val="tx1"/>
          </a:solidFill>
          <a:latin typeface="+mn-lt"/>
          <a:ea typeface="+mn-ea"/>
          <a:cs typeface="+mn-cs"/>
        </a:defRPr>
      </a:lvl6pPr>
      <a:lvl7pPr marL="2743268"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2" algn="l" defTabSz="91442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7014243"/>
      </p:ext>
    </p:extLst>
  </p:cSld>
  <p:clrMap bg1="lt1" tx1="dk1" bg2="lt2" tx2="dk2" accent1="accent1" accent2="accent2" accent3="accent3" accent4="accent4" accent5="accent5" accent6="accent6" hlink="hlink" folHlink="folHlink"/>
  <p:sldLayoutIdLst>
    <p:sldLayoutId id="2147483663" r:id="rId1"/>
  </p:sldLayoutIdLst>
  <p:txStyles>
    <p:titleStyle>
      <a:lvl1pPr algn="l" defTabSz="91442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5" algn="l" defTabSz="914423" rtl="0" eaLnBrk="1" latinLnBrk="0" hangingPunct="1">
        <a:defRPr sz="1800" kern="1200">
          <a:solidFill>
            <a:schemeClr val="tx1"/>
          </a:solidFill>
          <a:latin typeface="+mn-lt"/>
          <a:ea typeface="+mn-ea"/>
          <a:cs typeface="+mn-cs"/>
        </a:defRPr>
      </a:lvl4pPr>
      <a:lvl5pPr marL="1828845" algn="l" defTabSz="914423" rtl="0" eaLnBrk="1" latinLnBrk="0" hangingPunct="1">
        <a:defRPr sz="1800" kern="1200">
          <a:solidFill>
            <a:schemeClr val="tx1"/>
          </a:solidFill>
          <a:latin typeface="+mn-lt"/>
          <a:ea typeface="+mn-ea"/>
          <a:cs typeface="+mn-cs"/>
        </a:defRPr>
      </a:lvl5pPr>
      <a:lvl6pPr marL="2286058" algn="l" defTabSz="914423" rtl="0" eaLnBrk="1" latinLnBrk="0" hangingPunct="1">
        <a:defRPr sz="1800" kern="1200">
          <a:solidFill>
            <a:schemeClr val="tx1"/>
          </a:solidFill>
          <a:latin typeface="+mn-lt"/>
          <a:ea typeface="+mn-ea"/>
          <a:cs typeface="+mn-cs"/>
        </a:defRPr>
      </a:lvl6pPr>
      <a:lvl7pPr marL="2743268"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2" algn="l" defTabSz="914423"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5444885"/>
      </p:ext>
    </p:extLst>
  </p:cSld>
  <p:clrMap bg1="lt1" tx1="dk1" bg2="lt2" tx2="dk2" accent1="accent1" accent2="accent2" accent3="accent3" accent4="accent4" accent5="accent5" accent6="accent6" hlink="hlink" folHlink="folHlink"/>
  <p:txStyles>
    <p:titleStyle>
      <a:lvl1pPr algn="l" defTabSz="91442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5" algn="l" defTabSz="914423" rtl="0" eaLnBrk="1" latinLnBrk="0" hangingPunct="1">
        <a:defRPr sz="1800" kern="1200">
          <a:solidFill>
            <a:schemeClr val="tx1"/>
          </a:solidFill>
          <a:latin typeface="+mn-lt"/>
          <a:ea typeface="+mn-ea"/>
          <a:cs typeface="+mn-cs"/>
        </a:defRPr>
      </a:lvl4pPr>
      <a:lvl5pPr marL="1828845" algn="l" defTabSz="914423" rtl="0" eaLnBrk="1" latinLnBrk="0" hangingPunct="1">
        <a:defRPr sz="1800" kern="1200">
          <a:solidFill>
            <a:schemeClr val="tx1"/>
          </a:solidFill>
          <a:latin typeface="+mn-lt"/>
          <a:ea typeface="+mn-ea"/>
          <a:cs typeface="+mn-cs"/>
        </a:defRPr>
      </a:lvl5pPr>
      <a:lvl6pPr marL="2286058" algn="l" defTabSz="914423" rtl="0" eaLnBrk="1" latinLnBrk="0" hangingPunct="1">
        <a:defRPr sz="1800" kern="1200">
          <a:solidFill>
            <a:schemeClr val="tx1"/>
          </a:solidFill>
          <a:latin typeface="+mn-lt"/>
          <a:ea typeface="+mn-ea"/>
          <a:cs typeface="+mn-cs"/>
        </a:defRPr>
      </a:lvl6pPr>
      <a:lvl7pPr marL="2743268"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2" algn="l" defTabSz="914423"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4BD5DCAE-C476-40E3-B04B-707ACC1F1010}"/>
              </a:ext>
            </a:extLst>
          </p:cNvPr>
          <p:cNvCxnSpPr/>
          <p:nvPr userDrawn="1"/>
        </p:nvCxnSpPr>
        <p:spPr>
          <a:xfrm>
            <a:off x="0" y="6269857"/>
            <a:ext cx="12192000"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0024478"/>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7/28/2025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4173567497"/>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7.png"/><Relationship Id="rId18" Type="http://schemas.openxmlformats.org/officeDocument/2006/relationships/chart" Target="../charts/chart6.xml"/><Relationship Id="rId3" Type="http://schemas.openxmlformats.org/officeDocument/2006/relationships/chart" Target="../charts/chart2.xml"/><Relationship Id="rId7" Type="http://schemas.openxmlformats.org/officeDocument/2006/relationships/image" Target="../media/image6.svg"/><Relationship Id="rId12" Type="http://schemas.openxmlformats.org/officeDocument/2006/relationships/chart" Target="../charts/chart3.xml"/><Relationship Id="rId17" Type="http://schemas.openxmlformats.org/officeDocument/2006/relationships/chart" Target="../charts/chart5.xml"/><Relationship Id="rId2" Type="http://schemas.openxmlformats.org/officeDocument/2006/relationships/chart" Target="../charts/chart1.xml"/><Relationship Id="rId16" Type="http://schemas.openxmlformats.org/officeDocument/2006/relationships/chart" Target="../charts/chart4.xml"/><Relationship Id="rId1" Type="http://schemas.openxmlformats.org/officeDocument/2006/relationships/slideLayout" Target="../slideLayouts/slideLayout23.xml"/><Relationship Id="rId6" Type="http://schemas.openxmlformats.org/officeDocument/2006/relationships/image" Target="../media/image4.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8.png"/><Relationship Id="rId10" Type="http://schemas.openxmlformats.org/officeDocument/2006/relationships/image" Target="../media/image6.png"/><Relationship Id="rId19"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2.svg"/></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2" Type="http://schemas.openxmlformats.org/officeDocument/2006/relationships/chart" Target="../charts/chart15.xml"/><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2" Type="http://schemas.openxmlformats.org/officeDocument/2006/relationships/chart" Target="../charts/chart16.xml"/><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2" Type="http://schemas.openxmlformats.org/officeDocument/2006/relationships/chart" Target="../charts/chart17.xml"/><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2" Type="http://schemas.openxmlformats.org/officeDocument/2006/relationships/chart" Target="../charts/chart18.xml"/><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2" Type="http://schemas.openxmlformats.org/officeDocument/2006/relationships/chart" Target="../charts/chart19.xml"/><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2" Type="http://schemas.openxmlformats.org/officeDocument/2006/relationships/chart" Target="../charts/chart20.xml"/><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2" Type="http://schemas.openxmlformats.org/officeDocument/2006/relationships/chart" Target="../charts/chart21.xml"/><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2" Type="http://schemas.openxmlformats.org/officeDocument/2006/relationships/chart" Target="../charts/chart22.xml"/><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2" Type="http://schemas.openxmlformats.org/officeDocument/2006/relationships/chart" Target="../charts/chart23.xml"/><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2" Type="http://schemas.openxmlformats.org/officeDocument/2006/relationships/chart" Target="../charts/chart24.xml"/><Relationship Id="rId1" Type="http://schemas.openxmlformats.org/officeDocument/2006/relationships/slideLayout" Target="../slideLayouts/slideLayout23.xml"/></Relationships>
</file>

<file path=ppt/slides/_rels/slide31.xml.rels><?xml version="1.0" encoding="UTF-8" standalone="yes"?>
<Relationships xmlns="http://schemas.openxmlformats.org/package/2006/relationships"><Relationship Id="rId2" Type="http://schemas.openxmlformats.org/officeDocument/2006/relationships/chart" Target="../charts/chart25.xml"/><Relationship Id="rId1" Type="http://schemas.openxmlformats.org/officeDocument/2006/relationships/slideLayout" Target="../slideLayouts/slideLayout23.xml"/></Relationships>
</file>

<file path=ppt/slides/_rels/slide32.xml.rels><?xml version="1.0" encoding="UTF-8" standalone="yes"?>
<Relationships xmlns="http://schemas.openxmlformats.org/package/2006/relationships"><Relationship Id="rId2" Type="http://schemas.openxmlformats.org/officeDocument/2006/relationships/chart" Target="../charts/chart26.xml"/><Relationship Id="rId1" Type="http://schemas.openxmlformats.org/officeDocument/2006/relationships/slideLayout" Target="../slideLayouts/slideLayout23.xml"/></Relationships>
</file>

<file path=ppt/slides/_rels/slide33.xml.rels><?xml version="1.0" encoding="UTF-8" standalone="yes"?>
<Relationships xmlns="http://schemas.openxmlformats.org/package/2006/relationships"><Relationship Id="rId2" Type="http://schemas.openxmlformats.org/officeDocument/2006/relationships/chart" Target="../charts/chart27.xml"/><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2" Type="http://schemas.openxmlformats.org/officeDocument/2006/relationships/chart" Target="../charts/chart28.xml"/><Relationship Id="rId1" Type="http://schemas.openxmlformats.org/officeDocument/2006/relationships/slideLayout" Target="../slideLayouts/slideLayout23.xml"/></Relationships>
</file>

<file path=ppt/slides/_rels/slide35.xml.rels><?xml version="1.0" encoding="UTF-8" standalone="yes"?>
<Relationships xmlns="http://schemas.openxmlformats.org/package/2006/relationships"><Relationship Id="rId2" Type="http://schemas.openxmlformats.org/officeDocument/2006/relationships/chart" Target="../charts/chart29.xml"/><Relationship Id="rId1" Type="http://schemas.openxmlformats.org/officeDocument/2006/relationships/slideLayout" Target="../slideLayouts/slideLayout23.xml"/></Relationships>
</file>

<file path=ppt/slides/_rels/slide36.xml.rels><?xml version="1.0" encoding="UTF-8" standalone="yes"?>
<Relationships xmlns="http://schemas.openxmlformats.org/package/2006/relationships"><Relationship Id="rId2" Type="http://schemas.openxmlformats.org/officeDocument/2006/relationships/chart" Target="../charts/chart30.xml"/><Relationship Id="rId1" Type="http://schemas.openxmlformats.org/officeDocument/2006/relationships/slideLayout" Target="../slideLayouts/slideLayout23.xml"/></Relationships>
</file>

<file path=ppt/slides/_rels/slide37.xml.rels><?xml version="1.0" encoding="UTF-8" standalone="yes"?>
<Relationships xmlns="http://schemas.openxmlformats.org/package/2006/relationships"><Relationship Id="rId2" Type="http://schemas.openxmlformats.org/officeDocument/2006/relationships/chart" Target="../charts/chart31.xml"/><Relationship Id="rId1" Type="http://schemas.openxmlformats.org/officeDocument/2006/relationships/slideLayout" Target="../slideLayouts/slideLayout23.xml"/></Relationships>
</file>

<file path=ppt/slides/_rels/slide38.xml.rels><?xml version="1.0" encoding="UTF-8" standalone="yes"?>
<Relationships xmlns="http://schemas.openxmlformats.org/package/2006/relationships"><Relationship Id="rId2" Type="http://schemas.openxmlformats.org/officeDocument/2006/relationships/chart" Target="../charts/chart32.xml"/><Relationship Id="rId1" Type="http://schemas.openxmlformats.org/officeDocument/2006/relationships/slideLayout" Target="../slideLayouts/slideLayout23.xml"/></Relationships>
</file>

<file path=ppt/slides/_rels/slide39.xml.rels><?xml version="1.0" encoding="UTF-8" standalone="yes"?>
<Relationships xmlns="http://schemas.openxmlformats.org/package/2006/relationships"><Relationship Id="rId2" Type="http://schemas.openxmlformats.org/officeDocument/2006/relationships/chart" Target="../charts/chart33.xml"/><Relationship Id="rId1" Type="http://schemas.openxmlformats.org/officeDocument/2006/relationships/slideLayout" Target="../slideLayouts/slideLayout23.xml"/></Relationships>
</file>

<file path=ppt/slides/_rels/slide40.xml.rels><?xml version="1.0" encoding="UTF-8" standalone="yes"?>
<Relationships xmlns="http://schemas.openxmlformats.org/package/2006/relationships"><Relationship Id="rId2" Type="http://schemas.openxmlformats.org/officeDocument/2006/relationships/chart" Target="../charts/chart34.xml"/><Relationship Id="rId1" Type="http://schemas.openxmlformats.org/officeDocument/2006/relationships/slideLayout" Target="../slideLayouts/slideLayout23.xml"/></Relationships>
</file>

<file path=ppt/slides/_rels/slide41.xml.rels><?xml version="1.0" encoding="UTF-8" standalone="yes"?>
<Relationships xmlns="http://schemas.openxmlformats.org/package/2006/relationships"><Relationship Id="rId2" Type="http://schemas.openxmlformats.org/officeDocument/2006/relationships/chart" Target="../charts/chart35.xml"/><Relationship Id="rId1" Type="http://schemas.openxmlformats.org/officeDocument/2006/relationships/slideLayout" Target="../slideLayouts/slideLayout23.xml"/></Relationships>
</file>

<file path=ppt/slides/_rels/slide42.xml.rels><?xml version="1.0" encoding="UTF-8" standalone="yes"?>
<Relationships xmlns="http://schemas.openxmlformats.org/package/2006/relationships"><Relationship Id="rId2" Type="http://schemas.openxmlformats.org/officeDocument/2006/relationships/chart" Target="../charts/chart36.xml"/><Relationship Id="rId1" Type="http://schemas.openxmlformats.org/officeDocument/2006/relationships/slideLayout" Target="../slideLayouts/slideLayout23.xml"/></Relationships>
</file>

<file path=ppt/slides/_rels/slide43.xml.rels><?xml version="1.0" encoding="UTF-8" standalone="yes"?>
<Relationships xmlns="http://schemas.openxmlformats.org/package/2006/relationships"><Relationship Id="rId2" Type="http://schemas.openxmlformats.org/officeDocument/2006/relationships/chart" Target="../charts/chart37.xml"/><Relationship Id="rId1" Type="http://schemas.openxmlformats.org/officeDocument/2006/relationships/slideLayout" Target="../slideLayouts/slideLayout23.xml"/></Relationships>
</file>

<file path=ppt/slides/_rels/slide44.xml.rels><?xml version="1.0" encoding="UTF-8" standalone="yes"?>
<Relationships xmlns="http://schemas.openxmlformats.org/package/2006/relationships"><Relationship Id="rId2" Type="http://schemas.openxmlformats.org/officeDocument/2006/relationships/chart" Target="../charts/chart38.xml"/><Relationship Id="rId1" Type="http://schemas.openxmlformats.org/officeDocument/2006/relationships/slideLayout" Target="../slideLayouts/slideLayout2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6.xml.rels><?xml version="1.0" encoding="UTF-8" standalone="yes"?>
<Relationships xmlns="http://schemas.openxmlformats.org/package/2006/relationships"><Relationship Id="rId2" Type="http://schemas.openxmlformats.org/officeDocument/2006/relationships/chart" Target="../charts/chart39.xml"/><Relationship Id="rId1" Type="http://schemas.openxmlformats.org/officeDocument/2006/relationships/slideLayout" Target="../slideLayouts/slideLayout23.xml"/></Relationships>
</file>

<file path=ppt/slides/_rels/slide47.xml.rels><?xml version="1.0" encoding="UTF-8" standalone="yes"?>
<Relationships xmlns="http://schemas.openxmlformats.org/package/2006/relationships"><Relationship Id="rId2" Type="http://schemas.openxmlformats.org/officeDocument/2006/relationships/chart" Target="../charts/chart40.xml"/><Relationship Id="rId1" Type="http://schemas.openxmlformats.org/officeDocument/2006/relationships/slideLayout" Target="../slideLayouts/slideLayout23.xml"/></Relationships>
</file>

<file path=ppt/slides/_rels/slide48.xml.rels><?xml version="1.0" encoding="UTF-8" standalone="yes"?>
<Relationships xmlns="http://schemas.openxmlformats.org/package/2006/relationships"><Relationship Id="rId2" Type="http://schemas.openxmlformats.org/officeDocument/2006/relationships/chart" Target="../charts/chart41.xml"/><Relationship Id="rId1" Type="http://schemas.openxmlformats.org/officeDocument/2006/relationships/slideLayout" Target="../slideLayouts/slideLayout23.xml"/></Relationships>
</file>

<file path=ppt/slides/_rels/slide49.xml.rels><?xml version="1.0" encoding="UTF-8" standalone="yes"?>
<Relationships xmlns="http://schemas.openxmlformats.org/package/2006/relationships"><Relationship Id="rId2" Type="http://schemas.openxmlformats.org/officeDocument/2006/relationships/chart" Target="../charts/chart42.xml"/><Relationship Id="rId1" Type="http://schemas.openxmlformats.org/officeDocument/2006/relationships/slideLayout" Target="../slideLayouts/slideLayout23.xml"/></Relationships>
</file>

<file path=ppt/slides/_rels/slide50.xml.rels><?xml version="1.0" encoding="UTF-8" standalone="yes"?>
<Relationships xmlns="http://schemas.openxmlformats.org/package/2006/relationships"><Relationship Id="rId2" Type="http://schemas.openxmlformats.org/officeDocument/2006/relationships/chart" Target="../charts/chart43.xml"/><Relationship Id="rId1" Type="http://schemas.openxmlformats.org/officeDocument/2006/relationships/slideLayout" Target="../slideLayouts/slideLayout2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2.xml.rels><?xml version="1.0" encoding="UTF-8" standalone="yes"?>
<Relationships xmlns="http://schemas.openxmlformats.org/package/2006/relationships"><Relationship Id="rId2" Type="http://schemas.openxmlformats.org/officeDocument/2006/relationships/chart" Target="../charts/chart44.xml"/><Relationship Id="rId1" Type="http://schemas.openxmlformats.org/officeDocument/2006/relationships/slideLayout" Target="../slideLayouts/slideLayout23.xml"/></Relationships>
</file>

<file path=ppt/slides/_rels/slide53.xml.rels><?xml version="1.0" encoding="UTF-8" standalone="yes"?>
<Relationships xmlns="http://schemas.openxmlformats.org/package/2006/relationships"><Relationship Id="rId2" Type="http://schemas.openxmlformats.org/officeDocument/2006/relationships/chart" Target="../charts/chart45.xml"/><Relationship Id="rId1" Type="http://schemas.openxmlformats.org/officeDocument/2006/relationships/slideLayout" Target="../slideLayouts/slideLayout2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5.xml.rels><?xml version="1.0" encoding="UTF-8" standalone="yes"?>
<Relationships xmlns="http://schemas.openxmlformats.org/package/2006/relationships"><Relationship Id="rId2" Type="http://schemas.openxmlformats.org/officeDocument/2006/relationships/chart" Target="../charts/chart46.xml"/><Relationship Id="rId1" Type="http://schemas.openxmlformats.org/officeDocument/2006/relationships/slideLayout" Target="../slideLayouts/slideLayout2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7.xml.rels><?xml version="1.0" encoding="UTF-8" standalone="yes"?>
<Relationships xmlns="http://schemas.openxmlformats.org/package/2006/relationships"><Relationship Id="rId2" Type="http://schemas.openxmlformats.org/officeDocument/2006/relationships/chart" Target="../charts/chart47.xml"/><Relationship Id="rId1" Type="http://schemas.openxmlformats.org/officeDocument/2006/relationships/slideLayout" Target="../slideLayouts/slideLayout23.xml"/></Relationships>
</file>

<file path=ppt/slides/_rels/slide58.xml.rels><?xml version="1.0" encoding="UTF-8" standalone="yes"?>
<Relationships xmlns="http://schemas.openxmlformats.org/package/2006/relationships"><Relationship Id="rId3" Type="http://schemas.openxmlformats.org/officeDocument/2006/relationships/chart" Target="../charts/chart48.xml"/><Relationship Id="rId2" Type="http://schemas.openxmlformats.org/officeDocument/2006/relationships/slideLayout" Target="../slideLayouts/slideLayout23.xml"/><Relationship Id="rId1" Type="http://schemas.openxmlformats.org/officeDocument/2006/relationships/tags" Target="../tags/tag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0.xml.rels><?xml version="1.0" encoding="UTF-8" standalone="yes"?>
<Relationships xmlns="http://schemas.openxmlformats.org/package/2006/relationships"><Relationship Id="rId2" Type="http://schemas.openxmlformats.org/officeDocument/2006/relationships/chart" Target="../charts/chart49.xml"/><Relationship Id="rId1" Type="http://schemas.openxmlformats.org/officeDocument/2006/relationships/slideLayout" Target="../slideLayouts/slideLayout23.xml"/></Relationships>
</file>

<file path=ppt/slides/_rels/slide61.xml.rels><?xml version="1.0" encoding="UTF-8" standalone="yes"?>
<Relationships xmlns="http://schemas.openxmlformats.org/package/2006/relationships"><Relationship Id="rId3" Type="http://schemas.openxmlformats.org/officeDocument/2006/relationships/chart" Target="../charts/chart50.xml"/><Relationship Id="rId2" Type="http://schemas.openxmlformats.org/officeDocument/2006/relationships/slideLayout" Target="../slideLayouts/slideLayout23.xml"/><Relationship Id="rId1" Type="http://schemas.openxmlformats.org/officeDocument/2006/relationships/tags" Target="../tags/tag2.xml"/></Relationships>
</file>

<file path=ppt/slides/_rels/slide62.xml.rels><?xml version="1.0" encoding="UTF-8" standalone="yes"?>
<Relationships xmlns="http://schemas.openxmlformats.org/package/2006/relationships"><Relationship Id="rId2" Type="http://schemas.openxmlformats.org/officeDocument/2006/relationships/chart" Target="../charts/chart51.xml"/><Relationship Id="rId1" Type="http://schemas.openxmlformats.org/officeDocument/2006/relationships/slideLayout" Target="../slideLayouts/slideLayout23.xml"/></Relationships>
</file>

<file path=ppt/slides/_rels/slide63.xml.rels><?xml version="1.0" encoding="UTF-8" standalone="yes"?>
<Relationships xmlns="http://schemas.openxmlformats.org/package/2006/relationships"><Relationship Id="rId2" Type="http://schemas.openxmlformats.org/officeDocument/2006/relationships/chart" Target="../charts/chart52.xml"/><Relationship Id="rId1" Type="http://schemas.openxmlformats.org/officeDocument/2006/relationships/slideLayout" Target="../slideLayouts/slideLayout23.xml"/></Relationships>
</file>

<file path=ppt/slides/_rels/slide64.xml.rels><?xml version="1.0" encoding="UTF-8" standalone="yes"?>
<Relationships xmlns="http://schemas.openxmlformats.org/package/2006/relationships"><Relationship Id="rId2" Type="http://schemas.openxmlformats.org/officeDocument/2006/relationships/chart" Target="../charts/chart53.xml"/><Relationship Id="rId1" Type="http://schemas.openxmlformats.org/officeDocument/2006/relationships/slideLayout" Target="../slideLayouts/slideLayout23.xml"/></Relationships>
</file>

<file path=ppt/slides/_rels/slide65.xml.rels><?xml version="1.0" encoding="UTF-8" standalone="yes"?>
<Relationships xmlns="http://schemas.openxmlformats.org/package/2006/relationships"><Relationship Id="rId3" Type="http://schemas.openxmlformats.org/officeDocument/2006/relationships/chart" Target="../charts/chart54.xml"/><Relationship Id="rId2" Type="http://schemas.openxmlformats.org/officeDocument/2006/relationships/slideLayout" Target="../slideLayouts/slideLayout23.xml"/><Relationship Id="rId1" Type="http://schemas.openxmlformats.org/officeDocument/2006/relationships/tags" Target="../tags/tag3.xml"/></Relationships>
</file>

<file path=ppt/slides/_rels/slide66.xml.rels><?xml version="1.0" encoding="UTF-8" standalone="yes"?>
<Relationships xmlns="http://schemas.openxmlformats.org/package/2006/relationships"><Relationship Id="rId2" Type="http://schemas.openxmlformats.org/officeDocument/2006/relationships/chart" Target="../charts/chart55.xml"/><Relationship Id="rId1" Type="http://schemas.openxmlformats.org/officeDocument/2006/relationships/slideLayout" Target="../slideLayouts/slideLayout2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8.xml.rels><?xml version="1.0" encoding="UTF-8" standalone="yes"?>
<Relationships xmlns="http://schemas.openxmlformats.org/package/2006/relationships"><Relationship Id="rId2" Type="http://schemas.openxmlformats.org/officeDocument/2006/relationships/chart" Target="../charts/chart56.xml"/><Relationship Id="rId1" Type="http://schemas.openxmlformats.org/officeDocument/2006/relationships/slideLayout" Target="../slideLayouts/slideLayout23.xml"/></Relationships>
</file>

<file path=ppt/slides/_rels/slide69.xml.rels><?xml version="1.0" encoding="UTF-8" standalone="yes"?>
<Relationships xmlns="http://schemas.openxmlformats.org/package/2006/relationships"><Relationship Id="rId2" Type="http://schemas.openxmlformats.org/officeDocument/2006/relationships/chart" Target="../charts/chart57.xml"/><Relationship Id="rId1" Type="http://schemas.openxmlformats.org/officeDocument/2006/relationships/slideLayout" Target="../slideLayouts/slideLayout23.xml"/></Relationships>
</file>

<file path=ppt/slides/_rels/slide70.xml.rels><?xml version="1.0" encoding="UTF-8" standalone="yes"?>
<Relationships xmlns="http://schemas.openxmlformats.org/package/2006/relationships"><Relationship Id="rId3" Type="http://schemas.openxmlformats.org/officeDocument/2006/relationships/chart" Target="../charts/chart58.xml"/><Relationship Id="rId2" Type="http://schemas.openxmlformats.org/officeDocument/2006/relationships/slideLayout" Target="../slideLayouts/slideLayout23.xml"/><Relationship Id="rId1" Type="http://schemas.openxmlformats.org/officeDocument/2006/relationships/tags" Target="../tags/tag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7.xml.rels><?xml version="1.0" encoding="UTF-8" standalone="yes"?>
<Relationships xmlns="http://schemas.openxmlformats.org/package/2006/relationships"><Relationship Id="rId3" Type="http://schemas.openxmlformats.org/officeDocument/2006/relationships/chart" Target="../charts/chart59.xml"/><Relationship Id="rId2" Type="http://schemas.openxmlformats.org/officeDocument/2006/relationships/slideLayout" Target="../slideLayouts/slideLayout23.xml"/><Relationship Id="rId1" Type="http://schemas.openxmlformats.org/officeDocument/2006/relationships/tags" Target="../tags/tag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8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0000" r="-2000" b="40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054A76E-BEA5-C0B8-DE40-62735FA7D360}"/>
              </a:ext>
            </a:extLst>
          </p:cNvPr>
          <p:cNvSpPr/>
          <p:nvPr/>
        </p:nvSpPr>
        <p:spPr>
          <a:xfrm>
            <a:off x="-38786" y="-630"/>
            <a:ext cx="12192000" cy="6858000"/>
          </a:xfrm>
          <a:prstGeom prst="rect">
            <a:avLst/>
          </a:prstGeom>
          <a:solidFill>
            <a:schemeClr val="tx1">
              <a:alpha val="7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3" name="Rectangle 2">
            <a:extLst>
              <a:ext uri="{FF2B5EF4-FFF2-40B4-BE49-F238E27FC236}">
                <a16:creationId xmlns:a16="http://schemas.microsoft.com/office/drawing/2014/main" id="{458F015C-7888-47FF-94E1-AAFD2FF0A6F9}"/>
              </a:ext>
            </a:extLst>
          </p:cNvPr>
          <p:cNvSpPr/>
          <p:nvPr/>
        </p:nvSpPr>
        <p:spPr>
          <a:xfrm>
            <a:off x="1099930" y="2093843"/>
            <a:ext cx="119270" cy="21866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ook Antiqua" panose="02040602050305030304" pitchFamily="18" charset="0"/>
              <a:ea typeface="Arial Unicode MS"/>
              <a:cs typeface="+mn-cs"/>
            </a:endParaRPr>
          </a:p>
        </p:txBody>
      </p:sp>
      <p:sp>
        <p:nvSpPr>
          <p:cNvPr id="5" name="TextBox 4">
            <a:extLst>
              <a:ext uri="{FF2B5EF4-FFF2-40B4-BE49-F238E27FC236}">
                <a16:creationId xmlns:a16="http://schemas.microsoft.com/office/drawing/2014/main" id="{411D0959-43CB-6607-94AE-F5835DD24498}"/>
              </a:ext>
            </a:extLst>
          </p:cNvPr>
          <p:cNvSpPr txBox="1"/>
          <p:nvPr/>
        </p:nvSpPr>
        <p:spPr>
          <a:xfrm>
            <a:off x="1099930" y="163909"/>
            <a:ext cx="10481264" cy="2862322"/>
          </a:xfrm>
          <a:prstGeom prst="rect">
            <a:avLst/>
          </a:prstGeom>
          <a:noFill/>
        </p:spPr>
        <p:txBody>
          <a:bodyPr wrap="square" rtlCol="0">
            <a:spAutoFit/>
          </a:bodyPr>
          <a:lstStyle/>
          <a:p>
            <a:pPr algn="ctr"/>
            <a:r>
              <a:rPr lang="en-US" sz="3600" b="1" dirty="0">
                <a:solidFill>
                  <a:schemeClr val="bg1"/>
                </a:solidFill>
                <a:latin typeface="Book Antiqua" panose="02040602050305030304" pitchFamily="18" charset="0"/>
              </a:rPr>
              <a:t>                          SICNI Leadership Rating Polls</a:t>
            </a:r>
          </a:p>
          <a:p>
            <a:pPr algn="ctr"/>
            <a:endParaRPr lang="en-US" sz="3600" b="1" dirty="0">
              <a:solidFill>
                <a:schemeClr val="bg1"/>
              </a:solidFill>
              <a:latin typeface="Book Antiqua" panose="02040602050305030304" pitchFamily="18" charset="0"/>
            </a:endParaRPr>
          </a:p>
          <a:p>
            <a:pPr algn="ctr"/>
            <a:endParaRPr lang="en-US" sz="3600" b="1" dirty="0">
              <a:solidFill>
                <a:schemeClr val="bg1"/>
              </a:solidFill>
              <a:latin typeface="Book Antiqua" panose="02040602050305030304" pitchFamily="18" charset="0"/>
            </a:endParaRPr>
          </a:p>
          <a:p>
            <a:pPr algn="ctr"/>
            <a:r>
              <a:rPr lang="en-US" sz="3600" b="1" dirty="0">
                <a:solidFill>
                  <a:schemeClr val="bg1"/>
                </a:solidFill>
                <a:latin typeface="Book Antiqua" panose="02040602050305030304" pitchFamily="18" charset="0"/>
              </a:rPr>
              <a:t>Prepared by:</a:t>
            </a:r>
          </a:p>
          <a:p>
            <a:pPr algn="ctr"/>
            <a:r>
              <a:rPr lang="en-US" sz="3600" b="1" dirty="0">
                <a:solidFill>
                  <a:schemeClr val="bg1"/>
                </a:solidFill>
                <a:latin typeface="Book Antiqua" panose="02040602050305030304" pitchFamily="18" charset="0"/>
              </a:rPr>
              <a:t>………</a:t>
            </a:r>
            <a:endParaRPr lang="en-US" sz="2400" b="1" dirty="0">
              <a:solidFill>
                <a:schemeClr val="bg1"/>
              </a:solidFill>
              <a:latin typeface="Book Antiqua" panose="02040602050305030304" pitchFamily="18" charset="0"/>
            </a:endParaRPr>
          </a:p>
        </p:txBody>
      </p:sp>
      <p:sp>
        <p:nvSpPr>
          <p:cNvPr id="7" name="TextBox 6">
            <a:extLst>
              <a:ext uri="{FF2B5EF4-FFF2-40B4-BE49-F238E27FC236}">
                <a16:creationId xmlns:a16="http://schemas.microsoft.com/office/drawing/2014/main" id="{637CB162-46C3-5E8B-A606-59359EBBC5BF}"/>
              </a:ext>
            </a:extLst>
          </p:cNvPr>
          <p:cNvSpPr txBox="1"/>
          <p:nvPr/>
        </p:nvSpPr>
        <p:spPr>
          <a:xfrm>
            <a:off x="106538" y="6399145"/>
            <a:ext cx="3723862" cy="369332"/>
          </a:xfrm>
          <a:prstGeom prst="rect">
            <a:avLst/>
          </a:prstGeom>
          <a:noFill/>
        </p:spPr>
        <p:txBody>
          <a:bodyPr wrap="square" rtlCol="0">
            <a:spAutoFit/>
          </a:bodyPr>
          <a:lstStyle/>
          <a:p>
            <a:pPr algn="ctr"/>
            <a:r>
              <a:rPr lang="en-US" dirty="0">
                <a:solidFill>
                  <a:schemeClr val="bg1"/>
                </a:solidFill>
                <a:latin typeface="Book Antiqua" panose="02040602050305030304" pitchFamily="18" charset="0"/>
              </a:rPr>
              <a:t>July, 2025</a:t>
            </a:r>
          </a:p>
        </p:txBody>
      </p:sp>
    </p:spTree>
    <p:extLst>
      <p:ext uri="{BB962C8B-B14F-4D97-AF65-F5344CB8AC3E}">
        <p14:creationId xmlns:p14="http://schemas.microsoft.com/office/powerpoint/2010/main" val="22811862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50000" b="40000"/>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58F015C-7888-47FF-94E1-AAFD2FF0A6F9}"/>
              </a:ext>
            </a:extLst>
          </p:cNvPr>
          <p:cNvSpPr/>
          <p:nvPr/>
        </p:nvSpPr>
        <p:spPr>
          <a:xfrm>
            <a:off x="1099930" y="2093843"/>
            <a:ext cx="119270" cy="21866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ook Antiqua" panose="02040602050305030304" pitchFamily="18" charset="0"/>
              <a:ea typeface="Arial Unicode MS"/>
              <a:cs typeface="+mn-cs"/>
            </a:endParaRPr>
          </a:p>
        </p:txBody>
      </p:sp>
      <p:sp>
        <p:nvSpPr>
          <p:cNvPr id="6" name="TextBox 5">
            <a:extLst>
              <a:ext uri="{FF2B5EF4-FFF2-40B4-BE49-F238E27FC236}">
                <a16:creationId xmlns:a16="http://schemas.microsoft.com/office/drawing/2014/main" id="{296930B5-D1D4-4B84-B5E9-75FAB6A02795}"/>
              </a:ext>
            </a:extLst>
          </p:cNvPr>
          <p:cNvSpPr txBox="1"/>
          <p:nvPr/>
        </p:nvSpPr>
        <p:spPr>
          <a:xfrm>
            <a:off x="1219200" y="2769701"/>
            <a:ext cx="3233531"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white"/>
                </a:solidFill>
                <a:effectLst/>
                <a:uLnTx/>
                <a:uFillTx/>
                <a:latin typeface="Book Antiqua" panose="02040602050305030304" pitchFamily="18" charset="0"/>
                <a:ea typeface="Arial Unicode MS"/>
                <a:cs typeface="+mn-cs"/>
              </a:rPr>
              <a:t>Introduction</a:t>
            </a:r>
          </a:p>
        </p:txBody>
      </p:sp>
      <p:sp>
        <p:nvSpPr>
          <p:cNvPr id="12" name="Rectangle 11">
            <a:extLst>
              <a:ext uri="{FF2B5EF4-FFF2-40B4-BE49-F238E27FC236}">
                <a16:creationId xmlns:a16="http://schemas.microsoft.com/office/drawing/2014/main" id="{4054A76E-BEA5-C0B8-DE40-62735FA7D360}"/>
              </a:ext>
            </a:extLst>
          </p:cNvPr>
          <p:cNvSpPr/>
          <p:nvPr/>
        </p:nvSpPr>
        <p:spPr>
          <a:xfrm>
            <a:off x="6322" y="612"/>
            <a:ext cx="12192000" cy="685800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13" name="Rectangle 12">
            <a:extLst>
              <a:ext uri="{FF2B5EF4-FFF2-40B4-BE49-F238E27FC236}">
                <a16:creationId xmlns:a16="http://schemas.microsoft.com/office/drawing/2014/main" id="{912F3758-F0F1-F337-BD5D-6C7273D21C89}"/>
              </a:ext>
            </a:extLst>
          </p:cNvPr>
          <p:cNvSpPr/>
          <p:nvPr/>
        </p:nvSpPr>
        <p:spPr>
          <a:xfrm>
            <a:off x="1252330" y="2246243"/>
            <a:ext cx="119270" cy="21866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ook Antiqua" panose="02040602050305030304" pitchFamily="18" charset="0"/>
              <a:ea typeface="Arial Unicode MS"/>
              <a:cs typeface="+mn-cs"/>
            </a:endParaRPr>
          </a:p>
        </p:txBody>
      </p:sp>
      <p:sp>
        <p:nvSpPr>
          <p:cNvPr id="14" name="TextBox 13">
            <a:extLst>
              <a:ext uri="{FF2B5EF4-FFF2-40B4-BE49-F238E27FC236}">
                <a16:creationId xmlns:a16="http://schemas.microsoft.com/office/drawing/2014/main" id="{D1D82129-3E60-46C5-CCA2-CF985EF1F19B}"/>
              </a:ext>
            </a:extLst>
          </p:cNvPr>
          <p:cNvSpPr txBox="1"/>
          <p:nvPr/>
        </p:nvSpPr>
        <p:spPr>
          <a:xfrm>
            <a:off x="271670" y="2392017"/>
            <a:ext cx="715617"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00B0F0"/>
                </a:solidFill>
                <a:effectLst/>
                <a:uLnTx/>
                <a:uFillTx/>
                <a:latin typeface="Book Antiqua" panose="02040602050305030304" pitchFamily="18" charset="0"/>
                <a:ea typeface="Arial Unicode MS"/>
                <a:cs typeface="+mn-cs"/>
              </a:rPr>
              <a:t>1</a:t>
            </a:r>
          </a:p>
        </p:txBody>
      </p:sp>
      <p:sp>
        <p:nvSpPr>
          <p:cNvPr id="15" name="TextBox 14">
            <a:extLst>
              <a:ext uri="{FF2B5EF4-FFF2-40B4-BE49-F238E27FC236}">
                <a16:creationId xmlns:a16="http://schemas.microsoft.com/office/drawing/2014/main" id="{252E45AF-1059-6CBD-D3DA-7061C5289790}"/>
              </a:ext>
            </a:extLst>
          </p:cNvPr>
          <p:cNvSpPr txBox="1"/>
          <p:nvPr/>
        </p:nvSpPr>
        <p:spPr>
          <a:xfrm>
            <a:off x="1371600" y="2922101"/>
            <a:ext cx="3233531"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white"/>
                </a:solidFill>
                <a:effectLst/>
                <a:uLnTx/>
                <a:uFillTx/>
                <a:latin typeface="Book Antiqua" panose="02040602050305030304" pitchFamily="18" charset="0"/>
                <a:ea typeface="Arial Unicode MS"/>
                <a:cs typeface="+mn-cs"/>
              </a:rPr>
              <a:t>Introduction</a:t>
            </a:r>
          </a:p>
        </p:txBody>
      </p:sp>
    </p:spTree>
    <p:extLst>
      <p:ext uri="{BB962C8B-B14F-4D97-AF65-F5344CB8AC3E}">
        <p14:creationId xmlns:p14="http://schemas.microsoft.com/office/powerpoint/2010/main" val="3229952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E9444D-CC65-14BA-8B19-1D872CBC79FE}"/>
              </a:ext>
            </a:extLst>
          </p:cNvPr>
          <p:cNvSpPr txBox="1"/>
          <p:nvPr/>
        </p:nvSpPr>
        <p:spPr>
          <a:xfrm>
            <a:off x="331304" y="159027"/>
            <a:ext cx="5605670" cy="461665"/>
          </a:xfrm>
          <a:prstGeom prst="rect">
            <a:avLst/>
          </a:prstGeom>
          <a:noFill/>
        </p:spPr>
        <p:txBody>
          <a:bodyPr wrap="square" rtlCol="0">
            <a:spAutoFit/>
          </a:bodyPr>
          <a:lstStyle/>
          <a:p>
            <a:r>
              <a:rPr lang="en-US" sz="2400" b="1" dirty="0">
                <a:latin typeface="Book Antiqua" panose="02040602050305030304" pitchFamily="18" charset="0"/>
              </a:rPr>
              <a:t>Achieved Sample Breakdown</a:t>
            </a:r>
          </a:p>
        </p:txBody>
      </p:sp>
      <p:graphicFrame>
        <p:nvGraphicFramePr>
          <p:cNvPr id="26" name="Content Placeholder 94">
            <a:extLst>
              <a:ext uri="{FF2B5EF4-FFF2-40B4-BE49-F238E27FC236}">
                <a16:creationId xmlns:a16="http://schemas.microsoft.com/office/drawing/2014/main" id="{6547B1A5-019D-404E-9155-6C634081BBEC}"/>
              </a:ext>
            </a:extLst>
          </p:cNvPr>
          <p:cNvGraphicFramePr>
            <a:graphicFrameLocks/>
          </p:cNvGraphicFramePr>
          <p:nvPr>
            <p:extLst>
              <p:ext uri="{D42A27DB-BD31-4B8C-83A1-F6EECF244321}">
                <p14:modId xmlns:p14="http://schemas.microsoft.com/office/powerpoint/2010/main" val="1549281004"/>
              </p:ext>
            </p:extLst>
          </p:nvPr>
        </p:nvGraphicFramePr>
        <p:xfrm>
          <a:off x="842125" y="1552012"/>
          <a:ext cx="2945153" cy="1948322"/>
        </p:xfrm>
        <a:graphic>
          <a:graphicData uri="http://schemas.openxmlformats.org/drawingml/2006/chart">
            <c:chart xmlns:c="http://schemas.openxmlformats.org/drawingml/2006/chart" xmlns:r="http://schemas.openxmlformats.org/officeDocument/2006/relationships" r:id="rId2"/>
          </a:graphicData>
        </a:graphic>
      </p:graphicFrame>
      <p:sp>
        <p:nvSpPr>
          <p:cNvPr id="28" name="Text Placeholder 18">
            <a:extLst>
              <a:ext uri="{FF2B5EF4-FFF2-40B4-BE49-F238E27FC236}">
                <a16:creationId xmlns:a16="http://schemas.microsoft.com/office/drawing/2014/main" id="{FEADBC3D-2583-498D-9338-426D1C8ABA68}"/>
              </a:ext>
            </a:extLst>
          </p:cNvPr>
          <p:cNvSpPr txBox="1">
            <a:spLocks/>
          </p:cNvSpPr>
          <p:nvPr/>
        </p:nvSpPr>
        <p:spPr>
          <a:xfrm>
            <a:off x="8956418" y="1271588"/>
            <a:ext cx="3002220" cy="396875"/>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1200"/>
              </a:spcBef>
              <a:buFont typeface="Arial" panose="020B0604020202020204" pitchFamily="34" charset="0"/>
              <a:buNone/>
              <a:defRPr sz="1600" b="1"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2pPr>
            <a:lvl3pPr marL="360000"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3pPr>
            <a:lvl4pPr marL="540000"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4pPr>
            <a:lvl5pPr marL="720000" indent="-180000"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NZ">
                <a:solidFill>
                  <a:srgbClr val="333333"/>
                </a:solidFill>
                <a:latin typeface="MTN Brighter Sans"/>
              </a:rPr>
              <a:t>Gender</a:t>
            </a:r>
          </a:p>
        </p:txBody>
      </p:sp>
      <p:sp>
        <p:nvSpPr>
          <p:cNvPr id="31" name="Text Placeholder 20">
            <a:extLst>
              <a:ext uri="{FF2B5EF4-FFF2-40B4-BE49-F238E27FC236}">
                <a16:creationId xmlns:a16="http://schemas.microsoft.com/office/drawing/2014/main" id="{B2E8B8C7-7B93-49AF-85D7-B45FB9F481D0}"/>
              </a:ext>
            </a:extLst>
          </p:cNvPr>
          <p:cNvSpPr txBox="1">
            <a:spLocks/>
          </p:cNvSpPr>
          <p:nvPr/>
        </p:nvSpPr>
        <p:spPr>
          <a:xfrm>
            <a:off x="4656082" y="1228726"/>
            <a:ext cx="3084569" cy="396875"/>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1200"/>
              </a:spcBef>
              <a:buFont typeface="Arial" panose="020B0604020202020204" pitchFamily="34" charset="0"/>
              <a:buNone/>
              <a:defRPr sz="1600" b="1"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2pPr>
            <a:lvl3pPr marL="360000"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3pPr>
            <a:lvl4pPr marL="540000"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4pPr>
            <a:lvl5pPr marL="720000" indent="-180000"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NZ" dirty="0">
                <a:solidFill>
                  <a:srgbClr val="333333"/>
                </a:solidFill>
                <a:latin typeface="MTN Brighter Sans"/>
              </a:rPr>
              <a:t>Location</a:t>
            </a:r>
          </a:p>
        </p:txBody>
      </p:sp>
      <p:sp>
        <p:nvSpPr>
          <p:cNvPr id="33" name="Text Placeholder 11266">
            <a:extLst>
              <a:ext uri="{FF2B5EF4-FFF2-40B4-BE49-F238E27FC236}">
                <a16:creationId xmlns:a16="http://schemas.microsoft.com/office/drawing/2014/main" id="{9B3EF11D-8CF7-4906-8D05-23564A2D1186}"/>
              </a:ext>
            </a:extLst>
          </p:cNvPr>
          <p:cNvSpPr txBox="1">
            <a:spLocks/>
          </p:cNvSpPr>
          <p:nvPr/>
        </p:nvSpPr>
        <p:spPr>
          <a:xfrm>
            <a:off x="9204600" y="3895725"/>
            <a:ext cx="3011213" cy="395288"/>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1200"/>
              </a:spcBef>
              <a:buFont typeface="Arial" panose="020B0604020202020204" pitchFamily="34" charset="0"/>
              <a:buNone/>
              <a:defRPr sz="1600" b="1"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2pPr>
            <a:lvl3pPr marL="360000"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3pPr>
            <a:lvl4pPr marL="540000"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4pPr>
            <a:lvl5pPr marL="720000" indent="-180000"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NZ" dirty="0">
                <a:solidFill>
                  <a:srgbClr val="333333"/>
                </a:solidFill>
                <a:latin typeface="MTN Brighter Sans"/>
              </a:rPr>
              <a:t>Urbanization</a:t>
            </a:r>
          </a:p>
        </p:txBody>
      </p:sp>
      <p:sp>
        <p:nvSpPr>
          <p:cNvPr id="34" name="TextBox 33">
            <a:extLst>
              <a:ext uri="{FF2B5EF4-FFF2-40B4-BE49-F238E27FC236}">
                <a16:creationId xmlns:a16="http://schemas.microsoft.com/office/drawing/2014/main" id="{FB9DFCC1-47C2-43F8-A83F-C8A17E5C4E95}"/>
              </a:ext>
            </a:extLst>
          </p:cNvPr>
          <p:cNvSpPr txBox="1"/>
          <p:nvPr/>
        </p:nvSpPr>
        <p:spPr>
          <a:xfrm>
            <a:off x="8795663" y="2976258"/>
            <a:ext cx="625781" cy="184666"/>
          </a:xfrm>
          <a:prstGeom prst="rect">
            <a:avLst/>
          </a:prstGeom>
          <a:noFill/>
        </p:spPr>
        <p:txBody>
          <a:bodyPr wrap="square" lIns="0" tIns="0" rIns="0" bIns="0" rtlCol="0">
            <a:spAutoFit/>
          </a:bodyPr>
          <a:lstStyle/>
          <a:p>
            <a:pPr>
              <a:defRPr/>
            </a:pPr>
            <a:r>
              <a:rPr lang="en-NZ" sz="1200" dirty="0">
                <a:solidFill>
                  <a:srgbClr val="333333"/>
                </a:solidFill>
                <a:latin typeface="MTN Brighter Sans"/>
              </a:rPr>
              <a:t>Female</a:t>
            </a:r>
          </a:p>
        </p:txBody>
      </p:sp>
      <p:sp>
        <p:nvSpPr>
          <p:cNvPr id="36" name="TextBox 35">
            <a:extLst>
              <a:ext uri="{FF2B5EF4-FFF2-40B4-BE49-F238E27FC236}">
                <a16:creationId xmlns:a16="http://schemas.microsoft.com/office/drawing/2014/main" id="{3238A870-3122-4626-85B9-04E0745E34D2}"/>
              </a:ext>
            </a:extLst>
          </p:cNvPr>
          <p:cNvSpPr txBox="1"/>
          <p:nvPr/>
        </p:nvSpPr>
        <p:spPr>
          <a:xfrm>
            <a:off x="11148941" y="2976258"/>
            <a:ext cx="625781" cy="184666"/>
          </a:xfrm>
          <a:prstGeom prst="rect">
            <a:avLst/>
          </a:prstGeom>
          <a:noFill/>
        </p:spPr>
        <p:txBody>
          <a:bodyPr wrap="square" lIns="0" tIns="0" rIns="0" bIns="0" rtlCol="0">
            <a:spAutoFit/>
          </a:bodyPr>
          <a:lstStyle/>
          <a:p>
            <a:pPr algn="ctr">
              <a:defRPr/>
            </a:pPr>
            <a:r>
              <a:rPr lang="en-NZ" sz="1200" dirty="0">
                <a:solidFill>
                  <a:srgbClr val="333333"/>
                </a:solidFill>
                <a:latin typeface="MTN Brighter Sans"/>
              </a:rPr>
              <a:t>Male</a:t>
            </a:r>
          </a:p>
        </p:txBody>
      </p:sp>
      <p:sp>
        <p:nvSpPr>
          <p:cNvPr id="38" name="Freeform 46">
            <a:extLst>
              <a:ext uri="{FF2B5EF4-FFF2-40B4-BE49-F238E27FC236}">
                <a16:creationId xmlns:a16="http://schemas.microsoft.com/office/drawing/2014/main" id="{4751DB36-068D-49C3-9474-52D03F19E2A8}"/>
              </a:ext>
            </a:extLst>
          </p:cNvPr>
          <p:cNvSpPr>
            <a:spLocks noEditPoints="1"/>
          </p:cNvSpPr>
          <p:nvPr/>
        </p:nvSpPr>
        <p:spPr bwMode="auto">
          <a:xfrm>
            <a:off x="11276642" y="2460170"/>
            <a:ext cx="370379" cy="375464"/>
          </a:xfrm>
          <a:custGeom>
            <a:avLst/>
            <a:gdLst>
              <a:gd name="T0" fmla="*/ 656 w 2184"/>
              <a:gd name="T1" fmla="*/ 771 h 2214"/>
              <a:gd name="T2" fmla="*/ 487 w 2184"/>
              <a:gd name="T3" fmla="*/ 857 h 2214"/>
              <a:gd name="T4" fmla="*/ 366 w 2184"/>
              <a:gd name="T5" fmla="*/ 984 h 2214"/>
              <a:gd name="T6" fmla="*/ 313 w 2184"/>
              <a:gd name="T7" fmla="*/ 1065 h 2214"/>
              <a:gd name="T8" fmla="*/ 262 w 2184"/>
              <a:gd name="T9" fmla="*/ 1182 h 2214"/>
              <a:gd name="T10" fmla="*/ 236 w 2184"/>
              <a:gd name="T11" fmla="*/ 1370 h 2214"/>
              <a:gd name="T12" fmla="*/ 281 w 2184"/>
              <a:gd name="T13" fmla="*/ 1603 h 2214"/>
              <a:gd name="T14" fmla="*/ 401 w 2184"/>
              <a:gd name="T15" fmla="*/ 1781 h 2214"/>
              <a:gd name="T16" fmla="*/ 571 w 2184"/>
              <a:gd name="T17" fmla="*/ 1902 h 2214"/>
              <a:gd name="T18" fmla="*/ 771 w 2184"/>
              <a:gd name="T19" fmla="*/ 1962 h 2214"/>
              <a:gd name="T20" fmla="*/ 980 w 2184"/>
              <a:gd name="T21" fmla="*/ 1958 h 2214"/>
              <a:gd name="T22" fmla="*/ 1179 w 2184"/>
              <a:gd name="T23" fmla="*/ 1889 h 2214"/>
              <a:gd name="T24" fmla="*/ 1345 w 2184"/>
              <a:gd name="T25" fmla="*/ 1749 h 2214"/>
              <a:gd name="T26" fmla="*/ 1465 w 2184"/>
              <a:gd name="T27" fmla="*/ 1514 h 2214"/>
              <a:gd name="T28" fmla="*/ 1476 w 2184"/>
              <a:gd name="T29" fmla="*/ 1247 h 2214"/>
              <a:gd name="T30" fmla="*/ 1376 w 2184"/>
              <a:gd name="T31" fmla="*/ 1017 h 2214"/>
              <a:gd name="T32" fmla="*/ 1195 w 2184"/>
              <a:gd name="T33" fmla="*/ 844 h 2214"/>
              <a:gd name="T34" fmla="*/ 960 w 2184"/>
              <a:gd name="T35" fmla="*/ 752 h 2214"/>
              <a:gd name="T36" fmla="*/ 2045 w 2184"/>
              <a:gd name="T37" fmla="*/ 0 h 2214"/>
              <a:gd name="T38" fmla="*/ 2184 w 2184"/>
              <a:gd name="T39" fmla="*/ 794 h 2214"/>
              <a:gd name="T40" fmla="*/ 1852 w 2184"/>
              <a:gd name="T41" fmla="*/ 497 h 2214"/>
              <a:gd name="T42" fmla="*/ 1636 w 2184"/>
              <a:gd name="T43" fmla="*/ 715 h 2214"/>
              <a:gd name="T44" fmla="*/ 1614 w 2184"/>
              <a:gd name="T45" fmla="*/ 951 h 2214"/>
              <a:gd name="T46" fmla="*/ 1703 w 2184"/>
              <a:gd name="T47" fmla="*/ 1223 h 2214"/>
              <a:gd name="T48" fmla="*/ 1698 w 2184"/>
              <a:gd name="T49" fmla="*/ 1498 h 2214"/>
              <a:gd name="T50" fmla="*/ 1612 w 2184"/>
              <a:gd name="T51" fmla="*/ 1756 h 2214"/>
              <a:gd name="T52" fmla="*/ 1452 w 2184"/>
              <a:gd name="T53" fmla="*/ 1975 h 2214"/>
              <a:gd name="T54" fmla="*/ 1230 w 2184"/>
              <a:gd name="T55" fmla="*/ 2134 h 2214"/>
              <a:gd name="T56" fmla="*/ 956 w 2184"/>
              <a:gd name="T57" fmla="*/ 2210 h 2214"/>
              <a:gd name="T58" fmla="*/ 648 w 2184"/>
              <a:gd name="T59" fmla="*/ 2190 h 2214"/>
              <a:gd name="T60" fmla="*/ 392 w 2184"/>
              <a:gd name="T61" fmla="*/ 2081 h 2214"/>
              <a:gd name="T62" fmla="*/ 194 w 2184"/>
              <a:gd name="T63" fmla="*/ 1903 h 2214"/>
              <a:gd name="T64" fmla="*/ 61 w 2184"/>
              <a:gd name="T65" fmla="*/ 1674 h 2214"/>
              <a:gd name="T66" fmla="*/ 2 w 2184"/>
              <a:gd name="T67" fmla="*/ 1412 h 2214"/>
              <a:gd name="T68" fmla="*/ 22 w 2184"/>
              <a:gd name="T69" fmla="*/ 1149 h 2214"/>
              <a:gd name="T70" fmla="*/ 117 w 2184"/>
              <a:gd name="T71" fmla="*/ 912 h 2214"/>
              <a:gd name="T72" fmla="*/ 283 w 2184"/>
              <a:gd name="T73" fmla="*/ 710 h 2214"/>
              <a:gd name="T74" fmla="*/ 512 w 2184"/>
              <a:gd name="T75" fmla="*/ 566 h 2214"/>
              <a:gd name="T76" fmla="*/ 795 w 2184"/>
              <a:gd name="T77" fmla="*/ 500 h 2214"/>
              <a:gd name="T78" fmla="*/ 1064 w 2184"/>
              <a:gd name="T79" fmla="*/ 519 h 2214"/>
              <a:gd name="T80" fmla="*/ 1248 w 2184"/>
              <a:gd name="T81" fmla="*/ 594 h 2214"/>
              <a:gd name="T82" fmla="*/ 1478 w 2184"/>
              <a:gd name="T83" fmla="*/ 541 h 2214"/>
              <a:gd name="T84" fmla="*/ 1724 w 2184"/>
              <a:gd name="T85" fmla="*/ 298 h 2214"/>
              <a:gd name="T86" fmla="*/ 1363 w 2184"/>
              <a:gd name="T87" fmla="*/ 184 h 2214"/>
              <a:gd name="T88" fmla="*/ 1362 w 2184"/>
              <a:gd name="T89" fmla="*/ 54 h 2214"/>
              <a:gd name="T90" fmla="*/ 1468 w 2184"/>
              <a:gd name="T91" fmla="*/ 2 h 2214"/>
              <a:gd name="T92" fmla="*/ 1720 w 2184"/>
              <a:gd name="T93" fmla="*/ 2 h 2214"/>
              <a:gd name="T94" fmla="*/ 1986 w 2184"/>
              <a:gd name="T95" fmla="*/ 0 h 2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184" h="2214">
                <a:moveTo>
                  <a:pt x="832" y="742"/>
                </a:moveTo>
                <a:lnTo>
                  <a:pt x="766" y="747"/>
                </a:lnTo>
                <a:lnTo>
                  <a:pt x="708" y="758"/>
                </a:lnTo>
                <a:lnTo>
                  <a:pt x="656" y="771"/>
                </a:lnTo>
                <a:lnTo>
                  <a:pt x="608" y="789"/>
                </a:lnTo>
                <a:lnTo>
                  <a:pt x="563" y="808"/>
                </a:lnTo>
                <a:lnTo>
                  <a:pt x="523" y="832"/>
                </a:lnTo>
                <a:lnTo>
                  <a:pt x="487" y="857"/>
                </a:lnTo>
                <a:lnTo>
                  <a:pt x="453" y="886"/>
                </a:lnTo>
                <a:lnTo>
                  <a:pt x="422" y="917"/>
                </a:lnTo>
                <a:lnTo>
                  <a:pt x="393" y="950"/>
                </a:lnTo>
                <a:lnTo>
                  <a:pt x="366" y="984"/>
                </a:lnTo>
                <a:lnTo>
                  <a:pt x="342" y="1021"/>
                </a:lnTo>
                <a:lnTo>
                  <a:pt x="334" y="1031"/>
                </a:lnTo>
                <a:lnTo>
                  <a:pt x="326" y="1046"/>
                </a:lnTo>
                <a:lnTo>
                  <a:pt x="313" y="1065"/>
                </a:lnTo>
                <a:lnTo>
                  <a:pt x="301" y="1089"/>
                </a:lnTo>
                <a:lnTo>
                  <a:pt x="288" y="1117"/>
                </a:lnTo>
                <a:lnTo>
                  <a:pt x="274" y="1148"/>
                </a:lnTo>
                <a:lnTo>
                  <a:pt x="262" y="1182"/>
                </a:lnTo>
                <a:lnTo>
                  <a:pt x="252" y="1220"/>
                </a:lnTo>
                <a:lnTo>
                  <a:pt x="243" y="1261"/>
                </a:lnTo>
                <a:lnTo>
                  <a:pt x="238" y="1304"/>
                </a:lnTo>
                <a:lnTo>
                  <a:pt x="236" y="1370"/>
                </a:lnTo>
                <a:lnTo>
                  <a:pt x="240" y="1433"/>
                </a:lnTo>
                <a:lnTo>
                  <a:pt x="248" y="1493"/>
                </a:lnTo>
                <a:lnTo>
                  <a:pt x="263" y="1549"/>
                </a:lnTo>
                <a:lnTo>
                  <a:pt x="281" y="1603"/>
                </a:lnTo>
                <a:lnTo>
                  <a:pt x="306" y="1652"/>
                </a:lnTo>
                <a:lnTo>
                  <a:pt x="333" y="1699"/>
                </a:lnTo>
                <a:lnTo>
                  <a:pt x="365" y="1742"/>
                </a:lnTo>
                <a:lnTo>
                  <a:pt x="401" y="1781"/>
                </a:lnTo>
                <a:lnTo>
                  <a:pt x="439" y="1817"/>
                </a:lnTo>
                <a:lnTo>
                  <a:pt x="481" y="1849"/>
                </a:lnTo>
                <a:lnTo>
                  <a:pt x="524" y="1877"/>
                </a:lnTo>
                <a:lnTo>
                  <a:pt x="571" y="1902"/>
                </a:lnTo>
                <a:lnTo>
                  <a:pt x="619" y="1922"/>
                </a:lnTo>
                <a:lnTo>
                  <a:pt x="668" y="1940"/>
                </a:lnTo>
                <a:lnTo>
                  <a:pt x="720" y="1952"/>
                </a:lnTo>
                <a:lnTo>
                  <a:pt x="771" y="1962"/>
                </a:lnTo>
                <a:lnTo>
                  <a:pt x="823" y="1967"/>
                </a:lnTo>
                <a:lnTo>
                  <a:pt x="876" y="1968"/>
                </a:lnTo>
                <a:lnTo>
                  <a:pt x="929" y="1965"/>
                </a:lnTo>
                <a:lnTo>
                  <a:pt x="980" y="1958"/>
                </a:lnTo>
                <a:lnTo>
                  <a:pt x="1032" y="1947"/>
                </a:lnTo>
                <a:lnTo>
                  <a:pt x="1083" y="1932"/>
                </a:lnTo>
                <a:lnTo>
                  <a:pt x="1132" y="1913"/>
                </a:lnTo>
                <a:lnTo>
                  <a:pt x="1179" y="1889"/>
                </a:lnTo>
                <a:lnTo>
                  <a:pt x="1224" y="1861"/>
                </a:lnTo>
                <a:lnTo>
                  <a:pt x="1267" y="1828"/>
                </a:lnTo>
                <a:lnTo>
                  <a:pt x="1308" y="1791"/>
                </a:lnTo>
                <a:lnTo>
                  <a:pt x="1345" y="1749"/>
                </a:lnTo>
                <a:lnTo>
                  <a:pt x="1379" y="1704"/>
                </a:lnTo>
                <a:lnTo>
                  <a:pt x="1409" y="1653"/>
                </a:lnTo>
                <a:lnTo>
                  <a:pt x="1442" y="1583"/>
                </a:lnTo>
                <a:lnTo>
                  <a:pt x="1465" y="1514"/>
                </a:lnTo>
                <a:lnTo>
                  <a:pt x="1480" y="1445"/>
                </a:lnTo>
                <a:lnTo>
                  <a:pt x="1486" y="1378"/>
                </a:lnTo>
                <a:lnTo>
                  <a:pt x="1485" y="1312"/>
                </a:lnTo>
                <a:lnTo>
                  <a:pt x="1476" y="1247"/>
                </a:lnTo>
                <a:lnTo>
                  <a:pt x="1460" y="1186"/>
                </a:lnTo>
                <a:lnTo>
                  <a:pt x="1438" y="1127"/>
                </a:lnTo>
                <a:lnTo>
                  <a:pt x="1410" y="1070"/>
                </a:lnTo>
                <a:lnTo>
                  <a:pt x="1376" y="1017"/>
                </a:lnTo>
                <a:lnTo>
                  <a:pt x="1337" y="968"/>
                </a:lnTo>
                <a:lnTo>
                  <a:pt x="1293" y="923"/>
                </a:lnTo>
                <a:lnTo>
                  <a:pt x="1245" y="881"/>
                </a:lnTo>
                <a:lnTo>
                  <a:pt x="1195" y="844"/>
                </a:lnTo>
                <a:lnTo>
                  <a:pt x="1139" y="813"/>
                </a:lnTo>
                <a:lnTo>
                  <a:pt x="1081" y="786"/>
                </a:lnTo>
                <a:lnTo>
                  <a:pt x="1021" y="765"/>
                </a:lnTo>
                <a:lnTo>
                  <a:pt x="960" y="752"/>
                </a:lnTo>
                <a:lnTo>
                  <a:pt x="897" y="743"/>
                </a:lnTo>
                <a:lnTo>
                  <a:pt x="832" y="742"/>
                </a:lnTo>
                <a:close/>
                <a:moveTo>
                  <a:pt x="1986" y="0"/>
                </a:moveTo>
                <a:lnTo>
                  <a:pt x="2045" y="0"/>
                </a:lnTo>
                <a:lnTo>
                  <a:pt x="2098" y="0"/>
                </a:lnTo>
                <a:lnTo>
                  <a:pt x="2145" y="2"/>
                </a:lnTo>
                <a:lnTo>
                  <a:pt x="2184" y="2"/>
                </a:lnTo>
                <a:lnTo>
                  <a:pt x="2184" y="794"/>
                </a:lnTo>
                <a:lnTo>
                  <a:pt x="1956" y="794"/>
                </a:lnTo>
                <a:lnTo>
                  <a:pt x="1956" y="407"/>
                </a:lnTo>
                <a:lnTo>
                  <a:pt x="1905" y="450"/>
                </a:lnTo>
                <a:lnTo>
                  <a:pt x="1852" y="497"/>
                </a:lnTo>
                <a:lnTo>
                  <a:pt x="1799" y="549"/>
                </a:lnTo>
                <a:lnTo>
                  <a:pt x="1745" y="603"/>
                </a:lnTo>
                <a:lnTo>
                  <a:pt x="1691" y="658"/>
                </a:lnTo>
                <a:lnTo>
                  <a:pt x="1636" y="715"/>
                </a:lnTo>
                <a:lnTo>
                  <a:pt x="1584" y="769"/>
                </a:lnTo>
                <a:lnTo>
                  <a:pt x="1532" y="822"/>
                </a:lnTo>
                <a:lnTo>
                  <a:pt x="1576" y="886"/>
                </a:lnTo>
                <a:lnTo>
                  <a:pt x="1614" y="951"/>
                </a:lnTo>
                <a:lnTo>
                  <a:pt x="1645" y="1017"/>
                </a:lnTo>
                <a:lnTo>
                  <a:pt x="1671" y="1085"/>
                </a:lnTo>
                <a:lnTo>
                  <a:pt x="1689" y="1154"/>
                </a:lnTo>
                <a:lnTo>
                  <a:pt x="1703" y="1223"/>
                </a:lnTo>
                <a:lnTo>
                  <a:pt x="1710" y="1292"/>
                </a:lnTo>
                <a:lnTo>
                  <a:pt x="1711" y="1362"/>
                </a:lnTo>
                <a:lnTo>
                  <a:pt x="1708" y="1431"/>
                </a:lnTo>
                <a:lnTo>
                  <a:pt x="1698" y="1498"/>
                </a:lnTo>
                <a:lnTo>
                  <a:pt x="1684" y="1566"/>
                </a:lnTo>
                <a:lnTo>
                  <a:pt x="1665" y="1631"/>
                </a:lnTo>
                <a:lnTo>
                  <a:pt x="1640" y="1695"/>
                </a:lnTo>
                <a:lnTo>
                  <a:pt x="1612" y="1756"/>
                </a:lnTo>
                <a:lnTo>
                  <a:pt x="1577" y="1815"/>
                </a:lnTo>
                <a:lnTo>
                  <a:pt x="1540" y="1872"/>
                </a:lnTo>
                <a:lnTo>
                  <a:pt x="1497" y="1926"/>
                </a:lnTo>
                <a:lnTo>
                  <a:pt x="1452" y="1975"/>
                </a:lnTo>
                <a:lnTo>
                  <a:pt x="1401" y="2022"/>
                </a:lnTo>
                <a:lnTo>
                  <a:pt x="1348" y="2064"/>
                </a:lnTo>
                <a:lnTo>
                  <a:pt x="1291" y="2101"/>
                </a:lnTo>
                <a:lnTo>
                  <a:pt x="1230" y="2134"/>
                </a:lnTo>
                <a:lnTo>
                  <a:pt x="1166" y="2161"/>
                </a:lnTo>
                <a:lnTo>
                  <a:pt x="1099" y="2183"/>
                </a:lnTo>
                <a:lnTo>
                  <a:pt x="1028" y="2199"/>
                </a:lnTo>
                <a:lnTo>
                  <a:pt x="956" y="2210"/>
                </a:lnTo>
                <a:lnTo>
                  <a:pt x="875" y="2214"/>
                </a:lnTo>
                <a:lnTo>
                  <a:pt x="796" y="2213"/>
                </a:lnTo>
                <a:lnTo>
                  <a:pt x="721" y="2204"/>
                </a:lnTo>
                <a:lnTo>
                  <a:pt x="648" y="2190"/>
                </a:lnTo>
                <a:lnTo>
                  <a:pt x="579" y="2171"/>
                </a:lnTo>
                <a:lnTo>
                  <a:pt x="513" y="2145"/>
                </a:lnTo>
                <a:lnTo>
                  <a:pt x="451" y="2115"/>
                </a:lnTo>
                <a:lnTo>
                  <a:pt x="392" y="2081"/>
                </a:lnTo>
                <a:lnTo>
                  <a:pt x="337" y="2043"/>
                </a:lnTo>
                <a:lnTo>
                  <a:pt x="285" y="2000"/>
                </a:lnTo>
                <a:lnTo>
                  <a:pt x="237" y="1953"/>
                </a:lnTo>
                <a:lnTo>
                  <a:pt x="194" y="1903"/>
                </a:lnTo>
                <a:lnTo>
                  <a:pt x="153" y="1850"/>
                </a:lnTo>
                <a:lnTo>
                  <a:pt x="119" y="1793"/>
                </a:lnTo>
                <a:lnTo>
                  <a:pt x="87" y="1735"/>
                </a:lnTo>
                <a:lnTo>
                  <a:pt x="61" y="1674"/>
                </a:lnTo>
                <a:lnTo>
                  <a:pt x="39" y="1611"/>
                </a:lnTo>
                <a:lnTo>
                  <a:pt x="22" y="1546"/>
                </a:lnTo>
                <a:lnTo>
                  <a:pt x="9" y="1480"/>
                </a:lnTo>
                <a:lnTo>
                  <a:pt x="2" y="1412"/>
                </a:lnTo>
                <a:lnTo>
                  <a:pt x="0" y="1344"/>
                </a:lnTo>
                <a:lnTo>
                  <a:pt x="2" y="1276"/>
                </a:lnTo>
                <a:lnTo>
                  <a:pt x="9" y="1212"/>
                </a:lnTo>
                <a:lnTo>
                  <a:pt x="22" y="1149"/>
                </a:lnTo>
                <a:lnTo>
                  <a:pt x="38" y="1087"/>
                </a:lnTo>
                <a:lnTo>
                  <a:pt x="60" y="1027"/>
                </a:lnTo>
                <a:lnTo>
                  <a:pt x="86" y="968"/>
                </a:lnTo>
                <a:lnTo>
                  <a:pt x="117" y="912"/>
                </a:lnTo>
                <a:lnTo>
                  <a:pt x="152" y="857"/>
                </a:lnTo>
                <a:lnTo>
                  <a:pt x="192" y="805"/>
                </a:lnTo>
                <a:lnTo>
                  <a:pt x="235" y="755"/>
                </a:lnTo>
                <a:lnTo>
                  <a:pt x="283" y="710"/>
                </a:lnTo>
                <a:lnTo>
                  <a:pt x="334" y="668"/>
                </a:lnTo>
                <a:lnTo>
                  <a:pt x="390" y="630"/>
                </a:lnTo>
                <a:lnTo>
                  <a:pt x="449" y="596"/>
                </a:lnTo>
                <a:lnTo>
                  <a:pt x="512" y="566"/>
                </a:lnTo>
                <a:lnTo>
                  <a:pt x="577" y="541"/>
                </a:lnTo>
                <a:lnTo>
                  <a:pt x="647" y="522"/>
                </a:lnTo>
                <a:lnTo>
                  <a:pt x="720" y="507"/>
                </a:lnTo>
                <a:lnTo>
                  <a:pt x="795" y="500"/>
                </a:lnTo>
                <a:lnTo>
                  <a:pt x="873" y="497"/>
                </a:lnTo>
                <a:lnTo>
                  <a:pt x="956" y="502"/>
                </a:lnTo>
                <a:lnTo>
                  <a:pt x="1012" y="508"/>
                </a:lnTo>
                <a:lnTo>
                  <a:pt x="1064" y="519"/>
                </a:lnTo>
                <a:lnTo>
                  <a:pt x="1112" y="533"/>
                </a:lnTo>
                <a:lnTo>
                  <a:pt x="1159" y="550"/>
                </a:lnTo>
                <a:lnTo>
                  <a:pt x="1203" y="571"/>
                </a:lnTo>
                <a:lnTo>
                  <a:pt x="1248" y="594"/>
                </a:lnTo>
                <a:lnTo>
                  <a:pt x="1294" y="621"/>
                </a:lnTo>
                <a:lnTo>
                  <a:pt x="1342" y="652"/>
                </a:lnTo>
                <a:lnTo>
                  <a:pt x="1411" y="598"/>
                </a:lnTo>
                <a:lnTo>
                  <a:pt x="1478" y="541"/>
                </a:lnTo>
                <a:lnTo>
                  <a:pt x="1540" y="481"/>
                </a:lnTo>
                <a:lnTo>
                  <a:pt x="1602" y="421"/>
                </a:lnTo>
                <a:lnTo>
                  <a:pt x="1664" y="359"/>
                </a:lnTo>
                <a:lnTo>
                  <a:pt x="1724" y="298"/>
                </a:lnTo>
                <a:lnTo>
                  <a:pt x="1787" y="238"/>
                </a:lnTo>
                <a:lnTo>
                  <a:pt x="1372" y="238"/>
                </a:lnTo>
                <a:lnTo>
                  <a:pt x="1367" y="213"/>
                </a:lnTo>
                <a:lnTo>
                  <a:pt x="1363" y="184"/>
                </a:lnTo>
                <a:lnTo>
                  <a:pt x="1361" y="153"/>
                </a:lnTo>
                <a:lnTo>
                  <a:pt x="1360" y="120"/>
                </a:lnTo>
                <a:lnTo>
                  <a:pt x="1360" y="86"/>
                </a:lnTo>
                <a:lnTo>
                  <a:pt x="1362" y="54"/>
                </a:lnTo>
                <a:lnTo>
                  <a:pt x="1366" y="26"/>
                </a:lnTo>
                <a:lnTo>
                  <a:pt x="1372" y="2"/>
                </a:lnTo>
                <a:lnTo>
                  <a:pt x="1416" y="2"/>
                </a:lnTo>
                <a:lnTo>
                  <a:pt x="1468" y="2"/>
                </a:lnTo>
                <a:lnTo>
                  <a:pt x="1526" y="2"/>
                </a:lnTo>
                <a:lnTo>
                  <a:pt x="1587" y="2"/>
                </a:lnTo>
                <a:lnTo>
                  <a:pt x="1652" y="2"/>
                </a:lnTo>
                <a:lnTo>
                  <a:pt x="1720" y="2"/>
                </a:lnTo>
                <a:lnTo>
                  <a:pt x="1789" y="0"/>
                </a:lnTo>
                <a:lnTo>
                  <a:pt x="1857" y="0"/>
                </a:lnTo>
                <a:lnTo>
                  <a:pt x="1922" y="0"/>
                </a:lnTo>
                <a:lnTo>
                  <a:pt x="1986" y="0"/>
                </a:lnTo>
                <a:close/>
              </a:path>
            </a:pathLst>
          </a:custGeom>
          <a:solidFill>
            <a:srgbClr val="62268A"/>
          </a:solid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NZ">
              <a:solidFill>
                <a:srgbClr val="333333"/>
              </a:solidFill>
              <a:latin typeface="MTN Brighter Sans"/>
            </a:endParaRPr>
          </a:p>
        </p:txBody>
      </p:sp>
      <p:sp>
        <p:nvSpPr>
          <p:cNvPr id="39" name="Freeform 47">
            <a:extLst>
              <a:ext uri="{FF2B5EF4-FFF2-40B4-BE49-F238E27FC236}">
                <a16:creationId xmlns:a16="http://schemas.microsoft.com/office/drawing/2014/main" id="{3A7FE97C-C1E5-4BB9-AE23-14FC0EB2E3A4}"/>
              </a:ext>
            </a:extLst>
          </p:cNvPr>
          <p:cNvSpPr>
            <a:spLocks noEditPoints="1"/>
          </p:cNvSpPr>
          <p:nvPr/>
        </p:nvSpPr>
        <p:spPr bwMode="auto">
          <a:xfrm>
            <a:off x="8956418" y="2464998"/>
            <a:ext cx="304270" cy="422927"/>
          </a:xfrm>
          <a:custGeom>
            <a:avLst/>
            <a:gdLst>
              <a:gd name="T0" fmla="*/ 748 w 1797"/>
              <a:gd name="T1" fmla="*/ 271 h 2496"/>
              <a:gd name="T2" fmla="*/ 571 w 1797"/>
              <a:gd name="T3" fmla="*/ 338 h 2496"/>
              <a:gd name="T4" fmla="*/ 431 w 1797"/>
              <a:gd name="T5" fmla="*/ 442 h 2496"/>
              <a:gd name="T6" fmla="*/ 334 w 1797"/>
              <a:gd name="T7" fmla="*/ 570 h 2496"/>
              <a:gd name="T8" fmla="*/ 309 w 1797"/>
              <a:gd name="T9" fmla="*/ 619 h 2496"/>
              <a:gd name="T10" fmla="*/ 277 w 1797"/>
              <a:gd name="T11" fmla="*/ 709 h 2496"/>
              <a:gd name="T12" fmla="*/ 249 w 1797"/>
              <a:gd name="T13" fmla="*/ 854 h 2496"/>
              <a:gd name="T14" fmla="*/ 257 w 1797"/>
              <a:gd name="T15" fmla="*/ 1040 h 2496"/>
              <a:gd name="T16" fmla="*/ 313 w 1797"/>
              <a:gd name="T17" fmla="*/ 1199 h 2496"/>
              <a:gd name="T18" fmla="*/ 409 w 1797"/>
              <a:gd name="T19" fmla="*/ 1328 h 2496"/>
              <a:gd name="T20" fmla="*/ 533 w 1797"/>
              <a:gd name="T21" fmla="*/ 1427 h 2496"/>
              <a:gd name="T22" fmla="*/ 679 w 1797"/>
              <a:gd name="T23" fmla="*/ 1495 h 2496"/>
              <a:gd name="T24" fmla="*/ 838 w 1797"/>
              <a:gd name="T25" fmla="*/ 1529 h 2496"/>
              <a:gd name="T26" fmla="*/ 1001 w 1797"/>
              <a:gd name="T27" fmla="*/ 1527 h 2496"/>
              <a:gd name="T28" fmla="*/ 1158 w 1797"/>
              <a:gd name="T29" fmla="*/ 1488 h 2496"/>
              <a:gd name="T30" fmla="*/ 1301 w 1797"/>
              <a:gd name="T31" fmla="*/ 1408 h 2496"/>
              <a:gd name="T32" fmla="*/ 1421 w 1797"/>
              <a:gd name="T33" fmla="*/ 1288 h 2496"/>
              <a:gd name="T34" fmla="*/ 1508 w 1797"/>
              <a:gd name="T35" fmla="*/ 1132 h 2496"/>
              <a:gd name="T36" fmla="*/ 1540 w 1797"/>
              <a:gd name="T37" fmla="*/ 966 h 2496"/>
              <a:gd name="T38" fmla="*/ 1530 w 1797"/>
              <a:gd name="T39" fmla="*/ 794 h 2496"/>
              <a:gd name="T40" fmla="*/ 1487 w 1797"/>
              <a:gd name="T41" fmla="*/ 634 h 2496"/>
              <a:gd name="T42" fmla="*/ 1418 w 1797"/>
              <a:gd name="T43" fmla="*/ 501 h 2496"/>
              <a:gd name="T44" fmla="*/ 1311 w 1797"/>
              <a:gd name="T45" fmla="*/ 391 h 2496"/>
              <a:gd name="T46" fmla="*/ 1151 w 1797"/>
              <a:gd name="T47" fmla="*/ 301 h 2496"/>
              <a:gd name="T48" fmla="*/ 957 w 1797"/>
              <a:gd name="T49" fmla="*/ 257 h 2496"/>
              <a:gd name="T50" fmla="*/ 955 w 1797"/>
              <a:gd name="T51" fmla="*/ 1 h 2496"/>
              <a:gd name="T52" fmla="*/ 1186 w 1797"/>
              <a:gd name="T53" fmla="*/ 41 h 2496"/>
              <a:gd name="T54" fmla="*/ 1387 w 1797"/>
              <a:gd name="T55" fmla="*/ 132 h 2496"/>
              <a:gd name="T56" fmla="*/ 1553 w 1797"/>
              <a:gd name="T57" fmla="*/ 268 h 2496"/>
              <a:gd name="T58" fmla="*/ 1680 w 1797"/>
              <a:gd name="T59" fmla="*/ 439 h 2496"/>
              <a:gd name="T60" fmla="*/ 1762 w 1797"/>
              <a:gd name="T61" fmla="*/ 639 h 2496"/>
              <a:gd name="T62" fmla="*/ 1797 w 1797"/>
              <a:gd name="T63" fmla="*/ 863 h 2496"/>
              <a:gd name="T64" fmla="*/ 1778 w 1797"/>
              <a:gd name="T65" fmla="*/ 1099 h 2496"/>
              <a:gd name="T66" fmla="*/ 1708 w 1797"/>
              <a:gd name="T67" fmla="*/ 1303 h 2496"/>
              <a:gd name="T68" fmla="*/ 1591 w 1797"/>
              <a:gd name="T69" fmla="*/ 1475 h 2496"/>
              <a:gd name="T70" fmla="*/ 1434 w 1797"/>
              <a:gd name="T71" fmla="*/ 1612 h 2496"/>
              <a:gd name="T72" fmla="*/ 1242 w 1797"/>
              <a:gd name="T73" fmla="*/ 1714 h 2496"/>
              <a:gd name="T74" fmla="*/ 1023 w 1797"/>
              <a:gd name="T75" fmla="*/ 1779 h 2496"/>
              <a:gd name="T76" fmla="*/ 1021 w 1797"/>
              <a:gd name="T77" fmla="*/ 1821 h 2496"/>
              <a:gd name="T78" fmla="*/ 1020 w 1797"/>
              <a:gd name="T79" fmla="*/ 1876 h 2496"/>
              <a:gd name="T80" fmla="*/ 1136 w 1797"/>
              <a:gd name="T81" fmla="*/ 1902 h 2496"/>
              <a:gd name="T82" fmla="*/ 1334 w 1797"/>
              <a:gd name="T83" fmla="*/ 1901 h 2496"/>
              <a:gd name="T84" fmla="*/ 1532 w 1797"/>
              <a:gd name="T85" fmla="*/ 1901 h 2496"/>
              <a:gd name="T86" fmla="*/ 1021 w 1797"/>
              <a:gd name="T87" fmla="*/ 2171 h 2496"/>
              <a:gd name="T88" fmla="*/ 1023 w 1797"/>
              <a:gd name="T89" fmla="*/ 2271 h 2496"/>
              <a:gd name="T90" fmla="*/ 1024 w 1797"/>
              <a:gd name="T91" fmla="*/ 2383 h 2496"/>
              <a:gd name="T92" fmla="*/ 1018 w 1797"/>
              <a:gd name="T93" fmla="*/ 2475 h 2496"/>
              <a:gd name="T94" fmla="*/ 768 w 1797"/>
              <a:gd name="T95" fmla="*/ 2147 h 2496"/>
              <a:gd name="T96" fmla="*/ 768 w 1797"/>
              <a:gd name="T97" fmla="*/ 1901 h 2496"/>
              <a:gd name="T98" fmla="*/ 635 w 1797"/>
              <a:gd name="T99" fmla="*/ 1748 h 2496"/>
              <a:gd name="T100" fmla="*/ 453 w 1797"/>
              <a:gd name="T101" fmla="*/ 1666 h 2496"/>
              <a:gd name="T102" fmla="*/ 293 w 1797"/>
              <a:gd name="T103" fmla="*/ 1555 h 2496"/>
              <a:gd name="T104" fmla="*/ 162 w 1797"/>
              <a:gd name="T105" fmla="*/ 1415 h 2496"/>
              <a:gd name="T106" fmla="*/ 66 w 1797"/>
              <a:gd name="T107" fmla="*/ 1244 h 2496"/>
              <a:gd name="T108" fmla="*/ 11 w 1797"/>
              <a:gd name="T109" fmla="*/ 1042 h 2496"/>
              <a:gd name="T110" fmla="*/ 4 w 1797"/>
              <a:gd name="T111" fmla="*/ 809 h 2496"/>
              <a:gd name="T112" fmla="*/ 55 w 1797"/>
              <a:gd name="T113" fmla="*/ 584 h 2496"/>
              <a:gd name="T114" fmla="*/ 159 w 1797"/>
              <a:gd name="T115" fmla="*/ 383 h 2496"/>
              <a:gd name="T116" fmla="*/ 306 w 1797"/>
              <a:gd name="T117" fmla="*/ 215 h 2496"/>
              <a:gd name="T118" fmla="*/ 492 w 1797"/>
              <a:gd name="T119" fmla="*/ 89 h 2496"/>
              <a:gd name="T120" fmla="*/ 709 w 1797"/>
              <a:gd name="T121" fmla="*/ 16 h 2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797" h="2496">
                <a:moveTo>
                  <a:pt x="887" y="254"/>
                </a:moveTo>
                <a:lnTo>
                  <a:pt x="815" y="259"/>
                </a:lnTo>
                <a:lnTo>
                  <a:pt x="748" y="271"/>
                </a:lnTo>
                <a:lnTo>
                  <a:pt x="685" y="289"/>
                </a:lnTo>
                <a:lnTo>
                  <a:pt x="626" y="311"/>
                </a:lnTo>
                <a:lnTo>
                  <a:pt x="571" y="338"/>
                </a:lnTo>
                <a:lnTo>
                  <a:pt x="521" y="370"/>
                </a:lnTo>
                <a:lnTo>
                  <a:pt x="474" y="404"/>
                </a:lnTo>
                <a:lnTo>
                  <a:pt x="431" y="442"/>
                </a:lnTo>
                <a:lnTo>
                  <a:pt x="394" y="483"/>
                </a:lnTo>
                <a:lnTo>
                  <a:pt x="361" y="526"/>
                </a:lnTo>
                <a:lnTo>
                  <a:pt x="334" y="570"/>
                </a:lnTo>
                <a:lnTo>
                  <a:pt x="327" y="581"/>
                </a:lnTo>
                <a:lnTo>
                  <a:pt x="319" y="599"/>
                </a:lnTo>
                <a:lnTo>
                  <a:pt x="309" y="619"/>
                </a:lnTo>
                <a:lnTo>
                  <a:pt x="299" y="645"/>
                </a:lnTo>
                <a:lnTo>
                  <a:pt x="287" y="676"/>
                </a:lnTo>
                <a:lnTo>
                  <a:pt x="277" y="709"/>
                </a:lnTo>
                <a:lnTo>
                  <a:pt x="266" y="747"/>
                </a:lnTo>
                <a:lnTo>
                  <a:pt x="257" y="788"/>
                </a:lnTo>
                <a:lnTo>
                  <a:pt x="249" y="854"/>
                </a:lnTo>
                <a:lnTo>
                  <a:pt x="245" y="920"/>
                </a:lnTo>
                <a:lnTo>
                  <a:pt x="249" y="981"/>
                </a:lnTo>
                <a:lnTo>
                  <a:pt x="257" y="1040"/>
                </a:lnTo>
                <a:lnTo>
                  <a:pt x="271" y="1095"/>
                </a:lnTo>
                <a:lnTo>
                  <a:pt x="289" y="1148"/>
                </a:lnTo>
                <a:lnTo>
                  <a:pt x="313" y="1199"/>
                </a:lnTo>
                <a:lnTo>
                  <a:pt x="341" y="1244"/>
                </a:lnTo>
                <a:lnTo>
                  <a:pt x="373" y="1288"/>
                </a:lnTo>
                <a:lnTo>
                  <a:pt x="409" y="1328"/>
                </a:lnTo>
                <a:lnTo>
                  <a:pt x="447" y="1365"/>
                </a:lnTo>
                <a:lnTo>
                  <a:pt x="489" y="1398"/>
                </a:lnTo>
                <a:lnTo>
                  <a:pt x="533" y="1427"/>
                </a:lnTo>
                <a:lnTo>
                  <a:pt x="580" y="1454"/>
                </a:lnTo>
                <a:lnTo>
                  <a:pt x="629" y="1477"/>
                </a:lnTo>
                <a:lnTo>
                  <a:pt x="679" y="1495"/>
                </a:lnTo>
                <a:lnTo>
                  <a:pt x="731" y="1510"/>
                </a:lnTo>
                <a:lnTo>
                  <a:pt x="784" y="1522"/>
                </a:lnTo>
                <a:lnTo>
                  <a:pt x="838" y="1529"/>
                </a:lnTo>
                <a:lnTo>
                  <a:pt x="892" y="1532"/>
                </a:lnTo>
                <a:lnTo>
                  <a:pt x="946" y="1532"/>
                </a:lnTo>
                <a:lnTo>
                  <a:pt x="1001" y="1527"/>
                </a:lnTo>
                <a:lnTo>
                  <a:pt x="1053" y="1518"/>
                </a:lnTo>
                <a:lnTo>
                  <a:pt x="1106" y="1505"/>
                </a:lnTo>
                <a:lnTo>
                  <a:pt x="1158" y="1488"/>
                </a:lnTo>
                <a:lnTo>
                  <a:pt x="1207" y="1466"/>
                </a:lnTo>
                <a:lnTo>
                  <a:pt x="1255" y="1438"/>
                </a:lnTo>
                <a:lnTo>
                  <a:pt x="1301" y="1408"/>
                </a:lnTo>
                <a:lnTo>
                  <a:pt x="1344" y="1373"/>
                </a:lnTo>
                <a:lnTo>
                  <a:pt x="1385" y="1333"/>
                </a:lnTo>
                <a:lnTo>
                  <a:pt x="1421" y="1288"/>
                </a:lnTo>
                <a:lnTo>
                  <a:pt x="1456" y="1238"/>
                </a:lnTo>
                <a:lnTo>
                  <a:pt x="1485" y="1184"/>
                </a:lnTo>
                <a:lnTo>
                  <a:pt x="1508" y="1132"/>
                </a:lnTo>
                <a:lnTo>
                  <a:pt x="1524" y="1079"/>
                </a:lnTo>
                <a:lnTo>
                  <a:pt x="1533" y="1023"/>
                </a:lnTo>
                <a:lnTo>
                  <a:pt x="1540" y="966"/>
                </a:lnTo>
                <a:lnTo>
                  <a:pt x="1541" y="908"/>
                </a:lnTo>
                <a:lnTo>
                  <a:pt x="1537" y="851"/>
                </a:lnTo>
                <a:lnTo>
                  <a:pt x="1530" y="794"/>
                </a:lnTo>
                <a:lnTo>
                  <a:pt x="1519" y="739"/>
                </a:lnTo>
                <a:lnTo>
                  <a:pt x="1504" y="685"/>
                </a:lnTo>
                <a:lnTo>
                  <a:pt x="1487" y="634"/>
                </a:lnTo>
                <a:lnTo>
                  <a:pt x="1466" y="585"/>
                </a:lnTo>
                <a:lnTo>
                  <a:pt x="1442" y="541"/>
                </a:lnTo>
                <a:lnTo>
                  <a:pt x="1418" y="501"/>
                </a:lnTo>
                <a:lnTo>
                  <a:pt x="1391" y="467"/>
                </a:lnTo>
                <a:lnTo>
                  <a:pt x="1354" y="428"/>
                </a:lnTo>
                <a:lnTo>
                  <a:pt x="1311" y="391"/>
                </a:lnTo>
                <a:lnTo>
                  <a:pt x="1261" y="358"/>
                </a:lnTo>
                <a:lnTo>
                  <a:pt x="1209" y="327"/>
                </a:lnTo>
                <a:lnTo>
                  <a:pt x="1151" y="301"/>
                </a:lnTo>
                <a:lnTo>
                  <a:pt x="1090" y="280"/>
                </a:lnTo>
                <a:lnTo>
                  <a:pt x="1025" y="265"/>
                </a:lnTo>
                <a:lnTo>
                  <a:pt x="957" y="257"/>
                </a:lnTo>
                <a:lnTo>
                  <a:pt x="887" y="254"/>
                </a:lnTo>
                <a:close/>
                <a:moveTo>
                  <a:pt x="873" y="0"/>
                </a:moveTo>
                <a:lnTo>
                  <a:pt x="955" y="1"/>
                </a:lnTo>
                <a:lnTo>
                  <a:pt x="1035" y="8"/>
                </a:lnTo>
                <a:lnTo>
                  <a:pt x="1113" y="22"/>
                </a:lnTo>
                <a:lnTo>
                  <a:pt x="1186" y="41"/>
                </a:lnTo>
                <a:lnTo>
                  <a:pt x="1257" y="67"/>
                </a:lnTo>
                <a:lnTo>
                  <a:pt x="1324" y="97"/>
                </a:lnTo>
                <a:lnTo>
                  <a:pt x="1387" y="132"/>
                </a:lnTo>
                <a:lnTo>
                  <a:pt x="1446" y="173"/>
                </a:lnTo>
                <a:lnTo>
                  <a:pt x="1501" y="219"/>
                </a:lnTo>
                <a:lnTo>
                  <a:pt x="1553" y="268"/>
                </a:lnTo>
                <a:lnTo>
                  <a:pt x="1600" y="321"/>
                </a:lnTo>
                <a:lnTo>
                  <a:pt x="1643" y="377"/>
                </a:lnTo>
                <a:lnTo>
                  <a:pt x="1680" y="439"/>
                </a:lnTo>
                <a:lnTo>
                  <a:pt x="1713" y="503"/>
                </a:lnTo>
                <a:lnTo>
                  <a:pt x="1740" y="569"/>
                </a:lnTo>
                <a:lnTo>
                  <a:pt x="1762" y="639"/>
                </a:lnTo>
                <a:lnTo>
                  <a:pt x="1780" y="712"/>
                </a:lnTo>
                <a:lnTo>
                  <a:pt x="1792" y="787"/>
                </a:lnTo>
                <a:lnTo>
                  <a:pt x="1797" y="863"/>
                </a:lnTo>
                <a:lnTo>
                  <a:pt x="1797" y="945"/>
                </a:lnTo>
                <a:lnTo>
                  <a:pt x="1791" y="1024"/>
                </a:lnTo>
                <a:lnTo>
                  <a:pt x="1778" y="1099"/>
                </a:lnTo>
                <a:lnTo>
                  <a:pt x="1760" y="1170"/>
                </a:lnTo>
                <a:lnTo>
                  <a:pt x="1736" y="1239"/>
                </a:lnTo>
                <a:lnTo>
                  <a:pt x="1708" y="1303"/>
                </a:lnTo>
                <a:lnTo>
                  <a:pt x="1674" y="1365"/>
                </a:lnTo>
                <a:lnTo>
                  <a:pt x="1634" y="1421"/>
                </a:lnTo>
                <a:lnTo>
                  <a:pt x="1591" y="1475"/>
                </a:lnTo>
                <a:lnTo>
                  <a:pt x="1542" y="1525"/>
                </a:lnTo>
                <a:lnTo>
                  <a:pt x="1490" y="1570"/>
                </a:lnTo>
                <a:lnTo>
                  <a:pt x="1434" y="1612"/>
                </a:lnTo>
                <a:lnTo>
                  <a:pt x="1373" y="1650"/>
                </a:lnTo>
                <a:lnTo>
                  <a:pt x="1309" y="1683"/>
                </a:lnTo>
                <a:lnTo>
                  <a:pt x="1242" y="1714"/>
                </a:lnTo>
                <a:lnTo>
                  <a:pt x="1172" y="1740"/>
                </a:lnTo>
                <a:lnTo>
                  <a:pt x="1099" y="1761"/>
                </a:lnTo>
                <a:lnTo>
                  <a:pt x="1023" y="1779"/>
                </a:lnTo>
                <a:lnTo>
                  <a:pt x="1020" y="1789"/>
                </a:lnTo>
                <a:lnTo>
                  <a:pt x="1020" y="1804"/>
                </a:lnTo>
                <a:lnTo>
                  <a:pt x="1021" y="1821"/>
                </a:lnTo>
                <a:lnTo>
                  <a:pt x="1023" y="1841"/>
                </a:lnTo>
                <a:lnTo>
                  <a:pt x="1023" y="1859"/>
                </a:lnTo>
                <a:lnTo>
                  <a:pt x="1020" y="1876"/>
                </a:lnTo>
                <a:lnTo>
                  <a:pt x="1013" y="1892"/>
                </a:lnTo>
                <a:lnTo>
                  <a:pt x="1073" y="1898"/>
                </a:lnTo>
                <a:lnTo>
                  <a:pt x="1136" y="1902"/>
                </a:lnTo>
                <a:lnTo>
                  <a:pt x="1201" y="1903"/>
                </a:lnTo>
                <a:lnTo>
                  <a:pt x="1268" y="1902"/>
                </a:lnTo>
                <a:lnTo>
                  <a:pt x="1334" y="1901"/>
                </a:lnTo>
                <a:lnTo>
                  <a:pt x="1402" y="1901"/>
                </a:lnTo>
                <a:lnTo>
                  <a:pt x="1468" y="1900"/>
                </a:lnTo>
                <a:lnTo>
                  <a:pt x="1532" y="1901"/>
                </a:lnTo>
                <a:lnTo>
                  <a:pt x="1532" y="2147"/>
                </a:lnTo>
                <a:lnTo>
                  <a:pt x="1023" y="2147"/>
                </a:lnTo>
                <a:lnTo>
                  <a:pt x="1021" y="2171"/>
                </a:lnTo>
                <a:lnTo>
                  <a:pt x="1021" y="2201"/>
                </a:lnTo>
                <a:lnTo>
                  <a:pt x="1021" y="2234"/>
                </a:lnTo>
                <a:lnTo>
                  <a:pt x="1023" y="2271"/>
                </a:lnTo>
                <a:lnTo>
                  <a:pt x="1023" y="2308"/>
                </a:lnTo>
                <a:lnTo>
                  <a:pt x="1024" y="2346"/>
                </a:lnTo>
                <a:lnTo>
                  <a:pt x="1024" y="2383"/>
                </a:lnTo>
                <a:lnTo>
                  <a:pt x="1023" y="2417"/>
                </a:lnTo>
                <a:lnTo>
                  <a:pt x="1021" y="2448"/>
                </a:lnTo>
                <a:lnTo>
                  <a:pt x="1018" y="2475"/>
                </a:lnTo>
                <a:lnTo>
                  <a:pt x="1013" y="2496"/>
                </a:lnTo>
                <a:lnTo>
                  <a:pt x="768" y="2496"/>
                </a:lnTo>
                <a:lnTo>
                  <a:pt x="768" y="2147"/>
                </a:lnTo>
                <a:lnTo>
                  <a:pt x="249" y="2147"/>
                </a:lnTo>
                <a:lnTo>
                  <a:pt x="249" y="1901"/>
                </a:lnTo>
                <a:lnTo>
                  <a:pt x="768" y="1901"/>
                </a:lnTo>
                <a:lnTo>
                  <a:pt x="768" y="1788"/>
                </a:lnTo>
                <a:lnTo>
                  <a:pt x="700" y="1769"/>
                </a:lnTo>
                <a:lnTo>
                  <a:pt x="635" y="1748"/>
                </a:lnTo>
                <a:lnTo>
                  <a:pt x="572" y="1724"/>
                </a:lnTo>
                <a:lnTo>
                  <a:pt x="511" y="1697"/>
                </a:lnTo>
                <a:lnTo>
                  <a:pt x="453" y="1666"/>
                </a:lnTo>
                <a:lnTo>
                  <a:pt x="396" y="1633"/>
                </a:lnTo>
                <a:lnTo>
                  <a:pt x="343" y="1596"/>
                </a:lnTo>
                <a:lnTo>
                  <a:pt x="293" y="1555"/>
                </a:lnTo>
                <a:lnTo>
                  <a:pt x="246" y="1512"/>
                </a:lnTo>
                <a:lnTo>
                  <a:pt x="202" y="1466"/>
                </a:lnTo>
                <a:lnTo>
                  <a:pt x="162" y="1415"/>
                </a:lnTo>
                <a:lnTo>
                  <a:pt x="127" y="1362"/>
                </a:lnTo>
                <a:lnTo>
                  <a:pt x="95" y="1306"/>
                </a:lnTo>
                <a:lnTo>
                  <a:pt x="66" y="1244"/>
                </a:lnTo>
                <a:lnTo>
                  <a:pt x="43" y="1180"/>
                </a:lnTo>
                <a:lnTo>
                  <a:pt x="25" y="1113"/>
                </a:lnTo>
                <a:lnTo>
                  <a:pt x="11" y="1042"/>
                </a:lnTo>
                <a:lnTo>
                  <a:pt x="2" y="967"/>
                </a:lnTo>
                <a:lnTo>
                  <a:pt x="0" y="888"/>
                </a:lnTo>
                <a:lnTo>
                  <a:pt x="4" y="809"/>
                </a:lnTo>
                <a:lnTo>
                  <a:pt x="15" y="733"/>
                </a:lnTo>
                <a:lnTo>
                  <a:pt x="32" y="658"/>
                </a:lnTo>
                <a:lnTo>
                  <a:pt x="55" y="584"/>
                </a:lnTo>
                <a:lnTo>
                  <a:pt x="85" y="514"/>
                </a:lnTo>
                <a:lnTo>
                  <a:pt x="119" y="447"/>
                </a:lnTo>
                <a:lnTo>
                  <a:pt x="159" y="383"/>
                </a:lnTo>
                <a:lnTo>
                  <a:pt x="203" y="323"/>
                </a:lnTo>
                <a:lnTo>
                  <a:pt x="252" y="267"/>
                </a:lnTo>
                <a:lnTo>
                  <a:pt x="306" y="215"/>
                </a:lnTo>
                <a:lnTo>
                  <a:pt x="364" y="168"/>
                </a:lnTo>
                <a:lnTo>
                  <a:pt x="427" y="125"/>
                </a:lnTo>
                <a:lnTo>
                  <a:pt x="492" y="89"/>
                </a:lnTo>
                <a:lnTo>
                  <a:pt x="561" y="59"/>
                </a:lnTo>
                <a:lnTo>
                  <a:pt x="634" y="34"/>
                </a:lnTo>
                <a:lnTo>
                  <a:pt x="709" y="16"/>
                </a:lnTo>
                <a:lnTo>
                  <a:pt x="786" y="5"/>
                </a:lnTo>
                <a:lnTo>
                  <a:pt x="873" y="0"/>
                </a:lnTo>
                <a:close/>
              </a:path>
            </a:pathLst>
          </a:custGeom>
          <a:solidFill>
            <a:srgbClr val="FFFFFF">
              <a:lumMod val="75000"/>
            </a:srgbClr>
          </a:solid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NZ" kern="0">
              <a:solidFill>
                <a:srgbClr val="333333"/>
              </a:solidFill>
              <a:latin typeface="MTN Brighter Sans"/>
            </a:endParaRPr>
          </a:p>
        </p:txBody>
      </p:sp>
      <p:graphicFrame>
        <p:nvGraphicFramePr>
          <p:cNvPr id="40" name="Content Placeholder 95">
            <a:extLst>
              <a:ext uri="{FF2B5EF4-FFF2-40B4-BE49-F238E27FC236}">
                <a16:creationId xmlns:a16="http://schemas.microsoft.com/office/drawing/2014/main" id="{2FAB42F2-2A4F-4F24-B31E-714DF00F5662}"/>
              </a:ext>
            </a:extLst>
          </p:cNvPr>
          <p:cNvGraphicFramePr>
            <a:graphicFrameLocks/>
          </p:cNvGraphicFramePr>
          <p:nvPr>
            <p:extLst>
              <p:ext uri="{D42A27DB-BD31-4B8C-83A1-F6EECF244321}">
                <p14:modId xmlns:p14="http://schemas.microsoft.com/office/powerpoint/2010/main" val="1995326762"/>
              </p:ext>
            </p:extLst>
          </p:nvPr>
        </p:nvGraphicFramePr>
        <p:xfrm>
          <a:off x="4068763" y="1716088"/>
          <a:ext cx="3671887" cy="1563687"/>
        </p:xfrm>
        <a:graphic>
          <a:graphicData uri="http://schemas.openxmlformats.org/drawingml/2006/chart">
            <c:chart xmlns:c="http://schemas.openxmlformats.org/drawingml/2006/chart" xmlns:r="http://schemas.openxmlformats.org/officeDocument/2006/relationships" r:id="rId3"/>
          </a:graphicData>
        </a:graphic>
      </p:graphicFrame>
      <p:pic>
        <p:nvPicPr>
          <p:cNvPr id="41" name="Graphic 40">
            <a:extLst>
              <a:ext uri="{FF2B5EF4-FFF2-40B4-BE49-F238E27FC236}">
                <a16:creationId xmlns:a16="http://schemas.microsoft.com/office/drawing/2014/main" id="{CCF734A3-D228-4166-BBB0-14F503651D36}"/>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xmlns="" r:embed="rId5"/>
              </a:ext>
            </a:extLst>
          </a:blip>
          <a:stretch>
            <a:fillRect/>
          </a:stretch>
        </p:blipFill>
        <p:spPr>
          <a:xfrm>
            <a:off x="8286751" y="1070342"/>
            <a:ext cx="546860" cy="546860"/>
          </a:xfrm>
          <a:prstGeom prst="rect">
            <a:avLst/>
          </a:prstGeom>
        </p:spPr>
      </p:pic>
      <p:pic>
        <p:nvPicPr>
          <p:cNvPr id="44" name="Graphic 43">
            <a:extLst>
              <a:ext uri="{FF2B5EF4-FFF2-40B4-BE49-F238E27FC236}">
                <a16:creationId xmlns:a16="http://schemas.microsoft.com/office/drawing/2014/main" id="{FD8C6AC5-1553-4135-AAB7-9E8BAD2773B4}"/>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4068763" y="1041766"/>
            <a:ext cx="361893" cy="546861"/>
          </a:xfrm>
          <a:prstGeom prst="rect">
            <a:avLst/>
          </a:prstGeom>
        </p:spPr>
      </p:pic>
      <p:grpSp>
        <p:nvGrpSpPr>
          <p:cNvPr id="45" name="Group 44">
            <a:extLst>
              <a:ext uri="{FF2B5EF4-FFF2-40B4-BE49-F238E27FC236}">
                <a16:creationId xmlns:a16="http://schemas.microsoft.com/office/drawing/2014/main" id="{C17F3955-1361-4C76-B12C-F508CC70D030}"/>
              </a:ext>
            </a:extLst>
          </p:cNvPr>
          <p:cNvGrpSpPr/>
          <p:nvPr/>
        </p:nvGrpSpPr>
        <p:grpSpPr>
          <a:xfrm>
            <a:off x="4122738" y="3895450"/>
            <a:ext cx="756956" cy="435250"/>
            <a:chOff x="1176135" y="4220031"/>
            <a:chExt cx="1524000" cy="876300"/>
          </a:xfrm>
        </p:grpSpPr>
        <p:pic>
          <p:nvPicPr>
            <p:cNvPr id="48" name="Graphic 47">
              <a:extLst>
                <a:ext uri="{FF2B5EF4-FFF2-40B4-BE49-F238E27FC236}">
                  <a16:creationId xmlns:a16="http://schemas.microsoft.com/office/drawing/2014/main" id="{BB71E918-7608-40A9-B1A2-DF26CA32A0CD}"/>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xmlns="" r:embed="rId9"/>
                </a:ext>
              </a:extLst>
            </a:blip>
            <a:stretch>
              <a:fillRect/>
            </a:stretch>
          </p:blipFill>
          <p:spPr>
            <a:xfrm>
              <a:off x="1176135" y="4220031"/>
              <a:ext cx="647700" cy="876300"/>
            </a:xfrm>
            <a:prstGeom prst="rect">
              <a:avLst/>
            </a:prstGeom>
          </p:spPr>
        </p:pic>
        <p:pic>
          <p:nvPicPr>
            <p:cNvPr id="49" name="Graphic 48">
              <a:extLst>
                <a:ext uri="{FF2B5EF4-FFF2-40B4-BE49-F238E27FC236}">
                  <a16:creationId xmlns:a16="http://schemas.microsoft.com/office/drawing/2014/main" id="{50465A9A-6498-4208-BBD3-826A0AE5F001}"/>
                </a:ext>
              </a:extLst>
            </p:cNvPr>
            <p:cNvPicPr>
              <a:picLocks noChangeAspect="1"/>
            </p:cNvPicPr>
            <p:nvPr/>
          </p:nvPicPr>
          <p:blipFill>
            <a:blip r:embed="rId10" cstate="email">
              <a:extLst>
                <a:ext uri="{28A0092B-C50C-407E-A947-70E740481C1C}">
                  <a14:useLocalDpi xmlns:a14="http://schemas.microsoft.com/office/drawing/2010/main"/>
                </a:ext>
                <a:ext uri="{96DAC541-7B7A-43D3-8B79-37D633B846F1}">
                  <asvg:svgBlip xmlns:asvg="http://schemas.microsoft.com/office/drawing/2016/SVG/main" xmlns="" r:embed="rId11"/>
                </a:ext>
              </a:extLst>
            </a:blip>
            <a:stretch>
              <a:fillRect/>
            </a:stretch>
          </p:blipFill>
          <p:spPr>
            <a:xfrm>
              <a:off x="1823835" y="4385131"/>
              <a:ext cx="876300" cy="711200"/>
            </a:xfrm>
            <a:prstGeom prst="rect">
              <a:avLst/>
            </a:prstGeom>
          </p:spPr>
        </p:pic>
      </p:grpSp>
      <p:sp>
        <p:nvSpPr>
          <p:cNvPr id="51" name="Text Placeholder 16">
            <a:extLst>
              <a:ext uri="{FF2B5EF4-FFF2-40B4-BE49-F238E27FC236}">
                <a16:creationId xmlns:a16="http://schemas.microsoft.com/office/drawing/2014/main" id="{081621CC-28DB-4C59-97A8-164DFA2E4B0C}"/>
              </a:ext>
            </a:extLst>
          </p:cNvPr>
          <p:cNvSpPr txBox="1">
            <a:spLocks/>
          </p:cNvSpPr>
          <p:nvPr/>
        </p:nvSpPr>
        <p:spPr>
          <a:xfrm>
            <a:off x="1024155" y="3967163"/>
            <a:ext cx="2874745" cy="396875"/>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1200"/>
              </a:spcBef>
              <a:buFont typeface="Arial" panose="020B0604020202020204" pitchFamily="34" charset="0"/>
              <a:buNone/>
              <a:defRPr sz="1600" b="1"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2pPr>
            <a:lvl3pPr marL="360000"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3pPr>
            <a:lvl4pPr marL="540000"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4pPr>
            <a:lvl5pPr marL="720000" indent="-180000"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NZ" dirty="0">
                <a:solidFill>
                  <a:srgbClr val="333333"/>
                </a:solidFill>
                <a:latin typeface="MTN Brighter Sans"/>
              </a:rPr>
              <a:t>Age group</a:t>
            </a:r>
          </a:p>
        </p:txBody>
      </p:sp>
      <p:graphicFrame>
        <p:nvGraphicFramePr>
          <p:cNvPr id="52" name="Content Placeholder 92">
            <a:extLst>
              <a:ext uri="{FF2B5EF4-FFF2-40B4-BE49-F238E27FC236}">
                <a16:creationId xmlns:a16="http://schemas.microsoft.com/office/drawing/2014/main" id="{AD39B6D8-9DED-408B-A038-721272DD9D43}"/>
              </a:ext>
            </a:extLst>
          </p:cNvPr>
          <p:cNvGraphicFramePr>
            <a:graphicFrameLocks/>
          </p:cNvGraphicFramePr>
          <p:nvPr>
            <p:extLst>
              <p:ext uri="{D42A27DB-BD31-4B8C-83A1-F6EECF244321}">
                <p14:modId xmlns:p14="http://schemas.microsoft.com/office/powerpoint/2010/main" val="3802062404"/>
              </p:ext>
            </p:extLst>
          </p:nvPr>
        </p:nvGraphicFramePr>
        <p:xfrm>
          <a:off x="227013" y="4440238"/>
          <a:ext cx="3671887" cy="1563687"/>
        </p:xfrm>
        <a:graphic>
          <a:graphicData uri="http://schemas.openxmlformats.org/drawingml/2006/chart">
            <c:chart xmlns:c="http://schemas.openxmlformats.org/drawingml/2006/chart" xmlns:r="http://schemas.openxmlformats.org/officeDocument/2006/relationships" r:id="rId12"/>
          </a:graphicData>
        </a:graphic>
      </p:graphicFrame>
      <p:pic>
        <p:nvPicPr>
          <p:cNvPr id="53" name="Graphic 52">
            <a:extLst>
              <a:ext uri="{FF2B5EF4-FFF2-40B4-BE49-F238E27FC236}">
                <a16:creationId xmlns:a16="http://schemas.microsoft.com/office/drawing/2014/main" id="{1BBF257F-9264-4024-AA7F-E7A31BA4EF58}"/>
              </a:ext>
            </a:extLst>
          </p:cNvPr>
          <p:cNvPicPr>
            <a:picLocks noChangeAspect="1"/>
          </p:cNvPicPr>
          <p:nvPr/>
        </p:nvPicPr>
        <p:blipFill>
          <a:blip r:embed="rId13" cstate="email">
            <a:extLst>
              <a:ext uri="{28A0092B-C50C-407E-A947-70E740481C1C}">
                <a14:useLocalDpi xmlns:a14="http://schemas.microsoft.com/office/drawing/2010/main"/>
              </a:ext>
              <a:ext uri="{96DAC541-7B7A-43D3-8B79-37D633B846F1}">
                <asvg:svgBlip xmlns:asvg="http://schemas.microsoft.com/office/drawing/2016/SVG/main" xmlns="" r:embed="rId14"/>
              </a:ext>
            </a:extLst>
          </a:blip>
          <a:stretch>
            <a:fillRect/>
          </a:stretch>
        </p:blipFill>
        <p:spPr>
          <a:xfrm>
            <a:off x="227013" y="3765917"/>
            <a:ext cx="571717" cy="546860"/>
          </a:xfrm>
          <a:prstGeom prst="rect">
            <a:avLst/>
          </a:prstGeom>
        </p:spPr>
      </p:pic>
      <p:cxnSp>
        <p:nvCxnSpPr>
          <p:cNvPr id="54" name="Straight Connector 53">
            <a:extLst>
              <a:ext uri="{FF2B5EF4-FFF2-40B4-BE49-F238E27FC236}">
                <a16:creationId xmlns:a16="http://schemas.microsoft.com/office/drawing/2014/main" id="{1188FF88-D29B-418E-9107-EFBE528664F6}"/>
              </a:ext>
            </a:extLst>
          </p:cNvPr>
          <p:cNvCxnSpPr/>
          <p:nvPr/>
        </p:nvCxnSpPr>
        <p:spPr>
          <a:xfrm>
            <a:off x="3883025" y="1041766"/>
            <a:ext cx="0" cy="5035184"/>
          </a:xfrm>
          <a:prstGeom prst="line">
            <a:avLst/>
          </a:prstGeom>
          <a:noFill/>
          <a:ln w="6350" cap="flat" cmpd="sng" algn="ctr">
            <a:solidFill>
              <a:sysClr val="window" lastClr="FFFFFF">
                <a:lumMod val="85000"/>
              </a:sysClr>
            </a:solidFill>
            <a:prstDash val="solid"/>
            <a:miter lim="800000"/>
          </a:ln>
          <a:effectLst/>
        </p:spPr>
      </p:cxnSp>
      <p:cxnSp>
        <p:nvCxnSpPr>
          <p:cNvPr id="55" name="Straight Connector 54">
            <a:extLst>
              <a:ext uri="{FF2B5EF4-FFF2-40B4-BE49-F238E27FC236}">
                <a16:creationId xmlns:a16="http://schemas.microsoft.com/office/drawing/2014/main" id="{BBA51007-2419-42DC-A26C-E821EB44788E}"/>
              </a:ext>
            </a:extLst>
          </p:cNvPr>
          <p:cNvCxnSpPr/>
          <p:nvPr/>
        </p:nvCxnSpPr>
        <p:spPr>
          <a:xfrm>
            <a:off x="8188325" y="984616"/>
            <a:ext cx="0" cy="5035184"/>
          </a:xfrm>
          <a:prstGeom prst="line">
            <a:avLst/>
          </a:prstGeom>
          <a:noFill/>
          <a:ln w="6350" cap="flat" cmpd="sng" algn="ctr">
            <a:solidFill>
              <a:sysClr val="window" lastClr="FFFFFF">
                <a:lumMod val="85000"/>
              </a:sysClr>
            </a:solidFill>
            <a:prstDash val="solid"/>
            <a:miter lim="800000"/>
          </a:ln>
          <a:effectLst/>
        </p:spPr>
      </p:cxnSp>
      <p:cxnSp>
        <p:nvCxnSpPr>
          <p:cNvPr id="56" name="Straight Connector 55">
            <a:extLst>
              <a:ext uri="{FF2B5EF4-FFF2-40B4-BE49-F238E27FC236}">
                <a16:creationId xmlns:a16="http://schemas.microsoft.com/office/drawing/2014/main" id="{E671321F-096C-4066-BBA2-21A569A366A9}"/>
              </a:ext>
            </a:extLst>
          </p:cNvPr>
          <p:cNvCxnSpPr/>
          <p:nvPr/>
        </p:nvCxnSpPr>
        <p:spPr>
          <a:xfrm>
            <a:off x="211138" y="3638550"/>
            <a:ext cx="11761787" cy="0"/>
          </a:xfrm>
          <a:prstGeom prst="line">
            <a:avLst/>
          </a:prstGeom>
          <a:noFill/>
          <a:ln w="6350" cap="flat" cmpd="sng" algn="ctr">
            <a:solidFill>
              <a:sysClr val="window" lastClr="FFFFFF">
                <a:lumMod val="85000"/>
              </a:sysClr>
            </a:solidFill>
            <a:prstDash val="solid"/>
            <a:miter lim="800000"/>
          </a:ln>
          <a:effectLst/>
        </p:spPr>
      </p:cxnSp>
      <p:sp>
        <p:nvSpPr>
          <p:cNvPr id="57" name="Text Placeholder 20">
            <a:extLst>
              <a:ext uri="{FF2B5EF4-FFF2-40B4-BE49-F238E27FC236}">
                <a16:creationId xmlns:a16="http://schemas.microsoft.com/office/drawing/2014/main" id="{925695AF-2397-4E47-8B60-9C42ADDAA78A}"/>
              </a:ext>
            </a:extLst>
          </p:cNvPr>
          <p:cNvSpPr txBox="1">
            <a:spLocks/>
          </p:cNvSpPr>
          <p:nvPr/>
        </p:nvSpPr>
        <p:spPr>
          <a:xfrm>
            <a:off x="1038169" y="1201448"/>
            <a:ext cx="2722049" cy="396875"/>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1200"/>
              </a:spcBef>
              <a:buFont typeface="Arial" panose="020B0604020202020204" pitchFamily="34" charset="0"/>
              <a:buNone/>
              <a:defRPr sz="1600" b="1"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2pPr>
            <a:lvl3pPr marL="360000"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3pPr>
            <a:lvl4pPr marL="540000"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4pPr>
            <a:lvl5pPr marL="720000" indent="-180000"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NZ" dirty="0">
                <a:solidFill>
                  <a:srgbClr val="333333"/>
                </a:solidFill>
                <a:latin typeface="MTN Brighter Sans"/>
              </a:rPr>
              <a:t>Achieved Sample </a:t>
            </a:r>
          </a:p>
        </p:txBody>
      </p:sp>
      <p:grpSp>
        <p:nvGrpSpPr>
          <p:cNvPr id="58" name="Group 57">
            <a:extLst>
              <a:ext uri="{FF2B5EF4-FFF2-40B4-BE49-F238E27FC236}">
                <a16:creationId xmlns:a16="http://schemas.microsoft.com/office/drawing/2014/main" id="{42F1F5F0-8AE3-4EE9-B7FE-1BC1D95E802C}"/>
              </a:ext>
            </a:extLst>
          </p:cNvPr>
          <p:cNvGrpSpPr/>
          <p:nvPr/>
        </p:nvGrpSpPr>
        <p:grpSpPr>
          <a:xfrm>
            <a:off x="227539" y="1155124"/>
            <a:ext cx="732261" cy="560961"/>
            <a:chOff x="96067" y="4355843"/>
            <a:chExt cx="2219599" cy="1187707"/>
          </a:xfrm>
        </p:grpSpPr>
        <p:grpSp>
          <p:nvGrpSpPr>
            <p:cNvPr id="59" name="Group 58">
              <a:extLst>
                <a:ext uri="{FF2B5EF4-FFF2-40B4-BE49-F238E27FC236}">
                  <a16:creationId xmlns:a16="http://schemas.microsoft.com/office/drawing/2014/main" id="{3C6F6793-E636-409E-A76A-C7C79AE143DB}"/>
                </a:ext>
              </a:extLst>
            </p:cNvPr>
            <p:cNvGrpSpPr/>
            <p:nvPr/>
          </p:nvGrpSpPr>
          <p:grpSpPr>
            <a:xfrm>
              <a:off x="96067" y="4355843"/>
              <a:ext cx="2219599" cy="858898"/>
              <a:chOff x="96067" y="4355843"/>
              <a:chExt cx="2219599" cy="858898"/>
            </a:xfrm>
          </p:grpSpPr>
          <p:pic>
            <p:nvPicPr>
              <p:cNvPr id="62" name="Picture 61" descr="Shape&#10;&#10;Description automatically generated with medium confidence">
                <a:extLst>
                  <a:ext uri="{FF2B5EF4-FFF2-40B4-BE49-F238E27FC236}">
                    <a16:creationId xmlns:a16="http://schemas.microsoft.com/office/drawing/2014/main" id="{750DD30A-D503-426B-A872-5844D6F4552F}"/>
                  </a:ext>
                </a:extLst>
              </p:cNvPr>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1567001" y="4355843"/>
                <a:ext cx="748665" cy="858898"/>
              </a:xfrm>
              <a:prstGeom prst="rect">
                <a:avLst/>
              </a:prstGeom>
            </p:spPr>
          </p:pic>
          <p:pic>
            <p:nvPicPr>
              <p:cNvPr id="63" name="Picture 62" descr="Shape&#10;&#10;Description automatically generated with medium confidence">
                <a:extLst>
                  <a:ext uri="{FF2B5EF4-FFF2-40B4-BE49-F238E27FC236}">
                    <a16:creationId xmlns:a16="http://schemas.microsoft.com/office/drawing/2014/main" id="{678EF5CD-6557-4FF5-8194-B213F6B5A323}"/>
                  </a:ext>
                </a:extLst>
              </p:cNvPr>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836296" y="4355843"/>
                <a:ext cx="748665" cy="858898"/>
              </a:xfrm>
              <a:prstGeom prst="rect">
                <a:avLst/>
              </a:prstGeom>
            </p:spPr>
          </p:pic>
          <p:pic>
            <p:nvPicPr>
              <p:cNvPr id="64" name="Picture 63" descr="Shape&#10;&#10;Description automatically generated with medium confidence">
                <a:extLst>
                  <a:ext uri="{FF2B5EF4-FFF2-40B4-BE49-F238E27FC236}">
                    <a16:creationId xmlns:a16="http://schemas.microsoft.com/office/drawing/2014/main" id="{D7E14EC8-77E1-4BEA-83A9-99A2291FBF47}"/>
                  </a:ext>
                </a:extLst>
              </p:cNvPr>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96067" y="4355843"/>
                <a:ext cx="748665" cy="858898"/>
              </a:xfrm>
              <a:prstGeom prst="rect">
                <a:avLst/>
              </a:prstGeom>
            </p:spPr>
          </p:pic>
        </p:grpSp>
        <p:pic>
          <p:nvPicPr>
            <p:cNvPr id="60" name="Picture 59" descr="Shape&#10;&#10;Description automatically generated with medium confidence">
              <a:extLst>
                <a:ext uri="{FF2B5EF4-FFF2-40B4-BE49-F238E27FC236}">
                  <a16:creationId xmlns:a16="http://schemas.microsoft.com/office/drawing/2014/main" id="{AB438C51-7A29-44A0-B187-38B8201A581E}"/>
                </a:ext>
              </a:extLst>
            </p:cNvPr>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360363" y="4684652"/>
              <a:ext cx="748665" cy="858898"/>
            </a:xfrm>
            <a:prstGeom prst="rect">
              <a:avLst/>
            </a:prstGeom>
            <a:solidFill>
              <a:srgbClr val="FFFFFF"/>
            </a:solidFill>
          </p:spPr>
        </p:pic>
        <p:pic>
          <p:nvPicPr>
            <p:cNvPr id="61" name="Picture 60" descr="Shape&#10;&#10;Description automatically generated with medium confidence">
              <a:extLst>
                <a:ext uri="{FF2B5EF4-FFF2-40B4-BE49-F238E27FC236}">
                  <a16:creationId xmlns:a16="http://schemas.microsoft.com/office/drawing/2014/main" id="{6A34025C-C889-4ED1-8791-B5EC9C5FF25F}"/>
                </a:ext>
              </a:extLst>
            </p:cNvPr>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1202192" y="4684652"/>
              <a:ext cx="748665" cy="858898"/>
            </a:xfrm>
            <a:prstGeom prst="rect">
              <a:avLst/>
            </a:prstGeom>
            <a:solidFill>
              <a:srgbClr val="FFFFFF"/>
            </a:solidFill>
          </p:spPr>
        </p:pic>
      </p:grpSp>
      <p:sp>
        <p:nvSpPr>
          <p:cNvPr id="65" name="Content Placeholder 58">
            <a:extLst>
              <a:ext uri="{FF2B5EF4-FFF2-40B4-BE49-F238E27FC236}">
                <a16:creationId xmlns:a16="http://schemas.microsoft.com/office/drawing/2014/main" id="{22F4F395-79EA-485E-B178-F8046C49B06B}"/>
              </a:ext>
            </a:extLst>
          </p:cNvPr>
          <p:cNvSpPr txBox="1">
            <a:spLocks/>
          </p:cNvSpPr>
          <p:nvPr/>
        </p:nvSpPr>
        <p:spPr>
          <a:xfrm>
            <a:off x="1777913" y="2133600"/>
            <a:ext cx="1242559" cy="744659"/>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1200"/>
              </a:spcBef>
              <a:buFont typeface="Arial" panose="020B0604020202020204" pitchFamily="34" charset="0"/>
              <a:buNone/>
              <a:defRPr sz="16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2pPr>
            <a:lvl3pPr marL="360000"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3pPr>
            <a:lvl4pPr marL="540000"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4pPr>
            <a:lvl5pPr marL="720000" indent="-180000"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defRPr/>
            </a:pPr>
            <a:r>
              <a:rPr lang="en-US" sz="3600" b="1" dirty="0">
                <a:solidFill>
                  <a:srgbClr val="333333"/>
                </a:solidFill>
                <a:latin typeface="MTN Brighter Sans"/>
              </a:rPr>
              <a:t>1,456</a:t>
            </a:r>
          </a:p>
        </p:txBody>
      </p:sp>
      <p:graphicFrame>
        <p:nvGraphicFramePr>
          <p:cNvPr id="66" name="Content Placeholder 92">
            <a:extLst>
              <a:ext uri="{FF2B5EF4-FFF2-40B4-BE49-F238E27FC236}">
                <a16:creationId xmlns:a16="http://schemas.microsoft.com/office/drawing/2014/main" id="{D5CF5943-1754-4880-9A46-495C76129E0F}"/>
              </a:ext>
            </a:extLst>
          </p:cNvPr>
          <p:cNvGraphicFramePr>
            <a:graphicFrameLocks/>
          </p:cNvGraphicFramePr>
          <p:nvPr>
            <p:extLst>
              <p:ext uri="{D42A27DB-BD31-4B8C-83A1-F6EECF244321}">
                <p14:modId xmlns:p14="http://schemas.microsoft.com/office/powerpoint/2010/main" val="3971202785"/>
              </p:ext>
            </p:extLst>
          </p:nvPr>
        </p:nvGraphicFramePr>
        <p:xfrm>
          <a:off x="4207226" y="4191000"/>
          <a:ext cx="3992787" cy="1897001"/>
        </p:xfrm>
        <a:graphic>
          <a:graphicData uri="http://schemas.openxmlformats.org/drawingml/2006/chart">
            <c:chart xmlns:c="http://schemas.openxmlformats.org/drawingml/2006/chart" xmlns:r="http://schemas.openxmlformats.org/officeDocument/2006/relationships" r:id="rId16"/>
          </a:graphicData>
        </a:graphic>
      </p:graphicFrame>
      <p:sp>
        <p:nvSpPr>
          <p:cNvPr id="67" name="Text Placeholder 16">
            <a:extLst>
              <a:ext uri="{FF2B5EF4-FFF2-40B4-BE49-F238E27FC236}">
                <a16:creationId xmlns:a16="http://schemas.microsoft.com/office/drawing/2014/main" id="{009CFDFE-DF5B-4E7B-A35D-8EFB352DCA1C}"/>
              </a:ext>
            </a:extLst>
          </p:cNvPr>
          <p:cNvSpPr txBox="1">
            <a:spLocks/>
          </p:cNvSpPr>
          <p:nvPr/>
        </p:nvSpPr>
        <p:spPr>
          <a:xfrm>
            <a:off x="4923183" y="3977454"/>
            <a:ext cx="2874745" cy="396875"/>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1200"/>
              </a:spcBef>
              <a:buFont typeface="Arial" panose="020B0604020202020204" pitchFamily="34" charset="0"/>
              <a:buNone/>
              <a:defRPr sz="1600" b="1"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2pPr>
            <a:lvl3pPr marL="360000"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3pPr>
            <a:lvl4pPr marL="540000"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4pPr>
            <a:lvl5pPr marL="720000" indent="-180000"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NZ" dirty="0">
                <a:solidFill>
                  <a:srgbClr val="333333"/>
                </a:solidFill>
                <a:latin typeface="MTN Brighter Sans"/>
              </a:rPr>
              <a:t>Level of Education</a:t>
            </a:r>
          </a:p>
        </p:txBody>
      </p:sp>
      <p:sp>
        <p:nvSpPr>
          <p:cNvPr id="76" name="TextBox 75">
            <a:extLst>
              <a:ext uri="{FF2B5EF4-FFF2-40B4-BE49-F238E27FC236}">
                <a16:creationId xmlns:a16="http://schemas.microsoft.com/office/drawing/2014/main" id="{CE453E5B-03B3-4541-997C-C47FE0C014B3}"/>
              </a:ext>
            </a:extLst>
          </p:cNvPr>
          <p:cNvSpPr txBox="1"/>
          <p:nvPr/>
        </p:nvSpPr>
        <p:spPr>
          <a:xfrm>
            <a:off x="8669284" y="5347749"/>
            <a:ext cx="625781" cy="184666"/>
          </a:xfrm>
          <a:prstGeom prst="rect">
            <a:avLst/>
          </a:prstGeom>
          <a:noFill/>
        </p:spPr>
        <p:txBody>
          <a:bodyPr wrap="square" lIns="0" tIns="0" rIns="0" bIns="0" rtlCol="0">
            <a:spAutoFit/>
          </a:bodyPr>
          <a:lstStyle/>
          <a:p>
            <a:pPr>
              <a:defRPr/>
            </a:pPr>
            <a:r>
              <a:rPr lang="en-NZ" sz="1200" dirty="0">
                <a:solidFill>
                  <a:srgbClr val="333333"/>
                </a:solidFill>
                <a:latin typeface="MTN Brighter Sans"/>
              </a:rPr>
              <a:t>Rural</a:t>
            </a:r>
          </a:p>
        </p:txBody>
      </p:sp>
      <p:sp>
        <p:nvSpPr>
          <p:cNvPr id="77" name="TextBox 76">
            <a:extLst>
              <a:ext uri="{FF2B5EF4-FFF2-40B4-BE49-F238E27FC236}">
                <a16:creationId xmlns:a16="http://schemas.microsoft.com/office/drawing/2014/main" id="{F8A751CE-8C77-4675-B0DB-8F73977B6E09}"/>
              </a:ext>
            </a:extLst>
          </p:cNvPr>
          <p:cNvSpPr txBox="1"/>
          <p:nvPr/>
        </p:nvSpPr>
        <p:spPr>
          <a:xfrm>
            <a:off x="11022562" y="5347749"/>
            <a:ext cx="625781" cy="184666"/>
          </a:xfrm>
          <a:prstGeom prst="rect">
            <a:avLst/>
          </a:prstGeom>
          <a:noFill/>
        </p:spPr>
        <p:txBody>
          <a:bodyPr wrap="square" lIns="0" tIns="0" rIns="0" bIns="0" rtlCol="0">
            <a:spAutoFit/>
          </a:bodyPr>
          <a:lstStyle/>
          <a:p>
            <a:pPr algn="ctr">
              <a:defRPr/>
            </a:pPr>
            <a:r>
              <a:rPr lang="en-NZ" sz="1200" dirty="0">
                <a:solidFill>
                  <a:srgbClr val="333333"/>
                </a:solidFill>
                <a:latin typeface="MTN Brighter Sans"/>
              </a:rPr>
              <a:t>Urban</a:t>
            </a:r>
          </a:p>
        </p:txBody>
      </p:sp>
      <p:graphicFrame>
        <p:nvGraphicFramePr>
          <p:cNvPr id="78" name="Content Placeholder 94">
            <a:extLst>
              <a:ext uri="{FF2B5EF4-FFF2-40B4-BE49-F238E27FC236}">
                <a16:creationId xmlns:a16="http://schemas.microsoft.com/office/drawing/2014/main" id="{74C80694-904C-4F5A-B14D-4018B4744E47}"/>
              </a:ext>
            </a:extLst>
          </p:cNvPr>
          <p:cNvGraphicFramePr>
            <a:graphicFrameLocks/>
          </p:cNvGraphicFramePr>
          <p:nvPr>
            <p:extLst>
              <p:ext uri="{D42A27DB-BD31-4B8C-83A1-F6EECF244321}">
                <p14:modId xmlns:p14="http://schemas.microsoft.com/office/powerpoint/2010/main" val="696338365"/>
              </p:ext>
            </p:extLst>
          </p:nvPr>
        </p:nvGraphicFramePr>
        <p:xfrm>
          <a:off x="8286750" y="1744663"/>
          <a:ext cx="3671888" cy="1563687"/>
        </p:xfrm>
        <a:graphic>
          <a:graphicData uri="http://schemas.openxmlformats.org/drawingml/2006/chart">
            <c:chart xmlns:c="http://schemas.openxmlformats.org/drawingml/2006/chart" xmlns:r="http://schemas.openxmlformats.org/officeDocument/2006/relationships" r:id="rId17"/>
          </a:graphicData>
        </a:graphic>
      </p:graphicFrame>
      <p:graphicFrame>
        <p:nvGraphicFramePr>
          <p:cNvPr id="79" name="Content Placeholder 94">
            <a:extLst>
              <a:ext uri="{FF2B5EF4-FFF2-40B4-BE49-F238E27FC236}">
                <a16:creationId xmlns:a16="http://schemas.microsoft.com/office/drawing/2014/main" id="{A2DF69C5-AD8B-4927-897B-66DC002CA86A}"/>
              </a:ext>
            </a:extLst>
          </p:cNvPr>
          <p:cNvGraphicFramePr>
            <a:graphicFrameLocks/>
          </p:cNvGraphicFramePr>
          <p:nvPr>
            <p:extLst>
              <p:ext uri="{D42A27DB-BD31-4B8C-83A1-F6EECF244321}">
                <p14:modId xmlns:p14="http://schemas.microsoft.com/office/powerpoint/2010/main" val="3661267609"/>
              </p:ext>
            </p:extLst>
          </p:nvPr>
        </p:nvGraphicFramePr>
        <p:xfrm>
          <a:off x="8188325" y="4440237"/>
          <a:ext cx="3671888" cy="1563687"/>
        </p:xfrm>
        <a:graphic>
          <a:graphicData uri="http://schemas.openxmlformats.org/drawingml/2006/chart">
            <c:chart xmlns:c="http://schemas.openxmlformats.org/drawingml/2006/chart" xmlns:r="http://schemas.openxmlformats.org/officeDocument/2006/relationships" r:id="rId18"/>
          </a:graphicData>
        </a:graphic>
      </p:graphicFrame>
      <p:sp>
        <p:nvSpPr>
          <p:cNvPr id="12" name="Callout: Down Arrow 11">
            <a:extLst>
              <a:ext uri="{FF2B5EF4-FFF2-40B4-BE49-F238E27FC236}">
                <a16:creationId xmlns:a16="http://schemas.microsoft.com/office/drawing/2014/main" id="{52E92E4B-A253-4069-96D3-7DA1C6A84227}"/>
              </a:ext>
            </a:extLst>
          </p:cNvPr>
          <p:cNvSpPr/>
          <p:nvPr/>
        </p:nvSpPr>
        <p:spPr>
          <a:xfrm>
            <a:off x="8689225" y="4884231"/>
            <a:ext cx="267193" cy="355272"/>
          </a:xfrm>
          <a:prstGeom prst="downArrowCallout">
            <a:avLst/>
          </a:pr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allout: Up Arrow 12">
            <a:extLst>
              <a:ext uri="{FF2B5EF4-FFF2-40B4-BE49-F238E27FC236}">
                <a16:creationId xmlns:a16="http://schemas.microsoft.com/office/drawing/2014/main" id="{171EFF8F-CD4A-497C-8197-244716EBFDC1}"/>
              </a:ext>
            </a:extLst>
          </p:cNvPr>
          <p:cNvSpPr/>
          <p:nvPr/>
        </p:nvSpPr>
        <p:spPr>
          <a:xfrm rot="980891">
            <a:off x="11276642" y="4917684"/>
            <a:ext cx="232002" cy="354456"/>
          </a:xfrm>
          <a:prstGeom prst="upArrowCallout">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0" name="Picture 79">
            <a:extLst>
              <a:ext uri="{FF2B5EF4-FFF2-40B4-BE49-F238E27FC236}">
                <a16:creationId xmlns:a16="http://schemas.microsoft.com/office/drawing/2014/main" id="{23970837-0698-4EDD-B112-D22B6AB516E7}"/>
              </a:ext>
            </a:extLst>
          </p:cNvPr>
          <p:cNvPicPr>
            <a:picLocks noChangeAspect="1"/>
          </p:cNvPicPr>
          <p:nvPr/>
        </p:nvPicPr>
        <p:blipFill rotWithShape="1">
          <a:blip r:embed="rId19"/>
          <a:srcRect t="1" b="8288"/>
          <a:stretch/>
        </p:blipFill>
        <p:spPr>
          <a:xfrm>
            <a:off x="8232393" y="3857935"/>
            <a:ext cx="875318" cy="388918"/>
          </a:xfrm>
          <a:prstGeom prst="rect">
            <a:avLst/>
          </a:prstGeom>
        </p:spPr>
      </p:pic>
    </p:spTree>
    <p:extLst>
      <p:ext uri="{BB962C8B-B14F-4D97-AF65-F5344CB8AC3E}">
        <p14:creationId xmlns:p14="http://schemas.microsoft.com/office/powerpoint/2010/main" val="12886551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5F5642B-83A0-CD7B-E2BA-8E492D002397}"/>
              </a:ext>
            </a:extLst>
          </p:cNvPr>
          <p:cNvSpPr txBox="1"/>
          <p:nvPr/>
        </p:nvSpPr>
        <p:spPr>
          <a:xfrm>
            <a:off x="312991" y="119838"/>
            <a:ext cx="5605670"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Key Section Highlights</a:t>
            </a:r>
          </a:p>
        </p:txBody>
      </p:sp>
      <p:sp>
        <p:nvSpPr>
          <p:cNvPr id="9" name="TextBox 8">
            <a:extLst>
              <a:ext uri="{FF2B5EF4-FFF2-40B4-BE49-F238E27FC236}">
                <a16:creationId xmlns:a16="http://schemas.microsoft.com/office/drawing/2014/main" id="{A2049F7E-35CE-4670-8378-19404ED66C7E}"/>
              </a:ext>
            </a:extLst>
          </p:cNvPr>
          <p:cNvSpPr txBox="1"/>
          <p:nvPr/>
        </p:nvSpPr>
        <p:spPr>
          <a:xfrm>
            <a:off x="265111" y="609600"/>
            <a:ext cx="8365933" cy="530914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spcAft>
                <a:spcPts val="600"/>
              </a:spcAft>
            </a:pPr>
            <a:r>
              <a:rPr lang="en-US" sz="1400" b="1" dirty="0">
                <a:solidFill>
                  <a:srgbClr val="002060"/>
                </a:solidFill>
              </a:rPr>
              <a:t>Political Interest</a:t>
            </a:r>
            <a:r>
              <a:rPr lang="en-US" sz="1400" dirty="0">
                <a:solidFill>
                  <a:srgbClr val="002060"/>
                </a:solidFill>
              </a:rPr>
              <a:t>: The level of interest in politics is very low across locations. With only 33% interested in politics. Enugu (62%) has the highest interest in politics.</a:t>
            </a:r>
          </a:p>
          <a:p>
            <a:pPr algn="just">
              <a:spcAft>
                <a:spcPts val="600"/>
              </a:spcAft>
            </a:pPr>
            <a:r>
              <a:rPr lang="en-US" sz="1400" b="1" dirty="0">
                <a:solidFill>
                  <a:srgbClr val="002060"/>
                </a:solidFill>
              </a:rPr>
              <a:t>Trust in Nigeria’s current leadership:</a:t>
            </a:r>
            <a:r>
              <a:rPr lang="en-US" sz="1400" dirty="0">
                <a:solidFill>
                  <a:srgbClr val="002060"/>
                </a:solidFill>
              </a:rPr>
              <a:t> Most of the people rated trust in Nigeria’s current leadership lowly, with an overall mean score of 3.15 out of 10. Edo State has the lowest rating with a mean score of 1.84.</a:t>
            </a:r>
          </a:p>
          <a:p>
            <a:pPr algn="just">
              <a:spcAft>
                <a:spcPts val="600"/>
              </a:spcAft>
            </a:pPr>
            <a:r>
              <a:rPr lang="en-US" sz="1400" b="1" dirty="0">
                <a:solidFill>
                  <a:srgbClr val="002060"/>
                </a:solidFill>
              </a:rPr>
              <a:t>Credibility of elected officials</a:t>
            </a:r>
            <a:r>
              <a:rPr lang="en-US" sz="1400" dirty="0">
                <a:solidFill>
                  <a:srgbClr val="002060"/>
                </a:solidFill>
              </a:rPr>
              <a:t>: The credibility of elected officials is low. Only 4% expressed a high or very high credibility overall, yielding a mean of 2.01. Credibility rating is least in Edo, with an average rating of 1.61 out of 5.</a:t>
            </a:r>
          </a:p>
          <a:p>
            <a:pPr algn="just">
              <a:spcAft>
                <a:spcPts val="600"/>
              </a:spcAft>
            </a:pPr>
            <a:r>
              <a:rPr lang="en-US" sz="1400" b="1" dirty="0">
                <a:solidFill>
                  <a:srgbClr val="002060"/>
                </a:solidFill>
              </a:rPr>
              <a:t>Decision-Making</a:t>
            </a:r>
            <a:r>
              <a:rPr lang="en-US" sz="1400" dirty="0">
                <a:solidFill>
                  <a:srgbClr val="002060"/>
                </a:solidFill>
              </a:rPr>
              <a:t>: The ability of leaders to make decisions in the best interest of the general public is very low. Only 5% often or always believe that leaders make decisions in the best interest of the general public, with only 1% often or always believing this in Enugu.</a:t>
            </a:r>
          </a:p>
          <a:p>
            <a:pPr algn="just">
              <a:spcAft>
                <a:spcPts val="600"/>
              </a:spcAft>
            </a:pPr>
            <a:r>
              <a:rPr lang="en-US" sz="1400" b="1" dirty="0">
                <a:solidFill>
                  <a:srgbClr val="002060"/>
                </a:solidFill>
              </a:rPr>
              <a:t>Leadership qualities:</a:t>
            </a:r>
            <a:r>
              <a:rPr lang="en-US" sz="1400" dirty="0">
                <a:solidFill>
                  <a:srgbClr val="002060"/>
                </a:solidFill>
              </a:rPr>
              <a:t> Respondents mentioned accountability (66%), integrity (64%), competence (56%), and transparency (40%) as the leading leadership qualities that matter most to people across demographics.</a:t>
            </a:r>
          </a:p>
          <a:p>
            <a:pPr algn="just">
              <a:spcAft>
                <a:spcPts val="600"/>
              </a:spcAft>
            </a:pPr>
            <a:r>
              <a:rPr lang="en-US" sz="1400" b="1" dirty="0">
                <a:solidFill>
                  <a:srgbClr val="002060"/>
                </a:solidFill>
              </a:rPr>
              <a:t>Quality of leadership:</a:t>
            </a:r>
            <a:r>
              <a:rPr lang="en-US" sz="1400" dirty="0">
                <a:solidFill>
                  <a:srgbClr val="002060"/>
                </a:solidFill>
              </a:rPr>
              <a:t> The overall quality of leadership is low, with 10% rating it good or excellent. Only Kano scored the overall quality of leadership slightly higher than average (2.79).</a:t>
            </a:r>
          </a:p>
          <a:p>
            <a:pPr algn="just">
              <a:spcAft>
                <a:spcPts val="600"/>
              </a:spcAft>
            </a:pPr>
            <a:r>
              <a:rPr lang="en-US" sz="1400" b="1" dirty="0">
                <a:solidFill>
                  <a:srgbClr val="002060"/>
                </a:solidFill>
              </a:rPr>
              <a:t>Nigerian leaders’ priority:</a:t>
            </a:r>
            <a:r>
              <a:rPr lang="en-US" sz="1400" dirty="0">
                <a:solidFill>
                  <a:srgbClr val="002060"/>
                </a:solidFill>
              </a:rPr>
              <a:t> Only a few people (13%) thought that Nigerian leaders </a:t>
            </a:r>
            <a:r>
              <a:rPr lang="en-US" sz="1400" dirty="0" err="1">
                <a:solidFill>
                  <a:srgbClr val="002060"/>
                </a:solidFill>
              </a:rPr>
              <a:t>prioritised</a:t>
            </a:r>
            <a:r>
              <a:rPr lang="en-US" sz="1400" dirty="0">
                <a:solidFill>
                  <a:srgbClr val="002060"/>
                </a:solidFill>
              </a:rPr>
              <a:t> the needs of citizens over personal interests. The highest figure is from Kano (33%) and the least from Edo (4%).</a:t>
            </a:r>
          </a:p>
          <a:p>
            <a:pPr algn="just">
              <a:spcAft>
                <a:spcPts val="600"/>
              </a:spcAft>
            </a:pPr>
            <a:r>
              <a:rPr lang="en-US" sz="1400" dirty="0">
                <a:solidFill>
                  <a:srgbClr val="002060"/>
                </a:solidFill>
              </a:rPr>
              <a:t>The level of corruption is rated highly, 72% overall, and 88% in Bauchi.</a:t>
            </a:r>
          </a:p>
          <a:p>
            <a:pPr algn="just">
              <a:spcAft>
                <a:spcPts val="600"/>
              </a:spcAft>
            </a:pPr>
            <a:r>
              <a:rPr lang="en-US" sz="1400" b="1" dirty="0">
                <a:solidFill>
                  <a:srgbClr val="002060"/>
                </a:solidFill>
              </a:rPr>
              <a:t>Anti-corruption agencies:</a:t>
            </a:r>
            <a:r>
              <a:rPr lang="en-US" sz="1400" dirty="0">
                <a:solidFill>
                  <a:srgbClr val="002060"/>
                </a:solidFill>
              </a:rPr>
              <a:t> More than half (55%) perceived that anti-corruption agencies in Nigeria are not effective. In Enugu, 88% perceived that the agencies are not effective.</a:t>
            </a:r>
          </a:p>
          <a:p>
            <a:pPr algn="just">
              <a:spcAft>
                <a:spcPts val="600"/>
              </a:spcAft>
            </a:pPr>
            <a:r>
              <a:rPr lang="en-US" sz="1400" b="1" dirty="0">
                <a:solidFill>
                  <a:srgbClr val="002060"/>
                </a:solidFill>
              </a:rPr>
              <a:t>Elected leaders’ transparency:</a:t>
            </a:r>
            <a:r>
              <a:rPr lang="en-US" sz="1400" dirty="0">
                <a:solidFill>
                  <a:srgbClr val="002060"/>
                </a:solidFill>
              </a:rPr>
              <a:t> Overall, close to four-fifths (77%), especially in Bauchi (93%) and Enugu (95%), believed that elected leaders are not transparent in their decision-making.</a:t>
            </a:r>
          </a:p>
        </p:txBody>
      </p:sp>
      <p:pic>
        <p:nvPicPr>
          <p:cNvPr id="10" name="Picture 9">
            <a:extLst>
              <a:ext uri="{FF2B5EF4-FFF2-40B4-BE49-F238E27FC236}">
                <a16:creationId xmlns:a16="http://schemas.microsoft.com/office/drawing/2014/main" id="{6C2DDA08-48C4-461B-BFEE-272739C885BB}"/>
              </a:ext>
            </a:extLst>
          </p:cNvPr>
          <p:cNvPicPr>
            <a:picLocks noChangeAspect="1"/>
          </p:cNvPicPr>
          <p:nvPr/>
        </p:nvPicPr>
        <p:blipFill>
          <a:blip r:embed="rId2"/>
          <a:stretch>
            <a:fillRect/>
          </a:stretch>
        </p:blipFill>
        <p:spPr>
          <a:xfrm>
            <a:off x="8753704" y="609600"/>
            <a:ext cx="3438296" cy="5211337"/>
          </a:xfrm>
          <a:prstGeom prst="rect">
            <a:avLst/>
          </a:prstGeom>
        </p:spPr>
      </p:pic>
    </p:spTree>
    <p:extLst>
      <p:ext uri="{BB962C8B-B14F-4D97-AF65-F5344CB8AC3E}">
        <p14:creationId xmlns:p14="http://schemas.microsoft.com/office/powerpoint/2010/main" val="15291776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5F5642B-83A0-CD7B-E2BA-8E492D002397}"/>
              </a:ext>
            </a:extLst>
          </p:cNvPr>
          <p:cNvSpPr txBox="1"/>
          <p:nvPr/>
        </p:nvSpPr>
        <p:spPr>
          <a:xfrm>
            <a:off x="312991" y="119838"/>
            <a:ext cx="5605670"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Key Section Highlights</a:t>
            </a:r>
          </a:p>
        </p:txBody>
      </p:sp>
      <p:sp>
        <p:nvSpPr>
          <p:cNvPr id="9" name="TextBox 8">
            <a:extLst>
              <a:ext uri="{FF2B5EF4-FFF2-40B4-BE49-F238E27FC236}">
                <a16:creationId xmlns:a16="http://schemas.microsoft.com/office/drawing/2014/main" id="{A2049F7E-35CE-4670-8378-19404ED66C7E}"/>
              </a:ext>
            </a:extLst>
          </p:cNvPr>
          <p:cNvSpPr txBox="1"/>
          <p:nvPr/>
        </p:nvSpPr>
        <p:spPr>
          <a:xfrm>
            <a:off x="265111" y="609600"/>
            <a:ext cx="8455144" cy="55245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spcAft>
                <a:spcPts val="600"/>
              </a:spcAft>
            </a:pPr>
            <a:r>
              <a:rPr lang="en-US" sz="1400" b="1" dirty="0">
                <a:solidFill>
                  <a:srgbClr val="002060"/>
                </a:solidFill>
              </a:rPr>
              <a:t>Beneficiaries of a government program:</a:t>
            </a:r>
            <a:r>
              <a:rPr lang="en-US" sz="1400" dirty="0">
                <a:solidFill>
                  <a:srgbClr val="002060"/>
                </a:solidFill>
              </a:rPr>
              <a:t> Overall, about four-fifths (79%), especially in Bauchi (91%) and Enugu (94%), claimed they have not benefited from a government program. Kano has more beneficiaries of a government program than other states, as claimed by 39%.</a:t>
            </a:r>
          </a:p>
          <a:p>
            <a:pPr algn="just">
              <a:spcAft>
                <a:spcPts val="600"/>
              </a:spcAft>
            </a:pPr>
            <a:r>
              <a:rPr lang="en-US" sz="1400" b="1" dirty="0">
                <a:solidFill>
                  <a:srgbClr val="002060"/>
                </a:solidFill>
              </a:rPr>
              <a:t>Campaign promises:</a:t>
            </a:r>
            <a:r>
              <a:rPr lang="en-US" sz="1400" dirty="0">
                <a:solidFill>
                  <a:srgbClr val="002060"/>
                </a:solidFill>
              </a:rPr>
              <a:t> Only 14% believed that Nigerian leaders fulfilled their campaign promises, especially in Kano (40%).</a:t>
            </a:r>
          </a:p>
          <a:p>
            <a:pPr algn="just">
              <a:spcAft>
                <a:spcPts val="600"/>
              </a:spcAft>
            </a:pPr>
            <a:r>
              <a:rPr lang="en-US" sz="1400" b="1" dirty="0">
                <a:solidFill>
                  <a:srgbClr val="002060"/>
                </a:solidFill>
              </a:rPr>
              <a:t>Engagement with the public:</a:t>
            </a:r>
            <a:r>
              <a:rPr lang="en-US" sz="1400" dirty="0">
                <a:solidFill>
                  <a:srgbClr val="002060"/>
                </a:solidFill>
              </a:rPr>
              <a:t> Overall, 20% believed that Nigerian leaders engage with the public occasionally or regularly, especially in Kano (54%).</a:t>
            </a:r>
          </a:p>
          <a:p>
            <a:pPr algn="just">
              <a:spcAft>
                <a:spcPts val="600"/>
              </a:spcAft>
            </a:pPr>
            <a:r>
              <a:rPr lang="en-US" sz="1400" b="1" dirty="0">
                <a:solidFill>
                  <a:srgbClr val="002060"/>
                </a:solidFill>
              </a:rPr>
              <a:t>Effectiveness of the National Assembly:</a:t>
            </a:r>
            <a:r>
              <a:rPr lang="en-US" sz="1400" dirty="0">
                <a:solidFill>
                  <a:srgbClr val="002060"/>
                </a:solidFill>
              </a:rPr>
              <a:t> The National Assembly is not effective in holding the executive accountable, as claimed by 68%. However, 47% in Kano believed that the national assembly is effective.</a:t>
            </a:r>
          </a:p>
          <a:p>
            <a:pPr algn="just">
              <a:spcAft>
                <a:spcPts val="600"/>
              </a:spcAft>
            </a:pPr>
            <a:r>
              <a:rPr lang="en-US" sz="1400" b="1" dirty="0">
                <a:solidFill>
                  <a:srgbClr val="002060"/>
                </a:solidFill>
              </a:rPr>
              <a:t>Satisfaction with performance:</a:t>
            </a:r>
            <a:r>
              <a:rPr lang="en-US" sz="1400" dirty="0">
                <a:solidFill>
                  <a:srgbClr val="002060"/>
                </a:solidFill>
              </a:rPr>
              <a:t> The overall satisfaction with performance is generally low across the Governor, Senator, House of Reps, and Local Government Chairmen and across demographics. Only Kano and Bauchi are satisfied with their governors. The rating is particularly low across offices in Edo State.</a:t>
            </a:r>
            <a:endParaRPr lang="en-US" sz="1400" b="1" dirty="0">
              <a:solidFill>
                <a:srgbClr val="002060"/>
              </a:solidFill>
            </a:endParaRPr>
          </a:p>
          <a:p>
            <a:pPr algn="just">
              <a:spcAft>
                <a:spcPts val="600"/>
              </a:spcAft>
            </a:pPr>
            <a:r>
              <a:rPr lang="en-US" sz="1400" b="1" dirty="0">
                <a:solidFill>
                  <a:srgbClr val="002060"/>
                </a:solidFill>
              </a:rPr>
              <a:t>Votes count:</a:t>
            </a:r>
            <a:r>
              <a:rPr lang="en-US" sz="1400" dirty="0">
                <a:solidFill>
                  <a:srgbClr val="002060"/>
                </a:solidFill>
              </a:rPr>
              <a:t> The majority (69%), with nearly everyone in Enugu (98%), believed their votes do not count in the selection of a credible leader in Nigeria. Meanwhile, 48% believed that their votes count in Kano.</a:t>
            </a:r>
          </a:p>
          <a:p>
            <a:pPr algn="just">
              <a:spcAft>
                <a:spcPts val="600"/>
              </a:spcAft>
            </a:pPr>
            <a:r>
              <a:rPr lang="en-US" sz="1400" b="1" dirty="0">
                <a:solidFill>
                  <a:srgbClr val="002060"/>
                </a:solidFill>
              </a:rPr>
              <a:t>Democratic process:</a:t>
            </a:r>
            <a:r>
              <a:rPr lang="en-US" sz="1400" dirty="0">
                <a:solidFill>
                  <a:srgbClr val="002060"/>
                </a:solidFill>
              </a:rPr>
              <a:t> With 73% overall dissatisfied and 86% in Edo, most people are not satisfied with Nigeria’s democratic process. However, in Kano, 46% are satisfied with Nigeria’s democratic process. </a:t>
            </a:r>
          </a:p>
          <a:p>
            <a:pPr algn="just">
              <a:spcAft>
                <a:spcPts val="600"/>
              </a:spcAft>
            </a:pPr>
            <a:r>
              <a:rPr lang="en-US" sz="1400" b="1" dirty="0">
                <a:solidFill>
                  <a:srgbClr val="002060"/>
                </a:solidFill>
              </a:rPr>
              <a:t>Expression of political views:</a:t>
            </a:r>
            <a:r>
              <a:rPr lang="en-US" sz="1400" dirty="0">
                <a:solidFill>
                  <a:srgbClr val="002060"/>
                </a:solidFill>
              </a:rPr>
              <a:t> Most of the people (69%) felt that they were not free to express their political views in Nigeria without fear.</a:t>
            </a:r>
          </a:p>
          <a:p>
            <a:pPr algn="just">
              <a:spcAft>
                <a:spcPts val="600"/>
              </a:spcAft>
            </a:pPr>
            <a:r>
              <a:rPr lang="en-US" sz="1400" b="1" dirty="0">
                <a:solidFill>
                  <a:srgbClr val="002060"/>
                </a:solidFill>
              </a:rPr>
              <a:t>Electoral processes:</a:t>
            </a:r>
            <a:r>
              <a:rPr lang="en-US" sz="1400" dirty="0">
                <a:solidFill>
                  <a:srgbClr val="002060"/>
                </a:solidFill>
              </a:rPr>
              <a:t> Electoral processes in Nigeria are seen as unfree and unfair, with 77%, especially in Bauchi (90%) and Enugu (99%), do not believe the electoral processes in Nigeria are free and fair.</a:t>
            </a:r>
          </a:p>
          <a:p>
            <a:pPr algn="just">
              <a:spcAft>
                <a:spcPts val="600"/>
              </a:spcAft>
            </a:pPr>
            <a:r>
              <a:rPr lang="en-US" sz="1400" b="1" dirty="0">
                <a:solidFill>
                  <a:srgbClr val="002060"/>
                </a:solidFill>
              </a:rPr>
              <a:t>Political information sources:</a:t>
            </a:r>
            <a:r>
              <a:rPr lang="en-US" sz="1400" dirty="0">
                <a:solidFill>
                  <a:srgbClr val="002060"/>
                </a:solidFill>
              </a:rPr>
              <a:t> Social media (56%) is the main source of political information. Traditional media (30%), especially in Kano, are also crucial.</a:t>
            </a:r>
          </a:p>
        </p:txBody>
      </p:sp>
      <p:pic>
        <p:nvPicPr>
          <p:cNvPr id="6" name="Picture 5">
            <a:extLst>
              <a:ext uri="{FF2B5EF4-FFF2-40B4-BE49-F238E27FC236}">
                <a16:creationId xmlns:a16="http://schemas.microsoft.com/office/drawing/2014/main" id="{36F90E93-6D7A-4676-8D0E-F64DA0EC7041}"/>
              </a:ext>
            </a:extLst>
          </p:cNvPr>
          <p:cNvPicPr>
            <a:picLocks noChangeAspect="1"/>
          </p:cNvPicPr>
          <p:nvPr/>
        </p:nvPicPr>
        <p:blipFill>
          <a:blip r:embed="rId2"/>
          <a:stretch>
            <a:fillRect/>
          </a:stretch>
        </p:blipFill>
        <p:spPr>
          <a:xfrm>
            <a:off x="8753704" y="609600"/>
            <a:ext cx="3438296" cy="5211337"/>
          </a:xfrm>
          <a:prstGeom prst="rect">
            <a:avLst/>
          </a:prstGeom>
        </p:spPr>
      </p:pic>
    </p:spTree>
    <p:extLst>
      <p:ext uri="{BB962C8B-B14F-4D97-AF65-F5344CB8AC3E}">
        <p14:creationId xmlns:p14="http://schemas.microsoft.com/office/powerpoint/2010/main" val="39586101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5F5642B-83A0-CD7B-E2BA-8E492D002397}"/>
              </a:ext>
            </a:extLst>
          </p:cNvPr>
          <p:cNvSpPr txBox="1"/>
          <p:nvPr/>
        </p:nvSpPr>
        <p:spPr>
          <a:xfrm>
            <a:off x="312991" y="119838"/>
            <a:ext cx="5605670"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Key Section Highlights</a:t>
            </a:r>
          </a:p>
        </p:txBody>
      </p:sp>
      <p:sp>
        <p:nvSpPr>
          <p:cNvPr id="9" name="TextBox 8">
            <a:extLst>
              <a:ext uri="{FF2B5EF4-FFF2-40B4-BE49-F238E27FC236}">
                <a16:creationId xmlns:a16="http://schemas.microsoft.com/office/drawing/2014/main" id="{A2049F7E-35CE-4670-8378-19404ED66C7E}"/>
              </a:ext>
            </a:extLst>
          </p:cNvPr>
          <p:cNvSpPr txBox="1"/>
          <p:nvPr/>
        </p:nvSpPr>
        <p:spPr>
          <a:xfrm>
            <a:off x="265111" y="531543"/>
            <a:ext cx="8455144" cy="56630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spcAft>
                <a:spcPts val="600"/>
              </a:spcAft>
            </a:pPr>
            <a:r>
              <a:rPr lang="en-US" sz="1400" b="1" dirty="0">
                <a:solidFill>
                  <a:srgbClr val="002060"/>
                </a:solidFill>
              </a:rPr>
              <a:t>Participation in the last elections:</a:t>
            </a:r>
            <a:r>
              <a:rPr lang="en-US" sz="1400" dirty="0">
                <a:solidFill>
                  <a:srgbClr val="002060"/>
                </a:solidFill>
              </a:rPr>
              <a:t> Voters’ apathy is now in the country, as only 36% and 34% respectively participated in the last presidential and governorship elections. Participation is low in the other elections across demographics.</a:t>
            </a:r>
          </a:p>
          <a:p>
            <a:pPr algn="just">
              <a:spcAft>
                <a:spcPts val="600"/>
              </a:spcAft>
            </a:pPr>
            <a:r>
              <a:rPr lang="en-US" sz="1400" b="1" dirty="0">
                <a:solidFill>
                  <a:srgbClr val="002060"/>
                </a:solidFill>
              </a:rPr>
              <a:t>Major political parties voted for in the last presidential election:</a:t>
            </a:r>
          </a:p>
          <a:p>
            <a:pPr marL="742950" lvl="1" indent="-285750" algn="just">
              <a:buFont typeface="Wingdings" panose="05000000000000000000" pitchFamily="2" charset="2"/>
              <a:buChar char="ü"/>
            </a:pPr>
            <a:r>
              <a:rPr lang="en-US" sz="1400" dirty="0">
                <a:solidFill>
                  <a:srgbClr val="002060"/>
                </a:solidFill>
              </a:rPr>
              <a:t>All Progressives Congress (APC) (34%)</a:t>
            </a:r>
          </a:p>
          <a:p>
            <a:pPr marL="742950" lvl="1" indent="-285750" algn="just">
              <a:buFont typeface="Wingdings" panose="05000000000000000000" pitchFamily="2" charset="2"/>
              <a:buChar char="ü"/>
            </a:pPr>
            <a:r>
              <a:rPr lang="en-US" sz="1400" dirty="0">
                <a:solidFill>
                  <a:srgbClr val="002060"/>
                </a:solidFill>
              </a:rPr>
              <a:t>Labour Party (LP) (33%)</a:t>
            </a:r>
          </a:p>
          <a:p>
            <a:pPr marL="742950" lvl="1" indent="-285750" algn="just">
              <a:buFont typeface="Wingdings" panose="05000000000000000000" pitchFamily="2" charset="2"/>
              <a:buChar char="ü"/>
            </a:pPr>
            <a:r>
              <a:rPr lang="en-US" sz="1400" dirty="0">
                <a:solidFill>
                  <a:srgbClr val="002060"/>
                </a:solidFill>
              </a:rPr>
              <a:t>New Nigeria Peoples Party (NNPP) (18%)</a:t>
            </a:r>
          </a:p>
          <a:p>
            <a:pPr marL="742950" lvl="1" indent="-285750" algn="just">
              <a:spcAft>
                <a:spcPts val="600"/>
              </a:spcAft>
              <a:buFont typeface="Wingdings" panose="05000000000000000000" pitchFamily="2" charset="2"/>
              <a:buChar char="ü"/>
            </a:pPr>
            <a:r>
              <a:rPr lang="en-US" sz="1400" dirty="0">
                <a:solidFill>
                  <a:srgbClr val="002060"/>
                </a:solidFill>
              </a:rPr>
              <a:t>People’s Democratic Party (PDP) (15%).</a:t>
            </a:r>
          </a:p>
          <a:p>
            <a:pPr algn="just">
              <a:spcAft>
                <a:spcPts val="600"/>
              </a:spcAft>
            </a:pPr>
            <a:r>
              <a:rPr lang="en-US" sz="1400" dirty="0">
                <a:solidFill>
                  <a:srgbClr val="002060"/>
                </a:solidFill>
              </a:rPr>
              <a:t> </a:t>
            </a:r>
            <a:r>
              <a:rPr lang="en-US" sz="1400" b="1" dirty="0">
                <a:solidFill>
                  <a:srgbClr val="002060"/>
                </a:solidFill>
              </a:rPr>
              <a:t>Major political parties voted for in the last governorship elections:</a:t>
            </a:r>
          </a:p>
          <a:p>
            <a:pPr marL="742950" lvl="1" indent="-285750" algn="just">
              <a:buFont typeface="Wingdings" panose="05000000000000000000" pitchFamily="2" charset="2"/>
              <a:buChar char="ü"/>
            </a:pPr>
            <a:r>
              <a:rPr lang="en-US" sz="1400" dirty="0">
                <a:solidFill>
                  <a:srgbClr val="002060"/>
                </a:solidFill>
              </a:rPr>
              <a:t>People’s Democratic Party (PDP) (32%)</a:t>
            </a:r>
          </a:p>
          <a:p>
            <a:pPr marL="742950" lvl="1" indent="-285750" algn="just">
              <a:buFont typeface="Wingdings" panose="05000000000000000000" pitchFamily="2" charset="2"/>
              <a:buChar char="ü"/>
            </a:pPr>
            <a:r>
              <a:rPr lang="en-US" sz="1400" dirty="0">
                <a:solidFill>
                  <a:srgbClr val="002060"/>
                </a:solidFill>
              </a:rPr>
              <a:t>All Progressives Congress (APC) (28%)</a:t>
            </a:r>
          </a:p>
          <a:p>
            <a:pPr marL="742950" lvl="1" indent="-285750" algn="just">
              <a:buFont typeface="Wingdings" panose="05000000000000000000" pitchFamily="2" charset="2"/>
              <a:buChar char="ü"/>
            </a:pPr>
            <a:r>
              <a:rPr lang="en-US" sz="1400" dirty="0">
                <a:solidFill>
                  <a:srgbClr val="002060"/>
                </a:solidFill>
              </a:rPr>
              <a:t>New Nigeria Peoples Party (NNPP) (22%)</a:t>
            </a:r>
          </a:p>
          <a:p>
            <a:pPr marL="742950" lvl="1" indent="-285750" algn="just">
              <a:spcAft>
                <a:spcPts val="600"/>
              </a:spcAft>
              <a:buFont typeface="Wingdings" panose="05000000000000000000" pitchFamily="2" charset="2"/>
              <a:buChar char="ü"/>
            </a:pPr>
            <a:r>
              <a:rPr lang="en-US" sz="1400" dirty="0">
                <a:solidFill>
                  <a:srgbClr val="002060"/>
                </a:solidFill>
              </a:rPr>
              <a:t>Labour Party (LP) (16%).</a:t>
            </a:r>
          </a:p>
          <a:p>
            <a:pPr algn="just">
              <a:spcAft>
                <a:spcPts val="600"/>
              </a:spcAft>
            </a:pPr>
            <a:r>
              <a:rPr lang="en-US" sz="1400" b="1" dirty="0">
                <a:solidFill>
                  <a:srgbClr val="002060"/>
                </a:solidFill>
              </a:rPr>
              <a:t>Major political parties voted for in the last senatorial elections:</a:t>
            </a:r>
          </a:p>
          <a:p>
            <a:pPr marL="742950" lvl="1" indent="-285750" algn="just">
              <a:buFont typeface="Wingdings" panose="05000000000000000000" pitchFamily="2" charset="2"/>
              <a:buChar char="ü"/>
            </a:pPr>
            <a:r>
              <a:rPr lang="en-US" sz="1400" dirty="0">
                <a:solidFill>
                  <a:srgbClr val="002060"/>
                </a:solidFill>
              </a:rPr>
              <a:t>All Progressives Congress (APC) (35%)</a:t>
            </a:r>
          </a:p>
          <a:p>
            <a:pPr marL="742950" lvl="1" indent="-285750" algn="just">
              <a:buFont typeface="Wingdings" panose="05000000000000000000" pitchFamily="2" charset="2"/>
              <a:buChar char="ü"/>
            </a:pPr>
            <a:r>
              <a:rPr lang="en-US" sz="1400" dirty="0">
                <a:solidFill>
                  <a:srgbClr val="002060"/>
                </a:solidFill>
              </a:rPr>
              <a:t>New Nigeria Peoples Party (NNPP) (30%)</a:t>
            </a:r>
          </a:p>
          <a:p>
            <a:pPr marL="742950" lvl="1" indent="-285750" algn="just">
              <a:buFont typeface="Wingdings" panose="05000000000000000000" pitchFamily="2" charset="2"/>
              <a:buChar char="ü"/>
            </a:pPr>
            <a:r>
              <a:rPr lang="en-US" sz="1400" dirty="0">
                <a:solidFill>
                  <a:srgbClr val="002060"/>
                </a:solidFill>
              </a:rPr>
              <a:t>People’s Democratic Party (PDP) (20%)</a:t>
            </a:r>
          </a:p>
          <a:p>
            <a:pPr marL="742950" lvl="1" indent="-285750" algn="just">
              <a:spcAft>
                <a:spcPts val="600"/>
              </a:spcAft>
              <a:buFont typeface="Wingdings" panose="05000000000000000000" pitchFamily="2" charset="2"/>
              <a:buChar char="ü"/>
            </a:pPr>
            <a:r>
              <a:rPr lang="en-US" sz="1400" dirty="0">
                <a:solidFill>
                  <a:srgbClr val="002060"/>
                </a:solidFill>
              </a:rPr>
              <a:t>Labour Party (LP) (14%).</a:t>
            </a:r>
          </a:p>
          <a:p>
            <a:pPr algn="just">
              <a:spcAft>
                <a:spcPts val="600"/>
              </a:spcAft>
            </a:pPr>
            <a:r>
              <a:rPr lang="en-US" sz="1400" b="1" dirty="0">
                <a:solidFill>
                  <a:srgbClr val="002060"/>
                </a:solidFill>
              </a:rPr>
              <a:t>Major political parties voted for in the last House of Reps elections:</a:t>
            </a:r>
          </a:p>
          <a:p>
            <a:pPr marL="742950" lvl="1" indent="-285750" algn="just">
              <a:buFont typeface="Wingdings" panose="05000000000000000000" pitchFamily="2" charset="2"/>
              <a:buChar char="ü"/>
            </a:pPr>
            <a:r>
              <a:rPr lang="en-US" sz="1400" dirty="0">
                <a:solidFill>
                  <a:srgbClr val="002060"/>
                </a:solidFill>
              </a:rPr>
              <a:t>New Nigeria Peoples Party (NNPP) (34%)</a:t>
            </a:r>
          </a:p>
          <a:p>
            <a:pPr marL="742950" lvl="1" indent="-285750" algn="just">
              <a:buFont typeface="Wingdings" panose="05000000000000000000" pitchFamily="2" charset="2"/>
              <a:buChar char="ü"/>
            </a:pPr>
            <a:r>
              <a:rPr lang="en-US" sz="1400" dirty="0">
                <a:solidFill>
                  <a:srgbClr val="002060"/>
                </a:solidFill>
              </a:rPr>
              <a:t>All Progressives Congress (APC) (32%)</a:t>
            </a:r>
          </a:p>
          <a:p>
            <a:pPr marL="742950" lvl="1" indent="-285750" algn="just">
              <a:buFont typeface="Wingdings" panose="05000000000000000000" pitchFamily="2" charset="2"/>
              <a:buChar char="ü"/>
            </a:pPr>
            <a:r>
              <a:rPr lang="en-US" sz="1400" dirty="0">
                <a:solidFill>
                  <a:srgbClr val="002060"/>
                </a:solidFill>
              </a:rPr>
              <a:t>People’s Democratic Party (PDP) (20%)</a:t>
            </a:r>
          </a:p>
          <a:p>
            <a:pPr marL="742950" lvl="1" indent="-285750" algn="just">
              <a:buFont typeface="Wingdings" panose="05000000000000000000" pitchFamily="2" charset="2"/>
              <a:buChar char="ü"/>
            </a:pPr>
            <a:r>
              <a:rPr lang="en-US" sz="1400" dirty="0">
                <a:solidFill>
                  <a:srgbClr val="002060"/>
                </a:solidFill>
              </a:rPr>
              <a:t>Labour Party (LP) (12%), </a:t>
            </a:r>
          </a:p>
        </p:txBody>
      </p:sp>
      <p:pic>
        <p:nvPicPr>
          <p:cNvPr id="8" name="Picture 7">
            <a:extLst>
              <a:ext uri="{FF2B5EF4-FFF2-40B4-BE49-F238E27FC236}">
                <a16:creationId xmlns:a16="http://schemas.microsoft.com/office/drawing/2014/main" id="{978B136F-E871-416D-8154-78C5099ED678}"/>
              </a:ext>
            </a:extLst>
          </p:cNvPr>
          <p:cNvPicPr>
            <a:picLocks noChangeAspect="1"/>
          </p:cNvPicPr>
          <p:nvPr/>
        </p:nvPicPr>
        <p:blipFill>
          <a:blip r:embed="rId2"/>
          <a:stretch>
            <a:fillRect/>
          </a:stretch>
        </p:blipFill>
        <p:spPr>
          <a:xfrm>
            <a:off x="8753704" y="609600"/>
            <a:ext cx="3438296" cy="5211337"/>
          </a:xfrm>
          <a:prstGeom prst="rect">
            <a:avLst/>
          </a:prstGeom>
        </p:spPr>
      </p:pic>
    </p:spTree>
    <p:extLst>
      <p:ext uri="{BB962C8B-B14F-4D97-AF65-F5344CB8AC3E}">
        <p14:creationId xmlns:p14="http://schemas.microsoft.com/office/powerpoint/2010/main" val="1831960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5F5642B-83A0-CD7B-E2BA-8E492D002397}"/>
              </a:ext>
            </a:extLst>
          </p:cNvPr>
          <p:cNvSpPr txBox="1"/>
          <p:nvPr/>
        </p:nvSpPr>
        <p:spPr>
          <a:xfrm>
            <a:off x="312991" y="119838"/>
            <a:ext cx="5605670"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Key Section Highlights</a:t>
            </a:r>
          </a:p>
        </p:txBody>
      </p:sp>
      <p:sp>
        <p:nvSpPr>
          <p:cNvPr id="9" name="TextBox 8">
            <a:extLst>
              <a:ext uri="{FF2B5EF4-FFF2-40B4-BE49-F238E27FC236}">
                <a16:creationId xmlns:a16="http://schemas.microsoft.com/office/drawing/2014/main" id="{A2049F7E-35CE-4670-8378-19404ED66C7E}"/>
              </a:ext>
            </a:extLst>
          </p:cNvPr>
          <p:cNvSpPr txBox="1"/>
          <p:nvPr/>
        </p:nvSpPr>
        <p:spPr>
          <a:xfrm>
            <a:off x="265111" y="576147"/>
            <a:ext cx="8455144" cy="363176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spcAft>
                <a:spcPts val="600"/>
              </a:spcAft>
            </a:pPr>
            <a:r>
              <a:rPr lang="en-US" sz="1400" b="1" dirty="0">
                <a:solidFill>
                  <a:srgbClr val="002060"/>
                </a:solidFill>
              </a:rPr>
              <a:t>Major political parties voted for in the last House of Assembly elections:</a:t>
            </a:r>
          </a:p>
          <a:p>
            <a:pPr marL="742950" lvl="1" indent="-285750" algn="just">
              <a:buFont typeface="Wingdings" panose="05000000000000000000" pitchFamily="2" charset="2"/>
              <a:buChar char="ü"/>
            </a:pPr>
            <a:r>
              <a:rPr lang="en-US" sz="1400" dirty="0">
                <a:solidFill>
                  <a:srgbClr val="002060"/>
                </a:solidFill>
              </a:rPr>
              <a:t>New Nigeria Peoples Party (NNPP) (36%)</a:t>
            </a:r>
          </a:p>
          <a:p>
            <a:pPr marL="742950" lvl="1" indent="-285750" algn="just">
              <a:buFont typeface="Wingdings" panose="05000000000000000000" pitchFamily="2" charset="2"/>
              <a:buChar char="ü"/>
            </a:pPr>
            <a:r>
              <a:rPr lang="en-US" sz="1400" dirty="0">
                <a:solidFill>
                  <a:srgbClr val="002060"/>
                </a:solidFill>
              </a:rPr>
              <a:t>All Progressives Congress (APC) (32%)</a:t>
            </a:r>
          </a:p>
          <a:p>
            <a:pPr marL="742950" lvl="1" indent="-285750" algn="just">
              <a:buFont typeface="Wingdings" panose="05000000000000000000" pitchFamily="2" charset="2"/>
              <a:buChar char="ü"/>
            </a:pPr>
            <a:r>
              <a:rPr lang="en-US" sz="1400" dirty="0">
                <a:solidFill>
                  <a:srgbClr val="002060"/>
                </a:solidFill>
              </a:rPr>
              <a:t>People’s Democratic Party (PDP) (18%)</a:t>
            </a:r>
          </a:p>
          <a:p>
            <a:pPr marL="742950" lvl="1" indent="-285750" algn="just">
              <a:spcAft>
                <a:spcPts val="600"/>
              </a:spcAft>
              <a:buFont typeface="Wingdings" panose="05000000000000000000" pitchFamily="2" charset="2"/>
              <a:buChar char="ü"/>
            </a:pPr>
            <a:r>
              <a:rPr lang="en-US" sz="1400" dirty="0">
                <a:solidFill>
                  <a:srgbClr val="002060"/>
                </a:solidFill>
              </a:rPr>
              <a:t>Labour Party (LP) (11%)</a:t>
            </a:r>
          </a:p>
          <a:p>
            <a:pPr algn="just">
              <a:spcAft>
                <a:spcPts val="600"/>
              </a:spcAft>
            </a:pPr>
            <a:r>
              <a:rPr lang="en-US" sz="1400" dirty="0">
                <a:solidFill>
                  <a:srgbClr val="002060"/>
                </a:solidFill>
              </a:rPr>
              <a:t> </a:t>
            </a:r>
            <a:r>
              <a:rPr lang="en-US" sz="1400" b="1" dirty="0">
                <a:solidFill>
                  <a:srgbClr val="002060"/>
                </a:solidFill>
              </a:rPr>
              <a:t>Major political parties voted for in the last governorship elections:</a:t>
            </a:r>
          </a:p>
          <a:p>
            <a:pPr marL="742950" lvl="1" indent="-285750" algn="just">
              <a:buFont typeface="Wingdings" panose="05000000000000000000" pitchFamily="2" charset="2"/>
              <a:buChar char="ü"/>
            </a:pPr>
            <a:r>
              <a:rPr lang="en-US" sz="1400" dirty="0">
                <a:solidFill>
                  <a:srgbClr val="002060"/>
                </a:solidFill>
              </a:rPr>
              <a:t>New Nigeria Peoples Party (NNPP) (34%)</a:t>
            </a:r>
          </a:p>
          <a:p>
            <a:pPr marL="742950" lvl="1" indent="-285750" algn="just">
              <a:buFont typeface="Wingdings" panose="05000000000000000000" pitchFamily="2" charset="2"/>
              <a:buChar char="ü"/>
            </a:pPr>
            <a:r>
              <a:rPr lang="en-US" sz="1400" dirty="0">
                <a:solidFill>
                  <a:srgbClr val="002060"/>
                </a:solidFill>
              </a:rPr>
              <a:t>All Progressives Congress (APC) (29%)</a:t>
            </a:r>
          </a:p>
          <a:p>
            <a:pPr marL="742950" lvl="1" indent="-285750" algn="just">
              <a:buFont typeface="Wingdings" panose="05000000000000000000" pitchFamily="2" charset="2"/>
              <a:buChar char="ü"/>
            </a:pPr>
            <a:r>
              <a:rPr lang="en-US" sz="1400" dirty="0">
                <a:solidFill>
                  <a:srgbClr val="002060"/>
                </a:solidFill>
              </a:rPr>
              <a:t>People’s Democratic Party (PDP) (21%)</a:t>
            </a:r>
          </a:p>
          <a:p>
            <a:pPr marL="742950" lvl="1" indent="-285750" algn="just">
              <a:spcAft>
                <a:spcPts val="600"/>
              </a:spcAft>
              <a:buFont typeface="Wingdings" panose="05000000000000000000" pitchFamily="2" charset="2"/>
              <a:buChar char="ü"/>
            </a:pPr>
            <a:r>
              <a:rPr lang="en-US" sz="1400" dirty="0">
                <a:solidFill>
                  <a:srgbClr val="002060"/>
                </a:solidFill>
              </a:rPr>
              <a:t>Labour Party (LP) (14%)</a:t>
            </a:r>
            <a:r>
              <a:rPr lang="en-US" sz="1400" b="1" dirty="0">
                <a:solidFill>
                  <a:srgbClr val="002060"/>
                </a:solidFill>
              </a:rPr>
              <a:t>.</a:t>
            </a:r>
          </a:p>
          <a:p>
            <a:pPr algn="just"/>
            <a:r>
              <a:rPr lang="en-US" sz="1400" b="1" dirty="0">
                <a:solidFill>
                  <a:srgbClr val="C00000"/>
                </a:solidFill>
              </a:rPr>
              <a:t>Participation in the next elections:</a:t>
            </a:r>
            <a:r>
              <a:rPr lang="en-US" sz="1400" dirty="0">
                <a:solidFill>
                  <a:srgbClr val="002060"/>
                </a:solidFill>
              </a:rPr>
              <a:t> Voters’ apathy may be likely witnessed again in the next general elections. Only a few people expressed their readiness to cast their votes in the next general elections. However, at it stands, about three-fifths or more said they would vote for the All Progressives Congress (APC) across in the next presidential, governorship, senatorial, House of Reps elections, State House of Assembly, and local government elections, while about one-quarter have not decided the party they will vote for.</a:t>
            </a:r>
          </a:p>
        </p:txBody>
      </p:sp>
      <p:pic>
        <p:nvPicPr>
          <p:cNvPr id="8" name="Picture 7">
            <a:extLst>
              <a:ext uri="{FF2B5EF4-FFF2-40B4-BE49-F238E27FC236}">
                <a16:creationId xmlns:a16="http://schemas.microsoft.com/office/drawing/2014/main" id="{978B136F-E871-416D-8154-78C5099ED678}"/>
              </a:ext>
            </a:extLst>
          </p:cNvPr>
          <p:cNvPicPr>
            <a:picLocks noChangeAspect="1"/>
          </p:cNvPicPr>
          <p:nvPr/>
        </p:nvPicPr>
        <p:blipFill>
          <a:blip r:embed="rId2"/>
          <a:stretch>
            <a:fillRect/>
          </a:stretch>
        </p:blipFill>
        <p:spPr>
          <a:xfrm>
            <a:off x="8753704" y="609600"/>
            <a:ext cx="3438296" cy="5211337"/>
          </a:xfrm>
          <a:prstGeom prst="rect">
            <a:avLst/>
          </a:prstGeom>
        </p:spPr>
      </p:pic>
    </p:spTree>
    <p:extLst>
      <p:ext uri="{BB962C8B-B14F-4D97-AF65-F5344CB8AC3E}">
        <p14:creationId xmlns:p14="http://schemas.microsoft.com/office/powerpoint/2010/main" val="28355976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5F5642B-83A0-CD7B-E2BA-8E492D002397}"/>
              </a:ext>
            </a:extLst>
          </p:cNvPr>
          <p:cNvSpPr txBox="1"/>
          <p:nvPr/>
        </p:nvSpPr>
        <p:spPr>
          <a:xfrm>
            <a:off x="312991" y="119838"/>
            <a:ext cx="5605670"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Key Section Highlights</a:t>
            </a:r>
          </a:p>
        </p:txBody>
      </p:sp>
      <p:sp>
        <p:nvSpPr>
          <p:cNvPr id="9" name="TextBox 8">
            <a:extLst>
              <a:ext uri="{FF2B5EF4-FFF2-40B4-BE49-F238E27FC236}">
                <a16:creationId xmlns:a16="http://schemas.microsoft.com/office/drawing/2014/main" id="{A2049F7E-35CE-4670-8378-19404ED66C7E}"/>
              </a:ext>
            </a:extLst>
          </p:cNvPr>
          <p:cNvSpPr txBox="1"/>
          <p:nvPr/>
        </p:nvSpPr>
        <p:spPr>
          <a:xfrm>
            <a:off x="265111" y="609600"/>
            <a:ext cx="8455144" cy="55861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spcAft>
                <a:spcPts val="600"/>
              </a:spcAft>
            </a:pPr>
            <a:r>
              <a:rPr lang="en-US" sz="1400" b="1" dirty="0">
                <a:solidFill>
                  <a:srgbClr val="002060"/>
                </a:solidFill>
              </a:rPr>
              <a:t>Reforms in Nigerian leadership selection:</a:t>
            </a:r>
            <a:r>
              <a:rPr lang="en-US" sz="1400" dirty="0">
                <a:solidFill>
                  <a:srgbClr val="002060"/>
                </a:solidFill>
              </a:rPr>
              <a:t> Election transparency (68%), better candidate screening (55%), improved public engagement (38%), INEC chairmanship selection criteria (38%), and Stricter accountability laws (36%) are key reforms people would like to see in Nigerian leadership selection.</a:t>
            </a:r>
          </a:p>
          <a:p>
            <a:pPr algn="just">
              <a:spcAft>
                <a:spcPts val="600"/>
              </a:spcAft>
            </a:pPr>
            <a:r>
              <a:rPr lang="en-US" sz="1400" b="1" dirty="0">
                <a:solidFill>
                  <a:srgbClr val="002060"/>
                </a:solidFill>
              </a:rPr>
              <a:t>Leadership level that needs the most improvement:</a:t>
            </a:r>
            <a:r>
              <a:rPr lang="en-US" sz="1400" dirty="0">
                <a:solidFill>
                  <a:srgbClr val="002060"/>
                </a:solidFill>
              </a:rPr>
              <a:t> As mentioned by 68%, the presidency is regarded as the level of leadership in Nigeria that needs the most improvement. This is particularly high in Edo (99%) and low in Lagos (42%).</a:t>
            </a:r>
          </a:p>
          <a:p>
            <a:pPr algn="just">
              <a:spcAft>
                <a:spcPts val="600"/>
              </a:spcAft>
            </a:pPr>
            <a:r>
              <a:rPr lang="en-US" sz="1400" b="1" dirty="0">
                <a:solidFill>
                  <a:srgbClr val="002060"/>
                </a:solidFill>
              </a:rPr>
              <a:t>Interested in leadership:</a:t>
            </a:r>
            <a:r>
              <a:rPr lang="en-US" sz="1400" dirty="0">
                <a:solidFill>
                  <a:srgbClr val="002060"/>
                </a:solidFill>
              </a:rPr>
              <a:t> Close to three-quarters (74%) are not personally interested in leadership or governance roles. Interest is higher in Kano (23%) and among males (22%).</a:t>
            </a:r>
          </a:p>
          <a:p>
            <a:pPr algn="just">
              <a:spcAft>
                <a:spcPts val="600"/>
              </a:spcAft>
            </a:pPr>
            <a:r>
              <a:rPr lang="en-US" sz="1400" b="1" dirty="0">
                <a:solidFill>
                  <a:srgbClr val="002060"/>
                </a:solidFill>
              </a:rPr>
              <a:t>Obstacles against young people’s leadership roles:</a:t>
            </a:r>
            <a:r>
              <a:rPr lang="en-US" sz="1400" dirty="0">
                <a:solidFill>
                  <a:srgbClr val="002060"/>
                </a:solidFill>
              </a:rPr>
              <a:t> Most people do not see young people ready for leadership roles today, but maybe in the future (38%), is the major obstacle militating against young people from assuming leadership roles. Others are Financial barriers (16%), Public </a:t>
            </a:r>
            <a:r>
              <a:rPr lang="en-US" sz="1400" dirty="0" err="1">
                <a:solidFill>
                  <a:srgbClr val="002060"/>
                </a:solidFill>
              </a:rPr>
              <a:t>scepticism</a:t>
            </a:r>
            <a:r>
              <a:rPr lang="en-US" sz="1400" dirty="0">
                <a:solidFill>
                  <a:srgbClr val="002060"/>
                </a:solidFill>
              </a:rPr>
              <a:t> about young leadership (15%), and Political exclusion (13%).</a:t>
            </a:r>
          </a:p>
          <a:p>
            <a:pPr algn="just">
              <a:spcAft>
                <a:spcPts val="600"/>
              </a:spcAft>
            </a:pPr>
            <a:r>
              <a:rPr lang="en-US" sz="1400" b="1" dirty="0">
                <a:solidFill>
                  <a:srgbClr val="002060"/>
                </a:solidFill>
              </a:rPr>
              <a:t>Young people leaders’ abilities:</a:t>
            </a:r>
            <a:r>
              <a:rPr lang="en-US" sz="1400" dirty="0">
                <a:solidFill>
                  <a:srgbClr val="002060"/>
                </a:solidFill>
              </a:rPr>
              <a:t> Most people (72%) believed in young leaders’ abilities to improve governance in Nigeria. Most people in Enugu believed that governance requires experience and expertise. </a:t>
            </a:r>
          </a:p>
          <a:p>
            <a:pPr algn="just">
              <a:spcAft>
                <a:spcPts val="600"/>
              </a:spcAft>
            </a:pPr>
            <a:r>
              <a:rPr lang="en-US" sz="1400" b="1" dirty="0">
                <a:solidFill>
                  <a:srgbClr val="002060"/>
                </a:solidFill>
              </a:rPr>
              <a:t>Youth leadership participation:</a:t>
            </a:r>
            <a:r>
              <a:rPr lang="en-US" sz="1400" dirty="0">
                <a:solidFill>
                  <a:srgbClr val="002060"/>
                </a:solidFill>
              </a:rPr>
              <a:t> About one-third (30%) mentioned financial assistance and funding for youth political engagement as effective supports that would increase their participation. Others include: Leadership training and capacity-building programs (24%), and Public recognition and advocacy for youth leaders (18%).</a:t>
            </a:r>
          </a:p>
          <a:p>
            <a:pPr algn="just">
              <a:spcAft>
                <a:spcPts val="600"/>
              </a:spcAft>
            </a:pPr>
            <a:r>
              <a:rPr lang="en-US" sz="1400" b="1" dirty="0">
                <a:solidFill>
                  <a:srgbClr val="002060"/>
                </a:solidFill>
              </a:rPr>
              <a:t>Engagement in political activities:</a:t>
            </a:r>
            <a:r>
              <a:rPr lang="en-US" sz="1400" dirty="0">
                <a:solidFill>
                  <a:srgbClr val="002060"/>
                </a:solidFill>
              </a:rPr>
              <a:t> The overall engagement in civic or political activities is low at 38%, especially in Bauchi (19%). The engagement is, however, high in Kano (69%). </a:t>
            </a:r>
          </a:p>
          <a:p>
            <a:pPr algn="just">
              <a:spcAft>
                <a:spcPts val="600"/>
              </a:spcAft>
            </a:pPr>
            <a:r>
              <a:rPr lang="en-US" sz="1400" b="1" dirty="0">
                <a:solidFill>
                  <a:srgbClr val="002060"/>
                </a:solidFill>
              </a:rPr>
              <a:t>Factors influencing trust in young leaders:</a:t>
            </a:r>
            <a:r>
              <a:rPr lang="en-US" sz="1400" dirty="0">
                <a:solidFill>
                  <a:srgbClr val="002060"/>
                </a:solidFill>
              </a:rPr>
              <a:t> Track record in community or professional leadership (59%), presentation of clear cut policies and governance strategies (50%), educational background and expertise (52%), alignment with personal values and beliefs (43%), and financial independence and lack of corruption records (39%) are the main factors that influence trust in young leaders.</a:t>
            </a:r>
          </a:p>
        </p:txBody>
      </p:sp>
      <p:pic>
        <p:nvPicPr>
          <p:cNvPr id="6" name="Picture 5">
            <a:extLst>
              <a:ext uri="{FF2B5EF4-FFF2-40B4-BE49-F238E27FC236}">
                <a16:creationId xmlns:a16="http://schemas.microsoft.com/office/drawing/2014/main" id="{36F90E93-6D7A-4676-8D0E-F64DA0EC7041}"/>
              </a:ext>
            </a:extLst>
          </p:cNvPr>
          <p:cNvPicPr>
            <a:picLocks noChangeAspect="1"/>
          </p:cNvPicPr>
          <p:nvPr/>
        </p:nvPicPr>
        <p:blipFill>
          <a:blip r:embed="rId2"/>
          <a:stretch>
            <a:fillRect/>
          </a:stretch>
        </p:blipFill>
        <p:spPr>
          <a:xfrm>
            <a:off x="8753704" y="609600"/>
            <a:ext cx="3438296" cy="5211337"/>
          </a:xfrm>
          <a:prstGeom prst="rect">
            <a:avLst/>
          </a:prstGeom>
        </p:spPr>
      </p:pic>
    </p:spTree>
    <p:extLst>
      <p:ext uri="{BB962C8B-B14F-4D97-AF65-F5344CB8AC3E}">
        <p14:creationId xmlns:p14="http://schemas.microsoft.com/office/powerpoint/2010/main" val="15814254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5F5642B-83A0-CD7B-E2BA-8E492D002397}"/>
              </a:ext>
            </a:extLst>
          </p:cNvPr>
          <p:cNvSpPr txBox="1"/>
          <p:nvPr/>
        </p:nvSpPr>
        <p:spPr>
          <a:xfrm>
            <a:off x="312991" y="119838"/>
            <a:ext cx="5605670"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Key Section Highlights</a:t>
            </a:r>
          </a:p>
        </p:txBody>
      </p:sp>
      <p:sp>
        <p:nvSpPr>
          <p:cNvPr id="9" name="TextBox 8">
            <a:extLst>
              <a:ext uri="{FF2B5EF4-FFF2-40B4-BE49-F238E27FC236}">
                <a16:creationId xmlns:a16="http://schemas.microsoft.com/office/drawing/2014/main" id="{A2049F7E-35CE-4670-8378-19404ED66C7E}"/>
              </a:ext>
            </a:extLst>
          </p:cNvPr>
          <p:cNvSpPr txBox="1"/>
          <p:nvPr/>
        </p:nvSpPr>
        <p:spPr>
          <a:xfrm>
            <a:off x="265111" y="609600"/>
            <a:ext cx="8455144" cy="55092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spcAft>
                <a:spcPts val="600"/>
              </a:spcAft>
            </a:pPr>
            <a:r>
              <a:rPr lang="en-US" sz="1400" b="1" dirty="0">
                <a:solidFill>
                  <a:srgbClr val="002060"/>
                </a:solidFill>
              </a:rPr>
              <a:t>The focus of young leaders:</a:t>
            </a:r>
            <a:r>
              <a:rPr lang="en-US" sz="1400" dirty="0">
                <a:solidFill>
                  <a:srgbClr val="002060"/>
                </a:solidFill>
              </a:rPr>
              <a:t> Economic development and job creation (76%) and Education and youth empowerment (67%) are believed as what young leaders should focus on to gain credibility. Others are: Governance and anti-corruption policies (41%), Technology and innovation (41%), and Human rights and social justice (39%).</a:t>
            </a:r>
          </a:p>
          <a:p>
            <a:pPr algn="just">
              <a:spcAft>
                <a:spcPts val="600"/>
              </a:spcAft>
            </a:pPr>
            <a:r>
              <a:rPr lang="en-US" sz="1400" b="1" dirty="0">
                <a:solidFill>
                  <a:srgbClr val="002060"/>
                </a:solidFill>
              </a:rPr>
              <a:t>Women’s challenges in leadership:</a:t>
            </a:r>
            <a:r>
              <a:rPr lang="en-US" sz="1400" dirty="0">
                <a:solidFill>
                  <a:srgbClr val="002060"/>
                </a:solidFill>
              </a:rPr>
              <a:t> Most of the people (55%), especially in Bauchi (71%), believed that women face significantly more challenges in leadership than men. A significant proportion in Enugu (31%) believed that men and women face similar challenges in leadership.</a:t>
            </a:r>
          </a:p>
          <a:p>
            <a:pPr algn="just">
              <a:spcAft>
                <a:spcPts val="600"/>
              </a:spcAft>
            </a:pPr>
            <a:r>
              <a:rPr lang="en-US" sz="1400" b="1" dirty="0">
                <a:solidFill>
                  <a:srgbClr val="002060"/>
                </a:solidFill>
              </a:rPr>
              <a:t>Barriers to women’s advancement in leadership roles:</a:t>
            </a:r>
            <a:r>
              <a:rPr lang="en-US" sz="1400" dirty="0">
                <a:solidFill>
                  <a:srgbClr val="002060"/>
                </a:solidFill>
              </a:rPr>
              <a:t> Perceived barriers preventing women from advancing into leadership roles are cultural and societal norms limiting women's political engagement (34%) and gender bias and discrimination in leadership selection (28%). Others include lack of political and financial support for female candidates (14%) and gender Abuse, such as harassment (13%).</a:t>
            </a:r>
          </a:p>
          <a:p>
            <a:pPr algn="just">
              <a:spcAft>
                <a:spcPts val="600"/>
              </a:spcAft>
            </a:pPr>
            <a:r>
              <a:rPr lang="en-US" sz="1400" b="1" dirty="0">
                <a:solidFill>
                  <a:srgbClr val="002060"/>
                </a:solidFill>
              </a:rPr>
              <a:t>Policies to promote women’s leadership:</a:t>
            </a:r>
            <a:r>
              <a:rPr lang="en-US" sz="1400" dirty="0">
                <a:solidFill>
                  <a:srgbClr val="002060"/>
                </a:solidFill>
              </a:rPr>
              <a:t> Overall, 70% would support policies that actively promote women’s leadership. Close to half (45%) in Enugu suggest that leadership should be based solely on merit without gender-based policies.</a:t>
            </a:r>
          </a:p>
          <a:p>
            <a:pPr algn="just">
              <a:spcAft>
                <a:spcPts val="600"/>
              </a:spcAft>
            </a:pPr>
            <a:r>
              <a:rPr lang="en-US" sz="1400" b="1" dirty="0">
                <a:solidFill>
                  <a:srgbClr val="002060"/>
                </a:solidFill>
              </a:rPr>
              <a:t>Women in leadership in governance:</a:t>
            </a:r>
            <a:r>
              <a:rPr lang="en-US" sz="1400" dirty="0">
                <a:solidFill>
                  <a:srgbClr val="002060"/>
                </a:solidFill>
              </a:rPr>
              <a:t> Having more women in leadership in governance is believed to improve governance by increasing diversity and inclusivity, as mentioned by 55% respondents. However, about one-third each in FCT and Kano believed that it could negatively impact governance if not based on merit.</a:t>
            </a:r>
            <a:endParaRPr lang="en-US" sz="1400" b="1" dirty="0">
              <a:solidFill>
                <a:srgbClr val="002060"/>
              </a:solidFill>
            </a:endParaRPr>
          </a:p>
          <a:p>
            <a:pPr algn="just">
              <a:spcAft>
                <a:spcPts val="600"/>
              </a:spcAft>
            </a:pPr>
            <a:r>
              <a:rPr lang="en-US" sz="1400" b="1" dirty="0">
                <a:solidFill>
                  <a:srgbClr val="002060"/>
                </a:solidFill>
              </a:rPr>
              <a:t>Women leaders’ media coverage:</a:t>
            </a:r>
            <a:r>
              <a:rPr lang="en-US" sz="1400" dirty="0">
                <a:solidFill>
                  <a:srgbClr val="002060"/>
                </a:solidFill>
              </a:rPr>
              <a:t> Overall, 44% believed that women leaders receive equal and fair media coverage, while 44%, especially in Bauchi (68%), also believed that women leaders face more scrutiny and negative stereotypes.</a:t>
            </a:r>
          </a:p>
          <a:p>
            <a:pPr algn="just">
              <a:spcAft>
                <a:spcPts val="600"/>
              </a:spcAft>
            </a:pPr>
            <a:r>
              <a:rPr lang="en-US" sz="1400" b="1" dirty="0">
                <a:solidFill>
                  <a:srgbClr val="002060"/>
                </a:solidFill>
              </a:rPr>
              <a:t>Strategies to increase women’s leadership participation:</a:t>
            </a:r>
            <a:r>
              <a:rPr lang="en-US" sz="1400" dirty="0">
                <a:solidFill>
                  <a:srgbClr val="002060"/>
                </a:solidFill>
              </a:rPr>
              <a:t> Suggested effective strategies include public awareness campaigns to change gender perceptions (59%), leadership training and mentorship for women (52%), economic empowerment programs for female candidates (51%), and Legal reforms for equal political participation (35%).</a:t>
            </a:r>
          </a:p>
        </p:txBody>
      </p:sp>
      <p:pic>
        <p:nvPicPr>
          <p:cNvPr id="6" name="Picture 5">
            <a:extLst>
              <a:ext uri="{FF2B5EF4-FFF2-40B4-BE49-F238E27FC236}">
                <a16:creationId xmlns:a16="http://schemas.microsoft.com/office/drawing/2014/main" id="{36F90E93-6D7A-4676-8D0E-F64DA0EC7041}"/>
              </a:ext>
            </a:extLst>
          </p:cNvPr>
          <p:cNvPicPr>
            <a:picLocks noChangeAspect="1"/>
          </p:cNvPicPr>
          <p:nvPr/>
        </p:nvPicPr>
        <p:blipFill>
          <a:blip r:embed="rId2"/>
          <a:stretch>
            <a:fillRect/>
          </a:stretch>
        </p:blipFill>
        <p:spPr>
          <a:xfrm>
            <a:off x="8753704" y="609600"/>
            <a:ext cx="3438296" cy="5211337"/>
          </a:xfrm>
          <a:prstGeom prst="rect">
            <a:avLst/>
          </a:prstGeom>
        </p:spPr>
      </p:pic>
    </p:spTree>
    <p:extLst>
      <p:ext uri="{BB962C8B-B14F-4D97-AF65-F5344CB8AC3E}">
        <p14:creationId xmlns:p14="http://schemas.microsoft.com/office/powerpoint/2010/main" val="735277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5F5642B-83A0-CD7B-E2BA-8E492D002397}"/>
              </a:ext>
            </a:extLst>
          </p:cNvPr>
          <p:cNvSpPr txBox="1"/>
          <p:nvPr/>
        </p:nvSpPr>
        <p:spPr>
          <a:xfrm>
            <a:off x="312991" y="119838"/>
            <a:ext cx="5605670"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Key Section Highlights</a:t>
            </a:r>
          </a:p>
        </p:txBody>
      </p:sp>
      <p:sp>
        <p:nvSpPr>
          <p:cNvPr id="9" name="TextBox 8">
            <a:extLst>
              <a:ext uri="{FF2B5EF4-FFF2-40B4-BE49-F238E27FC236}">
                <a16:creationId xmlns:a16="http://schemas.microsoft.com/office/drawing/2014/main" id="{A2049F7E-35CE-4670-8378-19404ED66C7E}"/>
              </a:ext>
            </a:extLst>
          </p:cNvPr>
          <p:cNvSpPr txBox="1"/>
          <p:nvPr/>
        </p:nvSpPr>
        <p:spPr>
          <a:xfrm>
            <a:off x="265111" y="609600"/>
            <a:ext cx="8455144" cy="5432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spcAft>
                <a:spcPts val="600"/>
              </a:spcAft>
            </a:pPr>
            <a:r>
              <a:rPr lang="en-US" sz="1400" b="1" dirty="0">
                <a:solidFill>
                  <a:srgbClr val="002060"/>
                </a:solidFill>
              </a:rPr>
              <a:t>Progress toward gender-inclusive leadership:</a:t>
            </a:r>
            <a:r>
              <a:rPr lang="en-US" sz="1400" dirty="0">
                <a:solidFill>
                  <a:srgbClr val="002060"/>
                </a:solidFill>
              </a:rPr>
              <a:t> The overall rating of Nigeria’s progress toward gender-inclusive leadership is low, with a mean score of 2.35 out of 5. The rating is particularly poor in Edo, with a mean rating of 1.23. </a:t>
            </a:r>
          </a:p>
          <a:p>
            <a:pPr algn="just">
              <a:spcAft>
                <a:spcPts val="600"/>
              </a:spcAft>
            </a:pPr>
            <a:r>
              <a:rPr lang="en-US" sz="1400" b="1" dirty="0">
                <a:solidFill>
                  <a:srgbClr val="002060"/>
                </a:solidFill>
              </a:rPr>
              <a:t>Policies to promote gender equality:</a:t>
            </a:r>
            <a:r>
              <a:rPr lang="en-US" sz="1400" dirty="0">
                <a:solidFill>
                  <a:srgbClr val="002060"/>
                </a:solidFill>
              </a:rPr>
              <a:t> Mentorship and capacity-building programs for women (55%), stronger anti-discrimination laws and enforcement (44%), gender quotas in government and corporate boards (42%), equal pay policies for leadership positions (41%), and increased political financing for female candidates (23%) are policies of priority to promote gender equality in leadership.</a:t>
            </a:r>
          </a:p>
          <a:p>
            <a:pPr algn="just">
              <a:spcAft>
                <a:spcPts val="600"/>
              </a:spcAft>
            </a:pPr>
            <a:r>
              <a:rPr lang="en-US" sz="1400" b="1" dirty="0">
                <a:solidFill>
                  <a:srgbClr val="002060"/>
                </a:solidFill>
              </a:rPr>
              <a:t>Gender representation in leadership:</a:t>
            </a:r>
            <a:r>
              <a:rPr lang="en-US" sz="1400" dirty="0">
                <a:solidFill>
                  <a:srgbClr val="002060"/>
                </a:solidFill>
              </a:rPr>
              <a:t> Most people (54%) believed that gender representation in leadership in national development promotes economic growth by ensuring diversity in decision-making. A quarter also believed that it leads to more inclusive and people-centred policies, and 18% said it has minimal impact on national development.</a:t>
            </a:r>
          </a:p>
          <a:p>
            <a:pPr algn="just">
              <a:spcAft>
                <a:spcPts val="600"/>
              </a:spcAft>
            </a:pPr>
            <a:r>
              <a:rPr lang="en-US" sz="1400" b="1" dirty="0">
                <a:solidFill>
                  <a:srgbClr val="002060"/>
                </a:solidFill>
              </a:rPr>
              <a:t>Gender-balanced leadership:</a:t>
            </a:r>
            <a:r>
              <a:rPr lang="en-US" sz="1400" dirty="0">
                <a:solidFill>
                  <a:srgbClr val="002060"/>
                </a:solidFill>
              </a:rPr>
              <a:t> More than half (52%) thought that gender-balanced leadership would reduce corruption in governance because diversity leads to better accountability and ethical leadership. However, 41% felt that corruption is not influenced by gender balance.</a:t>
            </a:r>
          </a:p>
          <a:p>
            <a:pPr algn="just">
              <a:spcAft>
                <a:spcPts val="600"/>
              </a:spcAft>
            </a:pPr>
            <a:r>
              <a:rPr lang="en-US" sz="1400" b="1" dirty="0">
                <a:solidFill>
                  <a:srgbClr val="002060"/>
                </a:solidFill>
              </a:rPr>
              <a:t>Men’s roles in promoting gender equality:</a:t>
            </a:r>
            <a:r>
              <a:rPr lang="en-US" sz="1400" dirty="0">
                <a:solidFill>
                  <a:srgbClr val="002060"/>
                </a:solidFill>
              </a:rPr>
              <a:t> Mentoring and supporting female leaders in political and professional spaces (61%), advocating for policies that promote women’s leadership (52%), challenging gender stereotypes in leadership roles (46%), and encouraging equal participation at home and in decision-making (44%) are suggested men’s roles in promoting gender equality in leadership.</a:t>
            </a:r>
          </a:p>
          <a:p>
            <a:pPr algn="just">
              <a:spcAft>
                <a:spcPts val="600"/>
              </a:spcAft>
            </a:pPr>
            <a:r>
              <a:rPr lang="en-US" sz="1400" b="1" dirty="0">
                <a:solidFill>
                  <a:srgbClr val="002060"/>
                </a:solidFill>
              </a:rPr>
              <a:t>Challenges facing governments:</a:t>
            </a:r>
            <a:r>
              <a:rPr lang="en-US" sz="1400" dirty="0">
                <a:solidFill>
                  <a:srgbClr val="002060"/>
                </a:solidFill>
              </a:rPr>
              <a:t> Major challenges facing LGAs include: Lack of adequate infrastructure, Insecurity, Poor electricity, Unemployment, Bad roads, and Bad Government. Unemployment, Insecurity, Corruption, Inflation, Bad Government, Poor electricity, Poverty/Hardship, and inadequate infrastructure are suggested challenges facing the state, while Insecurity, Poverty/Hardship, Unemployment, Inflation, and Corruption were mentioned as challenges facing the federal government of Nigeria.</a:t>
            </a:r>
          </a:p>
        </p:txBody>
      </p:sp>
      <p:pic>
        <p:nvPicPr>
          <p:cNvPr id="6" name="Picture 5">
            <a:extLst>
              <a:ext uri="{FF2B5EF4-FFF2-40B4-BE49-F238E27FC236}">
                <a16:creationId xmlns:a16="http://schemas.microsoft.com/office/drawing/2014/main" id="{36F90E93-6D7A-4676-8D0E-F64DA0EC7041}"/>
              </a:ext>
            </a:extLst>
          </p:cNvPr>
          <p:cNvPicPr>
            <a:picLocks noChangeAspect="1"/>
          </p:cNvPicPr>
          <p:nvPr/>
        </p:nvPicPr>
        <p:blipFill>
          <a:blip r:embed="rId2"/>
          <a:stretch>
            <a:fillRect/>
          </a:stretch>
        </p:blipFill>
        <p:spPr>
          <a:xfrm>
            <a:off x="8753704" y="609600"/>
            <a:ext cx="3438296" cy="5211337"/>
          </a:xfrm>
          <a:prstGeom prst="rect">
            <a:avLst/>
          </a:prstGeom>
        </p:spPr>
      </p:pic>
    </p:spTree>
    <p:extLst>
      <p:ext uri="{BB962C8B-B14F-4D97-AF65-F5344CB8AC3E}">
        <p14:creationId xmlns:p14="http://schemas.microsoft.com/office/powerpoint/2010/main" val="4777384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5F5642B-83A0-CD7B-E2BA-8E492D002397}"/>
              </a:ext>
            </a:extLst>
          </p:cNvPr>
          <p:cNvSpPr txBox="1"/>
          <p:nvPr/>
        </p:nvSpPr>
        <p:spPr>
          <a:xfrm>
            <a:off x="312991" y="119838"/>
            <a:ext cx="5605670"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Key Section Highlights</a:t>
            </a:r>
          </a:p>
        </p:txBody>
      </p:sp>
      <p:sp>
        <p:nvSpPr>
          <p:cNvPr id="9" name="TextBox 8">
            <a:extLst>
              <a:ext uri="{FF2B5EF4-FFF2-40B4-BE49-F238E27FC236}">
                <a16:creationId xmlns:a16="http://schemas.microsoft.com/office/drawing/2014/main" id="{A2049F7E-35CE-4670-8378-19404ED66C7E}"/>
              </a:ext>
            </a:extLst>
          </p:cNvPr>
          <p:cNvSpPr txBox="1"/>
          <p:nvPr/>
        </p:nvSpPr>
        <p:spPr>
          <a:xfrm>
            <a:off x="265111" y="609600"/>
            <a:ext cx="8455144" cy="449353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spcAft>
                <a:spcPts val="600"/>
              </a:spcAft>
            </a:pPr>
            <a:r>
              <a:rPr lang="en-US" sz="1400" b="1" dirty="0">
                <a:solidFill>
                  <a:srgbClr val="002060"/>
                </a:solidFill>
              </a:rPr>
              <a:t>Suggested solutions to addressing the myriad menaces facing governments</a:t>
            </a:r>
            <a:r>
              <a:rPr lang="en-US" sz="1400" dirty="0">
                <a:solidFill>
                  <a:srgbClr val="002060"/>
                </a:solidFill>
              </a:rPr>
              <a:t>: </a:t>
            </a:r>
          </a:p>
          <a:p>
            <a:pPr algn="just">
              <a:spcAft>
                <a:spcPts val="600"/>
              </a:spcAft>
            </a:pPr>
            <a:r>
              <a:rPr lang="en-US" sz="1400" dirty="0">
                <a:solidFill>
                  <a:srgbClr val="002060"/>
                </a:solidFill>
              </a:rPr>
              <a:t>Provision of adequate amenities (15%), improving the security (12%), improving the power sector (11%), creating opportunities (11%), building good roads (9%), helping the poor (7%), and good leadership (7%) are the main solutions to addressing the challenges facing the LGA. Creating job opportunities (18%) and security improvement (13%) are the main solutions to addressing the challenges facing the state. Others include: Good leadership (9%), decreasing the cost of food items (9%), good government that will help the poor (7%), improving the lighting issues (7%), and reducing the price of foodstuffs (7%), while improvement in security (24%), reducing the price of foodstuffs (18%), creating job opportunities (18%), and good leadership (13%) were suggested as solutions to addressing the myriad of menaces facing the country include.</a:t>
            </a:r>
          </a:p>
          <a:p>
            <a:pPr algn="just">
              <a:spcAft>
                <a:spcPts val="600"/>
              </a:spcAft>
            </a:pPr>
            <a:r>
              <a:rPr lang="en-US" sz="1400" b="1" dirty="0">
                <a:solidFill>
                  <a:srgbClr val="002060"/>
                </a:solidFill>
              </a:rPr>
              <a:t>Individual’s credibility and leadership qualities:</a:t>
            </a:r>
            <a:r>
              <a:rPr lang="en-US" sz="1400" dirty="0">
                <a:solidFill>
                  <a:srgbClr val="002060"/>
                </a:solidFill>
              </a:rPr>
              <a:t> Overall, across elected offices, the majority do not think of any individual’s credibility and leadership qualities in their communities to take up elective positions. However, in Kano, 17% and 26% claimed they have community members with credibility and leadership qualities to take up the governorship and House of Reps positions, respectively.</a:t>
            </a:r>
          </a:p>
          <a:p>
            <a:pPr algn="just">
              <a:spcAft>
                <a:spcPts val="600"/>
              </a:spcAft>
            </a:pPr>
            <a:r>
              <a:rPr lang="en-US" sz="1400" b="1" dirty="0">
                <a:solidFill>
                  <a:srgbClr val="002060"/>
                </a:solidFill>
              </a:rPr>
              <a:t>Support needed by aspiring leaders to succeed in their roles:</a:t>
            </a:r>
            <a:r>
              <a:rPr lang="en-US" sz="1400" dirty="0">
                <a:solidFill>
                  <a:srgbClr val="002060"/>
                </a:solidFill>
              </a:rPr>
              <a:t> Guidance and counselling/Encouragement (11%), Mentorship (8%), Empowerment /Financial Support (8%), Religious  Help/Assistance (8%), Leadership training (6%), and Funding from the top (6%) are some of the support or resources mentioned, as needed by aspiring leaders to succeed in their roles.</a:t>
            </a:r>
          </a:p>
          <a:p>
            <a:pPr algn="just">
              <a:spcAft>
                <a:spcPts val="600"/>
              </a:spcAft>
            </a:pPr>
            <a:r>
              <a:rPr lang="en-US" sz="1400" b="1" dirty="0">
                <a:solidFill>
                  <a:srgbClr val="002060"/>
                </a:solidFill>
              </a:rPr>
              <a:t>Attributes importance rating:</a:t>
            </a:r>
            <a:r>
              <a:rPr lang="en-US" sz="1400" dirty="0">
                <a:solidFill>
                  <a:srgbClr val="002060"/>
                </a:solidFill>
              </a:rPr>
              <a:t> Across all demographics, all attributes are critical and important, apart from Edo, where inclusivity and diversity are rated below average.</a:t>
            </a:r>
          </a:p>
        </p:txBody>
      </p:sp>
      <p:pic>
        <p:nvPicPr>
          <p:cNvPr id="6" name="Picture 5">
            <a:extLst>
              <a:ext uri="{FF2B5EF4-FFF2-40B4-BE49-F238E27FC236}">
                <a16:creationId xmlns:a16="http://schemas.microsoft.com/office/drawing/2014/main" id="{36F90E93-6D7A-4676-8D0E-F64DA0EC7041}"/>
              </a:ext>
            </a:extLst>
          </p:cNvPr>
          <p:cNvPicPr>
            <a:picLocks noChangeAspect="1"/>
          </p:cNvPicPr>
          <p:nvPr/>
        </p:nvPicPr>
        <p:blipFill>
          <a:blip r:embed="rId2"/>
          <a:stretch>
            <a:fillRect/>
          </a:stretch>
        </p:blipFill>
        <p:spPr>
          <a:xfrm>
            <a:off x="8753704" y="609600"/>
            <a:ext cx="3438296" cy="5211337"/>
          </a:xfrm>
          <a:prstGeom prst="rect">
            <a:avLst/>
          </a:prstGeom>
        </p:spPr>
      </p:pic>
    </p:spTree>
    <p:extLst>
      <p:ext uri="{BB962C8B-B14F-4D97-AF65-F5344CB8AC3E}">
        <p14:creationId xmlns:p14="http://schemas.microsoft.com/office/powerpoint/2010/main" val="34693371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Q9 Political Interest Level</a:t>
            </a:r>
            <a:endParaRPr lang="en-US" sz="1000" dirty="0">
              <a:latin typeface="Book Antiqua" panose="02040602050305030304" pitchFamily="18" charset="0"/>
            </a:endParaRPr>
          </a:p>
        </p:txBody>
      </p:sp>
      <p:sp>
        <p:nvSpPr>
          <p:cNvPr id="14" name="TextBox 13">
            <a:extLst>
              <a:ext uri="{FF2B5EF4-FFF2-40B4-BE49-F238E27FC236}">
                <a16:creationId xmlns:a16="http://schemas.microsoft.com/office/drawing/2014/main" id="{24EE3164-36BE-1169-158F-AC5F91216B94}"/>
              </a:ext>
            </a:extLst>
          </p:cNvPr>
          <p:cNvSpPr txBox="1"/>
          <p:nvPr/>
        </p:nvSpPr>
        <p:spPr>
          <a:xfrm>
            <a:off x="331302" y="675740"/>
            <a:ext cx="11714923"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rPr>
              <a:t>Political level interest is very low across locations. Overall, only 33% have an interest in politics. Interest is higher in Enugu (62%) than in other locations.</a:t>
            </a:r>
          </a:p>
        </p:txBody>
      </p:sp>
      <p:sp>
        <p:nvSpPr>
          <p:cNvPr id="5" name="TextBox 4">
            <a:extLst>
              <a:ext uri="{FF2B5EF4-FFF2-40B4-BE49-F238E27FC236}">
                <a16:creationId xmlns:a16="http://schemas.microsoft.com/office/drawing/2014/main" id="{55F5642B-83A0-CD7B-E2BA-8E492D002397}"/>
              </a:ext>
            </a:extLst>
          </p:cNvPr>
          <p:cNvSpPr txBox="1"/>
          <p:nvPr/>
        </p:nvSpPr>
        <p:spPr>
          <a:xfrm>
            <a:off x="312991" y="119838"/>
            <a:ext cx="5605670"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Political Interest Level</a:t>
            </a:r>
            <a:endParaRPr kumimoji="0" lang="en-US" sz="2000"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endParaRPr>
          </a:p>
        </p:txBody>
      </p:sp>
      <p:graphicFrame>
        <p:nvGraphicFramePr>
          <p:cNvPr id="4" name="Table 3">
            <a:extLst>
              <a:ext uri="{FF2B5EF4-FFF2-40B4-BE49-F238E27FC236}">
                <a16:creationId xmlns:a16="http://schemas.microsoft.com/office/drawing/2014/main" id="{5481D1C6-42A9-46B3-B1E6-85934D6CE3A0}"/>
              </a:ext>
            </a:extLst>
          </p:cNvPr>
          <p:cNvGraphicFramePr>
            <a:graphicFrameLocks noGrp="1"/>
          </p:cNvGraphicFramePr>
          <p:nvPr>
            <p:extLst/>
          </p:nvPr>
        </p:nvGraphicFramePr>
        <p:xfrm>
          <a:off x="1817370" y="5212025"/>
          <a:ext cx="9477948" cy="369331"/>
        </p:xfrm>
        <a:graphic>
          <a:graphicData uri="http://schemas.openxmlformats.org/drawingml/2006/table">
            <a:tbl>
              <a:tblPr>
                <a:tableStyleId>{BC89EF96-8CEA-46FF-86C4-4CE0E7609802}</a:tableStyleId>
              </a:tblPr>
              <a:tblGrid>
                <a:gridCol w="789829">
                  <a:extLst>
                    <a:ext uri="{9D8B030D-6E8A-4147-A177-3AD203B41FA5}">
                      <a16:colId xmlns:a16="http://schemas.microsoft.com/office/drawing/2014/main" val="3971998484"/>
                    </a:ext>
                  </a:extLst>
                </a:gridCol>
                <a:gridCol w="789829">
                  <a:extLst>
                    <a:ext uri="{9D8B030D-6E8A-4147-A177-3AD203B41FA5}">
                      <a16:colId xmlns:a16="http://schemas.microsoft.com/office/drawing/2014/main" val="273507684"/>
                    </a:ext>
                  </a:extLst>
                </a:gridCol>
                <a:gridCol w="789829">
                  <a:extLst>
                    <a:ext uri="{9D8B030D-6E8A-4147-A177-3AD203B41FA5}">
                      <a16:colId xmlns:a16="http://schemas.microsoft.com/office/drawing/2014/main" val="356373095"/>
                    </a:ext>
                  </a:extLst>
                </a:gridCol>
                <a:gridCol w="789829">
                  <a:extLst>
                    <a:ext uri="{9D8B030D-6E8A-4147-A177-3AD203B41FA5}">
                      <a16:colId xmlns:a16="http://schemas.microsoft.com/office/drawing/2014/main" val="3178902099"/>
                    </a:ext>
                  </a:extLst>
                </a:gridCol>
                <a:gridCol w="789829">
                  <a:extLst>
                    <a:ext uri="{9D8B030D-6E8A-4147-A177-3AD203B41FA5}">
                      <a16:colId xmlns:a16="http://schemas.microsoft.com/office/drawing/2014/main" val="3723051846"/>
                    </a:ext>
                  </a:extLst>
                </a:gridCol>
                <a:gridCol w="789829">
                  <a:extLst>
                    <a:ext uri="{9D8B030D-6E8A-4147-A177-3AD203B41FA5}">
                      <a16:colId xmlns:a16="http://schemas.microsoft.com/office/drawing/2014/main" val="392955746"/>
                    </a:ext>
                  </a:extLst>
                </a:gridCol>
                <a:gridCol w="789829">
                  <a:extLst>
                    <a:ext uri="{9D8B030D-6E8A-4147-A177-3AD203B41FA5}">
                      <a16:colId xmlns:a16="http://schemas.microsoft.com/office/drawing/2014/main" val="2049398142"/>
                    </a:ext>
                  </a:extLst>
                </a:gridCol>
                <a:gridCol w="789829">
                  <a:extLst>
                    <a:ext uri="{9D8B030D-6E8A-4147-A177-3AD203B41FA5}">
                      <a16:colId xmlns:a16="http://schemas.microsoft.com/office/drawing/2014/main" val="820745645"/>
                    </a:ext>
                  </a:extLst>
                </a:gridCol>
                <a:gridCol w="789829">
                  <a:extLst>
                    <a:ext uri="{9D8B030D-6E8A-4147-A177-3AD203B41FA5}">
                      <a16:colId xmlns:a16="http://schemas.microsoft.com/office/drawing/2014/main" val="2489163101"/>
                    </a:ext>
                  </a:extLst>
                </a:gridCol>
                <a:gridCol w="789829">
                  <a:extLst>
                    <a:ext uri="{9D8B030D-6E8A-4147-A177-3AD203B41FA5}">
                      <a16:colId xmlns:a16="http://schemas.microsoft.com/office/drawing/2014/main" val="3206989997"/>
                    </a:ext>
                  </a:extLst>
                </a:gridCol>
                <a:gridCol w="789829">
                  <a:extLst>
                    <a:ext uri="{9D8B030D-6E8A-4147-A177-3AD203B41FA5}">
                      <a16:colId xmlns:a16="http://schemas.microsoft.com/office/drawing/2014/main" val="534552785"/>
                    </a:ext>
                  </a:extLst>
                </a:gridCol>
                <a:gridCol w="789829">
                  <a:extLst>
                    <a:ext uri="{9D8B030D-6E8A-4147-A177-3AD203B41FA5}">
                      <a16:colId xmlns:a16="http://schemas.microsoft.com/office/drawing/2014/main" val="2607264578"/>
                    </a:ext>
                  </a:extLst>
                </a:gridCol>
              </a:tblGrid>
              <a:tr h="369331">
                <a:tc>
                  <a:txBody>
                    <a:bodyPr/>
                    <a:lstStyle/>
                    <a:p>
                      <a:pPr algn="ctr" fontAlgn="b"/>
                      <a:r>
                        <a:rPr lang="en-US" sz="1400" b="1" u="none" strike="noStrike" dirty="0">
                          <a:effectLst/>
                        </a:rPr>
                        <a:t>Mean</a:t>
                      </a:r>
                      <a:endParaRPr lang="en-GB" sz="1400" b="1" i="0" u="none" strike="noStrike" dirty="0">
                        <a:solidFill>
                          <a:srgbClr val="000000"/>
                        </a:solidFill>
                        <a:effectLst/>
                        <a:latin typeface="+mn-lt"/>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100" b="1" i="0" u="none" strike="noStrike" dirty="0">
                          <a:solidFill>
                            <a:srgbClr val="0070C0"/>
                          </a:solidFill>
                          <a:effectLst/>
                          <a:latin typeface="Calibri" panose="020F0502020204030204" pitchFamily="34" charset="0"/>
                        </a:rPr>
                        <a:t>2.56</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100" b="1" i="0" u="none" strike="noStrike">
                          <a:solidFill>
                            <a:srgbClr val="0070C0"/>
                          </a:solidFill>
                          <a:effectLst/>
                          <a:latin typeface="Calibri" panose="020F0502020204030204" pitchFamily="34" charset="0"/>
                        </a:rPr>
                        <a:t>2.93</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100" b="1" i="0" u="none" strike="noStrike">
                          <a:solidFill>
                            <a:srgbClr val="0070C0"/>
                          </a:solidFill>
                          <a:effectLst/>
                          <a:latin typeface="Calibri" panose="020F0502020204030204" pitchFamily="34" charset="0"/>
                        </a:rPr>
                        <a:t>2.23</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100" b="1" i="0" u="none" strike="noStrike">
                          <a:solidFill>
                            <a:srgbClr val="0070C0"/>
                          </a:solidFill>
                          <a:effectLst/>
                          <a:latin typeface="Calibri" panose="020F0502020204030204" pitchFamily="34" charset="0"/>
                        </a:rPr>
                        <a:t>2.17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100" b="1" i="0" u="none" strike="noStrike">
                          <a:solidFill>
                            <a:srgbClr val="0070C0"/>
                          </a:solidFill>
                          <a:effectLst/>
                          <a:latin typeface="Calibri" panose="020F0502020204030204" pitchFamily="34" charset="0"/>
                        </a:rPr>
                        <a:t>2.26</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100" b="1" i="0" u="none" strike="noStrike">
                          <a:solidFill>
                            <a:srgbClr val="0070C0"/>
                          </a:solidFill>
                          <a:effectLst/>
                          <a:latin typeface="Calibri" panose="020F0502020204030204" pitchFamily="34" charset="0"/>
                        </a:rPr>
                        <a:t>2.82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100" b="1" i="0" u="none" strike="noStrike">
                          <a:solidFill>
                            <a:srgbClr val="0070C0"/>
                          </a:solidFill>
                          <a:effectLst/>
                          <a:latin typeface="Calibri" panose="020F0502020204030204" pitchFamily="34" charset="0"/>
                        </a:rPr>
                        <a:t>3.22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100" b="1" i="0" u="none" strike="noStrike">
                          <a:solidFill>
                            <a:srgbClr val="0070C0"/>
                          </a:solidFill>
                          <a:effectLst/>
                          <a:latin typeface="Calibri" panose="020F0502020204030204" pitchFamily="34" charset="0"/>
                        </a:rPr>
                        <a:t>1.8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100" b="1" i="0" u="none" strike="noStrike">
                          <a:solidFill>
                            <a:srgbClr val="0070C0"/>
                          </a:solidFill>
                          <a:effectLst/>
                          <a:latin typeface="Calibri" panose="020F0502020204030204" pitchFamily="34" charset="0"/>
                        </a:rPr>
                        <a:t>2.72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100" b="1" i="0" u="none" strike="noStrike">
                          <a:solidFill>
                            <a:srgbClr val="0070C0"/>
                          </a:solidFill>
                          <a:effectLst/>
                          <a:latin typeface="Calibri" panose="020F0502020204030204" pitchFamily="34" charset="0"/>
                        </a:rPr>
                        <a:t>2.61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100" b="1" i="0" u="none" strike="noStrike" dirty="0">
                          <a:solidFill>
                            <a:srgbClr val="0070C0"/>
                          </a:solidFill>
                          <a:effectLst/>
                          <a:latin typeface="Calibri" panose="020F0502020204030204" pitchFamily="34" charset="0"/>
                        </a:rPr>
                        <a:t>2.47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30887128"/>
                  </a:ext>
                </a:extLst>
              </a:tr>
            </a:tbl>
          </a:graphicData>
        </a:graphic>
      </p:graphicFrame>
      <p:graphicFrame>
        <p:nvGraphicFramePr>
          <p:cNvPr id="6" name="Chart 5">
            <a:extLst>
              <a:ext uri="{FF2B5EF4-FFF2-40B4-BE49-F238E27FC236}">
                <a16:creationId xmlns:a16="http://schemas.microsoft.com/office/drawing/2014/main" id="{A4B0A94F-6FB5-4821-80DD-F4A0ACECE84F}"/>
              </a:ext>
            </a:extLst>
          </p:cNvPr>
          <p:cNvGraphicFramePr/>
          <p:nvPr>
            <p:extLst/>
          </p:nvPr>
        </p:nvGraphicFramePr>
        <p:xfrm>
          <a:off x="770050" y="1514700"/>
          <a:ext cx="10645252" cy="360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Table 6">
            <a:extLst>
              <a:ext uri="{FF2B5EF4-FFF2-40B4-BE49-F238E27FC236}">
                <a16:creationId xmlns:a16="http://schemas.microsoft.com/office/drawing/2014/main" id="{0FA8F810-0BA3-46A4-B084-5DBB836397F9}"/>
              </a:ext>
            </a:extLst>
          </p:cNvPr>
          <p:cNvGraphicFramePr>
            <a:graphicFrameLocks noGrp="1"/>
          </p:cNvGraphicFramePr>
          <p:nvPr>
            <p:extLst/>
          </p:nvPr>
        </p:nvGraphicFramePr>
        <p:xfrm>
          <a:off x="1795347" y="5694561"/>
          <a:ext cx="9477948" cy="222885"/>
        </p:xfrm>
        <a:graphic>
          <a:graphicData uri="http://schemas.openxmlformats.org/drawingml/2006/table">
            <a:tbl>
              <a:tblPr>
                <a:tableStyleId>{2D5ABB26-0587-4C30-8999-92F81FD0307C}</a:tableStyleId>
              </a:tblPr>
              <a:tblGrid>
                <a:gridCol w="789829">
                  <a:extLst>
                    <a:ext uri="{9D8B030D-6E8A-4147-A177-3AD203B41FA5}">
                      <a16:colId xmlns:a16="http://schemas.microsoft.com/office/drawing/2014/main" val="71965769"/>
                    </a:ext>
                  </a:extLst>
                </a:gridCol>
                <a:gridCol w="789829">
                  <a:extLst>
                    <a:ext uri="{9D8B030D-6E8A-4147-A177-3AD203B41FA5}">
                      <a16:colId xmlns:a16="http://schemas.microsoft.com/office/drawing/2014/main" val="4155578195"/>
                    </a:ext>
                  </a:extLst>
                </a:gridCol>
                <a:gridCol w="789829">
                  <a:extLst>
                    <a:ext uri="{9D8B030D-6E8A-4147-A177-3AD203B41FA5}">
                      <a16:colId xmlns:a16="http://schemas.microsoft.com/office/drawing/2014/main" val="1889141429"/>
                    </a:ext>
                  </a:extLst>
                </a:gridCol>
                <a:gridCol w="789829">
                  <a:extLst>
                    <a:ext uri="{9D8B030D-6E8A-4147-A177-3AD203B41FA5}">
                      <a16:colId xmlns:a16="http://schemas.microsoft.com/office/drawing/2014/main" val="3753417597"/>
                    </a:ext>
                  </a:extLst>
                </a:gridCol>
                <a:gridCol w="789829">
                  <a:extLst>
                    <a:ext uri="{9D8B030D-6E8A-4147-A177-3AD203B41FA5}">
                      <a16:colId xmlns:a16="http://schemas.microsoft.com/office/drawing/2014/main" val="1740810762"/>
                    </a:ext>
                  </a:extLst>
                </a:gridCol>
                <a:gridCol w="789829">
                  <a:extLst>
                    <a:ext uri="{9D8B030D-6E8A-4147-A177-3AD203B41FA5}">
                      <a16:colId xmlns:a16="http://schemas.microsoft.com/office/drawing/2014/main" val="790009114"/>
                    </a:ext>
                  </a:extLst>
                </a:gridCol>
                <a:gridCol w="789829">
                  <a:extLst>
                    <a:ext uri="{9D8B030D-6E8A-4147-A177-3AD203B41FA5}">
                      <a16:colId xmlns:a16="http://schemas.microsoft.com/office/drawing/2014/main" val="3015911202"/>
                    </a:ext>
                  </a:extLst>
                </a:gridCol>
                <a:gridCol w="789829">
                  <a:extLst>
                    <a:ext uri="{9D8B030D-6E8A-4147-A177-3AD203B41FA5}">
                      <a16:colId xmlns:a16="http://schemas.microsoft.com/office/drawing/2014/main" val="3232248389"/>
                    </a:ext>
                  </a:extLst>
                </a:gridCol>
                <a:gridCol w="789829">
                  <a:extLst>
                    <a:ext uri="{9D8B030D-6E8A-4147-A177-3AD203B41FA5}">
                      <a16:colId xmlns:a16="http://schemas.microsoft.com/office/drawing/2014/main" val="3458814408"/>
                    </a:ext>
                  </a:extLst>
                </a:gridCol>
                <a:gridCol w="789829">
                  <a:extLst>
                    <a:ext uri="{9D8B030D-6E8A-4147-A177-3AD203B41FA5}">
                      <a16:colId xmlns:a16="http://schemas.microsoft.com/office/drawing/2014/main" val="1536593214"/>
                    </a:ext>
                  </a:extLst>
                </a:gridCol>
                <a:gridCol w="789829">
                  <a:extLst>
                    <a:ext uri="{9D8B030D-6E8A-4147-A177-3AD203B41FA5}">
                      <a16:colId xmlns:a16="http://schemas.microsoft.com/office/drawing/2014/main" val="1349874692"/>
                    </a:ext>
                  </a:extLst>
                </a:gridCol>
                <a:gridCol w="789829">
                  <a:extLst>
                    <a:ext uri="{9D8B030D-6E8A-4147-A177-3AD203B41FA5}">
                      <a16:colId xmlns:a16="http://schemas.microsoft.com/office/drawing/2014/main" val="337574888"/>
                    </a:ext>
                  </a:extLst>
                </a:gridCol>
              </a:tblGrid>
              <a:tr h="190500">
                <a:tc>
                  <a:txBody>
                    <a:bodyPr/>
                    <a:lstStyle/>
                    <a:p>
                      <a:pPr algn="ctr" fontAlgn="b"/>
                      <a:r>
                        <a:rPr lang="en-US" sz="1400" b="1" i="0" u="none" strike="noStrike" dirty="0">
                          <a:solidFill>
                            <a:schemeClr val="bg1">
                              <a:lumMod val="65000"/>
                            </a:schemeClr>
                          </a:solidFill>
                          <a:effectLst/>
                          <a:latin typeface="Calibri" panose="020F0502020204030204" pitchFamily="34" charset="0"/>
                        </a:rPr>
                        <a:t>Base</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1456</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681</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775</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170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290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284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210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158</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344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937</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519</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61141031"/>
                  </a:ext>
                </a:extLst>
              </a:tr>
            </a:tbl>
          </a:graphicData>
        </a:graphic>
      </p:graphicFrame>
    </p:spTree>
    <p:extLst>
      <p:ext uri="{BB962C8B-B14F-4D97-AF65-F5344CB8AC3E}">
        <p14:creationId xmlns:p14="http://schemas.microsoft.com/office/powerpoint/2010/main" val="3594601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24EE3164-36BE-1169-158F-AC5F91216B94}"/>
              </a:ext>
            </a:extLst>
          </p:cNvPr>
          <p:cNvSpPr txBox="1"/>
          <p:nvPr/>
        </p:nvSpPr>
        <p:spPr>
          <a:xfrm>
            <a:off x="331302" y="675740"/>
            <a:ext cx="11714923"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rPr>
              <a:t>Trust in Nigeria’s current leadership is low, with an overall mean score of 3.15 out of 10. </a:t>
            </a:r>
            <a:r>
              <a:rPr lang="en-US" sz="1400" b="1" dirty="0">
                <a:solidFill>
                  <a:srgbClr val="0070C0"/>
                </a:solidFill>
                <a:latin typeface="Book Antiqua" panose="02040602050305030304" pitchFamily="18" charset="0"/>
                <a:ea typeface="Arial Unicode MS"/>
              </a:rPr>
              <a:t>The rating is worse in Edo State, with a mean score rating of 1.84.</a:t>
            </a:r>
            <a:endPar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endParaRPr>
          </a:p>
        </p:txBody>
      </p:sp>
      <p:sp>
        <p:nvSpPr>
          <p:cNvPr id="5" name="TextBox 4">
            <a:extLst>
              <a:ext uri="{FF2B5EF4-FFF2-40B4-BE49-F238E27FC236}">
                <a16:creationId xmlns:a16="http://schemas.microsoft.com/office/drawing/2014/main" id="{55F5642B-83A0-CD7B-E2BA-8E492D002397}"/>
              </a:ext>
            </a:extLst>
          </p:cNvPr>
          <p:cNvSpPr txBox="1"/>
          <p:nvPr/>
        </p:nvSpPr>
        <p:spPr>
          <a:xfrm>
            <a:off x="312991" y="119838"/>
            <a:ext cx="5605670"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Trust in Nigeria’s current leadership</a:t>
            </a:r>
            <a:endParaRPr kumimoji="0" lang="en-US" sz="2000"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endParaRPr>
          </a:p>
        </p:txBody>
      </p:sp>
      <p:graphicFrame>
        <p:nvGraphicFramePr>
          <p:cNvPr id="6" name="Chart 5">
            <a:extLst>
              <a:ext uri="{FF2B5EF4-FFF2-40B4-BE49-F238E27FC236}">
                <a16:creationId xmlns:a16="http://schemas.microsoft.com/office/drawing/2014/main" id="{A4B0A94F-6FB5-4821-80DD-F4A0ACECE84F}"/>
              </a:ext>
            </a:extLst>
          </p:cNvPr>
          <p:cNvGraphicFramePr/>
          <p:nvPr>
            <p:extLst>
              <p:ext uri="{D42A27DB-BD31-4B8C-83A1-F6EECF244321}">
                <p14:modId xmlns:p14="http://schemas.microsoft.com/office/powerpoint/2010/main" val="1534477587"/>
              </p:ext>
            </p:extLst>
          </p:nvPr>
        </p:nvGraphicFramePr>
        <p:xfrm>
          <a:off x="925551" y="1629000"/>
          <a:ext cx="10767339" cy="3600000"/>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E520DA7B-E5B8-4985-87CF-D92BEAF6218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Q10. On a scale of 1–10, where 1 means least trust and 10 means most trust, how much do you trust Nigeria’s current leadership?</a:t>
            </a:r>
            <a:endParaRPr lang="en-US" sz="1000" dirty="0">
              <a:latin typeface="Book Antiqua" panose="02040602050305030304" pitchFamily="18" charset="0"/>
            </a:endParaRPr>
          </a:p>
        </p:txBody>
      </p:sp>
      <p:graphicFrame>
        <p:nvGraphicFramePr>
          <p:cNvPr id="9" name="Table 8">
            <a:extLst>
              <a:ext uri="{FF2B5EF4-FFF2-40B4-BE49-F238E27FC236}">
                <a16:creationId xmlns:a16="http://schemas.microsoft.com/office/drawing/2014/main" id="{7ED9948E-EA80-4B5B-AA10-5B91C95C571F}"/>
              </a:ext>
            </a:extLst>
          </p:cNvPr>
          <p:cNvGraphicFramePr>
            <a:graphicFrameLocks noGrp="1"/>
          </p:cNvGraphicFramePr>
          <p:nvPr>
            <p:extLst>
              <p:ext uri="{D42A27DB-BD31-4B8C-83A1-F6EECF244321}">
                <p14:modId xmlns:p14="http://schemas.microsoft.com/office/powerpoint/2010/main" val="1871355061"/>
              </p:ext>
            </p:extLst>
          </p:nvPr>
        </p:nvGraphicFramePr>
        <p:xfrm>
          <a:off x="2137410" y="5234885"/>
          <a:ext cx="9477948" cy="369331"/>
        </p:xfrm>
        <a:graphic>
          <a:graphicData uri="http://schemas.openxmlformats.org/drawingml/2006/table">
            <a:tbl>
              <a:tblPr>
                <a:tableStyleId>{BC89EF96-8CEA-46FF-86C4-4CE0E7609802}</a:tableStyleId>
              </a:tblPr>
              <a:tblGrid>
                <a:gridCol w="789829">
                  <a:extLst>
                    <a:ext uri="{9D8B030D-6E8A-4147-A177-3AD203B41FA5}">
                      <a16:colId xmlns:a16="http://schemas.microsoft.com/office/drawing/2014/main" val="3971998484"/>
                    </a:ext>
                  </a:extLst>
                </a:gridCol>
                <a:gridCol w="789829">
                  <a:extLst>
                    <a:ext uri="{9D8B030D-6E8A-4147-A177-3AD203B41FA5}">
                      <a16:colId xmlns:a16="http://schemas.microsoft.com/office/drawing/2014/main" val="273507684"/>
                    </a:ext>
                  </a:extLst>
                </a:gridCol>
                <a:gridCol w="789829">
                  <a:extLst>
                    <a:ext uri="{9D8B030D-6E8A-4147-A177-3AD203B41FA5}">
                      <a16:colId xmlns:a16="http://schemas.microsoft.com/office/drawing/2014/main" val="109158043"/>
                    </a:ext>
                  </a:extLst>
                </a:gridCol>
                <a:gridCol w="789829">
                  <a:extLst>
                    <a:ext uri="{9D8B030D-6E8A-4147-A177-3AD203B41FA5}">
                      <a16:colId xmlns:a16="http://schemas.microsoft.com/office/drawing/2014/main" val="1110834873"/>
                    </a:ext>
                  </a:extLst>
                </a:gridCol>
                <a:gridCol w="789829">
                  <a:extLst>
                    <a:ext uri="{9D8B030D-6E8A-4147-A177-3AD203B41FA5}">
                      <a16:colId xmlns:a16="http://schemas.microsoft.com/office/drawing/2014/main" val="493206851"/>
                    </a:ext>
                  </a:extLst>
                </a:gridCol>
                <a:gridCol w="789829">
                  <a:extLst>
                    <a:ext uri="{9D8B030D-6E8A-4147-A177-3AD203B41FA5}">
                      <a16:colId xmlns:a16="http://schemas.microsoft.com/office/drawing/2014/main" val="19782140"/>
                    </a:ext>
                  </a:extLst>
                </a:gridCol>
                <a:gridCol w="789829">
                  <a:extLst>
                    <a:ext uri="{9D8B030D-6E8A-4147-A177-3AD203B41FA5}">
                      <a16:colId xmlns:a16="http://schemas.microsoft.com/office/drawing/2014/main" val="2049398142"/>
                    </a:ext>
                  </a:extLst>
                </a:gridCol>
                <a:gridCol w="789829">
                  <a:extLst>
                    <a:ext uri="{9D8B030D-6E8A-4147-A177-3AD203B41FA5}">
                      <a16:colId xmlns:a16="http://schemas.microsoft.com/office/drawing/2014/main" val="820745645"/>
                    </a:ext>
                  </a:extLst>
                </a:gridCol>
                <a:gridCol w="789829">
                  <a:extLst>
                    <a:ext uri="{9D8B030D-6E8A-4147-A177-3AD203B41FA5}">
                      <a16:colId xmlns:a16="http://schemas.microsoft.com/office/drawing/2014/main" val="2489163101"/>
                    </a:ext>
                  </a:extLst>
                </a:gridCol>
                <a:gridCol w="789829">
                  <a:extLst>
                    <a:ext uri="{9D8B030D-6E8A-4147-A177-3AD203B41FA5}">
                      <a16:colId xmlns:a16="http://schemas.microsoft.com/office/drawing/2014/main" val="3206989997"/>
                    </a:ext>
                  </a:extLst>
                </a:gridCol>
                <a:gridCol w="789829">
                  <a:extLst>
                    <a:ext uri="{9D8B030D-6E8A-4147-A177-3AD203B41FA5}">
                      <a16:colId xmlns:a16="http://schemas.microsoft.com/office/drawing/2014/main" val="534552785"/>
                    </a:ext>
                  </a:extLst>
                </a:gridCol>
                <a:gridCol w="789829">
                  <a:extLst>
                    <a:ext uri="{9D8B030D-6E8A-4147-A177-3AD203B41FA5}">
                      <a16:colId xmlns:a16="http://schemas.microsoft.com/office/drawing/2014/main" val="2607264578"/>
                    </a:ext>
                  </a:extLst>
                </a:gridCol>
              </a:tblGrid>
              <a:tr h="369331">
                <a:tc>
                  <a:txBody>
                    <a:bodyPr/>
                    <a:lstStyle/>
                    <a:p>
                      <a:pPr algn="ctr" fontAlgn="b"/>
                      <a:r>
                        <a:rPr lang="en-US" sz="1400" b="1" u="none" strike="noStrike" dirty="0">
                          <a:effectLst/>
                        </a:rPr>
                        <a:t>Mean</a:t>
                      </a:r>
                      <a:endParaRPr lang="en-GB" sz="1400" b="1" i="0" u="none" strike="noStrike" dirty="0">
                        <a:solidFill>
                          <a:srgbClr val="000000"/>
                        </a:solidFill>
                        <a:effectLst/>
                        <a:latin typeface="+mn-lt"/>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1" i="0" u="none" strike="noStrike" dirty="0">
                          <a:solidFill>
                            <a:srgbClr val="0070C0"/>
                          </a:solidFill>
                          <a:effectLst/>
                          <a:latin typeface="Calibri" panose="020F0502020204030204" pitchFamily="34" charset="0"/>
                        </a:rPr>
                        <a:t>3.15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1" i="0" u="none" strike="noStrike" dirty="0">
                          <a:solidFill>
                            <a:srgbClr val="0070C0"/>
                          </a:solidFill>
                          <a:effectLst/>
                          <a:latin typeface="Calibri" panose="020F0502020204030204" pitchFamily="34" charset="0"/>
                        </a:rPr>
                        <a:t>3.32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1" i="0" u="none" strike="noStrike" dirty="0">
                          <a:solidFill>
                            <a:srgbClr val="0070C0"/>
                          </a:solidFill>
                          <a:effectLst/>
                          <a:latin typeface="Calibri" panose="020F0502020204030204" pitchFamily="34" charset="0"/>
                        </a:rPr>
                        <a:t>2.99</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1" i="0" u="none" strike="noStrike" dirty="0">
                          <a:solidFill>
                            <a:srgbClr val="0070C0"/>
                          </a:solidFill>
                          <a:effectLst/>
                          <a:latin typeface="Calibri" panose="020F0502020204030204" pitchFamily="34" charset="0"/>
                        </a:rPr>
                        <a:t>2.24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1" i="0" u="none" strike="noStrike" dirty="0">
                          <a:solidFill>
                            <a:srgbClr val="0070C0"/>
                          </a:solidFill>
                          <a:effectLst/>
                          <a:latin typeface="Calibri" panose="020F0502020204030204" pitchFamily="34" charset="0"/>
                        </a:rPr>
                        <a:t>2.49</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1" i="0" u="none" strike="noStrike" dirty="0">
                          <a:solidFill>
                            <a:srgbClr val="0070C0"/>
                          </a:solidFill>
                          <a:effectLst/>
                          <a:latin typeface="Calibri" panose="020F0502020204030204" pitchFamily="34" charset="0"/>
                        </a:rPr>
                        <a:t>4.11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1" i="0" u="none" strike="noStrike" dirty="0">
                          <a:solidFill>
                            <a:srgbClr val="0070C0"/>
                          </a:solidFill>
                          <a:effectLst/>
                          <a:latin typeface="Calibri" panose="020F0502020204030204" pitchFamily="34" charset="0"/>
                        </a:rPr>
                        <a:t>3.12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1" i="0" u="none" strike="noStrike" dirty="0">
                          <a:solidFill>
                            <a:srgbClr val="0070C0"/>
                          </a:solidFill>
                          <a:effectLst/>
                          <a:latin typeface="Calibri" panose="020F0502020204030204" pitchFamily="34" charset="0"/>
                        </a:rPr>
                        <a:t>1.84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1" i="0" u="none" strike="noStrike" dirty="0">
                          <a:solidFill>
                            <a:srgbClr val="0070C0"/>
                          </a:solidFill>
                          <a:effectLst/>
                          <a:latin typeface="Calibri" panose="020F0502020204030204" pitchFamily="34" charset="0"/>
                        </a:rPr>
                        <a:t>3.98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1" i="0" u="none" strike="noStrike" dirty="0">
                          <a:solidFill>
                            <a:srgbClr val="0070C0"/>
                          </a:solidFill>
                          <a:effectLst/>
                          <a:latin typeface="Calibri" panose="020F0502020204030204" pitchFamily="34" charset="0"/>
                        </a:rPr>
                        <a:t>3.27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1" i="0" u="none" strike="noStrike" dirty="0">
                          <a:solidFill>
                            <a:srgbClr val="0070C0"/>
                          </a:solidFill>
                          <a:effectLst/>
                          <a:latin typeface="Calibri" panose="020F0502020204030204" pitchFamily="34" charset="0"/>
                        </a:rPr>
                        <a:t>2.93</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30887128"/>
                  </a:ext>
                </a:extLst>
              </a:tr>
            </a:tbl>
          </a:graphicData>
        </a:graphic>
      </p:graphicFrame>
      <p:graphicFrame>
        <p:nvGraphicFramePr>
          <p:cNvPr id="7" name="Table 6">
            <a:extLst>
              <a:ext uri="{FF2B5EF4-FFF2-40B4-BE49-F238E27FC236}">
                <a16:creationId xmlns:a16="http://schemas.microsoft.com/office/drawing/2014/main" id="{4BEB5D14-5803-41A7-AB37-CC532E00D994}"/>
              </a:ext>
            </a:extLst>
          </p:cNvPr>
          <p:cNvGraphicFramePr>
            <a:graphicFrameLocks noGrp="1"/>
          </p:cNvGraphicFramePr>
          <p:nvPr>
            <p:extLst>
              <p:ext uri="{D42A27DB-BD31-4B8C-83A1-F6EECF244321}">
                <p14:modId xmlns:p14="http://schemas.microsoft.com/office/powerpoint/2010/main" val="3332990688"/>
              </p:ext>
            </p:extLst>
          </p:nvPr>
        </p:nvGraphicFramePr>
        <p:xfrm>
          <a:off x="2118726" y="5694561"/>
          <a:ext cx="9477948" cy="222885"/>
        </p:xfrm>
        <a:graphic>
          <a:graphicData uri="http://schemas.openxmlformats.org/drawingml/2006/table">
            <a:tbl>
              <a:tblPr>
                <a:tableStyleId>{2D5ABB26-0587-4C30-8999-92F81FD0307C}</a:tableStyleId>
              </a:tblPr>
              <a:tblGrid>
                <a:gridCol w="789829">
                  <a:extLst>
                    <a:ext uri="{9D8B030D-6E8A-4147-A177-3AD203B41FA5}">
                      <a16:colId xmlns:a16="http://schemas.microsoft.com/office/drawing/2014/main" val="71965769"/>
                    </a:ext>
                  </a:extLst>
                </a:gridCol>
                <a:gridCol w="789829">
                  <a:extLst>
                    <a:ext uri="{9D8B030D-6E8A-4147-A177-3AD203B41FA5}">
                      <a16:colId xmlns:a16="http://schemas.microsoft.com/office/drawing/2014/main" val="4155578195"/>
                    </a:ext>
                  </a:extLst>
                </a:gridCol>
                <a:gridCol w="789829">
                  <a:extLst>
                    <a:ext uri="{9D8B030D-6E8A-4147-A177-3AD203B41FA5}">
                      <a16:colId xmlns:a16="http://schemas.microsoft.com/office/drawing/2014/main" val="1889141429"/>
                    </a:ext>
                  </a:extLst>
                </a:gridCol>
                <a:gridCol w="789829">
                  <a:extLst>
                    <a:ext uri="{9D8B030D-6E8A-4147-A177-3AD203B41FA5}">
                      <a16:colId xmlns:a16="http://schemas.microsoft.com/office/drawing/2014/main" val="3753417597"/>
                    </a:ext>
                  </a:extLst>
                </a:gridCol>
                <a:gridCol w="789829">
                  <a:extLst>
                    <a:ext uri="{9D8B030D-6E8A-4147-A177-3AD203B41FA5}">
                      <a16:colId xmlns:a16="http://schemas.microsoft.com/office/drawing/2014/main" val="1740810762"/>
                    </a:ext>
                  </a:extLst>
                </a:gridCol>
                <a:gridCol w="789829">
                  <a:extLst>
                    <a:ext uri="{9D8B030D-6E8A-4147-A177-3AD203B41FA5}">
                      <a16:colId xmlns:a16="http://schemas.microsoft.com/office/drawing/2014/main" val="790009114"/>
                    </a:ext>
                  </a:extLst>
                </a:gridCol>
                <a:gridCol w="789829">
                  <a:extLst>
                    <a:ext uri="{9D8B030D-6E8A-4147-A177-3AD203B41FA5}">
                      <a16:colId xmlns:a16="http://schemas.microsoft.com/office/drawing/2014/main" val="3015911202"/>
                    </a:ext>
                  </a:extLst>
                </a:gridCol>
                <a:gridCol w="789829">
                  <a:extLst>
                    <a:ext uri="{9D8B030D-6E8A-4147-A177-3AD203B41FA5}">
                      <a16:colId xmlns:a16="http://schemas.microsoft.com/office/drawing/2014/main" val="3232248389"/>
                    </a:ext>
                  </a:extLst>
                </a:gridCol>
                <a:gridCol w="789829">
                  <a:extLst>
                    <a:ext uri="{9D8B030D-6E8A-4147-A177-3AD203B41FA5}">
                      <a16:colId xmlns:a16="http://schemas.microsoft.com/office/drawing/2014/main" val="3458814408"/>
                    </a:ext>
                  </a:extLst>
                </a:gridCol>
                <a:gridCol w="789829">
                  <a:extLst>
                    <a:ext uri="{9D8B030D-6E8A-4147-A177-3AD203B41FA5}">
                      <a16:colId xmlns:a16="http://schemas.microsoft.com/office/drawing/2014/main" val="1536593214"/>
                    </a:ext>
                  </a:extLst>
                </a:gridCol>
                <a:gridCol w="789829">
                  <a:extLst>
                    <a:ext uri="{9D8B030D-6E8A-4147-A177-3AD203B41FA5}">
                      <a16:colId xmlns:a16="http://schemas.microsoft.com/office/drawing/2014/main" val="1349874692"/>
                    </a:ext>
                  </a:extLst>
                </a:gridCol>
                <a:gridCol w="789829">
                  <a:extLst>
                    <a:ext uri="{9D8B030D-6E8A-4147-A177-3AD203B41FA5}">
                      <a16:colId xmlns:a16="http://schemas.microsoft.com/office/drawing/2014/main" val="337574888"/>
                    </a:ext>
                  </a:extLst>
                </a:gridCol>
              </a:tblGrid>
              <a:tr h="190500">
                <a:tc>
                  <a:txBody>
                    <a:bodyPr/>
                    <a:lstStyle/>
                    <a:p>
                      <a:pPr algn="ctr" fontAlgn="b"/>
                      <a:r>
                        <a:rPr lang="en-US" sz="1400" b="1" i="0" u="none" strike="noStrike" dirty="0">
                          <a:solidFill>
                            <a:schemeClr val="bg1">
                              <a:lumMod val="65000"/>
                            </a:schemeClr>
                          </a:solidFill>
                          <a:effectLst/>
                          <a:latin typeface="Calibri" panose="020F0502020204030204" pitchFamily="34" charset="0"/>
                        </a:rPr>
                        <a:t>Base</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1456</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681</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775</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170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290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284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210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158</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344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937</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519</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61141031"/>
                  </a:ext>
                </a:extLst>
              </a:tr>
            </a:tbl>
          </a:graphicData>
        </a:graphic>
      </p:graphicFrame>
    </p:spTree>
    <p:extLst>
      <p:ext uri="{BB962C8B-B14F-4D97-AF65-F5344CB8AC3E}">
        <p14:creationId xmlns:p14="http://schemas.microsoft.com/office/powerpoint/2010/main" val="3668787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Q11. How would you rate the credibility of elected officials in Nigeria?</a:t>
            </a:r>
            <a:endParaRPr lang="en-US" sz="1000" dirty="0">
              <a:latin typeface="Book Antiqua" panose="02040602050305030304" pitchFamily="18" charset="0"/>
            </a:endParaRPr>
          </a:p>
        </p:txBody>
      </p:sp>
      <p:sp>
        <p:nvSpPr>
          <p:cNvPr id="14" name="TextBox 13">
            <a:extLst>
              <a:ext uri="{FF2B5EF4-FFF2-40B4-BE49-F238E27FC236}">
                <a16:creationId xmlns:a16="http://schemas.microsoft.com/office/drawing/2014/main" id="{24EE3164-36BE-1169-158F-AC5F91216B94}"/>
              </a:ext>
            </a:extLst>
          </p:cNvPr>
          <p:cNvSpPr txBox="1"/>
          <p:nvPr/>
        </p:nvSpPr>
        <p:spPr>
          <a:xfrm>
            <a:off x="331302" y="675740"/>
            <a:ext cx="11714923"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rPr>
              <a:t>The credibility of elected officials is low with only 4% expressing a high or very high credible on overall, yielding a mean of 2.01. Credibility rating is least in Edo, with an average rating of 1.61 out of 5.</a:t>
            </a:r>
          </a:p>
        </p:txBody>
      </p:sp>
      <p:sp>
        <p:nvSpPr>
          <p:cNvPr id="5" name="TextBox 4">
            <a:extLst>
              <a:ext uri="{FF2B5EF4-FFF2-40B4-BE49-F238E27FC236}">
                <a16:creationId xmlns:a16="http://schemas.microsoft.com/office/drawing/2014/main" id="{55F5642B-83A0-CD7B-E2BA-8E492D002397}"/>
              </a:ext>
            </a:extLst>
          </p:cNvPr>
          <p:cNvSpPr txBox="1"/>
          <p:nvPr/>
        </p:nvSpPr>
        <p:spPr>
          <a:xfrm>
            <a:off x="312990" y="119838"/>
            <a:ext cx="6489254"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The credibility of elected officials in Nigeria</a:t>
            </a:r>
            <a:endParaRPr kumimoji="0" lang="en-US" sz="2000"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endParaRPr>
          </a:p>
        </p:txBody>
      </p:sp>
      <p:graphicFrame>
        <p:nvGraphicFramePr>
          <p:cNvPr id="4" name="Table 3">
            <a:extLst>
              <a:ext uri="{FF2B5EF4-FFF2-40B4-BE49-F238E27FC236}">
                <a16:creationId xmlns:a16="http://schemas.microsoft.com/office/drawing/2014/main" id="{5481D1C6-42A9-46B3-B1E6-85934D6CE3A0}"/>
              </a:ext>
            </a:extLst>
          </p:cNvPr>
          <p:cNvGraphicFramePr>
            <a:graphicFrameLocks noGrp="1"/>
          </p:cNvGraphicFramePr>
          <p:nvPr>
            <p:extLst>
              <p:ext uri="{D42A27DB-BD31-4B8C-83A1-F6EECF244321}">
                <p14:modId xmlns:p14="http://schemas.microsoft.com/office/powerpoint/2010/main" val="148256051"/>
              </p:ext>
            </p:extLst>
          </p:nvPr>
        </p:nvGraphicFramePr>
        <p:xfrm>
          <a:off x="1817370" y="5212025"/>
          <a:ext cx="9477948" cy="369331"/>
        </p:xfrm>
        <a:graphic>
          <a:graphicData uri="http://schemas.openxmlformats.org/drawingml/2006/table">
            <a:tbl>
              <a:tblPr>
                <a:tableStyleId>{BC89EF96-8CEA-46FF-86C4-4CE0E7609802}</a:tableStyleId>
              </a:tblPr>
              <a:tblGrid>
                <a:gridCol w="789829">
                  <a:extLst>
                    <a:ext uri="{9D8B030D-6E8A-4147-A177-3AD203B41FA5}">
                      <a16:colId xmlns:a16="http://schemas.microsoft.com/office/drawing/2014/main" val="3971998484"/>
                    </a:ext>
                  </a:extLst>
                </a:gridCol>
                <a:gridCol w="789829">
                  <a:extLst>
                    <a:ext uri="{9D8B030D-6E8A-4147-A177-3AD203B41FA5}">
                      <a16:colId xmlns:a16="http://schemas.microsoft.com/office/drawing/2014/main" val="273507684"/>
                    </a:ext>
                  </a:extLst>
                </a:gridCol>
                <a:gridCol w="789829">
                  <a:extLst>
                    <a:ext uri="{9D8B030D-6E8A-4147-A177-3AD203B41FA5}">
                      <a16:colId xmlns:a16="http://schemas.microsoft.com/office/drawing/2014/main" val="1677311319"/>
                    </a:ext>
                  </a:extLst>
                </a:gridCol>
                <a:gridCol w="789829">
                  <a:extLst>
                    <a:ext uri="{9D8B030D-6E8A-4147-A177-3AD203B41FA5}">
                      <a16:colId xmlns:a16="http://schemas.microsoft.com/office/drawing/2014/main" val="3276663066"/>
                    </a:ext>
                  </a:extLst>
                </a:gridCol>
                <a:gridCol w="789829">
                  <a:extLst>
                    <a:ext uri="{9D8B030D-6E8A-4147-A177-3AD203B41FA5}">
                      <a16:colId xmlns:a16="http://schemas.microsoft.com/office/drawing/2014/main" val="3947227625"/>
                    </a:ext>
                  </a:extLst>
                </a:gridCol>
                <a:gridCol w="789829">
                  <a:extLst>
                    <a:ext uri="{9D8B030D-6E8A-4147-A177-3AD203B41FA5}">
                      <a16:colId xmlns:a16="http://schemas.microsoft.com/office/drawing/2014/main" val="3619241360"/>
                    </a:ext>
                  </a:extLst>
                </a:gridCol>
                <a:gridCol w="789829">
                  <a:extLst>
                    <a:ext uri="{9D8B030D-6E8A-4147-A177-3AD203B41FA5}">
                      <a16:colId xmlns:a16="http://schemas.microsoft.com/office/drawing/2014/main" val="2049398142"/>
                    </a:ext>
                  </a:extLst>
                </a:gridCol>
                <a:gridCol w="789829">
                  <a:extLst>
                    <a:ext uri="{9D8B030D-6E8A-4147-A177-3AD203B41FA5}">
                      <a16:colId xmlns:a16="http://schemas.microsoft.com/office/drawing/2014/main" val="820745645"/>
                    </a:ext>
                  </a:extLst>
                </a:gridCol>
                <a:gridCol w="789829">
                  <a:extLst>
                    <a:ext uri="{9D8B030D-6E8A-4147-A177-3AD203B41FA5}">
                      <a16:colId xmlns:a16="http://schemas.microsoft.com/office/drawing/2014/main" val="2489163101"/>
                    </a:ext>
                  </a:extLst>
                </a:gridCol>
                <a:gridCol w="789829">
                  <a:extLst>
                    <a:ext uri="{9D8B030D-6E8A-4147-A177-3AD203B41FA5}">
                      <a16:colId xmlns:a16="http://schemas.microsoft.com/office/drawing/2014/main" val="3206989997"/>
                    </a:ext>
                  </a:extLst>
                </a:gridCol>
                <a:gridCol w="789829">
                  <a:extLst>
                    <a:ext uri="{9D8B030D-6E8A-4147-A177-3AD203B41FA5}">
                      <a16:colId xmlns:a16="http://schemas.microsoft.com/office/drawing/2014/main" val="534552785"/>
                    </a:ext>
                  </a:extLst>
                </a:gridCol>
                <a:gridCol w="789829">
                  <a:extLst>
                    <a:ext uri="{9D8B030D-6E8A-4147-A177-3AD203B41FA5}">
                      <a16:colId xmlns:a16="http://schemas.microsoft.com/office/drawing/2014/main" val="2607264578"/>
                    </a:ext>
                  </a:extLst>
                </a:gridCol>
              </a:tblGrid>
              <a:tr h="369331">
                <a:tc>
                  <a:txBody>
                    <a:bodyPr/>
                    <a:lstStyle/>
                    <a:p>
                      <a:pPr algn="ctr" fontAlgn="b"/>
                      <a:r>
                        <a:rPr lang="en-US" sz="1400" b="1" u="none" strike="noStrike" dirty="0">
                          <a:effectLst/>
                        </a:rPr>
                        <a:t>Mean</a:t>
                      </a:r>
                      <a:endParaRPr lang="en-GB" sz="1400" b="1" i="0" u="none" strike="noStrike" dirty="0">
                        <a:solidFill>
                          <a:srgbClr val="000000"/>
                        </a:solidFill>
                        <a:effectLst/>
                        <a:latin typeface="+mn-lt"/>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dirty="0">
                          <a:solidFill>
                            <a:srgbClr val="0070C0"/>
                          </a:solidFill>
                          <a:effectLst/>
                          <a:latin typeface="Calibri" panose="020F0502020204030204" pitchFamily="34" charset="0"/>
                        </a:rPr>
                        <a:t>2.01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2.06</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1.97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1.7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1.73</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2.58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1.97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1.61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2.15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2.04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dirty="0">
                          <a:solidFill>
                            <a:srgbClr val="0070C0"/>
                          </a:solidFill>
                          <a:effectLst/>
                          <a:latin typeface="Calibri" panose="020F0502020204030204" pitchFamily="34" charset="0"/>
                        </a:rPr>
                        <a:t>1.95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30887128"/>
                  </a:ext>
                </a:extLst>
              </a:tr>
            </a:tbl>
          </a:graphicData>
        </a:graphic>
      </p:graphicFrame>
      <p:graphicFrame>
        <p:nvGraphicFramePr>
          <p:cNvPr id="6" name="Chart 5">
            <a:extLst>
              <a:ext uri="{FF2B5EF4-FFF2-40B4-BE49-F238E27FC236}">
                <a16:creationId xmlns:a16="http://schemas.microsoft.com/office/drawing/2014/main" id="{A4B0A94F-6FB5-4821-80DD-F4A0ACECE84F}"/>
              </a:ext>
            </a:extLst>
          </p:cNvPr>
          <p:cNvGraphicFramePr/>
          <p:nvPr>
            <p:extLst>
              <p:ext uri="{D42A27DB-BD31-4B8C-83A1-F6EECF244321}">
                <p14:modId xmlns:p14="http://schemas.microsoft.com/office/powerpoint/2010/main" val="444963358"/>
              </p:ext>
            </p:extLst>
          </p:nvPr>
        </p:nvGraphicFramePr>
        <p:xfrm>
          <a:off x="981307" y="1514700"/>
          <a:ext cx="10433994" cy="360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Table 6">
            <a:extLst>
              <a:ext uri="{FF2B5EF4-FFF2-40B4-BE49-F238E27FC236}">
                <a16:creationId xmlns:a16="http://schemas.microsoft.com/office/drawing/2014/main" id="{D23DE21D-868C-4B9C-AB7E-5DDD07FA3475}"/>
              </a:ext>
            </a:extLst>
          </p:cNvPr>
          <p:cNvGraphicFramePr>
            <a:graphicFrameLocks noGrp="1"/>
          </p:cNvGraphicFramePr>
          <p:nvPr>
            <p:extLst>
              <p:ext uri="{D42A27DB-BD31-4B8C-83A1-F6EECF244321}">
                <p14:modId xmlns:p14="http://schemas.microsoft.com/office/powerpoint/2010/main" val="2065982042"/>
              </p:ext>
            </p:extLst>
          </p:nvPr>
        </p:nvGraphicFramePr>
        <p:xfrm>
          <a:off x="1795347" y="5694561"/>
          <a:ext cx="9477948" cy="222885"/>
        </p:xfrm>
        <a:graphic>
          <a:graphicData uri="http://schemas.openxmlformats.org/drawingml/2006/table">
            <a:tbl>
              <a:tblPr>
                <a:tableStyleId>{2D5ABB26-0587-4C30-8999-92F81FD0307C}</a:tableStyleId>
              </a:tblPr>
              <a:tblGrid>
                <a:gridCol w="789829">
                  <a:extLst>
                    <a:ext uri="{9D8B030D-6E8A-4147-A177-3AD203B41FA5}">
                      <a16:colId xmlns:a16="http://schemas.microsoft.com/office/drawing/2014/main" val="71965769"/>
                    </a:ext>
                  </a:extLst>
                </a:gridCol>
                <a:gridCol w="789829">
                  <a:extLst>
                    <a:ext uri="{9D8B030D-6E8A-4147-A177-3AD203B41FA5}">
                      <a16:colId xmlns:a16="http://schemas.microsoft.com/office/drawing/2014/main" val="4155578195"/>
                    </a:ext>
                  </a:extLst>
                </a:gridCol>
                <a:gridCol w="789829">
                  <a:extLst>
                    <a:ext uri="{9D8B030D-6E8A-4147-A177-3AD203B41FA5}">
                      <a16:colId xmlns:a16="http://schemas.microsoft.com/office/drawing/2014/main" val="1889141429"/>
                    </a:ext>
                  </a:extLst>
                </a:gridCol>
                <a:gridCol w="789829">
                  <a:extLst>
                    <a:ext uri="{9D8B030D-6E8A-4147-A177-3AD203B41FA5}">
                      <a16:colId xmlns:a16="http://schemas.microsoft.com/office/drawing/2014/main" val="3753417597"/>
                    </a:ext>
                  </a:extLst>
                </a:gridCol>
                <a:gridCol w="789829">
                  <a:extLst>
                    <a:ext uri="{9D8B030D-6E8A-4147-A177-3AD203B41FA5}">
                      <a16:colId xmlns:a16="http://schemas.microsoft.com/office/drawing/2014/main" val="1740810762"/>
                    </a:ext>
                  </a:extLst>
                </a:gridCol>
                <a:gridCol w="789829">
                  <a:extLst>
                    <a:ext uri="{9D8B030D-6E8A-4147-A177-3AD203B41FA5}">
                      <a16:colId xmlns:a16="http://schemas.microsoft.com/office/drawing/2014/main" val="790009114"/>
                    </a:ext>
                  </a:extLst>
                </a:gridCol>
                <a:gridCol w="789829">
                  <a:extLst>
                    <a:ext uri="{9D8B030D-6E8A-4147-A177-3AD203B41FA5}">
                      <a16:colId xmlns:a16="http://schemas.microsoft.com/office/drawing/2014/main" val="3015911202"/>
                    </a:ext>
                  </a:extLst>
                </a:gridCol>
                <a:gridCol w="789829">
                  <a:extLst>
                    <a:ext uri="{9D8B030D-6E8A-4147-A177-3AD203B41FA5}">
                      <a16:colId xmlns:a16="http://schemas.microsoft.com/office/drawing/2014/main" val="3232248389"/>
                    </a:ext>
                  </a:extLst>
                </a:gridCol>
                <a:gridCol w="789829">
                  <a:extLst>
                    <a:ext uri="{9D8B030D-6E8A-4147-A177-3AD203B41FA5}">
                      <a16:colId xmlns:a16="http://schemas.microsoft.com/office/drawing/2014/main" val="3458814408"/>
                    </a:ext>
                  </a:extLst>
                </a:gridCol>
                <a:gridCol w="789829">
                  <a:extLst>
                    <a:ext uri="{9D8B030D-6E8A-4147-A177-3AD203B41FA5}">
                      <a16:colId xmlns:a16="http://schemas.microsoft.com/office/drawing/2014/main" val="1536593214"/>
                    </a:ext>
                  </a:extLst>
                </a:gridCol>
                <a:gridCol w="789829">
                  <a:extLst>
                    <a:ext uri="{9D8B030D-6E8A-4147-A177-3AD203B41FA5}">
                      <a16:colId xmlns:a16="http://schemas.microsoft.com/office/drawing/2014/main" val="1349874692"/>
                    </a:ext>
                  </a:extLst>
                </a:gridCol>
                <a:gridCol w="789829">
                  <a:extLst>
                    <a:ext uri="{9D8B030D-6E8A-4147-A177-3AD203B41FA5}">
                      <a16:colId xmlns:a16="http://schemas.microsoft.com/office/drawing/2014/main" val="337574888"/>
                    </a:ext>
                  </a:extLst>
                </a:gridCol>
              </a:tblGrid>
              <a:tr h="190500">
                <a:tc>
                  <a:txBody>
                    <a:bodyPr/>
                    <a:lstStyle/>
                    <a:p>
                      <a:pPr algn="ctr" fontAlgn="b"/>
                      <a:r>
                        <a:rPr lang="en-US" sz="1400" b="1" i="0" u="none" strike="noStrike" dirty="0">
                          <a:solidFill>
                            <a:schemeClr val="bg1">
                              <a:lumMod val="65000"/>
                            </a:schemeClr>
                          </a:solidFill>
                          <a:effectLst/>
                          <a:latin typeface="Calibri" panose="020F0502020204030204" pitchFamily="34" charset="0"/>
                        </a:rPr>
                        <a:t>Base</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1456</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681</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775</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170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290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284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210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158</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344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937</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519</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61141031"/>
                  </a:ext>
                </a:extLst>
              </a:tr>
            </a:tbl>
          </a:graphicData>
        </a:graphic>
      </p:graphicFrame>
    </p:spTree>
    <p:extLst>
      <p:ext uri="{BB962C8B-B14F-4D97-AF65-F5344CB8AC3E}">
        <p14:creationId xmlns:p14="http://schemas.microsoft.com/office/powerpoint/2010/main" val="8504693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Q12. How often do you believe Nigerian leaders make decisions in the best interest of the general public?</a:t>
            </a:r>
            <a:endParaRPr lang="en-US" sz="1000" dirty="0">
              <a:latin typeface="Book Antiqua" panose="02040602050305030304" pitchFamily="18" charset="0"/>
            </a:endParaRPr>
          </a:p>
        </p:txBody>
      </p:sp>
      <p:sp>
        <p:nvSpPr>
          <p:cNvPr id="14" name="TextBox 13">
            <a:extLst>
              <a:ext uri="{FF2B5EF4-FFF2-40B4-BE49-F238E27FC236}">
                <a16:creationId xmlns:a16="http://schemas.microsoft.com/office/drawing/2014/main" id="{24EE3164-36BE-1169-158F-AC5F91216B94}"/>
              </a:ext>
            </a:extLst>
          </p:cNvPr>
          <p:cNvSpPr txBox="1"/>
          <p:nvPr/>
        </p:nvSpPr>
        <p:spPr>
          <a:xfrm>
            <a:off x="331302" y="675740"/>
            <a:ext cx="11714923" cy="523220"/>
          </a:xfrm>
          <a:prstGeom prst="rect">
            <a:avLst/>
          </a:prstGeom>
          <a:noFill/>
        </p:spPr>
        <p:txBody>
          <a:bodyPr wrap="square">
            <a:spAutoFit/>
          </a:bodyPr>
          <a:lstStyle/>
          <a:p>
            <a:pPr lvl="0">
              <a:defRPr/>
            </a:pPr>
            <a:r>
              <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rPr>
              <a:t>Again, only 5% often or </a:t>
            </a:r>
            <a:r>
              <a:rPr lang="en-US" sz="1400" b="1" dirty="0">
                <a:solidFill>
                  <a:srgbClr val="0070C0"/>
                </a:solidFill>
                <a:latin typeface="Book Antiqua" panose="02040602050305030304" pitchFamily="18" charset="0"/>
                <a:ea typeface="Arial Unicode MS"/>
              </a:rPr>
              <a:t>a</a:t>
            </a:r>
            <a:r>
              <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rPr>
              <a:t>ways believe </a:t>
            </a:r>
            <a:r>
              <a:rPr lang="en-US" sz="1400" b="1" dirty="0">
                <a:solidFill>
                  <a:srgbClr val="0070C0"/>
                </a:solidFill>
                <a:latin typeface="Book Antiqua" panose="02040602050305030304" pitchFamily="18" charset="0"/>
                <a:ea typeface="Arial Unicode MS"/>
              </a:rPr>
              <a:t>that leaders make decisions in the best interest of the general public, with only 1% often or always believe this in Enugu.</a:t>
            </a:r>
            <a:endPar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endParaRPr>
          </a:p>
        </p:txBody>
      </p:sp>
      <p:sp>
        <p:nvSpPr>
          <p:cNvPr id="5" name="TextBox 4">
            <a:extLst>
              <a:ext uri="{FF2B5EF4-FFF2-40B4-BE49-F238E27FC236}">
                <a16:creationId xmlns:a16="http://schemas.microsoft.com/office/drawing/2014/main" id="{55F5642B-83A0-CD7B-E2BA-8E492D002397}"/>
              </a:ext>
            </a:extLst>
          </p:cNvPr>
          <p:cNvSpPr txBox="1"/>
          <p:nvPr/>
        </p:nvSpPr>
        <p:spPr>
          <a:xfrm>
            <a:off x="312990" y="119838"/>
            <a:ext cx="11714923" cy="400110"/>
          </a:xfrm>
          <a:prstGeom prst="rect">
            <a:avLst/>
          </a:prstGeom>
          <a:noFill/>
        </p:spPr>
        <p:txBody>
          <a:bodyPr wrap="square" rtlCol="0">
            <a:spAutoFit/>
          </a:bodyPr>
          <a:lstStyle/>
          <a:p>
            <a:pPr lvl="0">
              <a:defRPr/>
            </a:pPr>
            <a:r>
              <a:rPr kumimoji="0" lang="en-US" sz="2000"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rPr>
              <a:t>The frequency of </a:t>
            </a:r>
            <a:r>
              <a:rPr lang="en-US" sz="2000" b="1" dirty="0">
                <a:solidFill>
                  <a:prstClr val="black"/>
                </a:solidFill>
                <a:latin typeface="Book Antiqua" panose="02040602050305030304" pitchFamily="18" charset="0"/>
                <a:ea typeface="Arial Unicode MS"/>
              </a:rPr>
              <a:t>believing that leaders make decisions in the best interest of the general public</a:t>
            </a:r>
            <a:endParaRPr kumimoji="0" lang="en-US" sz="2000"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endParaRPr>
          </a:p>
        </p:txBody>
      </p:sp>
      <p:graphicFrame>
        <p:nvGraphicFramePr>
          <p:cNvPr id="4" name="Table 3">
            <a:extLst>
              <a:ext uri="{FF2B5EF4-FFF2-40B4-BE49-F238E27FC236}">
                <a16:creationId xmlns:a16="http://schemas.microsoft.com/office/drawing/2014/main" id="{5481D1C6-42A9-46B3-B1E6-85934D6CE3A0}"/>
              </a:ext>
            </a:extLst>
          </p:cNvPr>
          <p:cNvGraphicFramePr>
            <a:graphicFrameLocks noGrp="1"/>
          </p:cNvGraphicFramePr>
          <p:nvPr>
            <p:extLst>
              <p:ext uri="{D42A27DB-BD31-4B8C-83A1-F6EECF244321}">
                <p14:modId xmlns:p14="http://schemas.microsoft.com/office/powerpoint/2010/main" val="708423966"/>
              </p:ext>
            </p:extLst>
          </p:nvPr>
        </p:nvGraphicFramePr>
        <p:xfrm>
          <a:off x="1817370" y="5212025"/>
          <a:ext cx="9477948" cy="369331"/>
        </p:xfrm>
        <a:graphic>
          <a:graphicData uri="http://schemas.openxmlformats.org/drawingml/2006/table">
            <a:tbl>
              <a:tblPr>
                <a:tableStyleId>{BC89EF96-8CEA-46FF-86C4-4CE0E7609802}</a:tableStyleId>
              </a:tblPr>
              <a:tblGrid>
                <a:gridCol w="789829">
                  <a:extLst>
                    <a:ext uri="{9D8B030D-6E8A-4147-A177-3AD203B41FA5}">
                      <a16:colId xmlns:a16="http://schemas.microsoft.com/office/drawing/2014/main" val="3971998484"/>
                    </a:ext>
                  </a:extLst>
                </a:gridCol>
                <a:gridCol w="789829">
                  <a:extLst>
                    <a:ext uri="{9D8B030D-6E8A-4147-A177-3AD203B41FA5}">
                      <a16:colId xmlns:a16="http://schemas.microsoft.com/office/drawing/2014/main" val="273507684"/>
                    </a:ext>
                  </a:extLst>
                </a:gridCol>
                <a:gridCol w="789829">
                  <a:extLst>
                    <a:ext uri="{9D8B030D-6E8A-4147-A177-3AD203B41FA5}">
                      <a16:colId xmlns:a16="http://schemas.microsoft.com/office/drawing/2014/main" val="1387208012"/>
                    </a:ext>
                  </a:extLst>
                </a:gridCol>
                <a:gridCol w="789829">
                  <a:extLst>
                    <a:ext uri="{9D8B030D-6E8A-4147-A177-3AD203B41FA5}">
                      <a16:colId xmlns:a16="http://schemas.microsoft.com/office/drawing/2014/main" val="1248720759"/>
                    </a:ext>
                  </a:extLst>
                </a:gridCol>
                <a:gridCol w="789829">
                  <a:extLst>
                    <a:ext uri="{9D8B030D-6E8A-4147-A177-3AD203B41FA5}">
                      <a16:colId xmlns:a16="http://schemas.microsoft.com/office/drawing/2014/main" val="3484878520"/>
                    </a:ext>
                  </a:extLst>
                </a:gridCol>
                <a:gridCol w="789829">
                  <a:extLst>
                    <a:ext uri="{9D8B030D-6E8A-4147-A177-3AD203B41FA5}">
                      <a16:colId xmlns:a16="http://schemas.microsoft.com/office/drawing/2014/main" val="951575519"/>
                    </a:ext>
                  </a:extLst>
                </a:gridCol>
                <a:gridCol w="789829">
                  <a:extLst>
                    <a:ext uri="{9D8B030D-6E8A-4147-A177-3AD203B41FA5}">
                      <a16:colId xmlns:a16="http://schemas.microsoft.com/office/drawing/2014/main" val="2049398142"/>
                    </a:ext>
                  </a:extLst>
                </a:gridCol>
                <a:gridCol w="789829">
                  <a:extLst>
                    <a:ext uri="{9D8B030D-6E8A-4147-A177-3AD203B41FA5}">
                      <a16:colId xmlns:a16="http://schemas.microsoft.com/office/drawing/2014/main" val="820745645"/>
                    </a:ext>
                  </a:extLst>
                </a:gridCol>
                <a:gridCol w="789829">
                  <a:extLst>
                    <a:ext uri="{9D8B030D-6E8A-4147-A177-3AD203B41FA5}">
                      <a16:colId xmlns:a16="http://schemas.microsoft.com/office/drawing/2014/main" val="2489163101"/>
                    </a:ext>
                  </a:extLst>
                </a:gridCol>
                <a:gridCol w="789829">
                  <a:extLst>
                    <a:ext uri="{9D8B030D-6E8A-4147-A177-3AD203B41FA5}">
                      <a16:colId xmlns:a16="http://schemas.microsoft.com/office/drawing/2014/main" val="3206989997"/>
                    </a:ext>
                  </a:extLst>
                </a:gridCol>
                <a:gridCol w="789829">
                  <a:extLst>
                    <a:ext uri="{9D8B030D-6E8A-4147-A177-3AD203B41FA5}">
                      <a16:colId xmlns:a16="http://schemas.microsoft.com/office/drawing/2014/main" val="534552785"/>
                    </a:ext>
                  </a:extLst>
                </a:gridCol>
                <a:gridCol w="789829">
                  <a:extLst>
                    <a:ext uri="{9D8B030D-6E8A-4147-A177-3AD203B41FA5}">
                      <a16:colId xmlns:a16="http://schemas.microsoft.com/office/drawing/2014/main" val="2607264578"/>
                    </a:ext>
                  </a:extLst>
                </a:gridCol>
              </a:tblGrid>
              <a:tr h="369331">
                <a:tc>
                  <a:txBody>
                    <a:bodyPr/>
                    <a:lstStyle/>
                    <a:p>
                      <a:pPr algn="ctr" fontAlgn="b"/>
                      <a:r>
                        <a:rPr lang="en-US" sz="1400" b="1" u="none" strike="noStrike" dirty="0">
                          <a:effectLst/>
                        </a:rPr>
                        <a:t>Mean</a:t>
                      </a:r>
                      <a:endParaRPr lang="en-GB" sz="1400" b="1" i="0" u="none" strike="noStrike" dirty="0">
                        <a:solidFill>
                          <a:srgbClr val="000000"/>
                        </a:solidFill>
                        <a:effectLst/>
                        <a:latin typeface="+mn-lt"/>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dirty="0">
                          <a:solidFill>
                            <a:srgbClr val="0070C0"/>
                          </a:solidFill>
                          <a:effectLst/>
                          <a:latin typeface="Calibri" panose="020F0502020204030204" pitchFamily="34" charset="0"/>
                        </a:rPr>
                        <a:t>2.08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2.11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2.05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2.05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1.68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2.44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1.93</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2.08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2.23</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dirty="0">
                          <a:solidFill>
                            <a:srgbClr val="0070C0"/>
                          </a:solidFill>
                          <a:effectLst/>
                          <a:latin typeface="Calibri" panose="020F0502020204030204" pitchFamily="34" charset="0"/>
                        </a:rPr>
                        <a:t>2.04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30887128"/>
                  </a:ext>
                </a:extLst>
              </a:tr>
            </a:tbl>
          </a:graphicData>
        </a:graphic>
      </p:graphicFrame>
      <p:graphicFrame>
        <p:nvGraphicFramePr>
          <p:cNvPr id="6" name="Chart 5">
            <a:extLst>
              <a:ext uri="{FF2B5EF4-FFF2-40B4-BE49-F238E27FC236}">
                <a16:creationId xmlns:a16="http://schemas.microsoft.com/office/drawing/2014/main" id="{A4B0A94F-6FB5-4821-80DD-F4A0ACECE84F}"/>
              </a:ext>
            </a:extLst>
          </p:cNvPr>
          <p:cNvGraphicFramePr/>
          <p:nvPr>
            <p:extLst>
              <p:ext uri="{D42A27DB-BD31-4B8C-83A1-F6EECF244321}">
                <p14:modId xmlns:p14="http://schemas.microsoft.com/office/powerpoint/2010/main" val="4112125553"/>
              </p:ext>
            </p:extLst>
          </p:nvPr>
        </p:nvGraphicFramePr>
        <p:xfrm>
          <a:off x="925551" y="1514700"/>
          <a:ext cx="10489750" cy="360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Table 6">
            <a:extLst>
              <a:ext uri="{FF2B5EF4-FFF2-40B4-BE49-F238E27FC236}">
                <a16:creationId xmlns:a16="http://schemas.microsoft.com/office/drawing/2014/main" id="{ECFD97D6-6332-4866-8CB5-9B245DEEEE90}"/>
              </a:ext>
            </a:extLst>
          </p:cNvPr>
          <p:cNvGraphicFramePr>
            <a:graphicFrameLocks noGrp="1"/>
          </p:cNvGraphicFramePr>
          <p:nvPr>
            <p:extLst>
              <p:ext uri="{D42A27DB-BD31-4B8C-83A1-F6EECF244321}">
                <p14:modId xmlns:p14="http://schemas.microsoft.com/office/powerpoint/2010/main" val="1275905290"/>
              </p:ext>
            </p:extLst>
          </p:nvPr>
        </p:nvGraphicFramePr>
        <p:xfrm>
          <a:off x="1817649" y="5694561"/>
          <a:ext cx="9477948" cy="222885"/>
        </p:xfrm>
        <a:graphic>
          <a:graphicData uri="http://schemas.openxmlformats.org/drawingml/2006/table">
            <a:tbl>
              <a:tblPr>
                <a:tableStyleId>{2D5ABB26-0587-4C30-8999-92F81FD0307C}</a:tableStyleId>
              </a:tblPr>
              <a:tblGrid>
                <a:gridCol w="789829">
                  <a:extLst>
                    <a:ext uri="{9D8B030D-6E8A-4147-A177-3AD203B41FA5}">
                      <a16:colId xmlns:a16="http://schemas.microsoft.com/office/drawing/2014/main" val="71965769"/>
                    </a:ext>
                  </a:extLst>
                </a:gridCol>
                <a:gridCol w="789829">
                  <a:extLst>
                    <a:ext uri="{9D8B030D-6E8A-4147-A177-3AD203B41FA5}">
                      <a16:colId xmlns:a16="http://schemas.microsoft.com/office/drawing/2014/main" val="4155578195"/>
                    </a:ext>
                  </a:extLst>
                </a:gridCol>
                <a:gridCol w="789829">
                  <a:extLst>
                    <a:ext uri="{9D8B030D-6E8A-4147-A177-3AD203B41FA5}">
                      <a16:colId xmlns:a16="http://schemas.microsoft.com/office/drawing/2014/main" val="1889141429"/>
                    </a:ext>
                  </a:extLst>
                </a:gridCol>
                <a:gridCol w="789829">
                  <a:extLst>
                    <a:ext uri="{9D8B030D-6E8A-4147-A177-3AD203B41FA5}">
                      <a16:colId xmlns:a16="http://schemas.microsoft.com/office/drawing/2014/main" val="3753417597"/>
                    </a:ext>
                  </a:extLst>
                </a:gridCol>
                <a:gridCol w="789829">
                  <a:extLst>
                    <a:ext uri="{9D8B030D-6E8A-4147-A177-3AD203B41FA5}">
                      <a16:colId xmlns:a16="http://schemas.microsoft.com/office/drawing/2014/main" val="1740810762"/>
                    </a:ext>
                  </a:extLst>
                </a:gridCol>
                <a:gridCol w="789829">
                  <a:extLst>
                    <a:ext uri="{9D8B030D-6E8A-4147-A177-3AD203B41FA5}">
                      <a16:colId xmlns:a16="http://schemas.microsoft.com/office/drawing/2014/main" val="790009114"/>
                    </a:ext>
                  </a:extLst>
                </a:gridCol>
                <a:gridCol w="789829">
                  <a:extLst>
                    <a:ext uri="{9D8B030D-6E8A-4147-A177-3AD203B41FA5}">
                      <a16:colId xmlns:a16="http://schemas.microsoft.com/office/drawing/2014/main" val="3015911202"/>
                    </a:ext>
                  </a:extLst>
                </a:gridCol>
                <a:gridCol w="789829">
                  <a:extLst>
                    <a:ext uri="{9D8B030D-6E8A-4147-A177-3AD203B41FA5}">
                      <a16:colId xmlns:a16="http://schemas.microsoft.com/office/drawing/2014/main" val="3232248389"/>
                    </a:ext>
                  </a:extLst>
                </a:gridCol>
                <a:gridCol w="789829">
                  <a:extLst>
                    <a:ext uri="{9D8B030D-6E8A-4147-A177-3AD203B41FA5}">
                      <a16:colId xmlns:a16="http://schemas.microsoft.com/office/drawing/2014/main" val="3458814408"/>
                    </a:ext>
                  </a:extLst>
                </a:gridCol>
                <a:gridCol w="789829">
                  <a:extLst>
                    <a:ext uri="{9D8B030D-6E8A-4147-A177-3AD203B41FA5}">
                      <a16:colId xmlns:a16="http://schemas.microsoft.com/office/drawing/2014/main" val="1536593214"/>
                    </a:ext>
                  </a:extLst>
                </a:gridCol>
                <a:gridCol w="789829">
                  <a:extLst>
                    <a:ext uri="{9D8B030D-6E8A-4147-A177-3AD203B41FA5}">
                      <a16:colId xmlns:a16="http://schemas.microsoft.com/office/drawing/2014/main" val="1349874692"/>
                    </a:ext>
                  </a:extLst>
                </a:gridCol>
                <a:gridCol w="789829">
                  <a:extLst>
                    <a:ext uri="{9D8B030D-6E8A-4147-A177-3AD203B41FA5}">
                      <a16:colId xmlns:a16="http://schemas.microsoft.com/office/drawing/2014/main" val="337574888"/>
                    </a:ext>
                  </a:extLst>
                </a:gridCol>
              </a:tblGrid>
              <a:tr h="190500">
                <a:tc>
                  <a:txBody>
                    <a:bodyPr/>
                    <a:lstStyle/>
                    <a:p>
                      <a:pPr algn="ctr" fontAlgn="b"/>
                      <a:r>
                        <a:rPr lang="en-US" sz="1400" b="1" i="0" u="none" strike="noStrike" dirty="0">
                          <a:solidFill>
                            <a:schemeClr val="bg1">
                              <a:lumMod val="65000"/>
                            </a:schemeClr>
                          </a:solidFill>
                          <a:effectLst/>
                          <a:latin typeface="Calibri" panose="020F0502020204030204" pitchFamily="34" charset="0"/>
                        </a:rPr>
                        <a:t>Base</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1456</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681</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775</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170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290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284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210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158</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344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937</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519</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61141031"/>
                  </a:ext>
                </a:extLst>
              </a:tr>
            </a:tbl>
          </a:graphicData>
        </a:graphic>
      </p:graphicFrame>
    </p:spTree>
    <p:extLst>
      <p:ext uri="{BB962C8B-B14F-4D97-AF65-F5344CB8AC3E}">
        <p14:creationId xmlns:p14="http://schemas.microsoft.com/office/powerpoint/2010/main" val="7018951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Q131. Which leadership qualities matter most to you?</a:t>
            </a:r>
            <a:endParaRPr lang="en-US" sz="1000" dirty="0">
              <a:latin typeface="Book Antiqua" panose="02040602050305030304" pitchFamily="18" charset="0"/>
            </a:endParaRPr>
          </a:p>
        </p:txBody>
      </p:sp>
      <p:sp>
        <p:nvSpPr>
          <p:cNvPr id="14" name="TextBox 13">
            <a:extLst>
              <a:ext uri="{FF2B5EF4-FFF2-40B4-BE49-F238E27FC236}">
                <a16:creationId xmlns:a16="http://schemas.microsoft.com/office/drawing/2014/main" id="{24EE3164-36BE-1169-158F-AC5F91216B94}"/>
              </a:ext>
            </a:extLst>
          </p:cNvPr>
          <p:cNvSpPr txBox="1"/>
          <p:nvPr/>
        </p:nvSpPr>
        <p:spPr>
          <a:xfrm>
            <a:off x="331302" y="675740"/>
            <a:ext cx="11714923" cy="738664"/>
          </a:xfrm>
          <a:prstGeom prst="rect">
            <a:avLst/>
          </a:prstGeom>
          <a:noFill/>
        </p:spPr>
        <p:txBody>
          <a:bodyPr wrap="square">
            <a:spAutoFit/>
          </a:bodyPr>
          <a:lstStyle/>
          <a:p>
            <a:pPr lvl="0">
              <a:defRPr/>
            </a:pPr>
            <a:r>
              <a:rPr lang="en-US" sz="1400" b="1" dirty="0">
                <a:solidFill>
                  <a:srgbClr val="0070C0"/>
                </a:solidFill>
                <a:latin typeface="Book Antiqua" panose="02040602050305030304" pitchFamily="18" charset="0"/>
                <a:ea typeface="Arial Unicode MS"/>
              </a:rPr>
              <a:t>Accountability (66%), Integrity (64%), Competence (56%), and Transparency (40%) are the leading leadership qualities that matter most to people across demographics.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rPr>
              <a:t> </a:t>
            </a:r>
          </a:p>
        </p:txBody>
      </p:sp>
      <p:sp>
        <p:nvSpPr>
          <p:cNvPr id="5" name="TextBox 4">
            <a:extLst>
              <a:ext uri="{FF2B5EF4-FFF2-40B4-BE49-F238E27FC236}">
                <a16:creationId xmlns:a16="http://schemas.microsoft.com/office/drawing/2014/main" id="{55F5642B-83A0-CD7B-E2BA-8E492D002397}"/>
              </a:ext>
            </a:extLst>
          </p:cNvPr>
          <p:cNvSpPr txBox="1"/>
          <p:nvPr/>
        </p:nvSpPr>
        <p:spPr>
          <a:xfrm>
            <a:off x="312991" y="119838"/>
            <a:ext cx="5605670"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Leadership qualities matter most</a:t>
            </a:r>
            <a:endParaRPr kumimoji="0" lang="en-US" sz="2000"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endParaRPr>
          </a:p>
        </p:txBody>
      </p:sp>
      <p:graphicFrame>
        <p:nvGraphicFramePr>
          <p:cNvPr id="10" name="Chart 9">
            <a:extLst>
              <a:ext uri="{FF2B5EF4-FFF2-40B4-BE49-F238E27FC236}">
                <a16:creationId xmlns:a16="http://schemas.microsoft.com/office/drawing/2014/main" id="{206D50F0-2B1C-41D5-A4E8-D1C476EFF3AE}"/>
              </a:ext>
            </a:extLst>
          </p:cNvPr>
          <p:cNvGraphicFramePr/>
          <p:nvPr>
            <p:extLst>
              <p:ext uri="{D42A27DB-BD31-4B8C-83A1-F6EECF244321}">
                <p14:modId xmlns:p14="http://schemas.microsoft.com/office/powerpoint/2010/main" val="681804934"/>
              </p:ext>
            </p:extLst>
          </p:nvPr>
        </p:nvGraphicFramePr>
        <p:xfrm>
          <a:off x="832512" y="1665256"/>
          <a:ext cx="11205499" cy="368617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3" name="Table 12">
            <a:extLst>
              <a:ext uri="{FF2B5EF4-FFF2-40B4-BE49-F238E27FC236}">
                <a16:creationId xmlns:a16="http://schemas.microsoft.com/office/drawing/2014/main" id="{78AE229F-E8FA-402F-9BFD-3B441712518A}"/>
              </a:ext>
            </a:extLst>
          </p:cNvPr>
          <p:cNvGraphicFramePr>
            <a:graphicFrameLocks noGrp="1"/>
          </p:cNvGraphicFramePr>
          <p:nvPr>
            <p:extLst>
              <p:ext uri="{D42A27DB-BD31-4B8C-83A1-F6EECF244321}">
                <p14:modId xmlns:p14="http://schemas.microsoft.com/office/powerpoint/2010/main" val="3158635357"/>
              </p:ext>
            </p:extLst>
          </p:nvPr>
        </p:nvGraphicFramePr>
        <p:xfrm>
          <a:off x="-69543" y="5482947"/>
          <a:ext cx="11934444" cy="222885"/>
        </p:xfrm>
        <a:graphic>
          <a:graphicData uri="http://schemas.openxmlformats.org/drawingml/2006/table">
            <a:tbl>
              <a:tblPr>
                <a:tableStyleId>{2D5ABB26-0587-4C30-8999-92F81FD0307C}</a:tableStyleId>
              </a:tblPr>
              <a:tblGrid>
                <a:gridCol w="994537">
                  <a:extLst>
                    <a:ext uri="{9D8B030D-6E8A-4147-A177-3AD203B41FA5}">
                      <a16:colId xmlns:a16="http://schemas.microsoft.com/office/drawing/2014/main" val="71965769"/>
                    </a:ext>
                  </a:extLst>
                </a:gridCol>
                <a:gridCol w="994537">
                  <a:extLst>
                    <a:ext uri="{9D8B030D-6E8A-4147-A177-3AD203B41FA5}">
                      <a16:colId xmlns:a16="http://schemas.microsoft.com/office/drawing/2014/main" val="4155578195"/>
                    </a:ext>
                  </a:extLst>
                </a:gridCol>
                <a:gridCol w="994537">
                  <a:extLst>
                    <a:ext uri="{9D8B030D-6E8A-4147-A177-3AD203B41FA5}">
                      <a16:colId xmlns:a16="http://schemas.microsoft.com/office/drawing/2014/main" val="1889141429"/>
                    </a:ext>
                  </a:extLst>
                </a:gridCol>
                <a:gridCol w="994537">
                  <a:extLst>
                    <a:ext uri="{9D8B030D-6E8A-4147-A177-3AD203B41FA5}">
                      <a16:colId xmlns:a16="http://schemas.microsoft.com/office/drawing/2014/main" val="3753417597"/>
                    </a:ext>
                  </a:extLst>
                </a:gridCol>
                <a:gridCol w="994537">
                  <a:extLst>
                    <a:ext uri="{9D8B030D-6E8A-4147-A177-3AD203B41FA5}">
                      <a16:colId xmlns:a16="http://schemas.microsoft.com/office/drawing/2014/main" val="1740810762"/>
                    </a:ext>
                  </a:extLst>
                </a:gridCol>
                <a:gridCol w="994537">
                  <a:extLst>
                    <a:ext uri="{9D8B030D-6E8A-4147-A177-3AD203B41FA5}">
                      <a16:colId xmlns:a16="http://schemas.microsoft.com/office/drawing/2014/main" val="790009114"/>
                    </a:ext>
                  </a:extLst>
                </a:gridCol>
                <a:gridCol w="994537">
                  <a:extLst>
                    <a:ext uri="{9D8B030D-6E8A-4147-A177-3AD203B41FA5}">
                      <a16:colId xmlns:a16="http://schemas.microsoft.com/office/drawing/2014/main" val="3015911202"/>
                    </a:ext>
                  </a:extLst>
                </a:gridCol>
                <a:gridCol w="994537">
                  <a:extLst>
                    <a:ext uri="{9D8B030D-6E8A-4147-A177-3AD203B41FA5}">
                      <a16:colId xmlns:a16="http://schemas.microsoft.com/office/drawing/2014/main" val="3232248389"/>
                    </a:ext>
                  </a:extLst>
                </a:gridCol>
                <a:gridCol w="994537">
                  <a:extLst>
                    <a:ext uri="{9D8B030D-6E8A-4147-A177-3AD203B41FA5}">
                      <a16:colId xmlns:a16="http://schemas.microsoft.com/office/drawing/2014/main" val="3458814408"/>
                    </a:ext>
                  </a:extLst>
                </a:gridCol>
                <a:gridCol w="994537">
                  <a:extLst>
                    <a:ext uri="{9D8B030D-6E8A-4147-A177-3AD203B41FA5}">
                      <a16:colId xmlns:a16="http://schemas.microsoft.com/office/drawing/2014/main" val="1536593214"/>
                    </a:ext>
                  </a:extLst>
                </a:gridCol>
                <a:gridCol w="994537">
                  <a:extLst>
                    <a:ext uri="{9D8B030D-6E8A-4147-A177-3AD203B41FA5}">
                      <a16:colId xmlns:a16="http://schemas.microsoft.com/office/drawing/2014/main" val="1349874692"/>
                    </a:ext>
                  </a:extLst>
                </a:gridCol>
                <a:gridCol w="994537">
                  <a:extLst>
                    <a:ext uri="{9D8B030D-6E8A-4147-A177-3AD203B41FA5}">
                      <a16:colId xmlns:a16="http://schemas.microsoft.com/office/drawing/2014/main" val="337574888"/>
                    </a:ext>
                  </a:extLst>
                </a:gridCol>
              </a:tblGrid>
              <a:tr h="190500">
                <a:tc>
                  <a:txBody>
                    <a:bodyPr/>
                    <a:lstStyle/>
                    <a:p>
                      <a:pPr algn="ctr" fontAlgn="b"/>
                      <a:r>
                        <a:rPr lang="en-US" sz="1400" b="1" i="0" u="none" strike="noStrike" dirty="0">
                          <a:solidFill>
                            <a:schemeClr val="bg1">
                              <a:lumMod val="65000"/>
                            </a:schemeClr>
                          </a:solidFill>
                          <a:effectLst/>
                          <a:latin typeface="Calibri" panose="020F0502020204030204" pitchFamily="34" charset="0"/>
                        </a:rPr>
                        <a:t>Base</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1456</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681</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775</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170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290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284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210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158</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344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937</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519</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61141031"/>
                  </a:ext>
                </a:extLst>
              </a:tr>
            </a:tbl>
          </a:graphicData>
        </a:graphic>
      </p:graphicFrame>
    </p:spTree>
    <p:extLst>
      <p:ext uri="{BB962C8B-B14F-4D97-AF65-F5344CB8AC3E}">
        <p14:creationId xmlns:p14="http://schemas.microsoft.com/office/powerpoint/2010/main" val="14048688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Q14.  How would you rate the overall quality of leadership in this country?</a:t>
            </a:r>
            <a:endParaRPr lang="en-US" sz="1000" dirty="0">
              <a:latin typeface="Book Antiqua" panose="02040602050305030304" pitchFamily="18" charset="0"/>
            </a:endParaRPr>
          </a:p>
        </p:txBody>
      </p:sp>
      <p:sp>
        <p:nvSpPr>
          <p:cNvPr id="14" name="TextBox 13">
            <a:extLst>
              <a:ext uri="{FF2B5EF4-FFF2-40B4-BE49-F238E27FC236}">
                <a16:creationId xmlns:a16="http://schemas.microsoft.com/office/drawing/2014/main" id="{24EE3164-36BE-1169-158F-AC5F91216B94}"/>
              </a:ext>
            </a:extLst>
          </p:cNvPr>
          <p:cNvSpPr txBox="1"/>
          <p:nvPr/>
        </p:nvSpPr>
        <p:spPr>
          <a:xfrm>
            <a:off x="331302" y="675740"/>
            <a:ext cx="11714923"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rPr>
              <a:t>The overall quality of leadership is low, with 10% rating it good or excellent. Kano is the only location where the overall quality of leadership is rated slightly higher than average (2.79).</a:t>
            </a:r>
          </a:p>
        </p:txBody>
      </p:sp>
      <p:sp>
        <p:nvSpPr>
          <p:cNvPr id="5" name="TextBox 4">
            <a:extLst>
              <a:ext uri="{FF2B5EF4-FFF2-40B4-BE49-F238E27FC236}">
                <a16:creationId xmlns:a16="http://schemas.microsoft.com/office/drawing/2014/main" id="{55F5642B-83A0-CD7B-E2BA-8E492D002397}"/>
              </a:ext>
            </a:extLst>
          </p:cNvPr>
          <p:cNvSpPr txBox="1"/>
          <p:nvPr/>
        </p:nvSpPr>
        <p:spPr>
          <a:xfrm>
            <a:off x="312990" y="119838"/>
            <a:ext cx="6355439"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Overall quality of leadership in this country</a:t>
            </a:r>
            <a:endParaRPr kumimoji="0" lang="en-US" sz="2000"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endParaRPr>
          </a:p>
        </p:txBody>
      </p:sp>
      <p:graphicFrame>
        <p:nvGraphicFramePr>
          <p:cNvPr id="4" name="Table 3">
            <a:extLst>
              <a:ext uri="{FF2B5EF4-FFF2-40B4-BE49-F238E27FC236}">
                <a16:creationId xmlns:a16="http://schemas.microsoft.com/office/drawing/2014/main" id="{5481D1C6-42A9-46B3-B1E6-85934D6CE3A0}"/>
              </a:ext>
            </a:extLst>
          </p:cNvPr>
          <p:cNvGraphicFramePr>
            <a:graphicFrameLocks noGrp="1"/>
          </p:cNvGraphicFramePr>
          <p:nvPr>
            <p:extLst>
              <p:ext uri="{D42A27DB-BD31-4B8C-83A1-F6EECF244321}">
                <p14:modId xmlns:p14="http://schemas.microsoft.com/office/powerpoint/2010/main" val="1595058396"/>
              </p:ext>
            </p:extLst>
          </p:nvPr>
        </p:nvGraphicFramePr>
        <p:xfrm>
          <a:off x="1817370" y="5212025"/>
          <a:ext cx="9477948" cy="369331"/>
        </p:xfrm>
        <a:graphic>
          <a:graphicData uri="http://schemas.openxmlformats.org/drawingml/2006/table">
            <a:tbl>
              <a:tblPr>
                <a:tableStyleId>{BC89EF96-8CEA-46FF-86C4-4CE0E7609802}</a:tableStyleId>
              </a:tblPr>
              <a:tblGrid>
                <a:gridCol w="789829">
                  <a:extLst>
                    <a:ext uri="{9D8B030D-6E8A-4147-A177-3AD203B41FA5}">
                      <a16:colId xmlns:a16="http://schemas.microsoft.com/office/drawing/2014/main" val="3971998484"/>
                    </a:ext>
                  </a:extLst>
                </a:gridCol>
                <a:gridCol w="789829">
                  <a:extLst>
                    <a:ext uri="{9D8B030D-6E8A-4147-A177-3AD203B41FA5}">
                      <a16:colId xmlns:a16="http://schemas.microsoft.com/office/drawing/2014/main" val="273507684"/>
                    </a:ext>
                  </a:extLst>
                </a:gridCol>
                <a:gridCol w="789829">
                  <a:extLst>
                    <a:ext uri="{9D8B030D-6E8A-4147-A177-3AD203B41FA5}">
                      <a16:colId xmlns:a16="http://schemas.microsoft.com/office/drawing/2014/main" val="2037333939"/>
                    </a:ext>
                  </a:extLst>
                </a:gridCol>
                <a:gridCol w="789829">
                  <a:extLst>
                    <a:ext uri="{9D8B030D-6E8A-4147-A177-3AD203B41FA5}">
                      <a16:colId xmlns:a16="http://schemas.microsoft.com/office/drawing/2014/main" val="2456978781"/>
                    </a:ext>
                  </a:extLst>
                </a:gridCol>
                <a:gridCol w="789829">
                  <a:extLst>
                    <a:ext uri="{9D8B030D-6E8A-4147-A177-3AD203B41FA5}">
                      <a16:colId xmlns:a16="http://schemas.microsoft.com/office/drawing/2014/main" val="1395163034"/>
                    </a:ext>
                  </a:extLst>
                </a:gridCol>
                <a:gridCol w="789829">
                  <a:extLst>
                    <a:ext uri="{9D8B030D-6E8A-4147-A177-3AD203B41FA5}">
                      <a16:colId xmlns:a16="http://schemas.microsoft.com/office/drawing/2014/main" val="3350064348"/>
                    </a:ext>
                  </a:extLst>
                </a:gridCol>
                <a:gridCol w="789829">
                  <a:extLst>
                    <a:ext uri="{9D8B030D-6E8A-4147-A177-3AD203B41FA5}">
                      <a16:colId xmlns:a16="http://schemas.microsoft.com/office/drawing/2014/main" val="2049398142"/>
                    </a:ext>
                  </a:extLst>
                </a:gridCol>
                <a:gridCol w="789829">
                  <a:extLst>
                    <a:ext uri="{9D8B030D-6E8A-4147-A177-3AD203B41FA5}">
                      <a16:colId xmlns:a16="http://schemas.microsoft.com/office/drawing/2014/main" val="820745645"/>
                    </a:ext>
                  </a:extLst>
                </a:gridCol>
                <a:gridCol w="789829">
                  <a:extLst>
                    <a:ext uri="{9D8B030D-6E8A-4147-A177-3AD203B41FA5}">
                      <a16:colId xmlns:a16="http://schemas.microsoft.com/office/drawing/2014/main" val="2489163101"/>
                    </a:ext>
                  </a:extLst>
                </a:gridCol>
                <a:gridCol w="789829">
                  <a:extLst>
                    <a:ext uri="{9D8B030D-6E8A-4147-A177-3AD203B41FA5}">
                      <a16:colId xmlns:a16="http://schemas.microsoft.com/office/drawing/2014/main" val="3206989997"/>
                    </a:ext>
                  </a:extLst>
                </a:gridCol>
                <a:gridCol w="789829">
                  <a:extLst>
                    <a:ext uri="{9D8B030D-6E8A-4147-A177-3AD203B41FA5}">
                      <a16:colId xmlns:a16="http://schemas.microsoft.com/office/drawing/2014/main" val="534552785"/>
                    </a:ext>
                  </a:extLst>
                </a:gridCol>
                <a:gridCol w="789829">
                  <a:extLst>
                    <a:ext uri="{9D8B030D-6E8A-4147-A177-3AD203B41FA5}">
                      <a16:colId xmlns:a16="http://schemas.microsoft.com/office/drawing/2014/main" val="2607264578"/>
                    </a:ext>
                  </a:extLst>
                </a:gridCol>
              </a:tblGrid>
              <a:tr h="369331">
                <a:tc>
                  <a:txBody>
                    <a:bodyPr/>
                    <a:lstStyle/>
                    <a:p>
                      <a:pPr algn="ctr" fontAlgn="b"/>
                      <a:r>
                        <a:rPr lang="en-US" sz="1400" b="1" u="none" strike="noStrike" dirty="0">
                          <a:effectLst/>
                        </a:rPr>
                        <a:t>Mean</a:t>
                      </a:r>
                      <a:endParaRPr lang="en-GB" sz="1400" b="1" i="0" u="none" strike="noStrike" dirty="0">
                        <a:solidFill>
                          <a:srgbClr val="000000"/>
                        </a:solidFill>
                        <a:effectLst/>
                        <a:latin typeface="+mn-lt"/>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dirty="0">
                          <a:solidFill>
                            <a:srgbClr val="0070C0"/>
                          </a:solidFill>
                          <a:effectLst/>
                          <a:latin typeface="Calibri" panose="020F0502020204030204" pitchFamily="34" charset="0"/>
                        </a:rPr>
                        <a:t>2.07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2.11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2.04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1.89</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1.85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2.79</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1.88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1.53</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2.12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2.07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dirty="0">
                          <a:solidFill>
                            <a:srgbClr val="0070C0"/>
                          </a:solidFill>
                          <a:effectLst/>
                          <a:latin typeface="Calibri" panose="020F0502020204030204" pitchFamily="34" charset="0"/>
                        </a:rPr>
                        <a:t>2.07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30887128"/>
                  </a:ext>
                </a:extLst>
              </a:tr>
            </a:tbl>
          </a:graphicData>
        </a:graphic>
      </p:graphicFrame>
      <p:graphicFrame>
        <p:nvGraphicFramePr>
          <p:cNvPr id="6" name="Chart 5">
            <a:extLst>
              <a:ext uri="{FF2B5EF4-FFF2-40B4-BE49-F238E27FC236}">
                <a16:creationId xmlns:a16="http://schemas.microsoft.com/office/drawing/2014/main" id="{A4B0A94F-6FB5-4821-80DD-F4A0ACECE84F}"/>
              </a:ext>
            </a:extLst>
          </p:cNvPr>
          <p:cNvGraphicFramePr/>
          <p:nvPr>
            <p:extLst>
              <p:ext uri="{D42A27DB-BD31-4B8C-83A1-F6EECF244321}">
                <p14:modId xmlns:p14="http://schemas.microsoft.com/office/powerpoint/2010/main" val="4156490435"/>
              </p:ext>
            </p:extLst>
          </p:nvPr>
        </p:nvGraphicFramePr>
        <p:xfrm>
          <a:off x="1037063" y="1514700"/>
          <a:ext cx="10378238" cy="360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Table 6">
            <a:extLst>
              <a:ext uri="{FF2B5EF4-FFF2-40B4-BE49-F238E27FC236}">
                <a16:creationId xmlns:a16="http://schemas.microsoft.com/office/drawing/2014/main" id="{5BB6FD3A-7965-4D24-8D44-3BBEB9ADC045}"/>
              </a:ext>
            </a:extLst>
          </p:cNvPr>
          <p:cNvGraphicFramePr>
            <a:graphicFrameLocks noGrp="1"/>
          </p:cNvGraphicFramePr>
          <p:nvPr>
            <p:extLst>
              <p:ext uri="{D42A27DB-BD31-4B8C-83A1-F6EECF244321}">
                <p14:modId xmlns:p14="http://schemas.microsoft.com/office/powerpoint/2010/main" val="2065982042"/>
              </p:ext>
            </p:extLst>
          </p:nvPr>
        </p:nvGraphicFramePr>
        <p:xfrm>
          <a:off x="1795347" y="5694561"/>
          <a:ext cx="9477948" cy="222885"/>
        </p:xfrm>
        <a:graphic>
          <a:graphicData uri="http://schemas.openxmlformats.org/drawingml/2006/table">
            <a:tbl>
              <a:tblPr>
                <a:tableStyleId>{2D5ABB26-0587-4C30-8999-92F81FD0307C}</a:tableStyleId>
              </a:tblPr>
              <a:tblGrid>
                <a:gridCol w="789829">
                  <a:extLst>
                    <a:ext uri="{9D8B030D-6E8A-4147-A177-3AD203B41FA5}">
                      <a16:colId xmlns:a16="http://schemas.microsoft.com/office/drawing/2014/main" val="71965769"/>
                    </a:ext>
                  </a:extLst>
                </a:gridCol>
                <a:gridCol w="789829">
                  <a:extLst>
                    <a:ext uri="{9D8B030D-6E8A-4147-A177-3AD203B41FA5}">
                      <a16:colId xmlns:a16="http://schemas.microsoft.com/office/drawing/2014/main" val="4155578195"/>
                    </a:ext>
                  </a:extLst>
                </a:gridCol>
                <a:gridCol w="789829">
                  <a:extLst>
                    <a:ext uri="{9D8B030D-6E8A-4147-A177-3AD203B41FA5}">
                      <a16:colId xmlns:a16="http://schemas.microsoft.com/office/drawing/2014/main" val="1889141429"/>
                    </a:ext>
                  </a:extLst>
                </a:gridCol>
                <a:gridCol w="789829">
                  <a:extLst>
                    <a:ext uri="{9D8B030D-6E8A-4147-A177-3AD203B41FA5}">
                      <a16:colId xmlns:a16="http://schemas.microsoft.com/office/drawing/2014/main" val="3753417597"/>
                    </a:ext>
                  </a:extLst>
                </a:gridCol>
                <a:gridCol w="789829">
                  <a:extLst>
                    <a:ext uri="{9D8B030D-6E8A-4147-A177-3AD203B41FA5}">
                      <a16:colId xmlns:a16="http://schemas.microsoft.com/office/drawing/2014/main" val="1740810762"/>
                    </a:ext>
                  </a:extLst>
                </a:gridCol>
                <a:gridCol w="789829">
                  <a:extLst>
                    <a:ext uri="{9D8B030D-6E8A-4147-A177-3AD203B41FA5}">
                      <a16:colId xmlns:a16="http://schemas.microsoft.com/office/drawing/2014/main" val="790009114"/>
                    </a:ext>
                  </a:extLst>
                </a:gridCol>
                <a:gridCol w="789829">
                  <a:extLst>
                    <a:ext uri="{9D8B030D-6E8A-4147-A177-3AD203B41FA5}">
                      <a16:colId xmlns:a16="http://schemas.microsoft.com/office/drawing/2014/main" val="3015911202"/>
                    </a:ext>
                  </a:extLst>
                </a:gridCol>
                <a:gridCol w="789829">
                  <a:extLst>
                    <a:ext uri="{9D8B030D-6E8A-4147-A177-3AD203B41FA5}">
                      <a16:colId xmlns:a16="http://schemas.microsoft.com/office/drawing/2014/main" val="3232248389"/>
                    </a:ext>
                  </a:extLst>
                </a:gridCol>
                <a:gridCol w="789829">
                  <a:extLst>
                    <a:ext uri="{9D8B030D-6E8A-4147-A177-3AD203B41FA5}">
                      <a16:colId xmlns:a16="http://schemas.microsoft.com/office/drawing/2014/main" val="3458814408"/>
                    </a:ext>
                  </a:extLst>
                </a:gridCol>
                <a:gridCol w="789829">
                  <a:extLst>
                    <a:ext uri="{9D8B030D-6E8A-4147-A177-3AD203B41FA5}">
                      <a16:colId xmlns:a16="http://schemas.microsoft.com/office/drawing/2014/main" val="1536593214"/>
                    </a:ext>
                  </a:extLst>
                </a:gridCol>
                <a:gridCol w="789829">
                  <a:extLst>
                    <a:ext uri="{9D8B030D-6E8A-4147-A177-3AD203B41FA5}">
                      <a16:colId xmlns:a16="http://schemas.microsoft.com/office/drawing/2014/main" val="1349874692"/>
                    </a:ext>
                  </a:extLst>
                </a:gridCol>
                <a:gridCol w="789829">
                  <a:extLst>
                    <a:ext uri="{9D8B030D-6E8A-4147-A177-3AD203B41FA5}">
                      <a16:colId xmlns:a16="http://schemas.microsoft.com/office/drawing/2014/main" val="337574888"/>
                    </a:ext>
                  </a:extLst>
                </a:gridCol>
              </a:tblGrid>
              <a:tr h="190500">
                <a:tc>
                  <a:txBody>
                    <a:bodyPr/>
                    <a:lstStyle/>
                    <a:p>
                      <a:pPr algn="ctr" fontAlgn="b"/>
                      <a:r>
                        <a:rPr lang="en-US" sz="1400" b="1" i="0" u="none" strike="noStrike" dirty="0">
                          <a:solidFill>
                            <a:schemeClr val="bg1">
                              <a:lumMod val="65000"/>
                            </a:schemeClr>
                          </a:solidFill>
                          <a:effectLst/>
                          <a:latin typeface="Calibri" panose="020F0502020204030204" pitchFamily="34" charset="0"/>
                        </a:rPr>
                        <a:t>Base</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1456</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681</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775</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170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290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284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210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158</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344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937</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519</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61141031"/>
                  </a:ext>
                </a:extLst>
              </a:tr>
            </a:tbl>
          </a:graphicData>
        </a:graphic>
      </p:graphicFrame>
    </p:spTree>
    <p:extLst>
      <p:ext uri="{BB962C8B-B14F-4D97-AF65-F5344CB8AC3E}">
        <p14:creationId xmlns:p14="http://schemas.microsoft.com/office/powerpoint/2010/main" val="32890405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Q15. Do you think Nigerian leaders prioritize the needs of citizens over personal interests?</a:t>
            </a:r>
            <a:endParaRPr lang="en-US" sz="1000" dirty="0">
              <a:latin typeface="Book Antiqua" panose="02040602050305030304" pitchFamily="18" charset="0"/>
            </a:endParaRPr>
          </a:p>
        </p:txBody>
      </p:sp>
      <p:sp>
        <p:nvSpPr>
          <p:cNvPr id="14" name="TextBox 13">
            <a:extLst>
              <a:ext uri="{FF2B5EF4-FFF2-40B4-BE49-F238E27FC236}">
                <a16:creationId xmlns:a16="http://schemas.microsoft.com/office/drawing/2014/main" id="{24EE3164-36BE-1169-158F-AC5F91216B94}"/>
              </a:ext>
            </a:extLst>
          </p:cNvPr>
          <p:cNvSpPr txBox="1"/>
          <p:nvPr/>
        </p:nvSpPr>
        <p:spPr>
          <a:xfrm>
            <a:off x="331302" y="675740"/>
            <a:ext cx="11714923" cy="523220"/>
          </a:xfrm>
          <a:prstGeom prst="rect">
            <a:avLst/>
          </a:prstGeom>
          <a:noFill/>
        </p:spPr>
        <p:txBody>
          <a:bodyPr wrap="square">
            <a:spAutoFit/>
          </a:bodyPr>
          <a:lstStyle/>
          <a:p>
            <a:pPr lvl="0">
              <a:defRPr/>
            </a:pPr>
            <a:r>
              <a:rPr lang="en-US" sz="1400" b="1" dirty="0">
                <a:solidFill>
                  <a:srgbClr val="0070C0"/>
                </a:solidFill>
                <a:latin typeface="Book Antiqua" panose="02040602050305030304" pitchFamily="18" charset="0"/>
                <a:ea typeface="Arial Unicode MS"/>
              </a:rPr>
              <a:t>Overall, only 13% thought that Nigerian leaders prioritizing the needs of citizens over personal interests. The highest figure is from Kano (33%) and the least from Edo (4%).</a:t>
            </a:r>
            <a:endPar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endParaRPr>
          </a:p>
        </p:txBody>
      </p:sp>
      <p:sp>
        <p:nvSpPr>
          <p:cNvPr id="5" name="TextBox 4">
            <a:extLst>
              <a:ext uri="{FF2B5EF4-FFF2-40B4-BE49-F238E27FC236}">
                <a16:creationId xmlns:a16="http://schemas.microsoft.com/office/drawing/2014/main" id="{55F5642B-83A0-CD7B-E2BA-8E492D002397}"/>
              </a:ext>
            </a:extLst>
          </p:cNvPr>
          <p:cNvSpPr txBox="1"/>
          <p:nvPr/>
        </p:nvSpPr>
        <p:spPr>
          <a:xfrm>
            <a:off x="312990" y="119838"/>
            <a:ext cx="8942522"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Nigerian leaders prioritizing the needs of citizens over personal interests</a:t>
            </a:r>
            <a:endParaRPr kumimoji="0" lang="en-US" sz="2000"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endParaRPr>
          </a:p>
        </p:txBody>
      </p:sp>
      <p:graphicFrame>
        <p:nvGraphicFramePr>
          <p:cNvPr id="6" name="Chart 5">
            <a:extLst>
              <a:ext uri="{FF2B5EF4-FFF2-40B4-BE49-F238E27FC236}">
                <a16:creationId xmlns:a16="http://schemas.microsoft.com/office/drawing/2014/main" id="{A4B0A94F-6FB5-4821-80DD-F4A0ACECE84F}"/>
              </a:ext>
            </a:extLst>
          </p:cNvPr>
          <p:cNvGraphicFramePr/>
          <p:nvPr>
            <p:extLst>
              <p:ext uri="{D42A27DB-BD31-4B8C-83A1-F6EECF244321}">
                <p14:modId xmlns:p14="http://schemas.microsoft.com/office/powerpoint/2010/main" val="495545846"/>
              </p:ext>
            </p:extLst>
          </p:nvPr>
        </p:nvGraphicFramePr>
        <p:xfrm>
          <a:off x="1335301" y="1514700"/>
          <a:ext cx="10080000" cy="360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Table 6">
            <a:extLst>
              <a:ext uri="{FF2B5EF4-FFF2-40B4-BE49-F238E27FC236}">
                <a16:creationId xmlns:a16="http://schemas.microsoft.com/office/drawing/2014/main" id="{6C269010-B617-4E6A-99D6-84E91DEB0316}"/>
              </a:ext>
            </a:extLst>
          </p:cNvPr>
          <p:cNvGraphicFramePr>
            <a:graphicFrameLocks noGrp="1"/>
          </p:cNvGraphicFramePr>
          <p:nvPr>
            <p:extLst>
              <p:ext uri="{D42A27DB-BD31-4B8C-83A1-F6EECF244321}">
                <p14:modId xmlns:p14="http://schemas.microsoft.com/office/powerpoint/2010/main" val="2065982042"/>
              </p:ext>
            </p:extLst>
          </p:nvPr>
        </p:nvGraphicFramePr>
        <p:xfrm>
          <a:off x="1795347" y="5694561"/>
          <a:ext cx="9477948" cy="222885"/>
        </p:xfrm>
        <a:graphic>
          <a:graphicData uri="http://schemas.openxmlformats.org/drawingml/2006/table">
            <a:tbl>
              <a:tblPr>
                <a:tableStyleId>{2D5ABB26-0587-4C30-8999-92F81FD0307C}</a:tableStyleId>
              </a:tblPr>
              <a:tblGrid>
                <a:gridCol w="789829">
                  <a:extLst>
                    <a:ext uri="{9D8B030D-6E8A-4147-A177-3AD203B41FA5}">
                      <a16:colId xmlns:a16="http://schemas.microsoft.com/office/drawing/2014/main" val="71965769"/>
                    </a:ext>
                  </a:extLst>
                </a:gridCol>
                <a:gridCol w="789829">
                  <a:extLst>
                    <a:ext uri="{9D8B030D-6E8A-4147-A177-3AD203B41FA5}">
                      <a16:colId xmlns:a16="http://schemas.microsoft.com/office/drawing/2014/main" val="4155578195"/>
                    </a:ext>
                  </a:extLst>
                </a:gridCol>
                <a:gridCol w="789829">
                  <a:extLst>
                    <a:ext uri="{9D8B030D-6E8A-4147-A177-3AD203B41FA5}">
                      <a16:colId xmlns:a16="http://schemas.microsoft.com/office/drawing/2014/main" val="1889141429"/>
                    </a:ext>
                  </a:extLst>
                </a:gridCol>
                <a:gridCol w="789829">
                  <a:extLst>
                    <a:ext uri="{9D8B030D-6E8A-4147-A177-3AD203B41FA5}">
                      <a16:colId xmlns:a16="http://schemas.microsoft.com/office/drawing/2014/main" val="3753417597"/>
                    </a:ext>
                  </a:extLst>
                </a:gridCol>
                <a:gridCol w="789829">
                  <a:extLst>
                    <a:ext uri="{9D8B030D-6E8A-4147-A177-3AD203B41FA5}">
                      <a16:colId xmlns:a16="http://schemas.microsoft.com/office/drawing/2014/main" val="1740810762"/>
                    </a:ext>
                  </a:extLst>
                </a:gridCol>
                <a:gridCol w="789829">
                  <a:extLst>
                    <a:ext uri="{9D8B030D-6E8A-4147-A177-3AD203B41FA5}">
                      <a16:colId xmlns:a16="http://schemas.microsoft.com/office/drawing/2014/main" val="790009114"/>
                    </a:ext>
                  </a:extLst>
                </a:gridCol>
                <a:gridCol w="789829">
                  <a:extLst>
                    <a:ext uri="{9D8B030D-6E8A-4147-A177-3AD203B41FA5}">
                      <a16:colId xmlns:a16="http://schemas.microsoft.com/office/drawing/2014/main" val="3015911202"/>
                    </a:ext>
                  </a:extLst>
                </a:gridCol>
                <a:gridCol w="789829">
                  <a:extLst>
                    <a:ext uri="{9D8B030D-6E8A-4147-A177-3AD203B41FA5}">
                      <a16:colId xmlns:a16="http://schemas.microsoft.com/office/drawing/2014/main" val="3232248389"/>
                    </a:ext>
                  </a:extLst>
                </a:gridCol>
                <a:gridCol w="789829">
                  <a:extLst>
                    <a:ext uri="{9D8B030D-6E8A-4147-A177-3AD203B41FA5}">
                      <a16:colId xmlns:a16="http://schemas.microsoft.com/office/drawing/2014/main" val="3458814408"/>
                    </a:ext>
                  </a:extLst>
                </a:gridCol>
                <a:gridCol w="789829">
                  <a:extLst>
                    <a:ext uri="{9D8B030D-6E8A-4147-A177-3AD203B41FA5}">
                      <a16:colId xmlns:a16="http://schemas.microsoft.com/office/drawing/2014/main" val="1536593214"/>
                    </a:ext>
                  </a:extLst>
                </a:gridCol>
                <a:gridCol w="789829">
                  <a:extLst>
                    <a:ext uri="{9D8B030D-6E8A-4147-A177-3AD203B41FA5}">
                      <a16:colId xmlns:a16="http://schemas.microsoft.com/office/drawing/2014/main" val="1349874692"/>
                    </a:ext>
                  </a:extLst>
                </a:gridCol>
                <a:gridCol w="789829">
                  <a:extLst>
                    <a:ext uri="{9D8B030D-6E8A-4147-A177-3AD203B41FA5}">
                      <a16:colId xmlns:a16="http://schemas.microsoft.com/office/drawing/2014/main" val="337574888"/>
                    </a:ext>
                  </a:extLst>
                </a:gridCol>
              </a:tblGrid>
              <a:tr h="190500">
                <a:tc>
                  <a:txBody>
                    <a:bodyPr/>
                    <a:lstStyle/>
                    <a:p>
                      <a:pPr algn="ctr" fontAlgn="b"/>
                      <a:r>
                        <a:rPr lang="en-US" sz="1400" b="1" i="0" u="none" strike="noStrike" dirty="0">
                          <a:solidFill>
                            <a:schemeClr val="bg1">
                              <a:lumMod val="65000"/>
                            </a:schemeClr>
                          </a:solidFill>
                          <a:effectLst/>
                          <a:latin typeface="Calibri" panose="020F0502020204030204" pitchFamily="34" charset="0"/>
                        </a:rPr>
                        <a:t>Base</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1456</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681</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775</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170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290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284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210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158</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344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937</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519</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61141031"/>
                  </a:ext>
                </a:extLst>
              </a:tr>
            </a:tbl>
          </a:graphicData>
        </a:graphic>
      </p:graphicFrame>
    </p:spTree>
    <p:extLst>
      <p:ext uri="{BB962C8B-B14F-4D97-AF65-F5344CB8AC3E}">
        <p14:creationId xmlns:p14="http://schemas.microsoft.com/office/powerpoint/2010/main" val="24023678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Q16. How would you rate the level of corruption among Nigerian political leaders?</a:t>
            </a:r>
            <a:endParaRPr lang="en-US" sz="1000" dirty="0">
              <a:latin typeface="Book Antiqua" panose="02040602050305030304" pitchFamily="18" charset="0"/>
            </a:endParaRPr>
          </a:p>
        </p:txBody>
      </p:sp>
      <p:sp>
        <p:nvSpPr>
          <p:cNvPr id="14" name="TextBox 13">
            <a:extLst>
              <a:ext uri="{FF2B5EF4-FFF2-40B4-BE49-F238E27FC236}">
                <a16:creationId xmlns:a16="http://schemas.microsoft.com/office/drawing/2014/main" id="{24EE3164-36BE-1169-158F-AC5F91216B94}"/>
              </a:ext>
            </a:extLst>
          </p:cNvPr>
          <p:cNvSpPr txBox="1"/>
          <p:nvPr/>
        </p:nvSpPr>
        <p:spPr>
          <a:xfrm>
            <a:off x="331302" y="675740"/>
            <a:ext cx="11714923"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rPr>
              <a:t>The level of corruption </a:t>
            </a:r>
            <a:r>
              <a:rPr lang="en-US" sz="1400" b="1" dirty="0">
                <a:solidFill>
                  <a:srgbClr val="0070C0"/>
                </a:solidFill>
                <a:latin typeface="Book Antiqua" panose="02040602050305030304" pitchFamily="18" charset="0"/>
                <a:ea typeface="Arial Unicode MS"/>
              </a:rPr>
              <a:t>is rated highly, 72% overall, and 88% in Bauchi.</a:t>
            </a:r>
            <a:endPar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endParaRPr>
          </a:p>
        </p:txBody>
      </p:sp>
      <p:sp>
        <p:nvSpPr>
          <p:cNvPr id="5" name="TextBox 4">
            <a:extLst>
              <a:ext uri="{FF2B5EF4-FFF2-40B4-BE49-F238E27FC236}">
                <a16:creationId xmlns:a16="http://schemas.microsoft.com/office/drawing/2014/main" id="{55F5642B-83A0-CD7B-E2BA-8E492D002397}"/>
              </a:ext>
            </a:extLst>
          </p:cNvPr>
          <p:cNvSpPr txBox="1"/>
          <p:nvPr/>
        </p:nvSpPr>
        <p:spPr>
          <a:xfrm>
            <a:off x="312991" y="119838"/>
            <a:ext cx="6812638"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Level of corruption among Nigerian political leaders</a:t>
            </a:r>
            <a:endParaRPr kumimoji="0" lang="en-US" sz="2000"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endParaRPr>
          </a:p>
        </p:txBody>
      </p:sp>
      <p:graphicFrame>
        <p:nvGraphicFramePr>
          <p:cNvPr id="4" name="Table 3">
            <a:extLst>
              <a:ext uri="{FF2B5EF4-FFF2-40B4-BE49-F238E27FC236}">
                <a16:creationId xmlns:a16="http://schemas.microsoft.com/office/drawing/2014/main" id="{5481D1C6-42A9-46B3-B1E6-85934D6CE3A0}"/>
              </a:ext>
            </a:extLst>
          </p:cNvPr>
          <p:cNvGraphicFramePr>
            <a:graphicFrameLocks noGrp="1"/>
          </p:cNvGraphicFramePr>
          <p:nvPr>
            <p:extLst>
              <p:ext uri="{D42A27DB-BD31-4B8C-83A1-F6EECF244321}">
                <p14:modId xmlns:p14="http://schemas.microsoft.com/office/powerpoint/2010/main" val="328911009"/>
              </p:ext>
            </p:extLst>
          </p:nvPr>
        </p:nvGraphicFramePr>
        <p:xfrm>
          <a:off x="1817370" y="5212025"/>
          <a:ext cx="9477948" cy="369331"/>
        </p:xfrm>
        <a:graphic>
          <a:graphicData uri="http://schemas.openxmlformats.org/drawingml/2006/table">
            <a:tbl>
              <a:tblPr>
                <a:tableStyleId>{BC89EF96-8CEA-46FF-86C4-4CE0E7609802}</a:tableStyleId>
              </a:tblPr>
              <a:tblGrid>
                <a:gridCol w="789829">
                  <a:extLst>
                    <a:ext uri="{9D8B030D-6E8A-4147-A177-3AD203B41FA5}">
                      <a16:colId xmlns:a16="http://schemas.microsoft.com/office/drawing/2014/main" val="3971998484"/>
                    </a:ext>
                  </a:extLst>
                </a:gridCol>
                <a:gridCol w="789829">
                  <a:extLst>
                    <a:ext uri="{9D8B030D-6E8A-4147-A177-3AD203B41FA5}">
                      <a16:colId xmlns:a16="http://schemas.microsoft.com/office/drawing/2014/main" val="273507684"/>
                    </a:ext>
                  </a:extLst>
                </a:gridCol>
                <a:gridCol w="789829">
                  <a:extLst>
                    <a:ext uri="{9D8B030D-6E8A-4147-A177-3AD203B41FA5}">
                      <a16:colId xmlns:a16="http://schemas.microsoft.com/office/drawing/2014/main" val="2515674210"/>
                    </a:ext>
                  </a:extLst>
                </a:gridCol>
                <a:gridCol w="789829">
                  <a:extLst>
                    <a:ext uri="{9D8B030D-6E8A-4147-A177-3AD203B41FA5}">
                      <a16:colId xmlns:a16="http://schemas.microsoft.com/office/drawing/2014/main" val="674638856"/>
                    </a:ext>
                  </a:extLst>
                </a:gridCol>
                <a:gridCol w="789829">
                  <a:extLst>
                    <a:ext uri="{9D8B030D-6E8A-4147-A177-3AD203B41FA5}">
                      <a16:colId xmlns:a16="http://schemas.microsoft.com/office/drawing/2014/main" val="722284565"/>
                    </a:ext>
                  </a:extLst>
                </a:gridCol>
                <a:gridCol w="789829">
                  <a:extLst>
                    <a:ext uri="{9D8B030D-6E8A-4147-A177-3AD203B41FA5}">
                      <a16:colId xmlns:a16="http://schemas.microsoft.com/office/drawing/2014/main" val="2181102183"/>
                    </a:ext>
                  </a:extLst>
                </a:gridCol>
                <a:gridCol w="789829">
                  <a:extLst>
                    <a:ext uri="{9D8B030D-6E8A-4147-A177-3AD203B41FA5}">
                      <a16:colId xmlns:a16="http://schemas.microsoft.com/office/drawing/2014/main" val="2049398142"/>
                    </a:ext>
                  </a:extLst>
                </a:gridCol>
                <a:gridCol w="789829">
                  <a:extLst>
                    <a:ext uri="{9D8B030D-6E8A-4147-A177-3AD203B41FA5}">
                      <a16:colId xmlns:a16="http://schemas.microsoft.com/office/drawing/2014/main" val="820745645"/>
                    </a:ext>
                  </a:extLst>
                </a:gridCol>
                <a:gridCol w="789829">
                  <a:extLst>
                    <a:ext uri="{9D8B030D-6E8A-4147-A177-3AD203B41FA5}">
                      <a16:colId xmlns:a16="http://schemas.microsoft.com/office/drawing/2014/main" val="2489163101"/>
                    </a:ext>
                  </a:extLst>
                </a:gridCol>
                <a:gridCol w="789829">
                  <a:extLst>
                    <a:ext uri="{9D8B030D-6E8A-4147-A177-3AD203B41FA5}">
                      <a16:colId xmlns:a16="http://schemas.microsoft.com/office/drawing/2014/main" val="3206989997"/>
                    </a:ext>
                  </a:extLst>
                </a:gridCol>
                <a:gridCol w="789829">
                  <a:extLst>
                    <a:ext uri="{9D8B030D-6E8A-4147-A177-3AD203B41FA5}">
                      <a16:colId xmlns:a16="http://schemas.microsoft.com/office/drawing/2014/main" val="534552785"/>
                    </a:ext>
                  </a:extLst>
                </a:gridCol>
                <a:gridCol w="789829">
                  <a:extLst>
                    <a:ext uri="{9D8B030D-6E8A-4147-A177-3AD203B41FA5}">
                      <a16:colId xmlns:a16="http://schemas.microsoft.com/office/drawing/2014/main" val="2607264578"/>
                    </a:ext>
                  </a:extLst>
                </a:gridCol>
              </a:tblGrid>
              <a:tr h="369331">
                <a:tc>
                  <a:txBody>
                    <a:bodyPr/>
                    <a:lstStyle/>
                    <a:p>
                      <a:pPr algn="ctr" fontAlgn="b"/>
                      <a:r>
                        <a:rPr lang="en-US" sz="1400" b="1" u="none" strike="noStrike" dirty="0">
                          <a:effectLst/>
                        </a:rPr>
                        <a:t>Mean</a:t>
                      </a:r>
                      <a:endParaRPr lang="en-GB" sz="1400" b="1" i="0" u="none" strike="noStrike" dirty="0">
                        <a:solidFill>
                          <a:srgbClr val="000000"/>
                        </a:solidFill>
                        <a:effectLst/>
                        <a:latin typeface="+mn-lt"/>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dirty="0">
                          <a:solidFill>
                            <a:srgbClr val="0070C0"/>
                          </a:solidFill>
                          <a:effectLst/>
                          <a:latin typeface="Calibri" panose="020F0502020204030204" pitchFamily="34" charset="0"/>
                        </a:rPr>
                        <a:t>4.02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4.01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4.02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4.26</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4.48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3.71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3.79</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3.96</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3.92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3.96</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dirty="0">
                          <a:solidFill>
                            <a:srgbClr val="0070C0"/>
                          </a:solidFill>
                          <a:effectLst/>
                          <a:latin typeface="Calibri" panose="020F0502020204030204" pitchFamily="34" charset="0"/>
                        </a:rPr>
                        <a:t>4.11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30887128"/>
                  </a:ext>
                </a:extLst>
              </a:tr>
            </a:tbl>
          </a:graphicData>
        </a:graphic>
      </p:graphicFrame>
      <p:graphicFrame>
        <p:nvGraphicFramePr>
          <p:cNvPr id="6" name="Chart 5">
            <a:extLst>
              <a:ext uri="{FF2B5EF4-FFF2-40B4-BE49-F238E27FC236}">
                <a16:creationId xmlns:a16="http://schemas.microsoft.com/office/drawing/2014/main" id="{A4B0A94F-6FB5-4821-80DD-F4A0ACECE84F}"/>
              </a:ext>
            </a:extLst>
          </p:cNvPr>
          <p:cNvGraphicFramePr/>
          <p:nvPr>
            <p:extLst>
              <p:ext uri="{D42A27DB-BD31-4B8C-83A1-F6EECF244321}">
                <p14:modId xmlns:p14="http://schemas.microsoft.com/office/powerpoint/2010/main" val="3171637259"/>
              </p:ext>
            </p:extLst>
          </p:nvPr>
        </p:nvGraphicFramePr>
        <p:xfrm>
          <a:off x="992459" y="1514700"/>
          <a:ext cx="10422842" cy="360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Table 6">
            <a:extLst>
              <a:ext uri="{FF2B5EF4-FFF2-40B4-BE49-F238E27FC236}">
                <a16:creationId xmlns:a16="http://schemas.microsoft.com/office/drawing/2014/main" id="{82BE0385-F1FE-4099-9A30-C956866EF1E3}"/>
              </a:ext>
            </a:extLst>
          </p:cNvPr>
          <p:cNvGraphicFramePr>
            <a:graphicFrameLocks noGrp="1"/>
          </p:cNvGraphicFramePr>
          <p:nvPr>
            <p:extLst>
              <p:ext uri="{D42A27DB-BD31-4B8C-83A1-F6EECF244321}">
                <p14:modId xmlns:p14="http://schemas.microsoft.com/office/powerpoint/2010/main" val="2065982042"/>
              </p:ext>
            </p:extLst>
          </p:nvPr>
        </p:nvGraphicFramePr>
        <p:xfrm>
          <a:off x="1795347" y="5694561"/>
          <a:ext cx="9477948" cy="222885"/>
        </p:xfrm>
        <a:graphic>
          <a:graphicData uri="http://schemas.openxmlformats.org/drawingml/2006/table">
            <a:tbl>
              <a:tblPr>
                <a:tableStyleId>{2D5ABB26-0587-4C30-8999-92F81FD0307C}</a:tableStyleId>
              </a:tblPr>
              <a:tblGrid>
                <a:gridCol w="789829">
                  <a:extLst>
                    <a:ext uri="{9D8B030D-6E8A-4147-A177-3AD203B41FA5}">
                      <a16:colId xmlns:a16="http://schemas.microsoft.com/office/drawing/2014/main" val="71965769"/>
                    </a:ext>
                  </a:extLst>
                </a:gridCol>
                <a:gridCol w="789829">
                  <a:extLst>
                    <a:ext uri="{9D8B030D-6E8A-4147-A177-3AD203B41FA5}">
                      <a16:colId xmlns:a16="http://schemas.microsoft.com/office/drawing/2014/main" val="4155578195"/>
                    </a:ext>
                  </a:extLst>
                </a:gridCol>
                <a:gridCol w="789829">
                  <a:extLst>
                    <a:ext uri="{9D8B030D-6E8A-4147-A177-3AD203B41FA5}">
                      <a16:colId xmlns:a16="http://schemas.microsoft.com/office/drawing/2014/main" val="1889141429"/>
                    </a:ext>
                  </a:extLst>
                </a:gridCol>
                <a:gridCol w="789829">
                  <a:extLst>
                    <a:ext uri="{9D8B030D-6E8A-4147-A177-3AD203B41FA5}">
                      <a16:colId xmlns:a16="http://schemas.microsoft.com/office/drawing/2014/main" val="3753417597"/>
                    </a:ext>
                  </a:extLst>
                </a:gridCol>
                <a:gridCol w="789829">
                  <a:extLst>
                    <a:ext uri="{9D8B030D-6E8A-4147-A177-3AD203B41FA5}">
                      <a16:colId xmlns:a16="http://schemas.microsoft.com/office/drawing/2014/main" val="1740810762"/>
                    </a:ext>
                  </a:extLst>
                </a:gridCol>
                <a:gridCol w="789829">
                  <a:extLst>
                    <a:ext uri="{9D8B030D-6E8A-4147-A177-3AD203B41FA5}">
                      <a16:colId xmlns:a16="http://schemas.microsoft.com/office/drawing/2014/main" val="790009114"/>
                    </a:ext>
                  </a:extLst>
                </a:gridCol>
                <a:gridCol w="789829">
                  <a:extLst>
                    <a:ext uri="{9D8B030D-6E8A-4147-A177-3AD203B41FA5}">
                      <a16:colId xmlns:a16="http://schemas.microsoft.com/office/drawing/2014/main" val="3015911202"/>
                    </a:ext>
                  </a:extLst>
                </a:gridCol>
                <a:gridCol w="789829">
                  <a:extLst>
                    <a:ext uri="{9D8B030D-6E8A-4147-A177-3AD203B41FA5}">
                      <a16:colId xmlns:a16="http://schemas.microsoft.com/office/drawing/2014/main" val="3232248389"/>
                    </a:ext>
                  </a:extLst>
                </a:gridCol>
                <a:gridCol w="789829">
                  <a:extLst>
                    <a:ext uri="{9D8B030D-6E8A-4147-A177-3AD203B41FA5}">
                      <a16:colId xmlns:a16="http://schemas.microsoft.com/office/drawing/2014/main" val="3458814408"/>
                    </a:ext>
                  </a:extLst>
                </a:gridCol>
                <a:gridCol w="789829">
                  <a:extLst>
                    <a:ext uri="{9D8B030D-6E8A-4147-A177-3AD203B41FA5}">
                      <a16:colId xmlns:a16="http://schemas.microsoft.com/office/drawing/2014/main" val="1536593214"/>
                    </a:ext>
                  </a:extLst>
                </a:gridCol>
                <a:gridCol w="789829">
                  <a:extLst>
                    <a:ext uri="{9D8B030D-6E8A-4147-A177-3AD203B41FA5}">
                      <a16:colId xmlns:a16="http://schemas.microsoft.com/office/drawing/2014/main" val="1349874692"/>
                    </a:ext>
                  </a:extLst>
                </a:gridCol>
                <a:gridCol w="789829">
                  <a:extLst>
                    <a:ext uri="{9D8B030D-6E8A-4147-A177-3AD203B41FA5}">
                      <a16:colId xmlns:a16="http://schemas.microsoft.com/office/drawing/2014/main" val="337574888"/>
                    </a:ext>
                  </a:extLst>
                </a:gridCol>
              </a:tblGrid>
              <a:tr h="190500">
                <a:tc>
                  <a:txBody>
                    <a:bodyPr/>
                    <a:lstStyle/>
                    <a:p>
                      <a:pPr algn="ctr" fontAlgn="b"/>
                      <a:r>
                        <a:rPr lang="en-US" sz="1400" b="1" i="0" u="none" strike="noStrike" dirty="0">
                          <a:solidFill>
                            <a:schemeClr val="bg1">
                              <a:lumMod val="65000"/>
                            </a:schemeClr>
                          </a:solidFill>
                          <a:effectLst/>
                          <a:latin typeface="Calibri" panose="020F0502020204030204" pitchFamily="34" charset="0"/>
                        </a:rPr>
                        <a:t>Base</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1456</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681</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775</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170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290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284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210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158</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344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937</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519</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61141031"/>
                  </a:ext>
                </a:extLst>
              </a:tr>
            </a:tbl>
          </a:graphicData>
        </a:graphic>
      </p:graphicFrame>
    </p:spTree>
    <p:extLst>
      <p:ext uri="{BB962C8B-B14F-4D97-AF65-F5344CB8AC3E}">
        <p14:creationId xmlns:p14="http://schemas.microsoft.com/office/powerpoint/2010/main" val="4078784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Q17. How effective are anti-corruption agencies in Nigeria (e.g., EFCC, ICPC, Code of Conduct Bureau, etc.)?</a:t>
            </a:r>
            <a:endParaRPr lang="en-US" sz="1000" dirty="0">
              <a:latin typeface="Book Antiqua" panose="02040602050305030304" pitchFamily="18" charset="0"/>
            </a:endParaRPr>
          </a:p>
        </p:txBody>
      </p:sp>
      <p:sp>
        <p:nvSpPr>
          <p:cNvPr id="14" name="TextBox 13">
            <a:extLst>
              <a:ext uri="{FF2B5EF4-FFF2-40B4-BE49-F238E27FC236}">
                <a16:creationId xmlns:a16="http://schemas.microsoft.com/office/drawing/2014/main" id="{24EE3164-36BE-1169-158F-AC5F91216B94}"/>
              </a:ext>
            </a:extLst>
          </p:cNvPr>
          <p:cNvSpPr txBox="1"/>
          <p:nvPr/>
        </p:nvSpPr>
        <p:spPr>
          <a:xfrm>
            <a:off x="331302" y="675740"/>
            <a:ext cx="11714923" cy="523220"/>
          </a:xfrm>
          <a:prstGeom prst="rect">
            <a:avLst/>
          </a:prstGeom>
          <a:noFill/>
        </p:spPr>
        <p:txBody>
          <a:bodyPr wrap="square">
            <a:spAutoFit/>
          </a:bodyPr>
          <a:lstStyle/>
          <a:p>
            <a:pPr lvl="0">
              <a:defRPr/>
            </a:pPr>
            <a:r>
              <a:rPr lang="en-US" sz="1400" b="1" dirty="0">
                <a:solidFill>
                  <a:srgbClr val="0070C0"/>
                </a:solidFill>
                <a:latin typeface="Book Antiqua" panose="02040602050305030304" pitchFamily="18" charset="0"/>
                <a:ea typeface="Arial Unicode MS"/>
              </a:rPr>
              <a:t>The majority (55%) perceived that anti-corruption agencies in Nigeria are not effective. In Enugu, 88% perceived that the agencies are not effective.</a:t>
            </a:r>
            <a:endPar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endParaRPr>
          </a:p>
        </p:txBody>
      </p:sp>
      <p:sp>
        <p:nvSpPr>
          <p:cNvPr id="5" name="TextBox 4">
            <a:extLst>
              <a:ext uri="{FF2B5EF4-FFF2-40B4-BE49-F238E27FC236}">
                <a16:creationId xmlns:a16="http://schemas.microsoft.com/office/drawing/2014/main" id="{55F5642B-83A0-CD7B-E2BA-8E492D002397}"/>
              </a:ext>
            </a:extLst>
          </p:cNvPr>
          <p:cNvSpPr txBox="1"/>
          <p:nvPr/>
        </p:nvSpPr>
        <p:spPr>
          <a:xfrm>
            <a:off x="312990" y="119838"/>
            <a:ext cx="6545009"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Perception of anti-corruption agencies in Nigeria</a:t>
            </a:r>
          </a:p>
        </p:txBody>
      </p:sp>
      <p:graphicFrame>
        <p:nvGraphicFramePr>
          <p:cNvPr id="4" name="Table 3">
            <a:extLst>
              <a:ext uri="{FF2B5EF4-FFF2-40B4-BE49-F238E27FC236}">
                <a16:creationId xmlns:a16="http://schemas.microsoft.com/office/drawing/2014/main" id="{5481D1C6-42A9-46B3-B1E6-85934D6CE3A0}"/>
              </a:ext>
            </a:extLst>
          </p:cNvPr>
          <p:cNvGraphicFramePr>
            <a:graphicFrameLocks noGrp="1"/>
          </p:cNvGraphicFramePr>
          <p:nvPr>
            <p:extLst>
              <p:ext uri="{D42A27DB-BD31-4B8C-83A1-F6EECF244321}">
                <p14:modId xmlns:p14="http://schemas.microsoft.com/office/powerpoint/2010/main" val="3205514215"/>
              </p:ext>
            </p:extLst>
          </p:nvPr>
        </p:nvGraphicFramePr>
        <p:xfrm>
          <a:off x="1817370" y="5212025"/>
          <a:ext cx="9477948" cy="369331"/>
        </p:xfrm>
        <a:graphic>
          <a:graphicData uri="http://schemas.openxmlformats.org/drawingml/2006/table">
            <a:tbl>
              <a:tblPr>
                <a:tableStyleId>{BC89EF96-8CEA-46FF-86C4-4CE0E7609802}</a:tableStyleId>
              </a:tblPr>
              <a:tblGrid>
                <a:gridCol w="789829">
                  <a:extLst>
                    <a:ext uri="{9D8B030D-6E8A-4147-A177-3AD203B41FA5}">
                      <a16:colId xmlns:a16="http://schemas.microsoft.com/office/drawing/2014/main" val="3971998484"/>
                    </a:ext>
                  </a:extLst>
                </a:gridCol>
                <a:gridCol w="789829">
                  <a:extLst>
                    <a:ext uri="{9D8B030D-6E8A-4147-A177-3AD203B41FA5}">
                      <a16:colId xmlns:a16="http://schemas.microsoft.com/office/drawing/2014/main" val="273507684"/>
                    </a:ext>
                  </a:extLst>
                </a:gridCol>
                <a:gridCol w="789829">
                  <a:extLst>
                    <a:ext uri="{9D8B030D-6E8A-4147-A177-3AD203B41FA5}">
                      <a16:colId xmlns:a16="http://schemas.microsoft.com/office/drawing/2014/main" val="4260605051"/>
                    </a:ext>
                  </a:extLst>
                </a:gridCol>
                <a:gridCol w="789829">
                  <a:extLst>
                    <a:ext uri="{9D8B030D-6E8A-4147-A177-3AD203B41FA5}">
                      <a16:colId xmlns:a16="http://schemas.microsoft.com/office/drawing/2014/main" val="106525477"/>
                    </a:ext>
                  </a:extLst>
                </a:gridCol>
                <a:gridCol w="789829">
                  <a:extLst>
                    <a:ext uri="{9D8B030D-6E8A-4147-A177-3AD203B41FA5}">
                      <a16:colId xmlns:a16="http://schemas.microsoft.com/office/drawing/2014/main" val="2242861504"/>
                    </a:ext>
                  </a:extLst>
                </a:gridCol>
                <a:gridCol w="789829">
                  <a:extLst>
                    <a:ext uri="{9D8B030D-6E8A-4147-A177-3AD203B41FA5}">
                      <a16:colId xmlns:a16="http://schemas.microsoft.com/office/drawing/2014/main" val="4183782148"/>
                    </a:ext>
                  </a:extLst>
                </a:gridCol>
                <a:gridCol w="789829">
                  <a:extLst>
                    <a:ext uri="{9D8B030D-6E8A-4147-A177-3AD203B41FA5}">
                      <a16:colId xmlns:a16="http://schemas.microsoft.com/office/drawing/2014/main" val="2049398142"/>
                    </a:ext>
                  </a:extLst>
                </a:gridCol>
                <a:gridCol w="789829">
                  <a:extLst>
                    <a:ext uri="{9D8B030D-6E8A-4147-A177-3AD203B41FA5}">
                      <a16:colId xmlns:a16="http://schemas.microsoft.com/office/drawing/2014/main" val="820745645"/>
                    </a:ext>
                  </a:extLst>
                </a:gridCol>
                <a:gridCol w="789829">
                  <a:extLst>
                    <a:ext uri="{9D8B030D-6E8A-4147-A177-3AD203B41FA5}">
                      <a16:colId xmlns:a16="http://schemas.microsoft.com/office/drawing/2014/main" val="2489163101"/>
                    </a:ext>
                  </a:extLst>
                </a:gridCol>
                <a:gridCol w="789829">
                  <a:extLst>
                    <a:ext uri="{9D8B030D-6E8A-4147-A177-3AD203B41FA5}">
                      <a16:colId xmlns:a16="http://schemas.microsoft.com/office/drawing/2014/main" val="3206989997"/>
                    </a:ext>
                  </a:extLst>
                </a:gridCol>
                <a:gridCol w="789829">
                  <a:extLst>
                    <a:ext uri="{9D8B030D-6E8A-4147-A177-3AD203B41FA5}">
                      <a16:colId xmlns:a16="http://schemas.microsoft.com/office/drawing/2014/main" val="534552785"/>
                    </a:ext>
                  </a:extLst>
                </a:gridCol>
                <a:gridCol w="789829">
                  <a:extLst>
                    <a:ext uri="{9D8B030D-6E8A-4147-A177-3AD203B41FA5}">
                      <a16:colId xmlns:a16="http://schemas.microsoft.com/office/drawing/2014/main" val="2607264578"/>
                    </a:ext>
                  </a:extLst>
                </a:gridCol>
              </a:tblGrid>
              <a:tr h="369331">
                <a:tc>
                  <a:txBody>
                    <a:bodyPr/>
                    <a:lstStyle/>
                    <a:p>
                      <a:pPr algn="ctr" fontAlgn="b"/>
                      <a:r>
                        <a:rPr lang="en-US" sz="1400" b="1" u="none" strike="noStrike" dirty="0">
                          <a:effectLst/>
                        </a:rPr>
                        <a:t>Mean</a:t>
                      </a:r>
                      <a:endParaRPr lang="en-GB" sz="1400" b="1" i="0" u="none" strike="noStrike" dirty="0">
                        <a:solidFill>
                          <a:srgbClr val="000000"/>
                        </a:solidFill>
                        <a:effectLst/>
                        <a:latin typeface="+mn-lt"/>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dirty="0">
                          <a:solidFill>
                            <a:srgbClr val="0070C0"/>
                          </a:solidFill>
                          <a:effectLst/>
                          <a:latin typeface="Calibri" panose="020F0502020204030204" pitchFamily="34" charset="0"/>
                        </a:rPr>
                        <a:t>2.6</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2.66</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2.54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2.74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2.32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3.23</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1.74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2.29</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2.89</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2.66</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dirty="0">
                          <a:solidFill>
                            <a:srgbClr val="0070C0"/>
                          </a:solidFill>
                          <a:effectLst/>
                          <a:latin typeface="Calibri" panose="020F0502020204030204" pitchFamily="34" charset="0"/>
                        </a:rPr>
                        <a:t>2.48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30887128"/>
                  </a:ext>
                </a:extLst>
              </a:tr>
            </a:tbl>
          </a:graphicData>
        </a:graphic>
      </p:graphicFrame>
      <p:graphicFrame>
        <p:nvGraphicFramePr>
          <p:cNvPr id="6" name="Chart 5">
            <a:extLst>
              <a:ext uri="{FF2B5EF4-FFF2-40B4-BE49-F238E27FC236}">
                <a16:creationId xmlns:a16="http://schemas.microsoft.com/office/drawing/2014/main" id="{A4B0A94F-6FB5-4821-80DD-F4A0ACECE84F}"/>
              </a:ext>
            </a:extLst>
          </p:cNvPr>
          <p:cNvGraphicFramePr/>
          <p:nvPr>
            <p:extLst>
              <p:ext uri="{D42A27DB-BD31-4B8C-83A1-F6EECF244321}">
                <p14:modId xmlns:p14="http://schemas.microsoft.com/office/powerpoint/2010/main" val="2149181496"/>
              </p:ext>
            </p:extLst>
          </p:nvPr>
        </p:nvGraphicFramePr>
        <p:xfrm>
          <a:off x="832514" y="1514700"/>
          <a:ext cx="10582788" cy="360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Table 6">
            <a:extLst>
              <a:ext uri="{FF2B5EF4-FFF2-40B4-BE49-F238E27FC236}">
                <a16:creationId xmlns:a16="http://schemas.microsoft.com/office/drawing/2014/main" id="{583DA3B5-C5B6-48AE-8322-7F1726F2D0A7}"/>
              </a:ext>
            </a:extLst>
          </p:cNvPr>
          <p:cNvGraphicFramePr>
            <a:graphicFrameLocks noGrp="1"/>
          </p:cNvGraphicFramePr>
          <p:nvPr>
            <p:extLst>
              <p:ext uri="{D42A27DB-BD31-4B8C-83A1-F6EECF244321}">
                <p14:modId xmlns:p14="http://schemas.microsoft.com/office/powerpoint/2010/main" val="2065982042"/>
              </p:ext>
            </p:extLst>
          </p:nvPr>
        </p:nvGraphicFramePr>
        <p:xfrm>
          <a:off x="1795347" y="5694561"/>
          <a:ext cx="9477948" cy="222885"/>
        </p:xfrm>
        <a:graphic>
          <a:graphicData uri="http://schemas.openxmlformats.org/drawingml/2006/table">
            <a:tbl>
              <a:tblPr>
                <a:tableStyleId>{2D5ABB26-0587-4C30-8999-92F81FD0307C}</a:tableStyleId>
              </a:tblPr>
              <a:tblGrid>
                <a:gridCol w="789829">
                  <a:extLst>
                    <a:ext uri="{9D8B030D-6E8A-4147-A177-3AD203B41FA5}">
                      <a16:colId xmlns:a16="http://schemas.microsoft.com/office/drawing/2014/main" val="71965769"/>
                    </a:ext>
                  </a:extLst>
                </a:gridCol>
                <a:gridCol w="789829">
                  <a:extLst>
                    <a:ext uri="{9D8B030D-6E8A-4147-A177-3AD203B41FA5}">
                      <a16:colId xmlns:a16="http://schemas.microsoft.com/office/drawing/2014/main" val="4155578195"/>
                    </a:ext>
                  </a:extLst>
                </a:gridCol>
                <a:gridCol w="789829">
                  <a:extLst>
                    <a:ext uri="{9D8B030D-6E8A-4147-A177-3AD203B41FA5}">
                      <a16:colId xmlns:a16="http://schemas.microsoft.com/office/drawing/2014/main" val="1889141429"/>
                    </a:ext>
                  </a:extLst>
                </a:gridCol>
                <a:gridCol w="789829">
                  <a:extLst>
                    <a:ext uri="{9D8B030D-6E8A-4147-A177-3AD203B41FA5}">
                      <a16:colId xmlns:a16="http://schemas.microsoft.com/office/drawing/2014/main" val="3753417597"/>
                    </a:ext>
                  </a:extLst>
                </a:gridCol>
                <a:gridCol w="789829">
                  <a:extLst>
                    <a:ext uri="{9D8B030D-6E8A-4147-A177-3AD203B41FA5}">
                      <a16:colId xmlns:a16="http://schemas.microsoft.com/office/drawing/2014/main" val="1740810762"/>
                    </a:ext>
                  </a:extLst>
                </a:gridCol>
                <a:gridCol w="789829">
                  <a:extLst>
                    <a:ext uri="{9D8B030D-6E8A-4147-A177-3AD203B41FA5}">
                      <a16:colId xmlns:a16="http://schemas.microsoft.com/office/drawing/2014/main" val="790009114"/>
                    </a:ext>
                  </a:extLst>
                </a:gridCol>
                <a:gridCol w="789829">
                  <a:extLst>
                    <a:ext uri="{9D8B030D-6E8A-4147-A177-3AD203B41FA5}">
                      <a16:colId xmlns:a16="http://schemas.microsoft.com/office/drawing/2014/main" val="3015911202"/>
                    </a:ext>
                  </a:extLst>
                </a:gridCol>
                <a:gridCol w="789829">
                  <a:extLst>
                    <a:ext uri="{9D8B030D-6E8A-4147-A177-3AD203B41FA5}">
                      <a16:colId xmlns:a16="http://schemas.microsoft.com/office/drawing/2014/main" val="3232248389"/>
                    </a:ext>
                  </a:extLst>
                </a:gridCol>
                <a:gridCol w="789829">
                  <a:extLst>
                    <a:ext uri="{9D8B030D-6E8A-4147-A177-3AD203B41FA5}">
                      <a16:colId xmlns:a16="http://schemas.microsoft.com/office/drawing/2014/main" val="3458814408"/>
                    </a:ext>
                  </a:extLst>
                </a:gridCol>
                <a:gridCol w="789829">
                  <a:extLst>
                    <a:ext uri="{9D8B030D-6E8A-4147-A177-3AD203B41FA5}">
                      <a16:colId xmlns:a16="http://schemas.microsoft.com/office/drawing/2014/main" val="1536593214"/>
                    </a:ext>
                  </a:extLst>
                </a:gridCol>
                <a:gridCol w="789829">
                  <a:extLst>
                    <a:ext uri="{9D8B030D-6E8A-4147-A177-3AD203B41FA5}">
                      <a16:colId xmlns:a16="http://schemas.microsoft.com/office/drawing/2014/main" val="1349874692"/>
                    </a:ext>
                  </a:extLst>
                </a:gridCol>
                <a:gridCol w="789829">
                  <a:extLst>
                    <a:ext uri="{9D8B030D-6E8A-4147-A177-3AD203B41FA5}">
                      <a16:colId xmlns:a16="http://schemas.microsoft.com/office/drawing/2014/main" val="337574888"/>
                    </a:ext>
                  </a:extLst>
                </a:gridCol>
              </a:tblGrid>
              <a:tr h="190500">
                <a:tc>
                  <a:txBody>
                    <a:bodyPr/>
                    <a:lstStyle/>
                    <a:p>
                      <a:pPr algn="ctr" fontAlgn="b"/>
                      <a:r>
                        <a:rPr lang="en-US" sz="1400" b="1" i="0" u="none" strike="noStrike" dirty="0">
                          <a:solidFill>
                            <a:schemeClr val="bg1">
                              <a:lumMod val="65000"/>
                            </a:schemeClr>
                          </a:solidFill>
                          <a:effectLst/>
                          <a:latin typeface="Calibri" panose="020F0502020204030204" pitchFamily="34" charset="0"/>
                        </a:rPr>
                        <a:t>Base</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1456</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681</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775</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170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290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284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210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158</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344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937</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519</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61141031"/>
                  </a:ext>
                </a:extLst>
              </a:tr>
            </a:tbl>
          </a:graphicData>
        </a:graphic>
      </p:graphicFrame>
    </p:spTree>
    <p:extLst>
      <p:ext uri="{BB962C8B-B14F-4D97-AF65-F5344CB8AC3E}">
        <p14:creationId xmlns:p14="http://schemas.microsoft.com/office/powerpoint/2010/main" val="40901838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Q18. Do you believe elected leaders in Nigeria are transparent in their decision-making?</a:t>
            </a:r>
            <a:endParaRPr lang="en-US" sz="1000" dirty="0">
              <a:latin typeface="Book Antiqua" panose="02040602050305030304" pitchFamily="18" charset="0"/>
            </a:endParaRPr>
          </a:p>
        </p:txBody>
      </p:sp>
      <p:sp>
        <p:nvSpPr>
          <p:cNvPr id="14" name="TextBox 13">
            <a:extLst>
              <a:ext uri="{FF2B5EF4-FFF2-40B4-BE49-F238E27FC236}">
                <a16:creationId xmlns:a16="http://schemas.microsoft.com/office/drawing/2014/main" id="{24EE3164-36BE-1169-158F-AC5F91216B94}"/>
              </a:ext>
            </a:extLst>
          </p:cNvPr>
          <p:cNvSpPr txBox="1"/>
          <p:nvPr/>
        </p:nvSpPr>
        <p:spPr>
          <a:xfrm>
            <a:off x="331302" y="675740"/>
            <a:ext cx="11714923" cy="307777"/>
          </a:xfrm>
          <a:prstGeom prst="rect">
            <a:avLst/>
          </a:prstGeom>
          <a:noFill/>
        </p:spPr>
        <p:txBody>
          <a:bodyPr wrap="square">
            <a:spAutoFit/>
          </a:bodyPr>
          <a:lstStyle/>
          <a:p>
            <a:pPr lvl="0">
              <a:defRPr/>
            </a:pPr>
            <a:r>
              <a:rPr lang="en-US" sz="1400" b="1" dirty="0">
                <a:solidFill>
                  <a:srgbClr val="0070C0"/>
                </a:solidFill>
                <a:latin typeface="Book Antiqua" panose="02040602050305030304" pitchFamily="18" charset="0"/>
                <a:ea typeface="Arial Unicode MS"/>
              </a:rPr>
              <a:t>The majority (77%), especially in Bauchi (93%) and Enugu (95%), believed that elected leaders are not transparent in their decision-making.</a:t>
            </a:r>
          </a:p>
        </p:txBody>
      </p:sp>
      <p:sp>
        <p:nvSpPr>
          <p:cNvPr id="5" name="TextBox 4">
            <a:extLst>
              <a:ext uri="{FF2B5EF4-FFF2-40B4-BE49-F238E27FC236}">
                <a16:creationId xmlns:a16="http://schemas.microsoft.com/office/drawing/2014/main" id="{55F5642B-83A0-CD7B-E2BA-8E492D002397}"/>
              </a:ext>
            </a:extLst>
          </p:cNvPr>
          <p:cNvSpPr txBox="1"/>
          <p:nvPr/>
        </p:nvSpPr>
        <p:spPr>
          <a:xfrm>
            <a:off x="312991" y="119838"/>
            <a:ext cx="6734580"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Elected leaders’ transparency in their decision-making</a:t>
            </a:r>
          </a:p>
        </p:txBody>
      </p:sp>
      <p:graphicFrame>
        <p:nvGraphicFramePr>
          <p:cNvPr id="6" name="Chart 5">
            <a:extLst>
              <a:ext uri="{FF2B5EF4-FFF2-40B4-BE49-F238E27FC236}">
                <a16:creationId xmlns:a16="http://schemas.microsoft.com/office/drawing/2014/main" id="{A4B0A94F-6FB5-4821-80DD-F4A0ACECE84F}"/>
              </a:ext>
            </a:extLst>
          </p:cNvPr>
          <p:cNvGraphicFramePr/>
          <p:nvPr>
            <p:extLst>
              <p:ext uri="{D42A27DB-BD31-4B8C-83A1-F6EECF244321}">
                <p14:modId xmlns:p14="http://schemas.microsoft.com/office/powerpoint/2010/main" val="1488731462"/>
              </p:ext>
            </p:extLst>
          </p:nvPr>
        </p:nvGraphicFramePr>
        <p:xfrm>
          <a:off x="947854" y="1514700"/>
          <a:ext cx="10467447" cy="360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Table 6">
            <a:extLst>
              <a:ext uri="{FF2B5EF4-FFF2-40B4-BE49-F238E27FC236}">
                <a16:creationId xmlns:a16="http://schemas.microsoft.com/office/drawing/2014/main" id="{F7088E95-62A8-4C9C-93E2-1793E4A81A0B}"/>
              </a:ext>
            </a:extLst>
          </p:cNvPr>
          <p:cNvGraphicFramePr>
            <a:graphicFrameLocks noGrp="1"/>
          </p:cNvGraphicFramePr>
          <p:nvPr>
            <p:extLst>
              <p:ext uri="{D42A27DB-BD31-4B8C-83A1-F6EECF244321}">
                <p14:modId xmlns:p14="http://schemas.microsoft.com/office/powerpoint/2010/main" val="2065982042"/>
              </p:ext>
            </p:extLst>
          </p:nvPr>
        </p:nvGraphicFramePr>
        <p:xfrm>
          <a:off x="1795347" y="5694561"/>
          <a:ext cx="9477948" cy="222885"/>
        </p:xfrm>
        <a:graphic>
          <a:graphicData uri="http://schemas.openxmlformats.org/drawingml/2006/table">
            <a:tbl>
              <a:tblPr>
                <a:tableStyleId>{2D5ABB26-0587-4C30-8999-92F81FD0307C}</a:tableStyleId>
              </a:tblPr>
              <a:tblGrid>
                <a:gridCol w="789829">
                  <a:extLst>
                    <a:ext uri="{9D8B030D-6E8A-4147-A177-3AD203B41FA5}">
                      <a16:colId xmlns:a16="http://schemas.microsoft.com/office/drawing/2014/main" val="71965769"/>
                    </a:ext>
                  </a:extLst>
                </a:gridCol>
                <a:gridCol w="789829">
                  <a:extLst>
                    <a:ext uri="{9D8B030D-6E8A-4147-A177-3AD203B41FA5}">
                      <a16:colId xmlns:a16="http://schemas.microsoft.com/office/drawing/2014/main" val="4155578195"/>
                    </a:ext>
                  </a:extLst>
                </a:gridCol>
                <a:gridCol w="789829">
                  <a:extLst>
                    <a:ext uri="{9D8B030D-6E8A-4147-A177-3AD203B41FA5}">
                      <a16:colId xmlns:a16="http://schemas.microsoft.com/office/drawing/2014/main" val="1889141429"/>
                    </a:ext>
                  </a:extLst>
                </a:gridCol>
                <a:gridCol w="789829">
                  <a:extLst>
                    <a:ext uri="{9D8B030D-6E8A-4147-A177-3AD203B41FA5}">
                      <a16:colId xmlns:a16="http://schemas.microsoft.com/office/drawing/2014/main" val="3753417597"/>
                    </a:ext>
                  </a:extLst>
                </a:gridCol>
                <a:gridCol w="789829">
                  <a:extLst>
                    <a:ext uri="{9D8B030D-6E8A-4147-A177-3AD203B41FA5}">
                      <a16:colId xmlns:a16="http://schemas.microsoft.com/office/drawing/2014/main" val="1740810762"/>
                    </a:ext>
                  </a:extLst>
                </a:gridCol>
                <a:gridCol w="789829">
                  <a:extLst>
                    <a:ext uri="{9D8B030D-6E8A-4147-A177-3AD203B41FA5}">
                      <a16:colId xmlns:a16="http://schemas.microsoft.com/office/drawing/2014/main" val="790009114"/>
                    </a:ext>
                  </a:extLst>
                </a:gridCol>
                <a:gridCol w="789829">
                  <a:extLst>
                    <a:ext uri="{9D8B030D-6E8A-4147-A177-3AD203B41FA5}">
                      <a16:colId xmlns:a16="http://schemas.microsoft.com/office/drawing/2014/main" val="3015911202"/>
                    </a:ext>
                  </a:extLst>
                </a:gridCol>
                <a:gridCol w="789829">
                  <a:extLst>
                    <a:ext uri="{9D8B030D-6E8A-4147-A177-3AD203B41FA5}">
                      <a16:colId xmlns:a16="http://schemas.microsoft.com/office/drawing/2014/main" val="3232248389"/>
                    </a:ext>
                  </a:extLst>
                </a:gridCol>
                <a:gridCol w="789829">
                  <a:extLst>
                    <a:ext uri="{9D8B030D-6E8A-4147-A177-3AD203B41FA5}">
                      <a16:colId xmlns:a16="http://schemas.microsoft.com/office/drawing/2014/main" val="3458814408"/>
                    </a:ext>
                  </a:extLst>
                </a:gridCol>
                <a:gridCol w="789829">
                  <a:extLst>
                    <a:ext uri="{9D8B030D-6E8A-4147-A177-3AD203B41FA5}">
                      <a16:colId xmlns:a16="http://schemas.microsoft.com/office/drawing/2014/main" val="1536593214"/>
                    </a:ext>
                  </a:extLst>
                </a:gridCol>
                <a:gridCol w="789829">
                  <a:extLst>
                    <a:ext uri="{9D8B030D-6E8A-4147-A177-3AD203B41FA5}">
                      <a16:colId xmlns:a16="http://schemas.microsoft.com/office/drawing/2014/main" val="1349874692"/>
                    </a:ext>
                  </a:extLst>
                </a:gridCol>
                <a:gridCol w="789829">
                  <a:extLst>
                    <a:ext uri="{9D8B030D-6E8A-4147-A177-3AD203B41FA5}">
                      <a16:colId xmlns:a16="http://schemas.microsoft.com/office/drawing/2014/main" val="337574888"/>
                    </a:ext>
                  </a:extLst>
                </a:gridCol>
              </a:tblGrid>
              <a:tr h="190500">
                <a:tc>
                  <a:txBody>
                    <a:bodyPr/>
                    <a:lstStyle/>
                    <a:p>
                      <a:pPr algn="ctr" fontAlgn="b"/>
                      <a:r>
                        <a:rPr lang="en-US" sz="1400" b="1" i="0" u="none" strike="noStrike" dirty="0">
                          <a:solidFill>
                            <a:schemeClr val="bg1">
                              <a:lumMod val="65000"/>
                            </a:schemeClr>
                          </a:solidFill>
                          <a:effectLst/>
                          <a:latin typeface="Calibri" panose="020F0502020204030204" pitchFamily="34" charset="0"/>
                        </a:rPr>
                        <a:t>Base</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1456</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681</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775</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170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290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284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210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158</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344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937</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519</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61141031"/>
                  </a:ext>
                </a:extLst>
              </a:tr>
            </a:tbl>
          </a:graphicData>
        </a:graphic>
      </p:graphicFrame>
    </p:spTree>
    <p:extLst>
      <p:ext uri="{BB962C8B-B14F-4D97-AF65-F5344CB8AC3E}">
        <p14:creationId xmlns:p14="http://schemas.microsoft.com/office/powerpoint/2010/main" val="4135841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Q19. Have you ever benefited from a government program (e.g., social intervention programs, infrastructure, security measures…..)?</a:t>
            </a:r>
            <a:endParaRPr lang="en-US" sz="1000" dirty="0">
              <a:latin typeface="Book Antiqua" panose="02040602050305030304" pitchFamily="18" charset="0"/>
            </a:endParaRPr>
          </a:p>
        </p:txBody>
      </p:sp>
      <p:sp>
        <p:nvSpPr>
          <p:cNvPr id="14" name="TextBox 13">
            <a:extLst>
              <a:ext uri="{FF2B5EF4-FFF2-40B4-BE49-F238E27FC236}">
                <a16:creationId xmlns:a16="http://schemas.microsoft.com/office/drawing/2014/main" id="{24EE3164-36BE-1169-158F-AC5F91216B94}"/>
              </a:ext>
            </a:extLst>
          </p:cNvPr>
          <p:cNvSpPr txBox="1"/>
          <p:nvPr/>
        </p:nvSpPr>
        <p:spPr>
          <a:xfrm>
            <a:off x="331302" y="675740"/>
            <a:ext cx="11714923"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rPr>
              <a:t>The majority (79%), especially in Bauchi (91%) and Enugu (94%) claimed they have not benefited from a government program. They are more beneficiaries of a government program in Kano (39%).</a:t>
            </a:r>
          </a:p>
        </p:txBody>
      </p:sp>
      <p:sp>
        <p:nvSpPr>
          <p:cNvPr id="5" name="TextBox 4">
            <a:extLst>
              <a:ext uri="{FF2B5EF4-FFF2-40B4-BE49-F238E27FC236}">
                <a16:creationId xmlns:a16="http://schemas.microsoft.com/office/drawing/2014/main" id="{55F5642B-83A0-CD7B-E2BA-8E492D002397}"/>
              </a:ext>
            </a:extLst>
          </p:cNvPr>
          <p:cNvSpPr txBox="1"/>
          <p:nvPr/>
        </p:nvSpPr>
        <p:spPr>
          <a:xfrm>
            <a:off x="312991" y="119838"/>
            <a:ext cx="5605670"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Benefits from a government program </a:t>
            </a:r>
          </a:p>
        </p:txBody>
      </p:sp>
      <p:graphicFrame>
        <p:nvGraphicFramePr>
          <p:cNvPr id="6" name="Chart 5">
            <a:extLst>
              <a:ext uri="{FF2B5EF4-FFF2-40B4-BE49-F238E27FC236}">
                <a16:creationId xmlns:a16="http://schemas.microsoft.com/office/drawing/2014/main" id="{A4B0A94F-6FB5-4821-80DD-F4A0ACECE84F}"/>
              </a:ext>
            </a:extLst>
          </p:cNvPr>
          <p:cNvGraphicFramePr/>
          <p:nvPr>
            <p:extLst>
              <p:ext uri="{D42A27DB-BD31-4B8C-83A1-F6EECF244321}">
                <p14:modId xmlns:p14="http://schemas.microsoft.com/office/powerpoint/2010/main" val="3060366954"/>
              </p:ext>
            </p:extLst>
          </p:nvPr>
        </p:nvGraphicFramePr>
        <p:xfrm>
          <a:off x="1335301" y="1514700"/>
          <a:ext cx="10080000" cy="360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Table 6">
            <a:extLst>
              <a:ext uri="{FF2B5EF4-FFF2-40B4-BE49-F238E27FC236}">
                <a16:creationId xmlns:a16="http://schemas.microsoft.com/office/drawing/2014/main" id="{98E0A1DC-1BFA-4F37-918B-552A66FFA39F}"/>
              </a:ext>
            </a:extLst>
          </p:cNvPr>
          <p:cNvGraphicFramePr>
            <a:graphicFrameLocks noGrp="1"/>
          </p:cNvGraphicFramePr>
          <p:nvPr>
            <p:extLst>
              <p:ext uri="{D42A27DB-BD31-4B8C-83A1-F6EECF244321}">
                <p14:modId xmlns:p14="http://schemas.microsoft.com/office/powerpoint/2010/main" val="2065982042"/>
              </p:ext>
            </p:extLst>
          </p:nvPr>
        </p:nvGraphicFramePr>
        <p:xfrm>
          <a:off x="1795347" y="5694561"/>
          <a:ext cx="9477948" cy="222885"/>
        </p:xfrm>
        <a:graphic>
          <a:graphicData uri="http://schemas.openxmlformats.org/drawingml/2006/table">
            <a:tbl>
              <a:tblPr>
                <a:tableStyleId>{2D5ABB26-0587-4C30-8999-92F81FD0307C}</a:tableStyleId>
              </a:tblPr>
              <a:tblGrid>
                <a:gridCol w="789829">
                  <a:extLst>
                    <a:ext uri="{9D8B030D-6E8A-4147-A177-3AD203B41FA5}">
                      <a16:colId xmlns:a16="http://schemas.microsoft.com/office/drawing/2014/main" val="71965769"/>
                    </a:ext>
                  </a:extLst>
                </a:gridCol>
                <a:gridCol w="789829">
                  <a:extLst>
                    <a:ext uri="{9D8B030D-6E8A-4147-A177-3AD203B41FA5}">
                      <a16:colId xmlns:a16="http://schemas.microsoft.com/office/drawing/2014/main" val="4155578195"/>
                    </a:ext>
                  </a:extLst>
                </a:gridCol>
                <a:gridCol w="789829">
                  <a:extLst>
                    <a:ext uri="{9D8B030D-6E8A-4147-A177-3AD203B41FA5}">
                      <a16:colId xmlns:a16="http://schemas.microsoft.com/office/drawing/2014/main" val="1889141429"/>
                    </a:ext>
                  </a:extLst>
                </a:gridCol>
                <a:gridCol w="789829">
                  <a:extLst>
                    <a:ext uri="{9D8B030D-6E8A-4147-A177-3AD203B41FA5}">
                      <a16:colId xmlns:a16="http://schemas.microsoft.com/office/drawing/2014/main" val="3753417597"/>
                    </a:ext>
                  </a:extLst>
                </a:gridCol>
                <a:gridCol w="789829">
                  <a:extLst>
                    <a:ext uri="{9D8B030D-6E8A-4147-A177-3AD203B41FA5}">
                      <a16:colId xmlns:a16="http://schemas.microsoft.com/office/drawing/2014/main" val="1740810762"/>
                    </a:ext>
                  </a:extLst>
                </a:gridCol>
                <a:gridCol w="789829">
                  <a:extLst>
                    <a:ext uri="{9D8B030D-6E8A-4147-A177-3AD203B41FA5}">
                      <a16:colId xmlns:a16="http://schemas.microsoft.com/office/drawing/2014/main" val="790009114"/>
                    </a:ext>
                  </a:extLst>
                </a:gridCol>
                <a:gridCol w="789829">
                  <a:extLst>
                    <a:ext uri="{9D8B030D-6E8A-4147-A177-3AD203B41FA5}">
                      <a16:colId xmlns:a16="http://schemas.microsoft.com/office/drawing/2014/main" val="3015911202"/>
                    </a:ext>
                  </a:extLst>
                </a:gridCol>
                <a:gridCol w="789829">
                  <a:extLst>
                    <a:ext uri="{9D8B030D-6E8A-4147-A177-3AD203B41FA5}">
                      <a16:colId xmlns:a16="http://schemas.microsoft.com/office/drawing/2014/main" val="3232248389"/>
                    </a:ext>
                  </a:extLst>
                </a:gridCol>
                <a:gridCol w="789829">
                  <a:extLst>
                    <a:ext uri="{9D8B030D-6E8A-4147-A177-3AD203B41FA5}">
                      <a16:colId xmlns:a16="http://schemas.microsoft.com/office/drawing/2014/main" val="3458814408"/>
                    </a:ext>
                  </a:extLst>
                </a:gridCol>
                <a:gridCol w="789829">
                  <a:extLst>
                    <a:ext uri="{9D8B030D-6E8A-4147-A177-3AD203B41FA5}">
                      <a16:colId xmlns:a16="http://schemas.microsoft.com/office/drawing/2014/main" val="1536593214"/>
                    </a:ext>
                  </a:extLst>
                </a:gridCol>
                <a:gridCol w="789829">
                  <a:extLst>
                    <a:ext uri="{9D8B030D-6E8A-4147-A177-3AD203B41FA5}">
                      <a16:colId xmlns:a16="http://schemas.microsoft.com/office/drawing/2014/main" val="1349874692"/>
                    </a:ext>
                  </a:extLst>
                </a:gridCol>
                <a:gridCol w="789829">
                  <a:extLst>
                    <a:ext uri="{9D8B030D-6E8A-4147-A177-3AD203B41FA5}">
                      <a16:colId xmlns:a16="http://schemas.microsoft.com/office/drawing/2014/main" val="337574888"/>
                    </a:ext>
                  </a:extLst>
                </a:gridCol>
              </a:tblGrid>
              <a:tr h="190500">
                <a:tc>
                  <a:txBody>
                    <a:bodyPr/>
                    <a:lstStyle/>
                    <a:p>
                      <a:pPr algn="ctr" fontAlgn="b"/>
                      <a:r>
                        <a:rPr lang="en-US" sz="1400" b="1" i="0" u="none" strike="noStrike" dirty="0">
                          <a:solidFill>
                            <a:schemeClr val="bg1">
                              <a:lumMod val="65000"/>
                            </a:schemeClr>
                          </a:solidFill>
                          <a:effectLst/>
                          <a:latin typeface="Calibri" panose="020F0502020204030204" pitchFamily="34" charset="0"/>
                        </a:rPr>
                        <a:t>Base</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1456</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681</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775</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170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290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284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210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158</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344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937</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519</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61141031"/>
                  </a:ext>
                </a:extLst>
              </a:tr>
            </a:tbl>
          </a:graphicData>
        </a:graphic>
      </p:graphicFrame>
    </p:spTree>
    <p:extLst>
      <p:ext uri="{BB962C8B-B14F-4D97-AF65-F5344CB8AC3E}">
        <p14:creationId xmlns:p14="http://schemas.microsoft.com/office/powerpoint/2010/main" val="11471998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Q20. How well do Nigerian leaders fulfil their campaign promises?</a:t>
            </a:r>
            <a:endParaRPr lang="en-US" sz="1000" dirty="0">
              <a:latin typeface="Book Antiqua" panose="02040602050305030304" pitchFamily="18" charset="0"/>
            </a:endParaRPr>
          </a:p>
        </p:txBody>
      </p:sp>
      <p:sp>
        <p:nvSpPr>
          <p:cNvPr id="14" name="TextBox 13">
            <a:extLst>
              <a:ext uri="{FF2B5EF4-FFF2-40B4-BE49-F238E27FC236}">
                <a16:creationId xmlns:a16="http://schemas.microsoft.com/office/drawing/2014/main" id="{24EE3164-36BE-1169-158F-AC5F91216B94}"/>
              </a:ext>
            </a:extLst>
          </p:cNvPr>
          <p:cNvSpPr txBox="1"/>
          <p:nvPr/>
        </p:nvSpPr>
        <p:spPr>
          <a:xfrm>
            <a:off x="331302" y="675740"/>
            <a:ext cx="11714923"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rPr>
              <a:t>Only 14% believed that Nigerian leaders fulfilled their campaign promises, especially in Kano (40%).</a:t>
            </a:r>
          </a:p>
        </p:txBody>
      </p:sp>
      <p:sp>
        <p:nvSpPr>
          <p:cNvPr id="5" name="TextBox 4">
            <a:extLst>
              <a:ext uri="{FF2B5EF4-FFF2-40B4-BE49-F238E27FC236}">
                <a16:creationId xmlns:a16="http://schemas.microsoft.com/office/drawing/2014/main" id="{55F5642B-83A0-CD7B-E2BA-8E492D002397}"/>
              </a:ext>
            </a:extLst>
          </p:cNvPr>
          <p:cNvSpPr txBox="1"/>
          <p:nvPr/>
        </p:nvSpPr>
        <p:spPr>
          <a:xfrm>
            <a:off x="312991" y="119838"/>
            <a:ext cx="7080268"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Nigerian leaders and their campaign promises</a:t>
            </a:r>
          </a:p>
        </p:txBody>
      </p:sp>
      <p:graphicFrame>
        <p:nvGraphicFramePr>
          <p:cNvPr id="4" name="Table 3">
            <a:extLst>
              <a:ext uri="{FF2B5EF4-FFF2-40B4-BE49-F238E27FC236}">
                <a16:creationId xmlns:a16="http://schemas.microsoft.com/office/drawing/2014/main" id="{5481D1C6-42A9-46B3-B1E6-85934D6CE3A0}"/>
              </a:ext>
            </a:extLst>
          </p:cNvPr>
          <p:cNvGraphicFramePr>
            <a:graphicFrameLocks noGrp="1"/>
          </p:cNvGraphicFramePr>
          <p:nvPr>
            <p:extLst>
              <p:ext uri="{D42A27DB-BD31-4B8C-83A1-F6EECF244321}">
                <p14:modId xmlns:p14="http://schemas.microsoft.com/office/powerpoint/2010/main" val="523825712"/>
              </p:ext>
            </p:extLst>
          </p:nvPr>
        </p:nvGraphicFramePr>
        <p:xfrm>
          <a:off x="1817370" y="5212025"/>
          <a:ext cx="9477948" cy="369331"/>
        </p:xfrm>
        <a:graphic>
          <a:graphicData uri="http://schemas.openxmlformats.org/drawingml/2006/table">
            <a:tbl>
              <a:tblPr>
                <a:tableStyleId>{BC89EF96-8CEA-46FF-86C4-4CE0E7609802}</a:tableStyleId>
              </a:tblPr>
              <a:tblGrid>
                <a:gridCol w="789829">
                  <a:extLst>
                    <a:ext uri="{9D8B030D-6E8A-4147-A177-3AD203B41FA5}">
                      <a16:colId xmlns:a16="http://schemas.microsoft.com/office/drawing/2014/main" val="3971998484"/>
                    </a:ext>
                  </a:extLst>
                </a:gridCol>
                <a:gridCol w="789829">
                  <a:extLst>
                    <a:ext uri="{9D8B030D-6E8A-4147-A177-3AD203B41FA5}">
                      <a16:colId xmlns:a16="http://schemas.microsoft.com/office/drawing/2014/main" val="273507684"/>
                    </a:ext>
                  </a:extLst>
                </a:gridCol>
                <a:gridCol w="789829">
                  <a:extLst>
                    <a:ext uri="{9D8B030D-6E8A-4147-A177-3AD203B41FA5}">
                      <a16:colId xmlns:a16="http://schemas.microsoft.com/office/drawing/2014/main" val="4073967209"/>
                    </a:ext>
                  </a:extLst>
                </a:gridCol>
                <a:gridCol w="789829">
                  <a:extLst>
                    <a:ext uri="{9D8B030D-6E8A-4147-A177-3AD203B41FA5}">
                      <a16:colId xmlns:a16="http://schemas.microsoft.com/office/drawing/2014/main" val="1741138200"/>
                    </a:ext>
                  </a:extLst>
                </a:gridCol>
                <a:gridCol w="789829">
                  <a:extLst>
                    <a:ext uri="{9D8B030D-6E8A-4147-A177-3AD203B41FA5}">
                      <a16:colId xmlns:a16="http://schemas.microsoft.com/office/drawing/2014/main" val="3858383552"/>
                    </a:ext>
                  </a:extLst>
                </a:gridCol>
                <a:gridCol w="789829">
                  <a:extLst>
                    <a:ext uri="{9D8B030D-6E8A-4147-A177-3AD203B41FA5}">
                      <a16:colId xmlns:a16="http://schemas.microsoft.com/office/drawing/2014/main" val="4158743439"/>
                    </a:ext>
                  </a:extLst>
                </a:gridCol>
                <a:gridCol w="789829">
                  <a:extLst>
                    <a:ext uri="{9D8B030D-6E8A-4147-A177-3AD203B41FA5}">
                      <a16:colId xmlns:a16="http://schemas.microsoft.com/office/drawing/2014/main" val="2049398142"/>
                    </a:ext>
                  </a:extLst>
                </a:gridCol>
                <a:gridCol w="789829">
                  <a:extLst>
                    <a:ext uri="{9D8B030D-6E8A-4147-A177-3AD203B41FA5}">
                      <a16:colId xmlns:a16="http://schemas.microsoft.com/office/drawing/2014/main" val="820745645"/>
                    </a:ext>
                  </a:extLst>
                </a:gridCol>
                <a:gridCol w="789829">
                  <a:extLst>
                    <a:ext uri="{9D8B030D-6E8A-4147-A177-3AD203B41FA5}">
                      <a16:colId xmlns:a16="http://schemas.microsoft.com/office/drawing/2014/main" val="2489163101"/>
                    </a:ext>
                  </a:extLst>
                </a:gridCol>
                <a:gridCol w="789829">
                  <a:extLst>
                    <a:ext uri="{9D8B030D-6E8A-4147-A177-3AD203B41FA5}">
                      <a16:colId xmlns:a16="http://schemas.microsoft.com/office/drawing/2014/main" val="3206989997"/>
                    </a:ext>
                  </a:extLst>
                </a:gridCol>
                <a:gridCol w="789829">
                  <a:extLst>
                    <a:ext uri="{9D8B030D-6E8A-4147-A177-3AD203B41FA5}">
                      <a16:colId xmlns:a16="http://schemas.microsoft.com/office/drawing/2014/main" val="534552785"/>
                    </a:ext>
                  </a:extLst>
                </a:gridCol>
                <a:gridCol w="789829">
                  <a:extLst>
                    <a:ext uri="{9D8B030D-6E8A-4147-A177-3AD203B41FA5}">
                      <a16:colId xmlns:a16="http://schemas.microsoft.com/office/drawing/2014/main" val="2607264578"/>
                    </a:ext>
                  </a:extLst>
                </a:gridCol>
              </a:tblGrid>
              <a:tr h="369331">
                <a:tc>
                  <a:txBody>
                    <a:bodyPr/>
                    <a:lstStyle/>
                    <a:p>
                      <a:pPr algn="ctr" fontAlgn="b"/>
                      <a:r>
                        <a:rPr lang="en-US" sz="1400" b="1" u="none" strike="noStrike" dirty="0">
                          <a:effectLst/>
                        </a:rPr>
                        <a:t>Mean</a:t>
                      </a:r>
                      <a:endParaRPr lang="en-GB" sz="1400" b="1" i="0" u="none" strike="noStrike" dirty="0">
                        <a:solidFill>
                          <a:srgbClr val="000000"/>
                        </a:solidFill>
                        <a:effectLst/>
                        <a:latin typeface="+mn-lt"/>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dirty="0">
                          <a:solidFill>
                            <a:srgbClr val="0070C0"/>
                          </a:solidFill>
                          <a:effectLst/>
                          <a:latin typeface="Calibri" panose="020F0502020204030204" pitchFamily="34" charset="0"/>
                        </a:rPr>
                        <a:t>1.98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2.04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1.94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2.09</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1.48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2.63</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1.63</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1.75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2.14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dirty="0">
                          <a:solidFill>
                            <a:srgbClr val="0070C0"/>
                          </a:solidFill>
                          <a:effectLst/>
                          <a:latin typeface="Calibri" panose="020F0502020204030204" pitchFamily="34" charset="0"/>
                        </a:rPr>
                        <a:t>1.94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30887128"/>
                  </a:ext>
                </a:extLst>
              </a:tr>
            </a:tbl>
          </a:graphicData>
        </a:graphic>
      </p:graphicFrame>
      <p:graphicFrame>
        <p:nvGraphicFramePr>
          <p:cNvPr id="6" name="Chart 5">
            <a:extLst>
              <a:ext uri="{FF2B5EF4-FFF2-40B4-BE49-F238E27FC236}">
                <a16:creationId xmlns:a16="http://schemas.microsoft.com/office/drawing/2014/main" id="{A4B0A94F-6FB5-4821-80DD-F4A0ACECE84F}"/>
              </a:ext>
            </a:extLst>
          </p:cNvPr>
          <p:cNvGraphicFramePr/>
          <p:nvPr>
            <p:extLst>
              <p:ext uri="{D42A27DB-BD31-4B8C-83A1-F6EECF244321}">
                <p14:modId xmlns:p14="http://schemas.microsoft.com/office/powerpoint/2010/main" val="1241244883"/>
              </p:ext>
            </p:extLst>
          </p:nvPr>
        </p:nvGraphicFramePr>
        <p:xfrm>
          <a:off x="832513" y="1514700"/>
          <a:ext cx="10582788" cy="360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Table 6">
            <a:extLst>
              <a:ext uri="{FF2B5EF4-FFF2-40B4-BE49-F238E27FC236}">
                <a16:creationId xmlns:a16="http://schemas.microsoft.com/office/drawing/2014/main" id="{C6620059-47C9-4B61-9CB1-7CFBAFA76BEF}"/>
              </a:ext>
            </a:extLst>
          </p:cNvPr>
          <p:cNvGraphicFramePr>
            <a:graphicFrameLocks noGrp="1"/>
          </p:cNvGraphicFramePr>
          <p:nvPr>
            <p:extLst>
              <p:ext uri="{D42A27DB-BD31-4B8C-83A1-F6EECF244321}">
                <p14:modId xmlns:p14="http://schemas.microsoft.com/office/powerpoint/2010/main" val="2065982042"/>
              </p:ext>
            </p:extLst>
          </p:nvPr>
        </p:nvGraphicFramePr>
        <p:xfrm>
          <a:off x="1795347" y="5694561"/>
          <a:ext cx="9477948" cy="222885"/>
        </p:xfrm>
        <a:graphic>
          <a:graphicData uri="http://schemas.openxmlformats.org/drawingml/2006/table">
            <a:tbl>
              <a:tblPr>
                <a:tableStyleId>{2D5ABB26-0587-4C30-8999-92F81FD0307C}</a:tableStyleId>
              </a:tblPr>
              <a:tblGrid>
                <a:gridCol w="789829">
                  <a:extLst>
                    <a:ext uri="{9D8B030D-6E8A-4147-A177-3AD203B41FA5}">
                      <a16:colId xmlns:a16="http://schemas.microsoft.com/office/drawing/2014/main" val="71965769"/>
                    </a:ext>
                  </a:extLst>
                </a:gridCol>
                <a:gridCol w="789829">
                  <a:extLst>
                    <a:ext uri="{9D8B030D-6E8A-4147-A177-3AD203B41FA5}">
                      <a16:colId xmlns:a16="http://schemas.microsoft.com/office/drawing/2014/main" val="4155578195"/>
                    </a:ext>
                  </a:extLst>
                </a:gridCol>
                <a:gridCol w="789829">
                  <a:extLst>
                    <a:ext uri="{9D8B030D-6E8A-4147-A177-3AD203B41FA5}">
                      <a16:colId xmlns:a16="http://schemas.microsoft.com/office/drawing/2014/main" val="1889141429"/>
                    </a:ext>
                  </a:extLst>
                </a:gridCol>
                <a:gridCol w="789829">
                  <a:extLst>
                    <a:ext uri="{9D8B030D-6E8A-4147-A177-3AD203B41FA5}">
                      <a16:colId xmlns:a16="http://schemas.microsoft.com/office/drawing/2014/main" val="3753417597"/>
                    </a:ext>
                  </a:extLst>
                </a:gridCol>
                <a:gridCol w="789829">
                  <a:extLst>
                    <a:ext uri="{9D8B030D-6E8A-4147-A177-3AD203B41FA5}">
                      <a16:colId xmlns:a16="http://schemas.microsoft.com/office/drawing/2014/main" val="1740810762"/>
                    </a:ext>
                  </a:extLst>
                </a:gridCol>
                <a:gridCol w="789829">
                  <a:extLst>
                    <a:ext uri="{9D8B030D-6E8A-4147-A177-3AD203B41FA5}">
                      <a16:colId xmlns:a16="http://schemas.microsoft.com/office/drawing/2014/main" val="790009114"/>
                    </a:ext>
                  </a:extLst>
                </a:gridCol>
                <a:gridCol w="789829">
                  <a:extLst>
                    <a:ext uri="{9D8B030D-6E8A-4147-A177-3AD203B41FA5}">
                      <a16:colId xmlns:a16="http://schemas.microsoft.com/office/drawing/2014/main" val="3015911202"/>
                    </a:ext>
                  </a:extLst>
                </a:gridCol>
                <a:gridCol w="789829">
                  <a:extLst>
                    <a:ext uri="{9D8B030D-6E8A-4147-A177-3AD203B41FA5}">
                      <a16:colId xmlns:a16="http://schemas.microsoft.com/office/drawing/2014/main" val="3232248389"/>
                    </a:ext>
                  </a:extLst>
                </a:gridCol>
                <a:gridCol w="789829">
                  <a:extLst>
                    <a:ext uri="{9D8B030D-6E8A-4147-A177-3AD203B41FA5}">
                      <a16:colId xmlns:a16="http://schemas.microsoft.com/office/drawing/2014/main" val="3458814408"/>
                    </a:ext>
                  </a:extLst>
                </a:gridCol>
                <a:gridCol w="789829">
                  <a:extLst>
                    <a:ext uri="{9D8B030D-6E8A-4147-A177-3AD203B41FA5}">
                      <a16:colId xmlns:a16="http://schemas.microsoft.com/office/drawing/2014/main" val="1536593214"/>
                    </a:ext>
                  </a:extLst>
                </a:gridCol>
                <a:gridCol w="789829">
                  <a:extLst>
                    <a:ext uri="{9D8B030D-6E8A-4147-A177-3AD203B41FA5}">
                      <a16:colId xmlns:a16="http://schemas.microsoft.com/office/drawing/2014/main" val="1349874692"/>
                    </a:ext>
                  </a:extLst>
                </a:gridCol>
                <a:gridCol w="789829">
                  <a:extLst>
                    <a:ext uri="{9D8B030D-6E8A-4147-A177-3AD203B41FA5}">
                      <a16:colId xmlns:a16="http://schemas.microsoft.com/office/drawing/2014/main" val="337574888"/>
                    </a:ext>
                  </a:extLst>
                </a:gridCol>
              </a:tblGrid>
              <a:tr h="190500">
                <a:tc>
                  <a:txBody>
                    <a:bodyPr/>
                    <a:lstStyle/>
                    <a:p>
                      <a:pPr algn="ctr" fontAlgn="b"/>
                      <a:r>
                        <a:rPr lang="en-US" sz="1400" b="1" i="0" u="none" strike="noStrike" dirty="0">
                          <a:solidFill>
                            <a:schemeClr val="bg1">
                              <a:lumMod val="65000"/>
                            </a:schemeClr>
                          </a:solidFill>
                          <a:effectLst/>
                          <a:latin typeface="Calibri" panose="020F0502020204030204" pitchFamily="34" charset="0"/>
                        </a:rPr>
                        <a:t>Base</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1456</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681</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775</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170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290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284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210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158</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344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937</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519</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61141031"/>
                  </a:ext>
                </a:extLst>
              </a:tr>
            </a:tbl>
          </a:graphicData>
        </a:graphic>
      </p:graphicFrame>
    </p:spTree>
    <p:extLst>
      <p:ext uri="{BB962C8B-B14F-4D97-AF65-F5344CB8AC3E}">
        <p14:creationId xmlns:p14="http://schemas.microsoft.com/office/powerpoint/2010/main" val="11142300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Q21. How often do Nigerian leaders engage with the public (e.g., town halls, social media, community visits…)?</a:t>
            </a:r>
            <a:endParaRPr lang="en-US" sz="1000" dirty="0">
              <a:latin typeface="Book Antiqua" panose="02040602050305030304" pitchFamily="18" charset="0"/>
            </a:endParaRPr>
          </a:p>
        </p:txBody>
      </p:sp>
      <p:sp>
        <p:nvSpPr>
          <p:cNvPr id="14" name="TextBox 13">
            <a:extLst>
              <a:ext uri="{FF2B5EF4-FFF2-40B4-BE49-F238E27FC236}">
                <a16:creationId xmlns:a16="http://schemas.microsoft.com/office/drawing/2014/main" id="{24EE3164-36BE-1169-158F-AC5F91216B94}"/>
              </a:ext>
            </a:extLst>
          </p:cNvPr>
          <p:cNvSpPr txBox="1"/>
          <p:nvPr/>
        </p:nvSpPr>
        <p:spPr>
          <a:xfrm>
            <a:off x="331302" y="675740"/>
            <a:ext cx="11714923"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rPr>
              <a:t>Overall, 20% believed that Nigerian leaders engage with the public occasionally or regularly, especially in Kano (54%).</a:t>
            </a:r>
          </a:p>
        </p:txBody>
      </p:sp>
      <p:sp>
        <p:nvSpPr>
          <p:cNvPr id="5" name="TextBox 4">
            <a:extLst>
              <a:ext uri="{FF2B5EF4-FFF2-40B4-BE49-F238E27FC236}">
                <a16:creationId xmlns:a16="http://schemas.microsoft.com/office/drawing/2014/main" id="{55F5642B-83A0-CD7B-E2BA-8E492D002397}"/>
              </a:ext>
            </a:extLst>
          </p:cNvPr>
          <p:cNvSpPr txBox="1"/>
          <p:nvPr/>
        </p:nvSpPr>
        <p:spPr>
          <a:xfrm>
            <a:off x="312991" y="119838"/>
            <a:ext cx="7648980"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Nigerian leaders’ engagement with the public </a:t>
            </a:r>
          </a:p>
        </p:txBody>
      </p:sp>
      <p:graphicFrame>
        <p:nvGraphicFramePr>
          <p:cNvPr id="4" name="Table 3">
            <a:extLst>
              <a:ext uri="{FF2B5EF4-FFF2-40B4-BE49-F238E27FC236}">
                <a16:creationId xmlns:a16="http://schemas.microsoft.com/office/drawing/2014/main" id="{5481D1C6-42A9-46B3-B1E6-85934D6CE3A0}"/>
              </a:ext>
            </a:extLst>
          </p:cNvPr>
          <p:cNvGraphicFramePr>
            <a:graphicFrameLocks noGrp="1"/>
          </p:cNvGraphicFramePr>
          <p:nvPr>
            <p:extLst>
              <p:ext uri="{D42A27DB-BD31-4B8C-83A1-F6EECF244321}">
                <p14:modId xmlns:p14="http://schemas.microsoft.com/office/powerpoint/2010/main" val="2978014927"/>
              </p:ext>
            </p:extLst>
          </p:nvPr>
        </p:nvGraphicFramePr>
        <p:xfrm>
          <a:off x="1817370" y="5212025"/>
          <a:ext cx="9477948" cy="369331"/>
        </p:xfrm>
        <a:graphic>
          <a:graphicData uri="http://schemas.openxmlformats.org/drawingml/2006/table">
            <a:tbl>
              <a:tblPr>
                <a:tableStyleId>{BC89EF96-8CEA-46FF-86C4-4CE0E7609802}</a:tableStyleId>
              </a:tblPr>
              <a:tblGrid>
                <a:gridCol w="789829">
                  <a:extLst>
                    <a:ext uri="{9D8B030D-6E8A-4147-A177-3AD203B41FA5}">
                      <a16:colId xmlns:a16="http://schemas.microsoft.com/office/drawing/2014/main" val="3971998484"/>
                    </a:ext>
                  </a:extLst>
                </a:gridCol>
                <a:gridCol w="789829">
                  <a:extLst>
                    <a:ext uri="{9D8B030D-6E8A-4147-A177-3AD203B41FA5}">
                      <a16:colId xmlns:a16="http://schemas.microsoft.com/office/drawing/2014/main" val="273507684"/>
                    </a:ext>
                  </a:extLst>
                </a:gridCol>
                <a:gridCol w="789829">
                  <a:extLst>
                    <a:ext uri="{9D8B030D-6E8A-4147-A177-3AD203B41FA5}">
                      <a16:colId xmlns:a16="http://schemas.microsoft.com/office/drawing/2014/main" val="3112492948"/>
                    </a:ext>
                  </a:extLst>
                </a:gridCol>
                <a:gridCol w="789829">
                  <a:extLst>
                    <a:ext uri="{9D8B030D-6E8A-4147-A177-3AD203B41FA5}">
                      <a16:colId xmlns:a16="http://schemas.microsoft.com/office/drawing/2014/main" val="4287000406"/>
                    </a:ext>
                  </a:extLst>
                </a:gridCol>
                <a:gridCol w="789829">
                  <a:extLst>
                    <a:ext uri="{9D8B030D-6E8A-4147-A177-3AD203B41FA5}">
                      <a16:colId xmlns:a16="http://schemas.microsoft.com/office/drawing/2014/main" val="2965427328"/>
                    </a:ext>
                  </a:extLst>
                </a:gridCol>
                <a:gridCol w="789829">
                  <a:extLst>
                    <a:ext uri="{9D8B030D-6E8A-4147-A177-3AD203B41FA5}">
                      <a16:colId xmlns:a16="http://schemas.microsoft.com/office/drawing/2014/main" val="287172355"/>
                    </a:ext>
                  </a:extLst>
                </a:gridCol>
                <a:gridCol w="789829">
                  <a:extLst>
                    <a:ext uri="{9D8B030D-6E8A-4147-A177-3AD203B41FA5}">
                      <a16:colId xmlns:a16="http://schemas.microsoft.com/office/drawing/2014/main" val="2049398142"/>
                    </a:ext>
                  </a:extLst>
                </a:gridCol>
                <a:gridCol w="789829">
                  <a:extLst>
                    <a:ext uri="{9D8B030D-6E8A-4147-A177-3AD203B41FA5}">
                      <a16:colId xmlns:a16="http://schemas.microsoft.com/office/drawing/2014/main" val="820745645"/>
                    </a:ext>
                  </a:extLst>
                </a:gridCol>
                <a:gridCol w="789829">
                  <a:extLst>
                    <a:ext uri="{9D8B030D-6E8A-4147-A177-3AD203B41FA5}">
                      <a16:colId xmlns:a16="http://schemas.microsoft.com/office/drawing/2014/main" val="2489163101"/>
                    </a:ext>
                  </a:extLst>
                </a:gridCol>
                <a:gridCol w="789829">
                  <a:extLst>
                    <a:ext uri="{9D8B030D-6E8A-4147-A177-3AD203B41FA5}">
                      <a16:colId xmlns:a16="http://schemas.microsoft.com/office/drawing/2014/main" val="3206989997"/>
                    </a:ext>
                  </a:extLst>
                </a:gridCol>
                <a:gridCol w="789829">
                  <a:extLst>
                    <a:ext uri="{9D8B030D-6E8A-4147-A177-3AD203B41FA5}">
                      <a16:colId xmlns:a16="http://schemas.microsoft.com/office/drawing/2014/main" val="534552785"/>
                    </a:ext>
                  </a:extLst>
                </a:gridCol>
                <a:gridCol w="789829">
                  <a:extLst>
                    <a:ext uri="{9D8B030D-6E8A-4147-A177-3AD203B41FA5}">
                      <a16:colId xmlns:a16="http://schemas.microsoft.com/office/drawing/2014/main" val="2607264578"/>
                    </a:ext>
                  </a:extLst>
                </a:gridCol>
              </a:tblGrid>
              <a:tr h="369331">
                <a:tc>
                  <a:txBody>
                    <a:bodyPr/>
                    <a:lstStyle/>
                    <a:p>
                      <a:pPr algn="ctr" fontAlgn="b"/>
                      <a:r>
                        <a:rPr lang="en-US" sz="1400" b="1" u="none" strike="noStrike" dirty="0">
                          <a:effectLst/>
                        </a:rPr>
                        <a:t>Mean</a:t>
                      </a:r>
                      <a:endParaRPr lang="en-GB" sz="1400" b="1" i="0" u="none" strike="noStrike" dirty="0">
                        <a:solidFill>
                          <a:srgbClr val="000000"/>
                        </a:solidFill>
                        <a:effectLst/>
                        <a:latin typeface="+mn-lt"/>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dirty="0">
                          <a:solidFill>
                            <a:srgbClr val="0070C0"/>
                          </a:solidFill>
                          <a:effectLst/>
                          <a:latin typeface="Calibri" panose="020F0502020204030204" pitchFamily="34" charset="0"/>
                        </a:rPr>
                        <a:t>2.28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2.34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2.22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2.58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1.78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2.86</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1.83</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2.14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2.25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dirty="0">
                          <a:solidFill>
                            <a:srgbClr val="0070C0"/>
                          </a:solidFill>
                          <a:effectLst/>
                          <a:latin typeface="Calibri" panose="020F0502020204030204" pitchFamily="34" charset="0"/>
                        </a:rPr>
                        <a:t>2.32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30887128"/>
                  </a:ext>
                </a:extLst>
              </a:tr>
            </a:tbl>
          </a:graphicData>
        </a:graphic>
      </p:graphicFrame>
      <p:graphicFrame>
        <p:nvGraphicFramePr>
          <p:cNvPr id="6" name="Chart 5">
            <a:extLst>
              <a:ext uri="{FF2B5EF4-FFF2-40B4-BE49-F238E27FC236}">
                <a16:creationId xmlns:a16="http://schemas.microsoft.com/office/drawing/2014/main" id="{A4B0A94F-6FB5-4821-80DD-F4A0ACECE84F}"/>
              </a:ext>
            </a:extLst>
          </p:cNvPr>
          <p:cNvGraphicFramePr/>
          <p:nvPr>
            <p:extLst>
              <p:ext uri="{D42A27DB-BD31-4B8C-83A1-F6EECF244321}">
                <p14:modId xmlns:p14="http://schemas.microsoft.com/office/powerpoint/2010/main" val="1478943246"/>
              </p:ext>
            </p:extLst>
          </p:nvPr>
        </p:nvGraphicFramePr>
        <p:xfrm>
          <a:off x="832513" y="1514700"/>
          <a:ext cx="10582788" cy="360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Table 6">
            <a:extLst>
              <a:ext uri="{FF2B5EF4-FFF2-40B4-BE49-F238E27FC236}">
                <a16:creationId xmlns:a16="http://schemas.microsoft.com/office/drawing/2014/main" id="{EF56CFA2-0E4A-4596-B830-4DC1F2D5B18D}"/>
              </a:ext>
            </a:extLst>
          </p:cNvPr>
          <p:cNvGraphicFramePr>
            <a:graphicFrameLocks noGrp="1"/>
          </p:cNvGraphicFramePr>
          <p:nvPr>
            <p:extLst>
              <p:ext uri="{D42A27DB-BD31-4B8C-83A1-F6EECF244321}">
                <p14:modId xmlns:p14="http://schemas.microsoft.com/office/powerpoint/2010/main" val="2065982042"/>
              </p:ext>
            </p:extLst>
          </p:nvPr>
        </p:nvGraphicFramePr>
        <p:xfrm>
          <a:off x="1795347" y="5694561"/>
          <a:ext cx="9477948" cy="222885"/>
        </p:xfrm>
        <a:graphic>
          <a:graphicData uri="http://schemas.openxmlformats.org/drawingml/2006/table">
            <a:tbl>
              <a:tblPr>
                <a:tableStyleId>{2D5ABB26-0587-4C30-8999-92F81FD0307C}</a:tableStyleId>
              </a:tblPr>
              <a:tblGrid>
                <a:gridCol w="789829">
                  <a:extLst>
                    <a:ext uri="{9D8B030D-6E8A-4147-A177-3AD203B41FA5}">
                      <a16:colId xmlns:a16="http://schemas.microsoft.com/office/drawing/2014/main" val="71965769"/>
                    </a:ext>
                  </a:extLst>
                </a:gridCol>
                <a:gridCol w="789829">
                  <a:extLst>
                    <a:ext uri="{9D8B030D-6E8A-4147-A177-3AD203B41FA5}">
                      <a16:colId xmlns:a16="http://schemas.microsoft.com/office/drawing/2014/main" val="4155578195"/>
                    </a:ext>
                  </a:extLst>
                </a:gridCol>
                <a:gridCol w="789829">
                  <a:extLst>
                    <a:ext uri="{9D8B030D-6E8A-4147-A177-3AD203B41FA5}">
                      <a16:colId xmlns:a16="http://schemas.microsoft.com/office/drawing/2014/main" val="1889141429"/>
                    </a:ext>
                  </a:extLst>
                </a:gridCol>
                <a:gridCol w="789829">
                  <a:extLst>
                    <a:ext uri="{9D8B030D-6E8A-4147-A177-3AD203B41FA5}">
                      <a16:colId xmlns:a16="http://schemas.microsoft.com/office/drawing/2014/main" val="3753417597"/>
                    </a:ext>
                  </a:extLst>
                </a:gridCol>
                <a:gridCol w="789829">
                  <a:extLst>
                    <a:ext uri="{9D8B030D-6E8A-4147-A177-3AD203B41FA5}">
                      <a16:colId xmlns:a16="http://schemas.microsoft.com/office/drawing/2014/main" val="1740810762"/>
                    </a:ext>
                  </a:extLst>
                </a:gridCol>
                <a:gridCol w="789829">
                  <a:extLst>
                    <a:ext uri="{9D8B030D-6E8A-4147-A177-3AD203B41FA5}">
                      <a16:colId xmlns:a16="http://schemas.microsoft.com/office/drawing/2014/main" val="790009114"/>
                    </a:ext>
                  </a:extLst>
                </a:gridCol>
                <a:gridCol w="789829">
                  <a:extLst>
                    <a:ext uri="{9D8B030D-6E8A-4147-A177-3AD203B41FA5}">
                      <a16:colId xmlns:a16="http://schemas.microsoft.com/office/drawing/2014/main" val="3015911202"/>
                    </a:ext>
                  </a:extLst>
                </a:gridCol>
                <a:gridCol w="789829">
                  <a:extLst>
                    <a:ext uri="{9D8B030D-6E8A-4147-A177-3AD203B41FA5}">
                      <a16:colId xmlns:a16="http://schemas.microsoft.com/office/drawing/2014/main" val="3232248389"/>
                    </a:ext>
                  </a:extLst>
                </a:gridCol>
                <a:gridCol w="789829">
                  <a:extLst>
                    <a:ext uri="{9D8B030D-6E8A-4147-A177-3AD203B41FA5}">
                      <a16:colId xmlns:a16="http://schemas.microsoft.com/office/drawing/2014/main" val="3458814408"/>
                    </a:ext>
                  </a:extLst>
                </a:gridCol>
                <a:gridCol w="789829">
                  <a:extLst>
                    <a:ext uri="{9D8B030D-6E8A-4147-A177-3AD203B41FA5}">
                      <a16:colId xmlns:a16="http://schemas.microsoft.com/office/drawing/2014/main" val="1536593214"/>
                    </a:ext>
                  </a:extLst>
                </a:gridCol>
                <a:gridCol w="789829">
                  <a:extLst>
                    <a:ext uri="{9D8B030D-6E8A-4147-A177-3AD203B41FA5}">
                      <a16:colId xmlns:a16="http://schemas.microsoft.com/office/drawing/2014/main" val="1349874692"/>
                    </a:ext>
                  </a:extLst>
                </a:gridCol>
                <a:gridCol w="789829">
                  <a:extLst>
                    <a:ext uri="{9D8B030D-6E8A-4147-A177-3AD203B41FA5}">
                      <a16:colId xmlns:a16="http://schemas.microsoft.com/office/drawing/2014/main" val="337574888"/>
                    </a:ext>
                  </a:extLst>
                </a:gridCol>
              </a:tblGrid>
              <a:tr h="190500">
                <a:tc>
                  <a:txBody>
                    <a:bodyPr/>
                    <a:lstStyle/>
                    <a:p>
                      <a:pPr algn="ctr" fontAlgn="b"/>
                      <a:r>
                        <a:rPr lang="en-US" sz="1400" b="1" i="0" u="none" strike="noStrike" dirty="0">
                          <a:solidFill>
                            <a:schemeClr val="bg1">
                              <a:lumMod val="65000"/>
                            </a:schemeClr>
                          </a:solidFill>
                          <a:effectLst/>
                          <a:latin typeface="Calibri" panose="020F0502020204030204" pitchFamily="34" charset="0"/>
                        </a:rPr>
                        <a:t>Base</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1456</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681</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775</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170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290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284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210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158</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344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937</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519</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61141031"/>
                  </a:ext>
                </a:extLst>
              </a:tr>
            </a:tbl>
          </a:graphicData>
        </a:graphic>
      </p:graphicFrame>
    </p:spTree>
    <p:extLst>
      <p:ext uri="{BB962C8B-B14F-4D97-AF65-F5344CB8AC3E}">
        <p14:creationId xmlns:p14="http://schemas.microsoft.com/office/powerpoint/2010/main" val="38303750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Q22. How would you rate the effectiveness of the National Assembly in holding the executive accountable?</a:t>
            </a:r>
            <a:endParaRPr lang="en-US" sz="1000" dirty="0">
              <a:latin typeface="Book Antiqua" panose="02040602050305030304" pitchFamily="18" charset="0"/>
            </a:endParaRPr>
          </a:p>
        </p:txBody>
      </p:sp>
      <p:sp>
        <p:nvSpPr>
          <p:cNvPr id="14" name="TextBox 13">
            <a:extLst>
              <a:ext uri="{FF2B5EF4-FFF2-40B4-BE49-F238E27FC236}">
                <a16:creationId xmlns:a16="http://schemas.microsoft.com/office/drawing/2014/main" id="{24EE3164-36BE-1169-158F-AC5F91216B94}"/>
              </a:ext>
            </a:extLst>
          </p:cNvPr>
          <p:cNvSpPr txBox="1"/>
          <p:nvPr/>
        </p:nvSpPr>
        <p:spPr>
          <a:xfrm>
            <a:off x="331302" y="675740"/>
            <a:ext cx="11714923" cy="523220"/>
          </a:xfrm>
          <a:prstGeom prst="rect">
            <a:avLst/>
          </a:prstGeom>
          <a:noFill/>
        </p:spPr>
        <p:txBody>
          <a:bodyPr wrap="square">
            <a:spAutoFit/>
          </a:bodyPr>
          <a:lstStyle/>
          <a:p>
            <a:pPr lvl="0">
              <a:defRPr/>
            </a:pPr>
            <a:r>
              <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rPr>
              <a:t>The majority (68</a:t>
            </a:r>
            <a:r>
              <a:rPr lang="en-US" sz="1400" b="1" dirty="0">
                <a:solidFill>
                  <a:srgbClr val="0070C0"/>
                </a:solidFill>
                <a:latin typeface="Book Antiqua" panose="02040602050305030304" pitchFamily="18" charset="0"/>
                <a:ea typeface="Arial Unicode MS"/>
              </a:rPr>
              <a:t>%) rated the National Assembly as not effective in holding the executive accountable. However, 47% in Kano believed that the national assembly is effective.</a:t>
            </a:r>
            <a:endPar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endParaRPr>
          </a:p>
        </p:txBody>
      </p:sp>
      <p:sp>
        <p:nvSpPr>
          <p:cNvPr id="5" name="TextBox 4">
            <a:extLst>
              <a:ext uri="{FF2B5EF4-FFF2-40B4-BE49-F238E27FC236}">
                <a16:creationId xmlns:a16="http://schemas.microsoft.com/office/drawing/2014/main" id="{55F5642B-83A0-CD7B-E2BA-8E492D002397}"/>
              </a:ext>
            </a:extLst>
          </p:cNvPr>
          <p:cNvSpPr txBox="1"/>
          <p:nvPr/>
        </p:nvSpPr>
        <p:spPr>
          <a:xfrm>
            <a:off x="312991" y="119838"/>
            <a:ext cx="9154394"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Effectiveness of the National Assembly</a:t>
            </a:r>
          </a:p>
        </p:txBody>
      </p:sp>
      <p:graphicFrame>
        <p:nvGraphicFramePr>
          <p:cNvPr id="4" name="Table 3">
            <a:extLst>
              <a:ext uri="{FF2B5EF4-FFF2-40B4-BE49-F238E27FC236}">
                <a16:creationId xmlns:a16="http://schemas.microsoft.com/office/drawing/2014/main" id="{5481D1C6-42A9-46B3-B1E6-85934D6CE3A0}"/>
              </a:ext>
            </a:extLst>
          </p:cNvPr>
          <p:cNvGraphicFramePr>
            <a:graphicFrameLocks noGrp="1"/>
          </p:cNvGraphicFramePr>
          <p:nvPr>
            <p:extLst>
              <p:ext uri="{D42A27DB-BD31-4B8C-83A1-F6EECF244321}">
                <p14:modId xmlns:p14="http://schemas.microsoft.com/office/powerpoint/2010/main" val="2078910512"/>
              </p:ext>
            </p:extLst>
          </p:nvPr>
        </p:nvGraphicFramePr>
        <p:xfrm>
          <a:off x="1817370" y="5212025"/>
          <a:ext cx="9477948" cy="369331"/>
        </p:xfrm>
        <a:graphic>
          <a:graphicData uri="http://schemas.openxmlformats.org/drawingml/2006/table">
            <a:tbl>
              <a:tblPr>
                <a:tableStyleId>{BC89EF96-8CEA-46FF-86C4-4CE0E7609802}</a:tableStyleId>
              </a:tblPr>
              <a:tblGrid>
                <a:gridCol w="789829">
                  <a:extLst>
                    <a:ext uri="{9D8B030D-6E8A-4147-A177-3AD203B41FA5}">
                      <a16:colId xmlns:a16="http://schemas.microsoft.com/office/drawing/2014/main" val="3971998484"/>
                    </a:ext>
                  </a:extLst>
                </a:gridCol>
                <a:gridCol w="789829">
                  <a:extLst>
                    <a:ext uri="{9D8B030D-6E8A-4147-A177-3AD203B41FA5}">
                      <a16:colId xmlns:a16="http://schemas.microsoft.com/office/drawing/2014/main" val="273507684"/>
                    </a:ext>
                  </a:extLst>
                </a:gridCol>
                <a:gridCol w="789829">
                  <a:extLst>
                    <a:ext uri="{9D8B030D-6E8A-4147-A177-3AD203B41FA5}">
                      <a16:colId xmlns:a16="http://schemas.microsoft.com/office/drawing/2014/main" val="1150512987"/>
                    </a:ext>
                  </a:extLst>
                </a:gridCol>
                <a:gridCol w="789829">
                  <a:extLst>
                    <a:ext uri="{9D8B030D-6E8A-4147-A177-3AD203B41FA5}">
                      <a16:colId xmlns:a16="http://schemas.microsoft.com/office/drawing/2014/main" val="2134755543"/>
                    </a:ext>
                  </a:extLst>
                </a:gridCol>
                <a:gridCol w="789829">
                  <a:extLst>
                    <a:ext uri="{9D8B030D-6E8A-4147-A177-3AD203B41FA5}">
                      <a16:colId xmlns:a16="http://schemas.microsoft.com/office/drawing/2014/main" val="1177353278"/>
                    </a:ext>
                  </a:extLst>
                </a:gridCol>
                <a:gridCol w="789829">
                  <a:extLst>
                    <a:ext uri="{9D8B030D-6E8A-4147-A177-3AD203B41FA5}">
                      <a16:colId xmlns:a16="http://schemas.microsoft.com/office/drawing/2014/main" val="3858187838"/>
                    </a:ext>
                  </a:extLst>
                </a:gridCol>
                <a:gridCol w="789829">
                  <a:extLst>
                    <a:ext uri="{9D8B030D-6E8A-4147-A177-3AD203B41FA5}">
                      <a16:colId xmlns:a16="http://schemas.microsoft.com/office/drawing/2014/main" val="2049398142"/>
                    </a:ext>
                  </a:extLst>
                </a:gridCol>
                <a:gridCol w="789829">
                  <a:extLst>
                    <a:ext uri="{9D8B030D-6E8A-4147-A177-3AD203B41FA5}">
                      <a16:colId xmlns:a16="http://schemas.microsoft.com/office/drawing/2014/main" val="820745645"/>
                    </a:ext>
                  </a:extLst>
                </a:gridCol>
                <a:gridCol w="789829">
                  <a:extLst>
                    <a:ext uri="{9D8B030D-6E8A-4147-A177-3AD203B41FA5}">
                      <a16:colId xmlns:a16="http://schemas.microsoft.com/office/drawing/2014/main" val="2489163101"/>
                    </a:ext>
                  </a:extLst>
                </a:gridCol>
                <a:gridCol w="789829">
                  <a:extLst>
                    <a:ext uri="{9D8B030D-6E8A-4147-A177-3AD203B41FA5}">
                      <a16:colId xmlns:a16="http://schemas.microsoft.com/office/drawing/2014/main" val="3206989997"/>
                    </a:ext>
                  </a:extLst>
                </a:gridCol>
                <a:gridCol w="789829">
                  <a:extLst>
                    <a:ext uri="{9D8B030D-6E8A-4147-A177-3AD203B41FA5}">
                      <a16:colId xmlns:a16="http://schemas.microsoft.com/office/drawing/2014/main" val="534552785"/>
                    </a:ext>
                  </a:extLst>
                </a:gridCol>
                <a:gridCol w="789829">
                  <a:extLst>
                    <a:ext uri="{9D8B030D-6E8A-4147-A177-3AD203B41FA5}">
                      <a16:colId xmlns:a16="http://schemas.microsoft.com/office/drawing/2014/main" val="2607264578"/>
                    </a:ext>
                  </a:extLst>
                </a:gridCol>
              </a:tblGrid>
              <a:tr h="369331">
                <a:tc>
                  <a:txBody>
                    <a:bodyPr/>
                    <a:lstStyle/>
                    <a:p>
                      <a:pPr algn="ctr" fontAlgn="b"/>
                      <a:r>
                        <a:rPr lang="en-US" sz="1400" b="1" u="none" strike="noStrike" dirty="0">
                          <a:effectLst/>
                        </a:rPr>
                        <a:t>Mean</a:t>
                      </a:r>
                      <a:endParaRPr lang="en-GB" sz="1400" b="1" i="0" u="none" strike="noStrike" dirty="0">
                        <a:solidFill>
                          <a:srgbClr val="000000"/>
                        </a:solidFill>
                        <a:effectLst/>
                        <a:latin typeface="+mn-lt"/>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dirty="0">
                          <a:solidFill>
                            <a:srgbClr val="0070C0"/>
                          </a:solidFill>
                          <a:effectLst/>
                          <a:latin typeface="Calibri" panose="020F0502020204030204" pitchFamily="34" charset="0"/>
                        </a:rPr>
                        <a:t>2.28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2.34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2.22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2.47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1.93</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2.89</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1.76</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2.19</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2.34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2.3</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dirty="0">
                          <a:solidFill>
                            <a:srgbClr val="0070C0"/>
                          </a:solidFill>
                          <a:effectLst/>
                          <a:latin typeface="Calibri" panose="020F0502020204030204" pitchFamily="34" charset="0"/>
                        </a:rPr>
                        <a:t>2.24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30887128"/>
                  </a:ext>
                </a:extLst>
              </a:tr>
            </a:tbl>
          </a:graphicData>
        </a:graphic>
      </p:graphicFrame>
      <p:graphicFrame>
        <p:nvGraphicFramePr>
          <p:cNvPr id="6" name="Chart 5">
            <a:extLst>
              <a:ext uri="{FF2B5EF4-FFF2-40B4-BE49-F238E27FC236}">
                <a16:creationId xmlns:a16="http://schemas.microsoft.com/office/drawing/2014/main" id="{A4B0A94F-6FB5-4821-80DD-F4A0ACECE84F}"/>
              </a:ext>
            </a:extLst>
          </p:cNvPr>
          <p:cNvGraphicFramePr/>
          <p:nvPr>
            <p:extLst>
              <p:ext uri="{D42A27DB-BD31-4B8C-83A1-F6EECF244321}">
                <p14:modId xmlns:p14="http://schemas.microsoft.com/office/powerpoint/2010/main" val="3353215072"/>
              </p:ext>
            </p:extLst>
          </p:nvPr>
        </p:nvGraphicFramePr>
        <p:xfrm>
          <a:off x="832513" y="1514700"/>
          <a:ext cx="10582788" cy="360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Table 6">
            <a:extLst>
              <a:ext uri="{FF2B5EF4-FFF2-40B4-BE49-F238E27FC236}">
                <a16:creationId xmlns:a16="http://schemas.microsoft.com/office/drawing/2014/main" id="{63F75FEA-9F38-45BB-84DC-70A7C0B71B61}"/>
              </a:ext>
            </a:extLst>
          </p:cNvPr>
          <p:cNvGraphicFramePr>
            <a:graphicFrameLocks noGrp="1"/>
          </p:cNvGraphicFramePr>
          <p:nvPr>
            <p:extLst>
              <p:ext uri="{D42A27DB-BD31-4B8C-83A1-F6EECF244321}">
                <p14:modId xmlns:p14="http://schemas.microsoft.com/office/powerpoint/2010/main" val="2065982042"/>
              </p:ext>
            </p:extLst>
          </p:nvPr>
        </p:nvGraphicFramePr>
        <p:xfrm>
          <a:off x="1795347" y="5694561"/>
          <a:ext cx="9477948" cy="222885"/>
        </p:xfrm>
        <a:graphic>
          <a:graphicData uri="http://schemas.openxmlformats.org/drawingml/2006/table">
            <a:tbl>
              <a:tblPr>
                <a:tableStyleId>{2D5ABB26-0587-4C30-8999-92F81FD0307C}</a:tableStyleId>
              </a:tblPr>
              <a:tblGrid>
                <a:gridCol w="789829">
                  <a:extLst>
                    <a:ext uri="{9D8B030D-6E8A-4147-A177-3AD203B41FA5}">
                      <a16:colId xmlns:a16="http://schemas.microsoft.com/office/drawing/2014/main" val="71965769"/>
                    </a:ext>
                  </a:extLst>
                </a:gridCol>
                <a:gridCol w="789829">
                  <a:extLst>
                    <a:ext uri="{9D8B030D-6E8A-4147-A177-3AD203B41FA5}">
                      <a16:colId xmlns:a16="http://schemas.microsoft.com/office/drawing/2014/main" val="4155578195"/>
                    </a:ext>
                  </a:extLst>
                </a:gridCol>
                <a:gridCol w="789829">
                  <a:extLst>
                    <a:ext uri="{9D8B030D-6E8A-4147-A177-3AD203B41FA5}">
                      <a16:colId xmlns:a16="http://schemas.microsoft.com/office/drawing/2014/main" val="1889141429"/>
                    </a:ext>
                  </a:extLst>
                </a:gridCol>
                <a:gridCol w="789829">
                  <a:extLst>
                    <a:ext uri="{9D8B030D-6E8A-4147-A177-3AD203B41FA5}">
                      <a16:colId xmlns:a16="http://schemas.microsoft.com/office/drawing/2014/main" val="3753417597"/>
                    </a:ext>
                  </a:extLst>
                </a:gridCol>
                <a:gridCol w="789829">
                  <a:extLst>
                    <a:ext uri="{9D8B030D-6E8A-4147-A177-3AD203B41FA5}">
                      <a16:colId xmlns:a16="http://schemas.microsoft.com/office/drawing/2014/main" val="1740810762"/>
                    </a:ext>
                  </a:extLst>
                </a:gridCol>
                <a:gridCol w="789829">
                  <a:extLst>
                    <a:ext uri="{9D8B030D-6E8A-4147-A177-3AD203B41FA5}">
                      <a16:colId xmlns:a16="http://schemas.microsoft.com/office/drawing/2014/main" val="790009114"/>
                    </a:ext>
                  </a:extLst>
                </a:gridCol>
                <a:gridCol w="789829">
                  <a:extLst>
                    <a:ext uri="{9D8B030D-6E8A-4147-A177-3AD203B41FA5}">
                      <a16:colId xmlns:a16="http://schemas.microsoft.com/office/drawing/2014/main" val="3015911202"/>
                    </a:ext>
                  </a:extLst>
                </a:gridCol>
                <a:gridCol w="789829">
                  <a:extLst>
                    <a:ext uri="{9D8B030D-6E8A-4147-A177-3AD203B41FA5}">
                      <a16:colId xmlns:a16="http://schemas.microsoft.com/office/drawing/2014/main" val="3232248389"/>
                    </a:ext>
                  </a:extLst>
                </a:gridCol>
                <a:gridCol w="789829">
                  <a:extLst>
                    <a:ext uri="{9D8B030D-6E8A-4147-A177-3AD203B41FA5}">
                      <a16:colId xmlns:a16="http://schemas.microsoft.com/office/drawing/2014/main" val="3458814408"/>
                    </a:ext>
                  </a:extLst>
                </a:gridCol>
                <a:gridCol w="789829">
                  <a:extLst>
                    <a:ext uri="{9D8B030D-6E8A-4147-A177-3AD203B41FA5}">
                      <a16:colId xmlns:a16="http://schemas.microsoft.com/office/drawing/2014/main" val="1536593214"/>
                    </a:ext>
                  </a:extLst>
                </a:gridCol>
                <a:gridCol w="789829">
                  <a:extLst>
                    <a:ext uri="{9D8B030D-6E8A-4147-A177-3AD203B41FA5}">
                      <a16:colId xmlns:a16="http://schemas.microsoft.com/office/drawing/2014/main" val="1349874692"/>
                    </a:ext>
                  </a:extLst>
                </a:gridCol>
                <a:gridCol w="789829">
                  <a:extLst>
                    <a:ext uri="{9D8B030D-6E8A-4147-A177-3AD203B41FA5}">
                      <a16:colId xmlns:a16="http://schemas.microsoft.com/office/drawing/2014/main" val="337574888"/>
                    </a:ext>
                  </a:extLst>
                </a:gridCol>
              </a:tblGrid>
              <a:tr h="190500">
                <a:tc>
                  <a:txBody>
                    <a:bodyPr/>
                    <a:lstStyle/>
                    <a:p>
                      <a:pPr algn="ctr" fontAlgn="b"/>
                      <a:r>
                        <a:rPr lang="en-US" sz="1400" b="1" i="0" u="none" strike="noStrike" dirty="0">
                          <a:solidFill>
                            <a:schemeClr val="bg1">
                              <a:lumMod val="65000"/>
                            </a:schemeClr>
                          </a:solidFill>
                          <a:effectLst/>
                          <a:latin typeface="Calibri" panose="020F0502020204030204" pitchFamily="34" charset="0"/>
                        </a:rPr>
                        <a:t>Base</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1456</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681</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775</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170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290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284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210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158</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344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937</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519</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61141031"/>
                  </a:ext>
                </a:extLst>
              </a:tr>
            </a:tbl>
          </a:graphicData>
        </a:graphic>
      </p:graphicFrame>
    </p:spTree>
    <p:extLst>
      <p:ext uri="{BB962C8B-B14F-4D97-AF65-F5344CB8AC3E}">
        <p14:creationId xmlns:p14="http://schemas.microsoft.com/office/powerpoint/2010/main" val="19487855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24EE3164-36BE-1169-158F-AC5F91216B94}"/>
              </a:ext>
            </a:extLst>
          </p:cNvPr>
          <p:cNvSpPr txBox="1"/>
          <p:nvPr/>
        </p:nvSpPr>
        <p:spPr>
          <a:xfrm>
            <a:off x="331302" y="675740"/>
            <a:ext cx="11714923"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rPr>
              <a:t>The overall performance rating is generally low across the Governor, Senator, House of Reps, and Local Government Chairmen and across demographics. Only Kano and Bauchi are satisfied with their governors. The rating is particularly low across offices in Edo State.</a:t>
            </a:r>
          </a:p>
        </p:txBody>
      </p:sp>
      <p:sp>
        <p:nvSpPr>
          <p:cNvPr id="5" name="TextBox 4">
            <a:extLst>
              <a:ext uri="{FF2B5EF4-FFF2-40B4-BE49-F238E27FC236}">
                <a16:creationId xmlns:a16="http://schemas.microsoft.com/office/drawing/2014/main" id="{55F5642B-83A0-CD7B-E2BA-8E492D002397}"/>
              </a:ext>
            </a:extLst>
          </p:cNvPr>
          <p:cNvSpPr txBox="1"/>
          <p:nvPr/>
        </p:nvSpPr>
        <p:spPr>
          <a:xfrm>
            <a:off x="312990" y="119838"/>
            <a:ext cx="7024511"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Elected Officers’ performance rating</a:t>
            </a:r>
          </a:p>
        </p:txBody>
      </p:sp>
      <p:sp>
        <p:nvSpPr>
          <p:cNvPr id="8" name="TextBox 7">
            <a:extLst>
              <a:ext uri="{FF2B5EF4-FFF2-40B4-BE49-F238E27FC236}">
                <a16:creationId xmlns:a16="http://schemas.microsoft.com/office/drawing/2014/main" id="{E520DA7B-E5B8-4985-87CF-D92BEAF6218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Q23. On a scale of 1-10, where 1 means very unsatisfied and 10 means very satisfied, how will you rate the Overall performance of this state’s Governor, where you live?</a:t>
            </a:r>
            <a:endParaRPr lang="en-US" sz="1000" dirty="0">
              <a:latin typeface="Book Antiqua" panose="02040602050305030304" pitchFamily="18" charset="0"/>
            </a:endParaRPr>
          </a:p>
        </p:txBody>
      </p:sp>
      <p:sp>
        <p:nvSpPr>
          <p:cNvPr id="10" name="Rectangle 9">
            <a:extLst>
              <a:ext uri="{FF2B5EF4-FFF2-40B4-BE49-F238E27FC236}">
                <a16:creationId xmlns:a16="http://schemas.microsoft.com/office/drawing/2014/main" id="{436FB50C-25EC-4617-9855-9F4F4639B133}"/>
              </a:ext>
            </a:extLst>
          </p:cNvPr>
          <p:cNvSpPr/>
          <p:nvPr/>
        </p:nvSpPr>
        <p:spPr>
          <a:xfrm rot="16200000">
            <a:off x="5903540" y="-2041934"/>
            <a:ext cx="66710" cy="7833804"/>
          </a:xfrm>
          <a:prstGeom prst="rect">
            <a:avLst/>
          </a:prstGeom>
          <a:gradFill flip="none" rotWithShape="1">
            <a:gsLst>
              <a:gs pos="0">
                <a:srgbClr val="00B050"/>
              </a:gs>
              <a:gs pos="50000">
                <a:srgbClr val="5BFFA5"/>
              </a:gs>
              <a:gs pos="98000">
                <a:srgbClr val="FFFF2F"/>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cs typeface="Arial" panose="020B0604020202020204" pitchFamily="34" charset="0"/>
            </a:endParaRPr>
          </a:p>
        </p:txBody>
      </p:sp>
      <p:sp>
        <p:nvSpPr>
          <p:cNvPr id="11" name="Rectangle 10">
            <a:extLst>
              <a:ext uri="{FF2B5EF4-FFF2-40B4-BE49-F238E27FC236}">
                <a16:creationId xmlns:a16="http://schemas.microsoft.com/office/drawing/2014/main" id="{1D984896-9DF8-4EAB-9EF0-FA869745EC87}"/>
              </a:ext>
            </a:extLst>
          </p:cNvPr>
          <p:cNvSpPr/>
          <p:nvPr/>
        </p:nvSpPr>
        <p:spPr>
          <a:xfrm>
            <a:off x="676968" y="1703112"/>
            <a:ext cx="1638267" cy="27699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0" cap="none" spc="0" normalizeH="0" baseline="0" noProof="0" dirty="0">
                <a:ln>
                  <a:noFill/>
                </a:ln>
                <a:solidFill>
                  <a:srgbClr val="000000"/>
                </a:solidFill>
                <a:effectLst/>
                <a:uLnTx/>
                <a:uFillTx/>
                <a:cs typeface="Arial" panose="020B0604020202020204" pitchFamily="34" charset="0"/>
              </a:rPr>
              <a:t>Very Satisfied(10)</a:t>
            </a:r>
            <a:endParaRPr kumimoji="0" lang="en-US" sz="1200" b="0" i="1" u="none" strike="noStrike" kern="0" cap="none" spc="0" normalizeH="0" baseline="0" noProof="0" dirty="0">
              <a:ln>
                <a:noFill/>
              </a:ln>
              <a:solidFill>
                <a:prstClr val="black"/>
              </a:solidFill>
              <a:effectLst/>
              <a:uLnTx/>
              <a:uFillTx/>
              <a:cs typeface="Arial" panose="020B0604020202020204" pitchFamily="34" charset="0"/>
            </a:endParaRPr>
          </a:p>
        </p:txBody>
      </p:sp>
      <p:sp>
        <p:nvSpPr>
          <p:cNvPr id="12" name="Rectangle 11">
            <a:extLst>
              <a:ext uri="{FF2B5EF4-FFF2-40B4-BE49-F238E27FC236}">
                <a16:creationId xmlns:a16="http://schemas.microsoft.com/office/drawing/2014/main" id="{8DE1E49E-0533-4A70-898B-2FB4BBB5C0B9}"/>
              </a:ext>
            </a:extLst>
          </p:cNvPr>
          <p:cNvSpPr/>
          <p:nvPr/>
        </p:nvSpPr>
        <p:spPr>
          <a:xfrm>
            <a:off x="9874374" y="1719075"/>
            <a:ext cx="1435008" cy="27699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0" cap="none" spc="0" normalizeH="0" baseline="0" noProof="0" dirty="0">
                <a:ln>
                  <a:noFill/>
                </a:ln>
                <a:solidFill>
                  <a:srgbClr val="000000"/>
                </a:solidFill>
                <a:effectLst/>
                <a:uLnTx/>
                <a:uFillTx/>
                <a:cs typeface="Arial" panose="020B0604020202020204" pitchFamily="34" charset="0"/>
              </a:rPr>
              <a:t>Very unsatisfied (1)</a:t>
            </a:r>
            <a:endParaRPr kumimoji="0" lang="en-US" sz="1200" b="0" i="1" u="none" strike="noStrike" kern="0" cap="none" spc="0" normalizeH="0" baseline="0" noProof="0" dirty="0">
              <a:ln>
                <a:noFill/>
              </a:ln>
              <a:solidFill>
                <a:prstClr val="black"/>
              </a:solidFill>
              <a:effectLst/>
              <a:uLnTx/>
              <a:uFillTx/>
              <a:cs typeface="Arial" panose="020B0604020202020204" pitchFamily="34" charset="0"/>
            </a:endParaRPr>
          </a:p>
        </p:txBody>
      </p:sp>
      <p:graphicFrame>
        <p:nvGraphicFramePr>
          <p:cNvPr id="20" name="Table 19">
            <a:extLst>
              <a:ext uri="{FF2B5EF4-FFF2-40B4-BE49-F238E27FC236}">
                <a16:creationId xmlns:a16="http://schemas.microsoft.com/office/drawing/2014/main" id="{47082307-89EC-439A-9558-634B07FF20CF}"/>
              </a:ext>
            </a:extLst>
          </p:cNvPr>
          <p:cNvGraphicFramePr>
            <a:graphicFrameLocks noGrp="1"/>
          </p:cNvGraphicFramePr>
          <p:nvPr>
            <p:extLst>
              <p:ext uri="{D42A27DB-BD31-4B8C-83A1-F6EECF244321}">
                <p14:modId xmlns:p14="http://schemas.microsoft.com/office/powerpoint/2010/main" val="2493865387"/>
              </p:ext>
            </p:extLst>
          </p:nvPr>
        </p:nvGraphicFramePr>
        <p:xfrm>
          <a:off x="331302" y="2046823"/>
          <a:ext cx="11307602" cy="2617470"/>
        </p:xfrm>
        <a:graphic>
          <a:graphicData uri="http://schemas.openxmlformats.org/drawingml/2006/table">
            <a:tbl>
              <a:tblPr/>
              <a:tblGrid>
                <a:gridCol w="2247793">
                  <a:extLst>
                    <a:ext uri="{9D8B030D-6E8A-4147-A177-3AD203B41FA5}">
                      <a16:colId xmlns:a16="http://schemas.microsoft.com/office/drawing/2014/main" val="3119469732"/>
                    </a:ext>
                  </a:extLst>
                </a:gridCol>
                <a:gridCol w="823619">
                  <a:extLst>
                    <a:ext uri="{9D8B030D-6E8A-4147-A177-3AD203B41FA5}">
                      <a16:colId xmlns:a16="http://schemas.microsoft.com/office/drawing/2014/main" val="4294227102"/>
                    </a:ext>
                  </a:extLst>
                </a:gridCol>
                <a:gridCol w="823619">
                  <a:extLst>
                    <a:ext uri="{9D8B030D-6E8A-4147-A177-3AD203B41FA5}">
                      <a16:colId xmlns:a16="http://schemas.microsoft.com/office/drawing/2014/main" val="3612794177"/>
                    </a:ext>
                  </a:extLst>
                </a:gridCol>
                <a:gridCol w="823619">
                  <a:extLst>
                    <a:ext uri="{9D8B030D-6E8A-4147-A177-3AD203B41FA5}">
                      <a16:colId xmlns:a16="http://schemas.microsoft.com/office/drawing/2014/main" val="2257289075"/>
                    </a:ext>
                  </a:extLst>
                </a:gridCol>
                <a:gridCol w="823619">
                  <a:extLst>
                    <a:ext uri="{9D8B030D-6E8A-4147-A177-3AD203B41FA5}">
                      <a16:colId xmlns:a16="http://schemas.microsoft.com/office/drawing/2014/main" val="436060719"/>
                    </a:ext>
                  </a:extLst>
                </a:gridCol>
                <a:gridCol w="823619">
                  <a:extLst>
                    <a:ext uri="{9D8B030D-6E8A-4147-A177-3AD203B41FA5}">
                      <a16:colId xmlns:a16="http://schemas.microsoft.com/office/drawing/2014/main" val="553632516"/>
                    </a:ext>
                  </a:extLst>
                </a:gridCol>
                <a:gridCol w="823619">
                  <a:extLst>
                    <a:ext uri="{9D8B030D-6E8A-4147-A177-3AD203B41FA5}">
                      <a16:colId xmlns:a16="http://schemas.microsoft.com/office/drawing/2014/main" val="1336234701"/>
                    </a:ext>
                  </a:extLst>
                </a:gridCol>
                <a:gridCol w="823619">
                  <a:extLst>
                    <a:ext uri="{9D8B030D-6E8A-4147-A177-3AD203B41FA5}">
                      <a16:colId xmlns:a16="http://schemas.microsoft.com/office/drawing/2014/main" val="2153328601"/>
                    </a:ext>
                  </a:extLst>
                </a:gridCol>
                <a:gridCol w="823619">
                  <a:extLst>
                    <a:ext uri="{9D8B030D-6E8A-4147-A177-3AD203B41FA5}">
                      <a16:colId xmlns:a16="http://schemas.microsoft.com/office/drawing/2014/main" val="1553046022"/>
                    </a:ext>
                  </a:extLst>
                </a:gridCol>
                <a:gridCol w="823619">
                  <a:extLst>
                    <a:ext uri="{9D8B030D-6E8A-4147-A177-3AD203B41FA5}">
                      <a16:colId xmlns:a16="http://schemas.microsoft.com/office/drawing/2014/main" val="1318276695"/>
                    </a:ext>
                  </a:extLst>
                </a:gridCol>
                <a:gridCol w="823619">
                  <a:extLst>
                    <a:ext uri="{9D8B030D-6E8A-4147-A177-3AD203B41FA5}">
                      <a16:colId xmlns:a16="http://schemas.microsoft.com/office/drawing/2014/main" val="185229722"/>
                    </a:ext>
                  </a:extLst>
                </a:gridCol>
                <a:gridCol w="823619">
                  <a:extLst>
                    <a:ext uri="{9D8B030D-6E8A-4147-A177-3AD203B41FA5}">
                      <a16:colId xmlns:a16="http://schemas.microsoft.com/office/drawing/2014/main" val="317185092"/>
                    </a:ext>
                  </a:extLst>
                </a:gridCol>
              </a:tblGrid>
              <a:tr h="436245">
                <a:tc>
                  <a:txBody>
                    <a:bodyPr/>
                    <a:lstStyle/>
                    <a:p>
                      <a:pPr algn="l" fontAlgn="b"/>
                      <a:r>
                        <a:rPr lang="en-GB" sz="1800" b="0" i="0" u="none" strike="noStrike" dirty="0">
                          <a:solidFill>
                            <a:srgbClr val="000000"/>
                          </a:solidFill>
                          <a:effectLst/>
                          <a:latin typeface="Arial" panose="020B0604020202020204" pitchFamily="34" charset="0"/>
                        </a:rPr>
                        <a:t> </a:t>
                      </a:r>
                    </a:p>
                  </a:txBody>
                  <a:tcPr marL="9525" marR="9525" marT="9525" marB="0" anchor="ctr">
                    <a:lnL>
                      <a:noFill/>
                    </a:lnL>
                    <a:lnR w="12700" cap="flat" cmpd="sng" algn="ctr">
                      <a:solidFill>
                        <a:srgbClr val="C00000"/>
                      </a:solidFill>
                      <a:prstDash val="solid"/>
                      <a:round/>
                      <a:headEnd type="none" w="med" len="med"/>
                      <a:tailEnd type="none" w="med" len="med"/>
                    </a:lnR>
                    <a:lnT>
                      <a:noFill/>
                    </a:lnT>
                    <a:lnB w="12700" cap="flat" cmpd="sng" algn="ctr">
                      <a:solidFill>
                        <a:srgbClr val="C00000"/>
                      </a:solidFill>
                      <a:prstDash val="solid"/>
                      <a:round/>
                      <a:headEnd type="none" w="med" len="med"/>
                      <a:tailEnd type="none" w="med" len="med"/>
                    </a:lnB>
                  </a:tcPr>
                </a:tc>
                <a:tc>
                  <a:txBody>
                    <a:bodyPr/>
                    <a:lstStyle/>
                    <a:p>
                      <a:pPr algn="ctr" rtl="0" fontAlgn="b"/>
                      <a:r>
                        <a:rPr lang="en-GB" sz="1400" b="1" i="0" u="none" strike="noStrike" dirty="0">
                          <a:solidFill>
                            <a:srgbClr val="000000"/>
                          </a:solidFill>
                          <a:effectLst/>
                          <a:latin typeface="Calibri" panose="020F0502020204030204" pitchFamily="34" charset="0"/>
                        </a:rPr>
                        <a:t>Total</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a:noFill/>
                    </a:lnT>
                    <a:lnB w="12700" cap="flat" cmpd="sng" algn="ctr">
                      <a:solidFill>
                        <a:srgbClr val="C00000"/>
                      </a:solidFill>
                      <a:prstDash val="solid"/>
                      <a:round/>
                      <a:headEnd type="none" w="med" len="med"/>
                      <a:tailEnd type="none" w="med" len="med"/>
                    </a:lnB>
                  </a:tcPr>
                </a:tc>
                <a:tc>
                  <a:txBody>
                    <a:bodyPr/>
                    <a:lstStyle/>
                    <a:p>
                      <a:pPr algn="ctr" rtl="0" fontAlgn="b"/>
                      <a:r>
                        <a:rPr lang="en-GB" sz="1400" b="1" i="0" u="none" strike="noStrike" dirty="0">
                          <a:solidFill>
                            <a:srgbClr val="000000"/>
                          </a:solidFill>
                          <a:effectLst/>
                          <a:latin typeface="Calibri" panose="020F0502020204030204" pitchFamily="34" charset="0"/>
                        </a:rPr>
                        <a:t>Male</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a:noFill/>
                    </a:lnT>
                    <a:lnB w="12700" cap="flat" cmpd="sng" algn="ctr">
                      <a:solidFill>
                        <a:srgbClr val="C00000"/>
                      </a:solidFill>
                      <a:prstDash val="solid"/>
                      <a:round/>
                      <a:headEnd type="none" w="med" len="med"/>
                      <a:tailEnd type="none" w="med" len="med"/>
                    </a:lnB>
                  </a:tcPr>
                </a:tc>
                <a:tc>
                  <a:txBody>
                    <a:bodyPr/>
                    <a:lstStyle/>
                    <a:p>
                      <a:pPr algn="ctr" rtl="0" fontAlgn="b"/>
                      <a:r>
                        <a:rPr lang="en-GB" sz="1400" b="1" i="0" u="none" strike="noStrike" dirty="0">
                          <a:solidFill>
                            <a:srgbClr val="000000"/>
                          </a:solidFill>
                          <a:effectLst/>
                          <a:latin typeface="Calibri" panose="020F0502020204030204" pitchFamily="34" charset="0"/>
                        </a:rPr>
                        <a:t>Female</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a:noFill/>
                    </a:lnT>
                    <a:lnB w="12700" cap="flat" cmpd="sng" algn="ctr">
                      <a:solidFill>
                        <a:srgbClr val="C00000"/>
                      </a:solidFill>
                      <a:prstDash val="solid"/>
                      <a:round/>
                      <a:headEnd type="none" w="med" len="med"/>
                      <a:tailEnd type="none" w="med" len="med"/>
                    </a:lnB>
                  </a:tcPr>
                </a:tc>
                <a:tc>
                  <a:txBody>
                    <a:bodyPr/>
                    <a:lstStyle/>
                    <a:p>
                      <a:pPr algn="ctr" rtl="0" fontAlgn="b"/>
                      <a:r>
                        <a:rPr lang="en-GB" sz="1400" b="1" i="0" u="none" strike="noStrike">
                          <a:solidFill>
                            <a:srgbClr val="000000"/>
                          </a:solidFill>
                          <a:effectLst/>
                          <a:latin typeface="Calibri" panose="020F0502020204030204" pitchFamily="34" charset="0"/>
                        </a:rPr>
                        <a:t>FCT</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a:noFill/>
                    </a:lnT>
                    <a:lnB w="12700" cap="flat" cmpd="sng" algn="ctr">
                      <a:solidFill>
                        <a:srgbClr val="C00000"/>
                      </a:solidFill>
                      <a:prstDash val="solid"/>
                      <a:round/>
                      <a:headEnd type="none" w="med" len="med"/>
                      <a:tailEnd type="none" w="med" len="med"/>
                    </a:lnB>
                  </a:tcPr>
                </a:tc>
                <a:tc>
                  <a:txBody>
                    <a:bodyPr/>
                    <a:lstStyle/>
                    <a:p>
                      <a:pPr algn="ctr" rtl="0" fontAlgn="b"/>
                      <a:r>
                        <a:rPr lang="en-GB" sz="1400" b="1" i="0" u="none" strike="noStrike">
                          <a:solidFill>
                            <a:srgbClr val="000000"/>
                          </a:solidFill>
                          <a:effectLst/>
                          <a:latin typeface="Calibri" panose="020F0502020204030204" pitchFamily="34" charset="0"/>
                        </a:rPr>
                        <a:t>Bauchi</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a:noFill/>
                    </a:lnT>
                    <a:lnB w="12700" cap="flat" cmpd="sng" algn="ctr">
                      <a:solidFill>
                        <a:srgbClr val="C00000"/>
                      </a:solidFill>
                      <a:prstDash val="solid"/>
                      <a:round/>
                      <a:headEnd type="none" w="med" len="med"/>
                      <a:tailEnd type="none" w="med" len="med"/>
                    </a:lnB>
                  </a:tcPr>
                </a:tc>
                <a:tc>
                  <a:txBody>
                    <a:bodyPr/>
                    <a:lstStyle/>
                    <a:p>
                      <a:pPr algn="ctr" rtl="0" fontAlgn="b"/>
                      <a:r>
                        <a:rPr lang="en-GB" sz="1400" b="1" i="0" u="none" strike="noStrike">
                          <a:solidFill>
                            <a:srgbClr val="000000"/>
                          </a:solidFill>
                          <a:effectLst/>
                          <a:latin typeface="Calibri" panose="020F0502020204030204" pitchFamily="34" charset="0"/>
                        </a:rPr>
                        <a:t>Kano</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a:noFill/>
                    </a:lnT>
                    <a:lnB w="12700" cap="flat" cmpd="sng" algn="ctr">
                      <a:solidFill>
                        <a:srgbClr val="C00000"/>
                      </a:solidFill>
                      <a:prstDash val="solid"/>
                      <a:round/>
                      <a:headEnd type="none" w="med" len="med"/>
                      <a:tailEnd type="none" w="med" len="med"/>
                    </a:lnB>
                  </a:tcPr>
                </a:tc>
                <a:tc>
                  <a:txBody>
                    <a:bodyPr/>
                    <a:lstStyle/>
                    <a:p>
                      <a:pPr algn="ctr" rtl="0" fontAlgn="b"/>
                      <a:r>
                        <a:rPr lang="en-GB" sz="1400" b="1" i="0" u="none" strike="noStrike">
                          <a:solidFill>
                            <a:srgbClr val="000000"/>
                          </a:solidFill>
                          <a:effectLst/>
                          <a:latin typeface="Calibri" panose="020F0502020204030204" pitchFamily="34" charset="0"/>
                        </a:rPr>
                        <a:t>Enugu</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a:noFill/>
                    </a:lnT>
                    <a:lnB w="12700" cap="flat" cmpd="sng" algn="ctr">
                      <a:solidFill>
                        <a:srgbClr val="C00000"/>
                      </a:solidFill>
                      <a:prstDash val="solid"/>
                      <a:round/>
                      <a:headEnd type="none" w="med" len="med"/>
                      <a:tailEnd type="none" w="med" len="med"/>
                    </a:lnB>
                  </a:tcPr>
                </a:tc>
                <a:tc>
                  <a:txBody>
                    <a:bodyPr/>
                    <a:lstStyle/>
                    <a:p>
                      <a:pPr algn="ctr" rtl="0" fontAlgn="b"/>
                      <a:r>
                        <a:rPr lang="en-GB" sz="1400" b="1" i="0" u="none" strike="noStrike">
                          <a:solidFill>
                            <a:srgbClr val="000000"/>
                          </a:solidFill>
                          <a:effectLst/>
                          <a:latin typeface="Calibri" panose="020F0502020204030204" pitchFamily="34" charset="0"/>
                        </a:rPr>
                        <a:t>Edo</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a:noFill/>
                    </a:lnT>
                    <a:lnB w="12700" cap="flat" cmpd="sng" algn="ctr">
                      <a:solidFill>
                        <a:srgbClr val="C00000"/>
                      </a:solidFill>
                      <a:prstDash val="solid"/>
                      <a:round/>
                      <a:headEnd type="none" w="med" len="med"/>
                      <a:tailEnd type="none" w="med" len="med"/>
                    </a:lnB>
                  </a:tcPr>
                </a:tc>
                <a:tc>
                  <a:txBody>
                    <a:bodyPr/>
                    <a:lstStyle/>
                    <a:p>
                      <a:pPr algn="ctr" rtl="0" fontAlgn="b"/>
                      <a:r>
                        <a:rPr lang="en-GB" sz="1400" b="1" i="0" u="none" strike="noStrike">
                          <a:solidFill>
                            <a:srgbClr val="000000"/>
                          </a:solidFill>
                          <a:effectLst/>
                          <a:latin typeface="Calibri" panose="020F0502020204030204" pitchFamily="34" charset="0"/>
                        </a:rPr>
                        <a:t>Lagos</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a:noFill/>
                    </a:lnT>
                    <a:lnB w="12700" cap="flat" cmpd="sng" algn="ctr">
                      <a:solidFill>
                        <a:srgbClr val="C00000"/>
                      </a:solidFill>
                      <a:prstDash val="solid"/>
                      <a:round/>
                      <a:headEnd type="none" w="med" len="med"/>
                      <a:tailEnd type="none" w="med" len="med"/>
                    </a:lnB>
                  </a:tcPr>
                </a:tc>
                <a:tc>
                  <a:txBody>
                    <a:bodyPr/>
                    <a:lstStyle/>
                    <a:p>
                      <a:pPr algn="ctr" rtl="0" fontAlgn="b"/>
                      <a:r>
                        <a:rPr lang="en-GB" sz="1400" b="1" i="0" u="none" strike="noStrike">
                          <a:solidFill>
                            <a:srgbClr val="000000"/>
                          </a:solidFill>
                          <a:effectLst/>
                          <a:latin typeface="Calibri" panose="020F0502020204030204" pitchFamily="34" charset="0"/>
                        </a:rPr>
                        <a:t>Urban</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a:noFill/>
                    </a:lnT>
                    <a:lnB w="12700" cap="flat" cmpd="sng" algn="ctr">
                      <a:solidFill>
                        <a:srgbClr val="C00000"/>
                      </a:solidFill>
                      <a:prstDash val="solid"/>
                      <a:round/>
                      <a:headEnd type="none" w="med" len="med"/>
                      <a:tailEnd type="none" w="med" len="med"/>
                    </a:lnB>
                  </a:tcPr>
                </a:tc>
                <a:tc>
                  <a:txBody>
                    <a:bodyPr/>
                    <a:lstStyle/>
                    <a:p>
                      <a:pPr algn="ctr" rtl="0" fontAlgn="b"/>
                      <a:r>
                        <a:rPr lang="en-GB" sz="1400" b="1" i="0" u="none" strike="noStrike">
                          <a:solidFill>
                            <a:srgbClr val="000000"/>
                          </a:solidFill>
                          <a:effectLst/>
                          <a:latin typeface="Calibri" panose="020F0502020204030204" pitchFamily="34" charset="0"/>
                        </a:rPr>
                        <a:t>Rural</a:t>
                      </a:r>
                    </a:p>
                  </a:txBody>
                  <a:tcPr marL="9525" marR="9525" marT="9525" marB="0" anchor="ctr">
                    <a:lnL w="12700" cap="flat" cmpd="sng" algn="ctr">
                      <a:solidFill>
                        <a:srgbClr val="C00000"/>
                      </a:solidFill>
                      <a:prstDash val="solid"/>
                      <a:round/>
                      <a:headEnd type="none" w="med" len="med"/>
                      <a:tailEnd type="none" w="med" len="med"/>
                    </a:lnL>
                    <a:lnR>
                      <a:noFill/>
                    </a:lnR>
                    <a:lnT>
                      <a:noFill/>
                    </a:lnT>
                    <a:lnB w="127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1467828514"/>
                  </a:ext>
                </a:extLst>
              </a:tr>
              <a:tr h="436245">
                <a:tc>
                  <a:txBody>
                    <a:bodyPr/>
                    <a:lstStyle/>
                    <a:p>
                      <a:pPr algn="l" rtl="0" fontAlgn="b"/>
                      <a:r>
                        <a:rPr lang="en-GB" sz="1400" b="1" i="0" u="none" strike="noStrike">
                          <a:solidFill>
                            <a:srgbClr val="000000"/>
                          </a:solidFill>
                          <a:effectLst/>
                          <a:latin typeface="Calibri" panose="020F0502020204030204" pitchFamily="34" charset="0"/>
                        </a:rPr>
                        <a:t>Total</a:t>
                      </a:r>
                    </a:p>
                  </a:txBody>
                  <a:tcPr marL="9525" marR="9525" marT="9525" marB="0" anchor="ctr">
                    <a:lnL>
                      <a:noFill/>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rtl="0" fontAlgn="b"/>
                      <a:r>
                        <a:rPr lang="en-GB" sz="1400" b="1" i="0" u="none" strike="noStrike" dirty="0">
                          <a:solidFill>
                            <a:srgbClr val="000000"/>
                          </a:solidFill>
                          <a:effectLst/>
                          <a:latin typeface="Calibri" panose="020F0502020204030204" pitchFamily="34" charset="0"/>
                        </a:rPr>
                        <a:t>1456</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rtl="0" fontAlgn="b"/>
                      <a:r>
                        <a:rPr lang="en-GB" sz="1400" b="1" i="0" u="none" strike="noStrike" dirty="0">
                          <a:solidFill>
                            <a:srgbClr val="000000"/>
                          </a:solidFill>
                          <a:effectLst/>
                          <a:latin typeface="Calibri" panose="020F0502020204030204" pitchFamily="34" charset="0"/>
                        </a:rPr>
                        <a:t>681</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rtl="0" fontAlgn="b"/>
                      <a:r>
                        <a:rPr lang="en-GB" sz="1400" b="1" i="0" u="none" strike="noStrike" dirty="0">
                          <a:solidFill>
                            <a:srgbClr val="000000"/>
                          </a:solidFill>
                          <a:effectLst/>
                          <a:latin typeface="Calibri" panose="020F0502020204030204" pitchFamily="34" charset="0"/>
                        </a:rPr>
                        <a:t>775</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rtl="0" fontAlgn="b"/>
                      <a:r>
                        <a:rPr lang="en-GB" sz="1400" b="1" i="0" u="none" strike="noStrike">
                          <a:solidFill>
                            <a:srgbClr val="000000"/>
                          </a:solidFill>
                          <a:effectLst/>
                          <a:latin typeface="Calibri" panose="020F0502020204030204" pitchFamily="34" charset="0"/>
                        </a:rPr>
                        <a:t>170</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rtl="0" fontAlgn="b"/>
                      <a:r>
                        <a:rPr lang="en-GB" sz="1400" b="1" i="0" u="none" strike="noStrike">
                          <a:solidFill>
                            <a:srgbClr val="000000"/>
                          </a:solidFill>
                          <a:effectLst/>
                          <a:latin typeface="Calibri" panose="020F0502020204030204" pitchFamily="34" charset="0"/>
                        </a:rPr>
                        <a:t>290</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rtl="0" fontAlgn="b"/>
                      <a:r>
                        <a:rPr lang="en-GB" sz="1400" b="1" i="0" u="none" strike="noStrike">
                          <a:solidFill>
                            <a:srgbClr val="000000"/>
                          </a:solidFill>
                          <a:effectLst/>
                          <a:latin typeface="Calibri" panose="020F0502020204030204" pitchFamily="34" charset="0"/>
                        </a:rPr>
                        <a:t>284</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rtl="0" fontAlgn="b"/>
                      <a:r>
                        <a:rPr lang="en-GB" sz="1400" b="1" i="0" u="none" strike="noStrike">
                          <a:solidFill>
                            <a:srgbClr val="000000"/>
                          </a:solidFill>
                          <a:effectLst/>
                          <a:latin typeface="Calibri" panose="020F0502020204030204" pitchFamily="34" charset="0"/>
                        </a:rPr>
                        <a:t>210</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rtl="0" fontAlgn="b"/>
                      <a:r>
                        <a:rPr lang="en-GB" sz="1400" b="1" i="0" u="none" strike="noStrike">
                          <a:solidFill>
                            <a:srgbClr val="000000"/>
                          </a:solidFill>
                          <a:effectLst/>
                          <a:latin typeface="Calibri" panose="020F0502020204030204" pitchFamily="34" charset="0"/>
                        </a:rPr>
                        <a:t>158</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rtl="0" fontAlgn="b"/>
                      <a:r>
                        <a:rPr lang="en-GB" sz="1400" b="1" i="0" u="none" strike="noStrike">
                          <a:solidFill>
                            <a:srgbClr val="000000"/>
                          </a:solidFill>
                          <a:effectLst/>
                          <a:latin typeface="Calibri" panose="020F0502020204030204" pitchFamily="34" charset="0"/>
                        </a:rPr>
                        <a:t>344</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rtl="0" fontAlgn="b"/>
                      <a:r>
                        <a:rPr lang="en-GB" sz="1400" b="1" i="0" u="none" strike="noStrike">
                          <a:solidFill>
                            <a:srgbClr val="000000"/>
                          </a:solidFill>
                          <a:effectLst/>
                          <a:latin typeface="Calibri" panose="020F0502020204030204" pitchFamily="34" charset="0"/>
                        </a:rPr>
                        <a:t>937</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rtl="0" fontAlgn="b"/>
                      <a:r>
                        <a:rPr lang="en-GB" sz="1400" b="1" i="0" u="none" strike="noStrike">
                          <a:solidFill>
                            <a:srgbClr val="000000"/>
                          </a:solidFill>
                          <a:effectLst/>
                          <a:latin typeface="Calibri" panose="020F0502020204030204" pitchFamily="34" charset="0"/>
                        </a:rPr>
                        <a:t>519</a:t>
                      </a:r>
                    </a:p>
                  </a:txBody>
                  <a:tcPr marL="9525" marR="9525" marT="9525" marB="0" anchor="ctr">
                    <a:lnL w="12700" cap="flat" cmpd="sng" algn="ctr">
                      <a:solidFill>
                        <a:srgbClr val="C00000"/>
                      </a:solidFill>
                      <a:prstDash val="solid"/>
                      <a:round/>
                      <a:headEnd type="none" w="med" len="med"/>
                      <a:tailEnd type="none" w="med" len="med"/>
                    </a:lnL>
                    <a:lnR>
                      <a:noFill/>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2690633252"/>
                  </a:ext>
                </a:extLst>
              </a:tr>
              <a:tr h="436245">
                <a:tc>
                  <a:txBody>
                    <a:bodyPr/>
                    <a:lstStyle/>
                    <a:p>
                      <a:pPr algn="l" rtl="0" fontAlgn="b"/>
                      <a:r>
                        <a:rPr lang="en-GB" sz="1400" b="1" i="0" u="none" strike="noStrike">
                          <a:solidFill>
                            <a:srgbClr val="000000"/>
                          </a:solidFill>
                          <a:effectLst/>
                          <a:latin typeface="Calibri" panose="020F0502020204030204" pitchFamily="34" charset="0"/>
                        </a:rPr>
                        <a:t>Governor</a:t>
                      </a:r>
                    </a:p>
                  </a:txBody>
                  <a:tcPr marL="9525" marR="9525" marT="9525" marB="0" anchor="ctr">
                    <a:lnL>
                      <a:noFill/>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rtl="0" fontAlgn="b"/>
                      <a:r>
                        <a:rPr lang="en-GB" sz="1400" b="0" i="0" u="none" strike="noStrike">
                          <a:solidFill>
                            <a:srgbClr val="000000"/>
                          </a:solidFill>
                          <a:effectLst/>
                          <a:latin typeface="Calibri" panose="020F0502020204030204" pitchFamily="34" charset="0"/>
                        </a:rPr>
                        <a:t>5.52</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7FD828"/>
                    </a:solidFill>
                  </a:tcPr>
                </a:tc>
                <a:tc>
                  <a:txBody>
                    <a:bodyPr/>
                    <a:lstStyle/>
                    <a:p>
                      <a:pPr algn="ctr" rtl="0" fontAlgn="b"/>
                      <a:r>
                        <a:rPr lang="en-GB" sz="1400" b="0" i="0" u="none" strike="noStrike">
                          <a:solidFill>
                            <a:srgbClr val="000000"/>
                          </a:solidFill>
                          <a:effectLst/>
                          <a:latin typeface="Calibri" panose="020F0502020204030204" pitchFamily="34" charset="0"/>
                        </a:rPr>
                        <a:t>5.62</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7DD729"/>
                    </a:solidFill>
                  </a:tcPr>
                </a:tc>
                <a:tc>
                  <a:txBody>
                    <a:bodyPr/>
                    <a:lstStyle/>
                    <a:p>
                      <a:pPr algn="ctr" rtl="0" fontAlgn="b"/>
                      <a:r>
                        <a:rPr lang="en-GB" sz="1400" b="0" i="0" u="none" strike="noStrike" dirty="0">
                          <a:solidFill>
                            <a:srgbClr val="000000"/>
                          </a:solidFill>
                          <a:effectLst/>
                          <a:latin typeface="Calibri" panose="020F0502020204030204" pitchFamily="34" charset="0"/>
                        </a:rPr>
                        <a:t>5.43</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82D927"/>
                    </a:solidFill>
                  </a:tcPr>
                </a:tc>
                <a:tc>
                  <a:txBody>
                    <a:bodyPr/>
                    <a:lstStyle/>
                    <a:p>
                      <a:pPr algn="ctr" rtl="0" fontAlgn="b"/>
                      <a:r>
                        <a:rPr lang="en-GB" sz="1400" b="0" i="0" u="none" strike="noStrike" dirty="0">
                          <a:solidFill>
                            <a:srgbClr val="000000"/>
                          </a:solidFill>
                          <a:effectLst/>
                          <a:latin typeface="Calibri" panose="020F0502020204030204" pitchFamily="34" charset="0"/>
                        </a:rPr>
                        <a:t>3.49</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B9EA16"/>
                    </a:solidFill>
                  </a:tcPr>
                </a:tc>
                <a:tc>
                  <a:txBody>
                    <a:bodyPr/>
                    <a:lstStyle/>
                    <a:p>
                      <a:pPr algn="ctr" rtl="0" fontAlgn="b"/>
                      <a:r>
                        <a:rPr lang="en-GB" sz="1400" b="0" i="0" u="none" strike="noStrike" dirty="0">
                          <a:solidFill>
                            <a:srgbClr val="000000"/>
                          </a:solidFill>
                          <a:effectLst/>
                          <a:latin typeface="Calibri" panose="020F0502020204030204" pitchFamily="34" charset="0"/>
                        </a:rPr>
                        <a:t>7.56</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46C63A"/>
                    </a:solidFill>
                  </a:tcPr>
                </a:tc>
                <a:tc>
                  <a:txBody>
                    <a:bodyPr/>
                    <a:lstStyle/>
                    <a:p>
                      <a:pPr algn="ctr" rtl="0" fontAlgn="b"/>
                      <a:r>
                        <a:rPr lang="en-GB" sz="1400" b="0" i="0" u="none" strike="noStrike">
                          <a:solidFill>
                            <a:srgbClr val="000000"/>
                          </a:solidFill>
                          <a:effectLst/>
                          <a:latin typeface="Calibri" panose="020F0502020204030204" pitchFamily="34" charset="0"/>
                        </a:rPr>
                        <a:t>8.48</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2CBE42"/>
                    </a:solidFill>
                  </a:tcPr>
                </a:tc>
                <a:tc>
                  <a:txBody>
                    <a:bodyPr/>
                    <a:lstStyle/>
                    <a:p>
                      <a:pPr algn="ctr" rtl="0" fontAlgn="b"/>
                      <a:r>
                        <a:rPr lang="en-GB" sz="1400" b="0" i="0" u="none" strike="noStrike" dirty="0">
                          <a:solidFill>
                            <a:srgbClr val="000000"/>
                          </a:solidFill>
                          <a:effectLst/>
                          <a:latin typeface="Calibri" panose="020F0502020204030204" pitchFamily="34" charset="0"/>
                        </a:rPr>
                        <a:t>3.95</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ACE61A"/>
                    </a:solidFill>
                  </a:tcPr>
                </a:tc>
                <a:tc>
                  <a:txBody>
                    <a:bodyPr/>
                    <a:lstStyle/>
                    <a:p>
                      <a:pPr algn="ctr" rtl="0" fontAlgn="b"/>
                      <a:r>
                        <a:rPr lang="en-GB" sz="1400" b="0" i="0" u="none" strike="noStrike">
                          <a:solidFill>
                            <a:srgbClr val="000000"/>
                          </a:solidFill>
                          <a:effectLst/>
                          <a:latin typeface="Calibri" panose="020F0502020204030204" pitchFamily="34" charset="0"/>
                        </a:rPr>
                        <a:t>2.19</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EF50A"/>
                    </a:solidFill>
                  </a:tcPr>
                </a:tc>
                <a:tc>
                  <a:txBody>
                    <a:bodyPr/>
                    <a:lstStyle/>
                    <a:p>
                      <a:pPr algn="ctr" rtl="0" fontAlgn="b"/>
                      <a:r>
                        <a:rPr lang="en-GB" sz="1400" b="0" i="0" u="none" strike="noStrike">
                          <a:solidFill>
                            <a:srgbClr val="000000"/>
                          </a:solidFill>
                          <a:effectLst/>
                          <a:latin typeface="Calibri" panose="020F0502020204030204" pitchFamily="34" charset="0"/>
                        </a:rPr>
                        <a:t>4.83</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93DE22"/>
                    </a:solidFill>
                  </a:tcPr>
                </a:tc>
                <a:tc>
                  <a:txBody>
                    <a:bodyPr/>
                    <a:lstStyle/>
                    <a:p>
                      <a:pPr algn="ctr" rtl="0" fontAlgn="b"/>
                      <a:r>
                        <a:rPr lang="en-GB" sz="1400" b="0" i="0" u="none" strike="noStrike">
                          <a:solidFill>
                            <a:srgbClr val="000000"/>
                          </a:solidFill>
                          <a:effectLst/>
                          <a:latin typeface="Calibri" panose="020F0502020204030204" pitchFamily="34" charset="0"/>
                        </a:rPr>
                        <a:t>5.61</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7DD728"/>
                    </a:solidFill>
                  </a:tcPr>
                </a:tc>
                <a:tc>
                  <a:txBody>
                    <a:bodyPr/>
                    <a:lstStyle/>
                    <a:p>
                      <a:pPr algn="ctr" rtl="0" fontAlgn="b"/>
                      <a:r>
                        <a:rPr lang="en-GB" sz="1400" b="0" i="0" u="none" strike="noStrike">
                          <a:solidFill>
                            <a:srgbClr val="000000"/>
                          </a:solidFill>
                          <a:effectLst/>
                          <a:latin typeface="Calibri" panose="020F0502020204030204" pitchFamily="34" charset="0"/>
                        </a:rPr>
                        <a:t>5.34</a:t>
                      </a:r>
                    </a:p>
                  </a:txBody>
                  <a:tcPr marL="9525" marR="9525" marT="9525" marB="0" anchor="ctr">
                    <a:lnL w="12700" cap="flat" cmpd="sng" algn="ctr">
                      <a:solidFill>
                        <a:srgbClr val="C00000"/>
                      </a:solidFill>
                      <a:prstDash val="solid"/>
                      <a:round/>
                      <a:headEnd type="none" w="med" len="med"/>
                      <a:tailEnd type="none" w="med" len="med"/>
                    </a:lnL>
                    <a:lnR>
                      <a:noFill/>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85D926"/>
                    </a:solidFill>
                  </a:tcPr>
                </a:tc>
                <a:extLst>
                  <a:ext uri="{0D108BD9-81ED-4DB2-BD59-A6C34878D82A}">
                    <a16:rowId xmlns:a16="http://schemas.microsoft.com/office/drawing/2014/main" val="2067984355"/>
                  </a:ext>
                </a:extLst>
              </a:tr>
              <a:tr h="436245">
                <a:tc>
                  <a:txBody>
                    <a:bodyPr/>
                    <a:lstStyle/>
                    <a:p>
                      <a:pPr algn="l" rtl="0" fontAlgn="b"/>
                      <a:r>
                        <a:rPr lang="en-GB" sz="1400" b="1" i="0" u="none" strike="noStrike">
                          <a:solidFill>
                            <a:srgbClr val="000000"/>
                          </a:solidFill>
                          <a:effectLst/>
                          <a:latin typeface="Calibri" panose="020F0502020204030204" pitchFamily="34" charset="0"/>
                        </a:rPr>
                        <a:t>Senator</a:t>
                      </a:r>
                    </a:p>
                  </a:txBody>
                  <a:tcPr marL="9525" marR="9525" marT="9525" marB="0" anchor="ctr">
                    <a:lnL>
                      <a:noFill/>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rtl="0" fontAlgn="b"/>
                      <a:r>
                        <a:rPr lang="en-GB" sz="1400" b="0" i="0" u="none" strike="noStrike">
                          <a:solidFill>
                            <a:srgbClr val="000000"/>
                          </a:solidFill>
                          <a:effectLst/>
                          <a:latin typeface="Calibri" panose="020F0502020204030204" pitchFamily="34" charset="0"/>
                        </a:rPr>
                        <a:t>3.51</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B8E916"/>
                    </a:solidFill>
                  </a:tcPr>
                </a:tc>
                <a:tc>
                  <a:txBody>
                    <a:bodyPr/>
                    <a:lstStyle/>
                    <a:p>
                      <a:pPr algn="ctr" rtl="0" fontAlgn="b"/>
                      <a:r>
                        <a:rPr lang="en-GB" sz="1400" b="0" i="0" u="none" strike="noStrike">
                          <a:solidFill>
                            <a:srgbClr val="000000"/>
                          </a:solidFill>
                          <a:effectLst/>
                          <a:latin typeface="Calibri" panose="020F0502020204030204" pitchFamily="34" charset="0"/>
                        </a:rPr>
                        <a:t>3.65</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B4E817"/>
                    </a:solidFill>
                  </a:tcPr>
                </a:tc>
                <a:tc>
                  <a:txBody>
                    <a:bodyPr/>
                    <a:lstStyle/>
                    <a:p>
                      <a:pPr algn="ctr" rtl="0" fontAlgn="b"/>
                      <a:r>
                        <a:rPr lang="en-GB" sz="1400" b="0" i="0" u="none" strike="noStrike">
                          <a:solidFill>
                            <a:srgbClr val="000000"/>
                          </a:solidFill>
                          <a:effectLst/>
                          <a:latin typeface="Calibri" panose="020F0502020204030204" pitchFamily="34" charset="0"/>
                        </a:rPr>
                        <a:t>3.4</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BBEA15"/>
                    </a:solidFill>
                  </a:tcPr>
                </a:tc>
                <a:tc>
                  <a:txBody>
                    <a:bodyPr/>
                    <a:lstStyle/>
                    <a:p>
                      <a:pPr algn="ctr" rtl="0" fontAlgn="b"/>
                      <a:r>
                        <a:rPr lang="en-GB" sz="1400" b="0" i="0" u="none" strike="noStrike">
                          <a:solidFill>
                            <a:srgbClr val="000000"/>
                          </a:solidFill>
                          <a:effectLst/>
                          <a:latin typeface="Calibri" panose="020F0502020204030204" pitchFamily="34" charset="0"/>
                        </a:rPr>
                        <a:t>3.08</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C5ED12"/>
                    </a:solidFill>
                  </a:tcPr>
                </a:tc>
                <a:tc>
                  <a:txBody>
                    <a:bodyPr/>
                    <a:lstStyle/>
                    <a:p>
                      <a:pPr algn="ctr" rtl="0" fontAlgn="b"/>
                      <a:r>
                        <a:rPr lang="en-GB" sz="1400" b="0" i="0" u="none" strike="noStrike">
                          <a:solidFill>
                            <a:srgbClr val="000000"/>
                          </a:solidFill>
                          <a:effectLst/>
                          <a:latin typeface="Calibri" panose="020F0502020204030204" pitchFamily="34" charset="0"/>
                        </a:rPr>
                        <a:t>2.89</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CAEF10"/>
                    </a:solidFill>
                  </a:tcPr>
                </a:tc>
                <a:tc>
                  <a:txBody>
                    <a:bodyPr/>
                    <a:lstStyle/>
                    <a:p>
                      <a:pPr algn="ctr" rtl="0" fontAlgn="b"/>
                      <a:r>
                        <a:rPr lang="en-GB" sz="1400" b="0" i="0" u="none" strike="noStrike">
                          <a:solidFill>
                            <a:srgbClr val="000000"/>
                          </a:solidFill>
                          <a:effectLst/>
                          <a:latin typeface="Calibri" panose="020F0502020204030204" pitchFamily="34" charset="0"/>
                        </a:rPr>
                        <a:t>4.84</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93DE22"/>
                    </a:solidFill>
                  </a:tcPr>
                </a:tc>
                <a:tc>
                  <a:txBody>
                    <a:bodyPr/>
                    <a:lstStyle/>
                    <a:p>
                      <a:pPr algn="ctr" rtl="0" fontAlgn="b"/>
                      <a:r>
                        <a:rPr lang="en-GB" sz="1400" b="0" i="0" u="none" strike="noStrike">
                          <a:solidFill>
                            <a:srgbClr val="000000"/>
                          </a:solidFill>
                          <a:effectLst/>
                          <a:latin typeface="Calibri" panose="020F0502020204030204" pitchFamily="34" charset="0"/>
                        </a:rPr>
                        <a:t>2.95</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C8EE11"/>
                    </a:solidFill>
                  </a:tcPr>
                </a:tc>
                <a:tc>
                  <a:txBody>
                    <a:bodyPr/>
                    <a:lstStyle/>
                    <a:p>
                      <a:pPr algn="ctr" rtl="0" fontAlgn="b"/>
                      <a:r>
                        <a:rPr lang="en-GB" sz="1400" b="0" i="0" u="none" strike="noStrike" dirty="0">
                          <a:solidFill>
                            <a:srgbClr val="000000"/>
                          </a:solidFill>
                          <a:effectLst/>
                          <a:latin typeface="Calibri" panose="020F0502020204030204" pitchFamily="34" charset="0"/>
                        </a:rPr>
                        <a:t>2.17</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EF50A"/>
                    </a:solidFill>
                  </a:tcPr>
                </a:tc>
                <a:tc>
                  <a:txBody>
                    <a:bodyPr/>
                    <a:lstStyle/>
                    <a:p>
                      <a:pPr algn="ctr" rtl="0" fontAlgn="b"/>
                      <a:r>
                        <a:rPr lang="en-GB" sz="1400" b="0" i="0" u="none" strike="noStrike">
                          <a:solidFill>
                            <a:srgbClr val="000000"/>
                          </a:solidFill>
                          <a:effectLst/>
                          <a:latin typeface="Calibri" panose="020F0502020204030204" pitchFamily="34" charset="0"/>
                        </a:rPr>
                        <a:t>4.14</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A7E41B"/>
                    </a:solidFill>
                  </a:tcPr>
                </a:tc>
                <a:tc>
                  <a:txBody>
                    <a:bodyPr/>
                    <a:lstStyle/>
                    <a:p>
                      <a:pPr algn="ctr" rtl="0" fontAlgn="b"/>
                      <a:r>
                        <a:rPr lang="en-GB" sz="1400" b="0" i="0" u="none" strike="noStrike">
                          <a:solidFill>
                            <a:srgbClr val="000000"/>
                          </a:solidFill>
                          <a:effectLst/>
                          <a:latin typeface="Calibri" panose="020F0502020204030204" pitchFamily="34" charset="0"/>
                        </a:rPr>
                        <a:t>3.63</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B5E817"/>
                    </a:solidFill>
                  </a:tcPr>
                </a:tc>
                <a:tc>
                  <a:txBody>
                    <a:bodyPr/>
                    <a:lstStyle/>
                    <a:p>
                      <a:pPr algn="ctr" rtl="0" fontAlgn="b"/>
                      <a:r>
                        <a:rPr lang="en-GB" sz="1400" b="0" i="0" u="none" strike="noStrike">
                          <a:solidFill>
                            <a:srgbClr val="000000"/>
                          </a:solidFill>
                          <a:effectLst/>
                          <a:latin typeface="Calibri" panose="020F0502020204030204" pitchFamily="34" charset="0"/>
                        </a:rPr>
                        <a:t>3.3</a:t>
                      </a:r>
                    </a:p>
                  </a:txBody>
                  <a:tcPr marL="9525" marR="9525" marT="9525" marB="0" anchor="ctr">
                    <a:lnL w="12700" cap="flat" cmpd="sng" algn="ctr">
                      <a:solidFill>
                        <a:srgbClr val="C00000"/>
                      </a:solidFill>
                      <a:prstDash val="solid"/>
                      <a:round/>
                      <a:headEnd type="none" w="med" len="med"/>
                      <a:tailEnd type="none" w="med" len="med"/>
                    </a:lnL>
                    <a:lnR>
                      <a:noFill/>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BEEB14"/>
                    </a:solidFill>
                  </a:tcPr>
                </a:tc>
                <a:extLst>
                  <a:ext uri="{0D108BD9-81ED-4DB2-BD59-A6C34878D82A}">
                    <a16:rowId xmlns:a16="http://schemas.microsoft.com/office/drawing/2014/main" val="3356420231"/>
                  </a:ext>
                </a:extLst>
              </a:tr>
              <a:tr h="436245">
                <a:tc>
                  <a:txBody>
                    <a:bodyPr/>
                    <a:lstStyle/>
                    <a:p>
                      <a:pPr algn="l" rtl="0" fontAlgn="b"/>
                      <a:r>
                        <a:rPr lang="en-GB" sz="1400" b="1" i="0" u="none" strike="noStrike">
                          <a:solidFill>
                            <a:srgbClr val="000000"/>
                          </a:solidFill>
                          <a:effectLst/>
                          <a:latin typeface="Calibri" panose="020F0502020204030204" pitchFamily="34" charset="0"/>
                        </a:rPr>
                        <a:t>House of Representative members</a:t>
                      </a:r>
                    </a:p>
                  </a:txBody>
                  <a:tcPr marL="9525" marR="9525" marT="9525" marB="0" anchor="ctr">
                    <a:lnL>
                      <a:noFill/>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rtl="0" fontAlgn="b"/>
                      <a:r>
                        <a:rPr lang="en-GB" sz="1400" b="0" i="0" u="none" strike="noStrike">
                          <a:solidFill>
                            <a:srgbClr val="000000"/>
                          </a:solidFill>
                          <a:effectLst/>
                          <a:latin typeface="Calibri" panose="020F0502020204030204" pitchFamily="34" charset="0"/>
                        </a:rPr>
                        <a:t>3.39</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BCEB15"/>
                    </a:solidFill>
                  </a:tcPr>
                </a:tc>
                <a:tc>
                  <a:txBody>
                    <a:bodyPr/>
                    <a:lstStyle/>
                    <a:p>
                      <a:pPr algn="ctr" rtl="0" fontAlgn="b"/>
                      <a:r>
                        <a:rPr lang="en-GB" sz="1400" b="0" i="0" u="none" strike="noStrike">
                          <a:solidFill>
                            <a:srgbClr val="000000"/>
                          </a:solidFill>
                          <a:effectLst/>
                          <a:latin typeface="Calibri" panose="020F0502020204030204" pitchFamily="34" charset="0"/>
                        </a:rPr>
                        <a:t>3.55</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B7E916"/>
                    </a:solidFill>
                  </a:tcPr>
                </a:tc>
                <a:tc>
                  <a:txBody>
                    <a:bodyPr/>
                    <a:lstStyle/>
                    <a:p>
                      <a:pPr algn="ctr" rtl="0" fontAlgn="b"/>
                      <a:r>
                        <a:rPr lang="en-GB" sz="1400" b="0" i="0" u="none" strike="noStrike">
                          <a:solidFill>
                            <a:srgbClr val="000000"/>
                          </a:solidFill>
                          <a:effectLst/>
                          <a:latin typeface="Calibri" panose="020F0502020204030204" pitchFamily="34" charset="0"/>
                        </a:rPr>
                        <a:t>3.26</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BFEC14"/>
                    </a:solidFill>
                  </a:tcPr>
                </a:tc>
                <a:tc>
                  <a:txBody>
                    <a:bodyPr/>
                    <a:lstStyle/>
                    <a:p>
                      <a:pPr algn="ctr" rtl="0" fontAlgn="b"/>
                      <a:r>
                        <a:rPr lang="en-GB" sz="1400" b="0" i="0" u="none" strike="noStrike">
                          <a:solidFill>
                            <a:srgbClr val="000000"/>
                          </a:solidFill>
                          <a:effectLst/>
                          <a:latin typeface="Calibri" panose="020F0502020204030204" pitchFamily="34" charset="0"/>
                        </a:rPr>
                        <a:t>3.02</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C6EE11"/>
                    </a:solidFill>
                  </a:tcPr>
                </a:tc>
                <a:tc>
                  <a:txBody>
                    <a:bodyPr/>
                    <a:lstStyle/>
                    <a:p>
                      <a:pPr algn="ctr" rtl="0" fontAlgn="b"/>
                      <a:r>
                        <a:rPr lang="en-GB" sz="1400" b="0" i="0" u="none" strike="noStrike">
                          <a:solidFill>
                            <a:srgbClr val="000000"/>
                          </a:solidFill>
                          <a:effectLst/>
                          <a:latin typeface="Calibri" panose="020F0502020204030204" pitchFamily="34" charset="0"/>
                        </a:rPr>
                        <a:t>2.68</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0F10E"/>
                    </a:solidFill>
                  </a:tcPr>
                </a:tc>
                <a:tc>
                  <a:txBody>
                    <a:bodyPr/>
                    <a:lstStyle/>
                    <a:p>
                      <a:pPr algn="ctr" rtl="0" fontAlgn="b"/>
                      <a:r>
                        <a:rPr lang="en-GB" sz="1400" b="0" i="0" u="none" strike="noStrike">
                          <a:solidFill>
                            <a:srgbClr val="000000"/>
                          </a:solidFill>
                          <a:effectLst/>
                          <a:latin typeface="Calibri" panose="020F0502020204030204" pitchFamily="34" charset="0"/>
                        </a:rPr>
                        <a:t>4.9</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91DD22"/>
                    </a:solidFill>
                  </a:tcPr>
                </a:tc>
                <a:tc>
                  <a:txBody>
                    <a:bodyPr/>
                    <a:lstStyle/>
                    <a:p>
                      <a:pPr algn="ctr" rtl="0" fontAlgn="b"/>
                      <a:r>
                        <a:rPr lang="en-GB" sz="1400" b="0" i="0" u="none" strike="noStrike">
                          <a:solidFill>
                            <a:srgbClr val="000000"/>
                          </a:solidFill>
                          <a:effectLst/>
                          <a:latin typeface="Calibri" panose="020F0502020204030204" pitchFamily="34" charset="0"/>
                        </a:rPr>
                        <a:t>2.77</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CDF00F"/>
                    </a:solidFill>
                  </a:tcPr>
                </a:tc>
                <a:tc>
                  <a:txBody>
                    <a:bodyPr/>
                    <a:lstStyle/>
                    <a:p>
                      <a:pPr algn="ctr" rtl="0" fontAlgn="b"/>
                      <a:r>
                        <a:rPr lang="en-GB" sz="1400" b="0" i="0" u="none" strike="noStrike">
                          <a:solidFill>
                            <a:srgbClr val="000000"/>
                          </a:solidFill>
                          <a:effectLst/>
                          <a:latin typeface="Calibri" panose="020F0502020204030204" pitchFamily="34" charset="0"/>
                        </a:rPr>
                        <a:t>2.18</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EF50A"/>
                    </a:solidFill>
                  </a:tcPr>
                </a:tc>
                <a:tc>
                  <a:txBody>
                    <a:bodyPr/>
                    <a:lstStyle/>
                    <a:p>
                      <a:pPr algn="ctr" rtl="0" fontAlgn="b"/>
                      <a:r>
                        <a:rPr lang="en-GB" sz="1400" b="0" i="0" u="none" strike="noStrike" dirty="0">
                          <a:solidFill>
                            <a:srgbClr val="000000"/>
                          </a:solidFill>
                          <a:effectLst/>
                          <a:latin typeface="Calibri" panose="020F0502020204030204" pitchFamily="34" charset="0"/>
                        </a:rPr>
                        <a:t>3.9</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ADE619"/>
                    </a:solidFill>
                  </a:tcPr>
                </a:tc>
                <a:tc>
                  <a:txBody>
                    <a:bodyPr/>
                    <a:lstStyle/>
                    <a:p>
                      <a:pPr algn="ctr" rtl="0" fontAlgn="b"/>
                      <a:r>
                        <a:rPr lang="en-GB" sz="1400" b="0" i="0" u="none" strike="noStrike" dirty="0">
                          <a:solidFill>
                            <a:srgbClr val="000000"/>
                          </a:solidFill>
                          <a:effectLst/>
                          <a:latin typeface="Calibri" panose="020F0502020204030204" pitchFamily="34" charset="0"/>
                        </a:rPr>
                        <a:t>3.53</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B8E916"/>
                    </a:solidFill>
                  </a:tcPr>
                </a:tc>
                <a:tc>
                  <a:txBody>
                    <a:bodyPr/>
                    <a:lstStyle/>
                    <a:p>
                      <a:pPr algn="ctr" rtl="0" fontAlgn="b"/>
                      <a:r>
                        <a:rPr lang="en-GB" sz="1400" b="0" i="0" u="none" strike="noStrike" dirty="0">
                          <a:solidFill>
                            <a:srgbClr val="000000"/>
                          </a:solidFill>
                          <a:effectLst/>
                          <a:latin typeface="Calibri" panose="020F0502020204030204" pitchFamily="34" charset="0"/>
                        </a:rPr>
                        <a:t>3.15</a:t>
                      </a:r>
                    </a:p>
                  </a:txBody>
                  <a:tcPr marL="9525" marR="9525" marT="9525" marB="0" anchor="ctr">
                    <a:lnL w="12700" cap="flat" cmpd="sng" algn="ctr">
                      <a:solidFill>
                        <a:srgbClr val="C00000"/>
                      </a:solidFill>
                      <a:prstDash val="solid"/>
                      <a:round/>
                      <a:headEnd type="none" w="med" len="med"/>
                      <a:tailEnd type="none" w="med" len="med"/>
                    </a:lnL>
                    <a:lnR>
                      <a:noFill/>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C3ED13"/>
                    </a:solidFill>
                  </a:tcPr>
                </a:tc>
                <a:extLst>
                  <a:ext uri="{0D108BD9-81ED-4DB2-BD59-A6C34878D82A}">
                    <a16:rowId xmlns:a16="http://schemas.microsoft.com/office/drawing/2014/main" val="719318690"/>
                  </a:ext>
                </a:extLst>
              </a:tr>
              <a:tr h="436245">
                <a:tc>
                  <a:txBody>
                    <a:bodyPr/>
                    <a:lstStyle/>
                    <a:p>
                      <a:pPr algn="l" rtl="0" fontAlgn="b"/>
                      <a:r>
                        <a:rPr lang="en-GB" sz="1400" b="1" i="0" u="none" strike="noStrike">
                          <a:solidFill>
                            <a:srgbClr val="000000"/>
                          </a:solidFill>
                          <a:effectLst/>
                          <a:latin typeface="Calibri" panose="020F0502020204030204" pitchFamily="34" charset="0"/>
                        </a:rPr>
                        <a:t>Local government chairman</a:t>
                      </a:r>
                    </a:p>
                  </a:txBody>
                  <a:tcPr marL="9525" marR="9525" marT="9525" marB="0" anchor="ctr">
                    <a:lnL>
                      <a:noFill/>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a:noFill/>
                    </a:lnB>
                  </a:tcPr>
                </a:tc>
                <a:tc>
                  <a:txBody>
                    <a:bodyPr/>
                    <a:lstStyle/>
                    <a:p>
                      <a:pPr algn="ctr" rtl="0" fontAlgn="b"/>
                      <a:r>
                        <a:rPr lang="en-GB" sz="1400" b="0" i="0" u="none" strike="noStrike">
                          <a:solidFill>
                            <a:srgbClr val="000000"/>
                          </a:solidFill>
                          <a:effectLst/>
                          <a:latin typeface="Calibri" panose="020F0502020204030204" pitchFamily="34" charset="0"/>
                        </a:rPr>
                        <a:t>3.52</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a:noFill/>
                    </a:lnB>
                    <a:solidFill>
                      <a:srgbClr val="B8E916"/>
                    </a:solidFill>
                  </a:tcPr>
                </a:tc>
                <a:tc>
                  <a:txBody>
                    <a:bodyPr/>
                    <a:lstStyle/>
                    <a:p>
                      <a:pPr algn="ctr" rtl="0" fontAlgn="b"/>
                      <a:r>
                        <a:rPr lang="en-GB" sz="1400" b="0" i="0" u="none" strike="noStrike">
                          <a:solidFill>
                            <a:srgbClr val="000000"/>
                          </a:solidFill>
                          <a:effectLst/>
                          <a:latin typeface="Calibri" panose="020F0502020204030204" pitchFamily="34" charset="0"/>
                        </a:rPr>
                        <a:t>3.67</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a:noFill/>
                    </a:lnB>
                    <a:solidFill>
                      <a:srgbClr val="B4E817"/>
                    </a:solidFill>
                  </a:tcPr>
                </a:tc>
                <a:tc>
                  <a:txBody>
                    <a:bodyPr/>
                    <a:lstStyle/>
                    <a:p>
                      <a:pPr algn="ctr" rtl="0" fontAlgn="b"/>
                      <a:r>
                        <a:rPr lang="en-GB" sz="1400" b="0" i="0" u="none" strike="noStrike">
                          <a:solidFill>
                            <a:srgbClr val="000000"/>
                          </a:solidFill>
                          <a:effectLst/>
                          <a:latin typeface="Calibri" panose="020F0502020204030204" pitchFamily="34" charset="0"/>
                        </a:rPr>
                        <a:t>3.38</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a:noFill/>
                    </a:lnB>
                    <a:solidFill>
                      <a:srgbClr val="BCEB15"/>
                    </a:solidFill>
                  </a:tcPr>
                </a:tc>
                <a:tc>
                  <a:txBody>
                    <a:bodyPr/>
                    <a:lstStyle/>
                    <a:p>
                      <a:pPr algn="ctr" rtl="0" fontAlgn="b"/>
                      <a:r>
                        <a:rPr lang="en-GB" sz="1400" b="0" i="0" u="none" strike="noStrike">
                          <a:solidFill>
                            <a:srgbClr val="000000"/>
                          </a:solidFill>
                          <a:effectLst/>
                          <a:latin typeface="Calibri" panose="020F0502020204030204" pitchFamily="34" charset="0"/>
                        </a:rPr>
                        <a:t>3.41</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a:noFill/>
                    </a:lnB>
                    <a:solidFill>
                      <a:srgbClr val="BBEA15"/>
                    </a:solidFill>
                  </a:tcPr>
                </a:tc>
                <a:tc>
                  <a:txBody>
                    <a:bodyPr/>
                    <a:lstStyle/>
                    <a:p>
                      <a:pPr algn="ctr" rtl="0" fontAlgn="b"/>
                      <a:r>
                        <a:rPr lang="en-GB" sz="1400" b="0" i="0" u="none" strike="noStrike">
                          <a:solidFill>
                            <a:srgbClr val="000000"/>
                          </a:solidFill>
                          <a:effectLst/>
                          <a:latin typeface="Calibri" panose="020F0502020204030204" pitchFamily="34" charset="0"/>
                        </a:rPr>
                        <a:t>2.81</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a:noFill/>
                    </a:lnB>
                    <a:solidFill>
                      <a:srgbClr val="CCF010"/>
                    </a:solidFill>
                  </a:tcPr>
                </a:tc>
                <a:tc>
                  <a:txBody>
                    <a:bodyPr/>
                    <a:lstStyle/>
                    <a:p>
                      <a:pPr algn="ctr" rtl="0" fontAlgn="b"/>
                      <a:r>
                        <a:rPr lang="en-GB" sz="1400" b="0" i="0" u="none" strike="noStrike">
                          <a:solidFill>
                            <a:srgbClr val="000000"/>
                          </a:solidFill>
                          <a:effectLst/>
                          <a:latin typeface="Calibri" panose="020F0502020204030204" pitchFamily="34" charset="0"/>
                        </a:rPr>
                        <a:t>4.6</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a:noFill/>
                    </a:lnB>
                    <a:solidFill>
                      <a:srgbClr val="9AE01F"/>
                    </a:solidFill>
                  </a:tcPr>
                </a:tc>
                <a:tc>
                  <a:txBody>
                    <a:bodyPr/>
                    <a:lstStyle/>
                    <a:p>
                      <a:pPr algn="ctr" rtl="0" fontAlgn="b"/>
                      <a:r>
                        <a:rPr lang="en-GB" sz="1400" b="0" i="0" u="none" strike="noStrike">
                          <a:solidFill>
                            <a:srgbClr val="000000"/>
                          </a:solidFill>
                          <a:effectLst/>
                          <a:latin typeface="Calibri" panose="020F0502020204030204" pitchFamily="34" charset="0"/>
                        </a:rPr>
                        <a:t>3.44</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a:noFill/>
                    </a:lnB>
                    <a:solidFill>
                      <a:srgbClr val="BAEA15"/>
                    </a:solidFill>
                  </a:tcPr>
                </a:tc>
                <a:tc>
                  <a:txBody>
                    <a:bodyPr/>
                    <a:lstStyle/>
                    <a:p>
                      <a:pPr algn="ctr" rtl="0" fontAlgn="b"/>
                      <a:r>
                        <a:rPr lang="en-GB" sz="1400" b="0" i="0" u="none" strike="noStrike">
                          <a:solidFill>
                            <a:srgbClr val="000000"/>
                          </a:solidFill>
                          <a:effectLst/>
                          <a:latin typeface="Calibri" panose="020F0502020204030204" pitchFamily="34" charset="0"/>
                        </a:rPr>
                        <a:t>2.15</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a:noFill/>
                    </a:lnB>
                    <a:solidFill>
                      <a:srgbClr val="DFF50A"/>
                    </a:solidFill>
                  </a:tcPr>
                </a:tc>
                <a:tc>
                  <a:txBody>
                    <a:bodyPr/>
                    <a:lstStyle/>
                    <a:p>
                      <a:pPr algn="ctr" rtl="0" fontAlgn="b"/>
                      <a:r>
                        <a:rPr lang="en-GB" sz="1400" b="0" i="0" u="none" strike="noStrike">
                          <a:solidFill>
                            <a:srgbClr val="000000"/>
                          </a:solidFill>
                          <a:effectLst/>
                          <a:latin typeface="Calibri" panose="020F0502020204030204" pitchFamily="34" charset="0"/>
                        </a:rPr>
                        <a:t>3.96</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a:noFill/>
                    </a:lnB>
                    <a:solidFill>
                      <a:srgbClr val="ACE61A"/>
                    </a:solidFill>
                  </a:tcPr>
                </a:tc>
                <a:tc>
                  <a:txBody>
                    <a:bodyPr/>
                    <a:lstStyle/>
                    <a:p>
                      <a:pPr algn="ctr" rtl="0" fontAlgn="b"/>
                      <a:r>
                        <a:rPr lang="en-GB" sz="1400" b="0" i="0" u="none" strike="noStrike">
                          <a:solidFill>
                            <a:srgbClr val="000000"/>
                          </a:solidFill>
                          <a:effectLst/>
                          <a:latin typeface="Calibri" panose="020F0502020204030204" pitchFamily="34" charset="0"/>
                        </a:rPr>
                        <a:t>3.64</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a:noFill/>
                    </a:lnB>
                    <a:solidFill>
                      <a:srgbClr val="B5E817"/>
                    </a:solidFill>
                  </a:tcPr>
                </a:tc>
                <a:tc>
                  <a:txBody>
                    <a:bodyPr/>
                    <a:lstStyle/>
                    <a:p>
                      <a:pPr algn="ctr" rtl="0" fontAlgn="b"/>
                      <a:r>
                        <a:rPr lang="en-GB" sz="1400" b="0" i="0" u="none" strike="noStrike" dirty="0">
                          <a:solidFill>
                            <a:srgbClr val="000000"/>
                          </a:solidFill>
                          <a:effectLst/>
                          <a:latin typeface="Calibri" panose="020F0502020204030204" pitchFamily="34" charset="0"/>
                        </a:rPr>
                        <a:t>3.3</a:t>
                      </a:r>
                    </a:p>
                  </a:txBody>
                  <a:tcPr marL="9525" marR="9525" marT="9525" marB="0" anchor="ctr">
                    <a:lnL w="12700" cap="flat" cmpd="sng" algn="ctr">
                      <a:solidFill>
                        <a:srgbClr val="C00000"/>
                      </a:solidFill>
                      <a:prstDash val="solid"/>
                      <a:round/>
                      <a:headEnd type="none" w="med" len="med"/>
                      <a:tailEnd type="none" w="med" len="med"/>
                    </a:lnL>
                    <a:lnR>
                      <a:noFill/>
                    </a:lnR>
                    <a:lnT w="12700" cap="flat" cmpd="sng" algn="ctr">
                      <a:solidFill>
                        <a:srgbClr val="C00000"/>
                      </a:solidFill>
                      <a:prstDash val="solid"/>
                      <a:round/>
                      <a:headEnd type="none" w="med" len="med"/>
                      <a:tailEnd type="none" w="med" len="med"/>
                    </a:lnT>
                    <a:lnB>
                      <a:noFill/>
                    </a:lnB>
                    <a:solidFill>
                      <a:srgbClr val="BEEB14"/>
                    </a:solidFill>
                  </a:tcPr>
                </a:tc>
                <a:extLst>
                  <a:ext uri="{0D108BD9-81ED-4DB2-BD59-A6C34878D82A}">
                    <a16:rowId xmlns:a16="http://schemas.microsoft.com/office/drawing/2014/main" val="1263600693"/>
                  </a:ext>
                </a:extLst>
              </a:tr>
            </a:tbl>
          </a:graphicData>
        </a:graphic>
      </p:graphicFrame>
    </p:spTree>
    <p:extLst>
      <p:ext uri="{BB962C8B-B14F-4D97-AF65-F5344CB8AC3E}">
        <p14:creationId xmlns:p14="http://schemas.microsoft.com/office/powerpoint/2010/main" val="2216534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Q27. Do you feel your vote counts in the selection of a credible leader in Nigeria?</a:t>
            </a:r>
            <a:endParaRPr lang="en-US" sz="1000" dirty="0">
              <a:latin typeface="Book Antiqua" panose="02040602050305030304" pitchFamily="18" charset="0"/>
            </a:endParaRPr>
          </a:p>
        </p:txBody>
      </p:sp>
      <p:sp>
        <p:nvSpPr>
          <p:cNvPr id="14" name="TextBox 13">
            <a:extLst>
              <a:ext uri="{FF2B5EF4-FFF2-40B4-BE49-F238E27FC236}">
                <a16:creationId xmlns:a16="http://schemas.microsoft.com/office/drawing/2014/main" id="{24EE3164-36BE-1169-158F-AC5F91216B94}"/>
              </a:ext>
            </a:extLst>
          </p:cNvPr>
          <p:cNvSpPr txBox="1"/>
          <p:nvPr/>
        </p:nvSpPr>
        <p:spPr>
          <a:xfrm>
            <a:off x="331302" y="675740"/>
            <a:ext cx="11714923"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rPr>
              <a:t>The majority (</a:t>
            </a:r>
            <a:r>
              <a:rPr lang="en-US" sz="1400" b="1" dirty="0">
                <a:solidFill>
                  <a:srgbClr val="0070C0"/>
                </a:solidFill>
                <a:latin typeface="Book Antiqua" panose="02040602050305030304" pitchFamily="18" charset="0"/>
                <a:ea typeface="Arial Unicode MS"/>
              </a:rPr>
              <a:t>69</a:t>
            </a:r>
            <a:r>
              <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rPr>
              <a:t>%), especially in Enugu (98%) believed their votes do not count in the selection of a credible leader in Nigeria. Meanwhile, 48% believed that their votes count in Kano.</a:t>
            </a:r>
          </a:p>
        </p:txBody>
      </p:sp>
      <p:sp>
        <p:nvSpPr>
          <p:cNvPr id="5" name="TextBox 4">
            <a:extLst>
              <a:ext uri="{FF2B5EF4-FFF2-40B4-BE49-F238E27FC236}">
                <a16:creationId xmlns:a16="http://schemas.microsoft.com/office/drawing/2014/main" id="{55F5642B-83A0-CD7B-E2BA-8E492D002397}"/>
              </a:ext>
            </a:extLst>
          </p:cNvPr>
          <p:cNvSpPr txBox="1"/>
          <p:nvPr/>
        </p:nvSpPr>
        <p:spPr>
          <a:xfrm>
            <a:off x="312990" y="119838"/>
            <a:ext cx="7715887"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The selection of a credible leader in Nigeria</a:t>
            </a:r>
          </a:p>
        </p:txBody>
      </p:sp>
      <p:graphicFrame>
        <p:nvGraphicFramePr>
          <p:cNvPr id="6" name="Chart 5">
            <a:extLst>
              <a:ext uri="{FF2B5EF4-FFF2-40B4-BE49-F238E27FC236}">
                <a16:creationId xmlns:a16="http://schemas.microsoft.com/office/drawing/2014/main" id="{A4B0A94F-6FB5-4821-80DD-F4A0ACECE84F}"/>
              </a:ext>
            </a:extLst>
          </p:cNvPr>
          <p:cNvGraphicFramePr/>
          <p:nvPr>
            <p:extLst>
              <p:ext uri="{D42A27DB-BD31-4B8C-83A1-F6EECF244321}">
                <p14:modId xmlns:p14="http://schemas.microsoft.com/office/powerpoint/2010/main" val="3841358279"/>
              </p:ext>
            </p:extLst>
          </p:nvPr>
        </p:nvGraphicFramePr>
        <p:xfrm>
          <a:off x="1335301" y="1514700"/>
          <a:ext cx="10080000" cy="360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Table 6">
            <a:extLst>
              <a:ext uri="{FF2B5EF4-FFF2-40B4-BE49-F238E27FC236}">
                <a16:creationId xmlns:a16="http://schemas.microsoft.com/office/drawing/2014/main" id="{1FE04C40-F5E4-4FA6-9156-DFC94AD856A2}"/>
              </a:ext>
            </a:extLst>
          </p:cNvPr>
          <p:cNvGraphicFramePr>
            <a:graphicFrameLocks noGrp="1"/>
          </p:cNvGraphicFramePr>
          <p:nvPr>
            <p:extLst>
              <p:ext uri="{D42A27DB-BD31-4B8C-83A1-F6EECF244321}">
                <p14:modId xmlns:p14="http://schemas.microsoft.com/office/powerpoint/2010/main" val="2065982042"/>
              </p:ext>
            </p:extLst>
          </p:nvPr>
        </p:nvGraphicFramePr>
        <p:xfrm>
          <a:off x="1795347" y="5694561"/>
          <a:ext cx="9477948" cy="222885"/>
        </p:xfrm>
        <a:graphic>
          <a:graphicData uri="http://schemas.openxmlformats.org/drawingml/2006/table">
            <a:tbl>
              <a:tblPr>
                <a:tableStyleId>{2D5ABB26-0587-4C30-8999-92F81FD0307C}</a:tableStyleId>
              </a:tblPr>
              <a:tblGrid>
                <a:gridCol w="789829">
                  <a:extLst>
                    <a:ext uri="{9D8B030D-6E8A-4147-A177-3AD203B41FA5}">
                      <a16:colId xmlns:a16="http://schemas.microsoft.com/office/drawing/2014/main" val="71965769"/>
                    </a:ext>
                  </a:extLst>
                </a:gridCol>
                <a:gridCol w="789829">
                  <a:extLst>
                    <a:ext uri="{9D8B030D-6E8A-4147-A177-3AD203B41FA5}">
                      <a16:colId xmlns:a16="http://schemas.microsoft.com/office/drawing/2014/main" val="4155578195"/>
                    </a:ext>
                  </a:extLst>
                </a:gridCol>
                <a:gridCol w="789829">
                  <a:extLst>
                    <a:ext uri="{9D8B030D-6E8A-4147-A177-3AD203B41FA5}">
                      <a16:colId xmlns:a16="http://schemas.microsoft.com/office/drawing/2014/main" val="1889141429"/>
                    </a:ext>
                  </a:extLst>
                </a:gridCol>
                <a:gridCol w="789829">
                  <a:extLst>
                    <a:ext uri="{9D8B030D-6E8A-4147-A177-3AD203B41FA5}">
                      <a16:colId xmlns:a16="http://schemas.microsoft.com/office/drawing/2014/main" val="3753417597"/>
                    </a:ext>
                  </a:extLst>
                </a:gridCol>
                <a:gridCol w="789829">
                  <a:extLst>
                    <a:ext uri="{9D8B030D-6E8A-4147-A177-3AD203B41FA5}">
                      <a16:colId xmlns:a16="http://schemas.microsoft.com/office/drawing/2014/main" val="1740810762"/>
                    </a:ext>
                  </a:extLst>
                </a:gridCol>
                <a:gridCol w="789829">
                  <a:extLst>
                    <a:ext uri="{9D8B030D-6E8A-4147-A177-3AD203B41FA5}">
                      <a16:colId xmlns:a16="http://schemas.microsoft.com/office/drawing/2014/main" val="790009114"/>
                    </a:ext>
                  </a:extLst>
                </a:gridCol>
                <a:gridCol w="789829">
                  <a:extLst>
                    <a:ext uri="{9D8B030D-6E8A-4147-A177-3AD203B41FA5}">
                      <a16:colId xmlns:a16="http://schemas.microsoft.com/office/drawing/2014/main" val="3015911202"/>
                    </a:ext>
                  </a:extLst>
                </a:gridCol>
                <a:gridCol w="789829">
                  <a:extLst>
                    <a:ext uri="{9D8B030D-6E8A-4147-A177-3AD203B41FA5}">
                      <a16:colId xmlns:a16="http://schemas.microsoft.com/office/drawing/2014/main" val="3232248389"/>
                    </a:ext>
                  </a:extLst>
                </a:gridCol>
                <a:gridCol w="789829">
                  <a:extLst>
                    <a:ext uri="{9D8B030D-6E8A-4147-A177-3AD203B41FA5}">
                      <a16:colId xmlns:a16="http://schemas.microsoft.com/office/drawing/2014/main" val="3458814408"/>
                    </a:ext>
                  </a:extLst>
                </a:gridCol>
                <a:gridCol w="789829">
                  <a:extLst>
                    <a:ext uri="{9D8B030D-6E8A-4147-A177-3AD203B41FA5}">
                      <a16:colId xmlns:a16="http://schemas.microsoft.com/office/drawing/2014/main" val="1536593214"/>
                    </a:ext>
                  </a:extLst>
                </a:gridCol>
                <a:gridCol w="789829">
                  <a:extLst>
                    <a:ext uri="{9D8B030D-6E8A-4147-A177-3AD203B41FA5}">
                      <a16:colId xmlns:a16="http://schemas.microsoft.com/office/drawing/2014/main" val="1349874692"/>
                    </a:ext>
                  </a:extLst>
                </a:gridCol>
                <a:gridCol w="789829">
                  <a:extLst>
                    <a:ext uri="{9D8B030D-6E8A-4147-A177-3AD203B41FA5}">
                      <a16:colId xmlns:a16="http://schemas.microsoft.com/office/drawing/2014/main" val="337574888"/>
                    </a:ext>
                  </a:extLst>
                </a:gridCol>
              </a:tblGrid>
              <a:tr h="190500">
                <a:tc>
                  <a:txBody>
                    <a:bodyPr/>
                    <a:lstStyle/>
                    <a:p>
                      <a:pPr algn="ctr" fontAlgn="b"/>
                      <a:r>
                        <a:rPr lang="en-US" sz="1400" b="1" i="0" u="none" strike="noStrike" dirty="0">
                          <a:solidFill>
                            <a:schemeClr val="bg1">
                              <a:lumMod val="65000"/>
                            </a:schemeClr>
                          </a:solidFill>
                          <a:effectLst/>
                          <a:latin typeface="Calibri" panose="020F0502020204030204" pitchFamily="34" charset="0"/>
                        </a:rPr>
                        <a:t>Base</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1456</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681</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775</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170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290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284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210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158</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344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937</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519</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61141031"/>
                  </a:ext>
                </a:extLst>
              </a:tr>
            </a:tbl>
          </a:graphicData>
        </a:graphic>
      </p:graphicFrame>
    </p:spTree>
    <p:extLst>
      <p:ext uri="{BB962C8B-B14F-4D97-AF65-F5344CB8AC3E}">
        <p14:creationId xmlns:p14="http://schemas.microsoft.com/office/powerpoint/2010/main" val="22993406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Q28. How satisfied are you with Nigeria’s democratic process?</a:t>
            </a:r>
            <a:endParaRPr lang="en-US" sz="1000" dirty="0">
              <a:latin typeface="Book Antiqua" panose="02040602050305030304" pitchFamily="18" charset="0"/>
            </a:endParaRPr>
          </a:p>
        </p:txBody>
      </p:sp>
      <p:sp>
        <p:nvSpPr>
          <p:cNvPr id="14" name="TextBox 13">
            <a:extLst>
              <a:ext uri="{FF2B5EF4-FFF2-40B4-BE49-F238E27FC236}">
                <a16:creationId xmlns:a16="http://schemas.microsoft.com/office/drawing/2014/main" id="{24EE3164-36BE-1169-158F-AC5F91216B94}"/>
              </a:ext>
            </a:extLst>
          </p:cNvPr>
          <p:cNvSpPr txBox="1"/>
          <p:nvPr/>
        </p:nvSpPr>
        <p:spPr>
          <a:xfrm>
            <a:off x="331302" y="675740"/>
            <a:ext cx="11714923" cy="523220"/>
          </a:xfrm>
          <a:prstGeom prst="rect">
            <a:avLst/>
          </a:prstGeom>
          <a:noFill/>
        </p:spPr>
        <p:txBody>
          <a:bodyPr wrap="square">
            <a:spAutoFit/>
          </a:bodyPr>
          <a:lstStyle/>
          <a:p>
            <a:pPr lvl="0">
              <a:defRPr/>
            </a:pPr>
            <a:r>
              <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rPr>
              <a:t>The majority (73%), especially in Edo (86%), of the people are not </a:t>
            </a:r>
            <a:r>
              <a:rPr lang="en-US" sz="1400" b="1" dirty="0">
                <a:solidFill>
                  <a:srgbClr val="0070C0"/>
                </a:solidFill>
                <a:latin typeface="Book Antiqua" panose="02040602050305030304" pitchFamily="18" charset="0"/>
                <a:ea typeface="Arial Unicode MS"/>
              </a:rPr>
              <a:t>satisfied with Nigeria’s democratic process. However, in Kano, 46% are satisfied with Nigeria’s democratic process. </a:t>
            </a:r>
            <a:endPar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endParaRPr>
          </a:p>
        </p:txBody>
      </p:sp>
      <p:sp>
        <p:nvSpPr>
          <p:cNvPr id="5" name="TextBox 4">
            <a:extLst>
              <a:ext uri="{FF2B5EF4-FFF2-40B4-BE49-F238E27FC236}">
                <a16:creationId xmlns:a16="http://schemas.microsoft.com/office/drawing/2014/main" id="{55F5642B-83A0-CD7B-E2BA-8E492D002397}"/>
              </a:ext>
            </a:extLst>
          </p:cNvPr>
          <p:cNvSpPr txBox="1"/>
          <p:nvPr/>
        </p:nvSpPr>
        <p:spPr>
          <a:xfrm>
            <a:off x="312991" y="119838"/>
            <a:ext cx="5605670"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Satisfaction with Nigeria’s democratic process</a:t>
            </a:r>
          </a:p>
        </p:txBody>
      </p:sp>
      <p:graphicFrame>
        <p:nvGraphicFramePr>
          <p:cNvPr id="4" name="Table 3">
            <a:extLst>
              <a:ext uri="{FF2B5EF4-FFF2-40B4-BE49-F238E27FC236}">
                <a16:creationId xmlns:a16="http://schemas.microsoft.com/office/drawing/2014/main" id="{5481D1C6-42A9-46B3-B1E6-85934D6CE3A0}"/>
              </a:ext>
            </a:extLst>
          </p:cNvPr>
          <p:cNvGraphicFramePr>
            <a:graphicFrameLocks noGrp="1"/>
          </p:cNvGraphicFramePr>
          <p:nvPr>
            <p:extLst>
              <p:ext uri="{D42A27DB-BD31-4B8C-83A1-F6EECF244321}">
                <p14:modId xmlns:p14="http://schemas.microsoft.com/office/powerpoint/2010/main" val="977136022"/>
              </p:ext>
            </p:extLst>
          </p:nvPr>
        </p:nvGraphicFramePr>
        <p:xfrm>
          <a:off x="1817370" y="5212025"/>
          <a:ext cx="9477948" cy="369331"/>
        </p:xfrm>
        <a:graphic>
          <a:graphicData uri="http://schemas.openxmlformats.org/drawingml/2006/table">
            <a:tbl>
              <a:tblPr>
                <a:tableStyleId>{BC89EF96-8CEA-46FF-86C4-4CE0E7609802}</a:tableStyleId>
              </a:tblPr>
              <a:tblGrid>
                <a:gridCol w="789829">
                  <a:extLst>
                    <a:ext uri="{9D8B030D-6E8A-4147-A177-3AD203B41FA5}">
                      <a16:colId xmlns:a16="http://schemas.microsoft.com/office/drawing/2014/main" val="3971998484"/>
                    </a:ext>
                  </a:extLst>
                </a:gridCol>
                <a:gridCol w="789829">
                  <a:extLst>
                    <a:ext uri="{9D8B030D-6E8A-4147-A177-3AD203B41FA5}">
                      <a16:colId xmlns:a16="http://schemas.microsoft.com/office/drawing/2014/main" val="273507684"/>
                    </a:ext>
                  </a:extLst>
                </a:gridCol>
                <a:gridCol w="789829">
                  <a:extLst>
                    <a:ext uri="{9D8B030D-6E8A-4147-A177-3AD203B41FA5}">
                      <a16:colId xmlns:a16="http://schemas.microsoft.com/office/drawing/2014/main" val="1027246049"/>
                    </a:ext>
                  </a:extLst>
                </a:gridCol>
                <a:gridCol w="789829">
                  <a:extLst>
                    <a:ext uri="{9D8B030D-6E8A-4147-A177-3AD203B41FA5}">
                      <a16:colId xmlns:a16="http://schemas.microsoft.com/office/drawing/2014/main" val="2492145950"/>
                    </a:ext>
                  </a:extLst>
                </a:gridCol>
                <a:gridCol w="789829">
                  <a:extLst>
                    <a:ext uri="{9D8B030D-6E8A-4147-A177-3AD203B41FA5}">
                      <a16:colId xmlns:a16="http://schemas.microsoft.com/office/drawing/2014/main" val="1649517598"/>
                    </a:ext>
                  </a:extLst>
                </a:gridCol>
                <a:gridCol w="789829">
                  <a:extLst>
                    <a:ext uri="{9D8B030D-6E8A-4147-A177-3AD203B41FA5}">
                      <a16:colId xmlns:a16="http://schemas.microsoft.com/office/drawing/2014/main" val="168098756"/>
                    </a:ext>
                  </a:extLst>
                </a:gridCol>
                <a:gridCol w="789829">
                  <a:extLst>
                    <a:ext uri="{9D8B030D-6E8A-4147-A177-3AD203B41FA5}">
                      <a16:colId xmlns:a16="http://schemas.microsoft.com/office/drawing/2014/main" val="2049398142"/>
                    </a:ext>
                  </a:extLst>
                </a:gridCol>
                <a:gridCol w="789829">
                  <a:extLst>
                    <a:ext uri="{9D8B030D-6E8A-4147-A177-3AD203B41FA5}">
                      <a16:colId xmlns:a16="http://schemas.microsoft.com/office/drawing/2014/main" val="820745645"/>
                    </a:ext>
                  </a:extLst>
                </a:gridCol>
                <a:gridCol w="789829">
                  <a:extLst>
                    <a:ext uri="{9D8B030D-6E8A-4147-A177-3AD203B41FA5}">
                      <a16:colId xmlns:a16="http://schemas.microsoft.com/office/drawing/2014/main" val="2489163101"/>
                    </a:ext>
                  </a:extLst>
                </a:gridCol>
                <a:gridCol w="789829">
                  <a:extLst>
                    <a:ext uri="{9D8B030D-6E8A-4147-A177-3AD203B41FA5}">
                      <a16:colId xmlns:a16="http://schemas.microsoft.com/office/drawing/2014/main" val="3206989997"/>
                    </a:ext>
                  </a:extLst>
                </a:gridCol>
                <a:gridCol w="789829">
                  <a:extLst>
                    <a:ext uri="{9D8B030D-6E8A-4147-A177-3AD203B41FA5}">
                      <a16:colId xmlns:a16="http://schemas.microsoft.com/office/drawing/2014/main" val="534552785"/>
                    </a:ext>
                  </a:extLst>
                </a:gridCol>
                <a:gridCol w="789829">
                  <a:extLst>
                    <a:ext uri="{9D8B030D-6E8A-4147-A177-3AD203B41FA5}">
                      <a16:colId xmlns:a16="http://schemas.microsoft.com/office/drawing/2014/main" val="2607264578"/>
                    </a:ext>
                  </a:extLst>
                </a:gridCol>
              </a:tblGrid>
              <a:tr h="369331">
                <a:tc>
                  <a:txBody>
                    <a:bodyPr/>
                    <a:lstStyle/>
                    <a:p>
                      <a:pPr algn="ctr" fontAlgn="b"/>
                      <a:r>
                        <a:rPr lang="en-US" sz="1400" b="1" u="none" strike="noStrike" dirty="0">
                          <a:effectLst/>
                        </a:rPr>
                        <a:t>Mean</a:t>
                      </a:r>
                      <a:endParaRPr lang="en-GB" sz="1400" b="1" i="0" u="none" strike="noStrike" dirty="0">
                        <a:solidFill>
                          <a:srgbClr val="000000"/>
                        </a:solidFill>
                        <a:effectLst/>
                        <a:latin typeface="+mn-lt"/>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dirty="0">
                          <a:solidFill>
                            <a:srgbClr val="0070C0"/>
                          </a:solidFill>
                          <a:effectLst/>
                          <a:latin typeface="Calibri" panose="020F0502020204030204" pitchFamily="34" charset="0"/>
                        </a:rPr>
                        <a:t>2.11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2.21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2.02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2.11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2.01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2.86</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1.57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1.5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2.17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a:solidFill>
                            <a:srgbClr val="0070C0"/>
                          </a:solidFill>
                          <a:effectLst/>
                          <a:latin typeface="Calibri" panose="020F0502020204030204" pitchFamily="34" charset="0"/>
                        </a:rPr>
                        <a:t>2.11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dirty="0">
                          <a:solidFill>
                            <a:srgbClr val="0070C0"/>
                          </a:solidFill>
                          <a:effectLst/>
                          <a:latin typeface="Calibri" panose="020F0502020204030204" pitchFamily="34" charset="0"/>
                        </a:rPr>
                        <a:t>2.11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30887128"/>
                  </a:ext>
                </a:extLst>
              </a:tr>
            </a:tbl>
          </a:graphicData>
        </a:graphic>
      </p:graphicFrame>
      <p:graphicFrame>
        <p:nvGraphicFramePr>
          <p:cNvPr id="6" name="Chart 5">
            <a:extLst>
              <a:ext uri="{FF2B5EF4-FFF2-40B4-BE49-F238E27FC236}">
                <a16:creationId xmlns:a16="http://schemas.microsoft.com/office/drawing/2014/main" id="{A4B0A94F-6FB5-4821-80DD-F4A0ACECE84F}"/>
              </a:ext>
            </a:extLst>
          </p:cNvPr>
          <p:cNvGraphicFramePr/>
          <p:nvPr>
            <p:extLst>
              <p:ext uri="{D42A27DB-BD31-4B8C-83A1-F6EECF244321}">
                <p14:modId xmlns:p14="http://schemas.microsoft.com/office/powerpoint/2010/main" val="1868195677"/>
              </p:ext>
            </p:extLst>
          </p:nvPr>
        </p:nvGraphicFramePr>
        <p:xfrm>
          <a:off x="854815" y="1514700"/>
          <a:ext cx="10582788" cy="360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Table 6">
            <a:extLst>
              <a:ext uri="{FF2B5EF4-FFF2-40B4-BE49-F238E27FC236}">
                <a16:creationId xmlns:a16="http://schemas.microsoft.com/office/drawing/2014/main" id="{12B1A932-19F9-437B-9A51-BB774F790E04}"/>
              </a:ext>
            </a:extLst>
          </p:cNvPr>
          <p:cNvGraphicFramePr>
            <a:graphicFrameLocks noGrp="1"/>
          </p:cNvGraphicFramePr>
          <p:nvPr>
            <p:extLst>
              <p:ext uri="{D42A27DB-BD31-4B8C-83A1-F6EECF244321}">
                <p14:modId xmlns:p14="http://schemas.microsoft.com/office/powerpoint/2010/main" val="2065982042"/>
              </p:ext>
            </p:extLst>
          </p:nvPr>
        </p:nvGraphicFramePr>
        <p:xfrm>
          <a:off x="1795347" y="5694561"/>
          <a:ext cx="9477948" cy="222885"/>
        </p:xfrm>
        <a:graphic>
          <a:graphicData uri="http://schemas.openxmlformats.org/drawingml/2006/table">
            <a:tbl>
              <a:tblPr>
                <a:tableStyleId>{2D5ABB26-0587-4C30-8999-92F81FD0307C}</a:tableStyleId>
              </a:tblPr>
              <a:tblGrid>
                <a:gridCol w="789829">
                  <a:extLst>
                    <a:ext uri="{9D8B030D-6E8A-4147-A177-3AD203B41FA5}">
                      <a16:colId xmlns:a16="http://schemas.microsoft.com/office/drawing/2014/main" val="71965769"/>
                    </a:ext>
                  </a:extLst>
                </a:gridCol>
                <a:gridCol w="789829">
                  <a:extLst>
                    <a:ext uri="{9D8B030D-6E8A-4147-A177-3AD203B41FA5}">
                      <a16:colId xmlns:a16="http://schemas.microsoft.com/office/drawing/2014/main" val="4155578195"/>
                    </a:ext>
                  </a:extLst>
                </a:gridCol>
                <a:gridCol w="789829">
                  <a:extLst>
                    <a:ext uri="{9D8B030D-6E8A-4147-A177-3AD203B41FA5}">
                      <a16:colId xmlns:a16="http://schemas.microsoft.com/office/drawing/2014/main" val="1889141429"/>
                    </a:ext>
                  </a:extLst>
                </a:gridCol>
                <a:gridCol w="789829">
                  <a:extLst>
                    <a:ext uri="{9D8B030D-6E8A-4147-A177-3AD203B41FA5}">
                      <a16:colId xmlns:a16="http://schemas.microsoft.com/office/drawing/2014/main" val="3753417597"/>
                    </a:ext>
                  </a:extLst>
                </a:gridCol>
                <a:gridCol w="789829">
                  <a:extLst>
                    <a:ext uri="{9D8B030D-6E8A-4147-A177-3AD203B41FA5}">
                      <a16:colId xmlns:a16="http://schemas.microsoft.com/office/drawing/2014/main" val="1740810762"/>
                    </a:ext>
                  </a:extLst>
                </a:gridCol>
                <a:gridCol w="789829">
                  <a:extLst>
                    <a:ext uri="{9D8B030D-6E8A-4147-A177-3AD203B41FA5}">
                      <a16:colId xmlns:a16="http://schemas.microsoft.com/office/drawing/2014/main" val="790009114"/>
                    </a:ext>
                  </a:extLst>
                </a:gridCol>
                <a:gridCol w="789829">
                  <a:extLst>
                    <a:ext uri="{9D8B030D-6E8A-4147-A177-3AD203B41FA5}">
                      <a16:colId xmlns:a16="http://schemas.microsoft.com/office/drawing/2014/main" val="3015911202"/>
                    </a:ext>
                  </a:extLst>
                </a:gridCol>
                <a:gridCol w="789829">
                  <a:extLst>
                    <a:ext uri="{9D8B030D-6E8A-4147-A177-3AD203B41FA5}">
                      <a16:colId xmlns:a16="http://schemas.microsoft.com/office/drawing/2014/main" val="3232248389"/>
                    </a:ext>
                  </a:extLst>
                </a:gridCol>
                <a:gridCol w="789829">
                  <a:extLst>
                    <a:ext uri="{9D8B030D-6E8A-4147-A177-3AD203B41FA5}">
                      <a16:colId xmlns:a16="http://schemas.microsoft.com/office/drawing/2014/main" val="3458814408"/>
                    </a:ext>
                  </a:extLst>
                </a:gridCol>
                <a:gridCol w="789829">
                  <a:extLst>
                    <a:ext uri="{9D8B030D-6E8A-4147-A177-3AD203B41FA5}">
                      <a16:colId xmlns:a16="http://schemas.microsoft.com/office/drawing/2014/main" val="1536593214"/>
                    </a:ext>
                  </a:extLst>
                </a:gridCol>
                <a:gridCol w="789829">
                  <a:extLst>
                    <a:ext uri="{9D8B030D-6E8A-4147-A177-3AD203B41FA5}">
                      <a16:colId xmlns:a16="http://schemas.microsoft.com/office/drawing/2014/main" val="1349874692"/>
                    </a:ext>
                  </a:extLst>
                </a:gridCol>
                <a:gridCol w="789829">
                  <a:extLst>
                    <a:ext uri="{9D8B030D-6E8A-4147-A177-3AD203B41FA5}">
                      <a16:colId xmlns:a16="http://schemas.microsoft.com/office/drawing/2014/main" val="337574888"/>
                    </a:ext>
                  </a:extLst>
                </a:gridCol>
              </a:tblGrid>
              <a:tr h="190500">
                <a:tc>
                  <a:txBody>
                    <a:bodyPr/>
                    <a:lstStyle/>
                    <a:p>
                      <a:pPr algn="ctr" fontAlgn="b"/>
                      <a:r>
                        <a:rPr lang="en-US" sz="1400" b="1" i="0" u="none" strike="noStrike" dirty="0">
                          <a:solidFill>
                            <a:schemeClr val="bg1">
                              <a:lumMod val="65000"/>
                            </a:schemeClr>
                          </a:solidFill>
                          <a:effectLst/>
                          <a:latin typeface="Calibri" panose="020F0502020204030204" pitchFamily="34" charset="0"/>
                        </a:rPr>
                        <a:t>Base</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1456</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681</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775</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170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290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284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210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158</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344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937</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519</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61141031"/>
                  </a:ext>
                </a:extLst>
              </a:tr>
            </a:tbl>
          </a:graphicData>
        </a:graphic>
      </p:graphicFrame>
    </p:spTree>
    <p:extLst>
      <p:ext uri="{BB962C8B-B14F-4D97-AF65-F5344CB8AC3E}">
        <p14:creationId xmlns:p14="http://schemas.microsoft.com/office/powerpoint/2010/main" val="33365807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Q29. How free do you feel to express your political views in Nigeria without fear?</a:t>
            </a:r>
            <a:endParaRPr lang="en-US" sz="1000" dirty="0">
              <a:latin typeface="Book Antiqua" panose="02040602050305030304" pitchFamily="18" charset="0"/>
            </a:endParaRPr>
          </a:p>
        </p:txBody>
      </p:sp>
      <p:sp>
        <p:nvSpPr>
          <p:cNvPr id="14" name="TextBox 13">
            <a:extLst>
              <a:ext uri="{FF2B5EF4-FFF2-40B4-BE49-F238E27FC236}">
                <a16:creationId xmlns:a16="http://schemas.microsoft.com/office/drawing/2014/main" id="{24EE3164-36BE-1169-158F-AC5F91216B94}"/>
              </a:ext>
            </a:extLst>
          </p:cNvPr>
          <p:cNvSpPr txBox="1"/>
          <p:nvPr/>
        </p:nvSpPr>
        <p:spPr>
          <a:xfrm>
            <a:off x="331302" y="675740"/>
            <a:ext cx="11714923" cy="307777"/>
          </a:xfrm>
          <a:prstGeom prst="rect">
            <a:avLst/>
          </a:prstGeom>
          <a:noFill/>
        </p:spPr>
        <p:txBody>
          <a:bodyPr wrap="square">
            <a:spAutoFit/>
          </a:bodyPr>
          <a:lstStyle/>
          <a:p>
            <a:pPr lvl="0">
              <a:defRPr/>
            </a:pPr>
            <a:r>
              <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rPr>
              <a:t>Most of the people (69</a:t>
            </a:r>
            <a:r>
              <a:rPr lang="en-US" sz="1400" b="1" dirty="0">
                <a:solidFill>
                  <a:srgbClr val="0070C0"/>
                </a:solidFill>
                <a:latin typeface="Book Antiqua" panose="02040602050305030304" pitchFamily="18" charset="0"/>
                <a:ea typeface="Arial Unicode MS"/>
              </a:rPr>
              <a:t>%) felt that they were not free to express their political views in Nigeria without fear.</a:t>
            </a:r>
            <a:endPar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endParaRPr>
          </a:p>
        </p:txBody>
      </p:sp>
      <p:sp>
        <p:nvSpPr>
          <p:cNvPr id="5" name="TextBox 4">
            <a:extLst>
              <a:ext uri="{FF2B5EF4-FFF2-40B4-BE49-F238E27FC236}">
                <a16:creationId xmlns:a16="http://schemas.microsoft.com/office/drawing/2014/main" id="{55F5642B-83A0-CD7B-E2BA-8E492D002397}"/>
              </a:ext>
            </a:extLst>
          </p:cNvPr>
          <p:cNvSpPr txBox="1"/>
          <p:nvPr/>
        </p:nvSpPr>
        <p:spPr>
          <a:xfrm>
            <a:off x="312991" y="119838"/>
            <a:ext cx="6277380"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Expression of political views in Nigeria without fear</a:t>
            </a:r>
          </a:p>
        </p:txBody>
      </p:sp>
      <p:graphicFrame>
        <p:nvGraphicFramePr>
          <p:cNvPr id="4" name="Table 3">
            <a:extLst>
              <a:ext uri="{FF2B5EF4-FFF2-40B4-BE49-F238E27FC236}">
                <a16:creationId xmlns:a16="http://schemas.microsoft.com/office/drawing/2014/main" id="{5481D1C6-42A9-46B3-B1E6-85934D6CE3A0}"/>
              </a:ext>
            </a:extLst>
          </p:cNvPr>
          <p:cNvGraphicFramePr>
            <a:graphicFrameLocks noGrp="1"/>
          </p:cNvGraphicFramePr>
          <p:nvPr>
            <p:extLst>
              <p:ext uri="{D42A27DB-BD31-4B8C-83A1-F6EECF244321}">
                <p14:modId xmlns:p14="http://schemas.microsoft.com/office/powerpoint/2010/main" val="1656459690"/>
              </p:ext>
            </p:extLst>
          </p:nvPr>
        </p:nvGraphicFramePr>
        <p:xfrm>
          <a:off x="1817370" y="5212025"/>
          <a:ext cx="9477948" cy="369331"/>
        </p:xfrm>
        <a:graphic>
          <a:graphicData uri="http://schemas.openxmlformats.org/drawingml/2006/table">
            <a:tbl>
              <a:tblPr>
                <a:tableStyleId>{BC89EF96-8CEA-46FF-86C4-4CE0E7609802}</a:tableStyleId>
              </a:tblPr>
              <a:tblGrid>
                <a:gridCol w="789829">
                  <a:extLst>
                    <a:ext uri="{9D8B030D-6E8A-4147-A177-3AD203B41FA5}">
                      <a16:colId xmlns:a16="http://schemas.microsoft.com/office/drawing/2014/main" val="3971998484"/>
                    </a:ext>
                  </a:extLst>
                </a:gridCol>
                <a:gridCol w="789829">
                  <a:extLst>
                    <a:ext uri="{9D8B030D-6E8A-4147-A177-3AD203B41FA5}">
                      <a16:colId xmlns:a16="http://schemas.microsoft.com/office/drawing/2014/main" val="273507684"/>
                    </a:ext>
                  </a:extLst>
                </a:gridCol>
                <a:gridCol w="789829">
                  <a:extLst>
                    <a:ext uri="{9D8B030D-6E8A-4147-A177-3AD203B41FA5}">
                      <a16:colId xmlns:a16="http://schemas.microsoft.com/office/drawing/2014/main" val="1061526375"/>
                    </a:ext>
                  </a:extLst>
                </a:gridCol>
                <a:gridCol w="789829">
                  <a:extLst>
                    <a:ext uri="{9D8B030D-6E8A-4147-A177-3AD203B41FA5}">
                      <a16:colId xmlns:a16="http://schemas.microsoft.com/office/drawing/2014/main" val="1276228177"/>
                    </a:ext>
                  </a:extLst>
                </a:gridCol>
                <a:gridCol w="789829">
                  <a:extLst>
                    <a:ext uri="{9D8B030D-6E8A-4147-A177-3AD203B41FA5}">
                      <a16:colId xmlns:a16="http://schemas.microsoft.com/office/drawing/2014/main" val="2819071823"/>
                    </a:ext>
                  </a:extLst>
                </a:gridCol>
                <a:gridCol w="789829">
                  <a:extLst>
                    <a:ext uri="{9D8B030D-6E8A-4147-A177-3AD203B41FA5}">
                      <a16:colId xmlns:a16="http://schemas.microsoft.com/office/drawing/2014/main" val="2699498569"/>
                    </a:ext>
                  </a:extLst>
                </a:gridCol>
                <a:gridCol w="789829">
                  <a:extLst>
                    <a:ext uri="{9D8B030D-6E8A-4147-A177-3AD203B41FA5}">
                      <a16:colId xmlns:a16="http://schemas.microsoft.com/office/drawing/2014/main" val="2049398142"/>
                    </a:ext>
                  </a:extLst>
                </a:gridCol>
                <a:gridCol w="789829">
                  <a:extLst>
                    <a:ext uri="{9D8B030D-6E8A-4147-A177-3AD203B41FA5}">
                      <a16:colId xmlns:a16="http://schemas.microsoft.com/office/drawing/2014/main" val="820745645"/>
                    </a:ext>
                  </a:extLst>
                </a:gridCol>
                <a:gridCol w="789829">
                  <a:extLst>
                    <a:ext uri="{9D8B030D-6E8A-4147-A177-3AD203B41FA5}">
                      <a16:colId xmlns:a16="http://schemas.microsoft.com/office/drawing/2014/main" val="2489163101"/>
                    </a:ext>
                  </a:extLst>
                </a:gridCol>
                <a:gridCol w="789829">
                  <a:extLst>
                    <a:ext uri="{9D8B030D-6E8A-4147-A177-3AD203B41FA5}">
                      <a16:colId xmlns:a16="http://schemas.microsoft.com/office/drawing/2014/main" val="3206989997"/>
                    </a:ext>
                  </a:extLst>
                </a:gridCol>
                <a:gridCol w="789829">
                  <a:extLst>
                    <a:ext uri="{9D8B030D-6E8A-4147-A177-3AD203B41FA5}">
                      <a16:colId xmlns:a16="http://schemas.microsoft.com/office/drawing/2014/main" val="534552785"/>
                    </a:ext>
                  </a:extLst>
                </a:gridCol>
                <a:gridCol w="789829">
                  <a:extLst>
                    <a:ext uri="{9D8B030D-6E8A-4147-A177-3AD203B41FA5}">
                      <a16:colId xmlns:a16="http://schemas.microsoft.com/office/drawing/2014/main" val="2607264578"/>
                    </a:ext>
                  </a:extLst>
                </a:gridCol>
              </a:tblGrid>
              <a:tr h="369331">
                <a:tc>
                  <a:txBody>
                    <a:bodyPr/>
                    <a:lstStyle/>
                    <a:p>
                      <a:pPr algn="ctr" fontAlgn="b"/>
                      <a:r>
                        <a:rPr lang="en-US" sz="1400" b="1" u="none" strike="noStrike" dirty="0">
                          <a:effectLst/>
                        </a:rPr>
                        <a:t>Mean</a:t>
                      </a:r>
                      <a:endParaRPr lang="en-GB" sz="1400" b="1" i="0" u="none" strike="noStrike" dirty="0">
                        <a:solidFill>
                          <a:srgbClr val="000000"/>
                        </a:solidFill>
                        <a:effectLst/>
                        <a:latin typeface="+mn-lt"/>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dirty="0">
                          <a:solidFill>
                            <a:srgbClr val="0070C0"/>
                          </a:solidFill>
                          <a:effectLst/>
                          <a:latin typeface="Calibri" panose="020F0502020204030204" pitchFamily="34" charset="0"/>
                        </a:rPr>
                        <a:t>2.26</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dirty="0">
                          <a:solidFill>
                            <a:srgbClr val="0070C0"/>
                          </a:solidFill>
                          <a:effectLst/>
                          <a:latin typeface="Calibri" panose="020F0502020204030204" pitchFamily="34" charset="0"/>
                        </a:rPr>
                        <a:t>2.34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dirty="0">
                          <a:solidFill>
                            <a:srgbClr val="0070C0"/>
                          </a:solidFill>
                          <a:effectLst/>
                          <a:latin typeface="Calibri" panose="020F0502020204030204" pitchFamily="34" charset="0"/>
                        </a:rPr>
                        <a:t>2.18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dirty="0">
                          <a:solidFill>
                            <a:srgbClr val="0070C0"/>
                          </a:solidFill>
                          <a:effectLst/>
                          <a:latin typeface="Calibri" panose="020F0502020204030204" pitchFamily="34" charset="0"/>
                        </a:rPr>
                        <a:t>2.18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dirty="0">
                          <a:solidFill>
                            <a:srgbClr val="0070C0"/>
                          </a:solidFill>
                          <a:effectLst/>
                          <a:latin typeface="Calibri" panose="020F0502020204030204" pitchFamily="34" charset="0"/>
                        </a:rPr>
                        <a:t>2.27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dirty="0">
                          <a:solidFill>
                            <a:srgbClr val="0070C0"/>
                          </a:solidFill>
                          <a:effectLst/>
                          <a:latin typeface="Calibri" panose="020F0502020204030204" pitchFamily="34" charset="0"/>
                        </a:rPr>
                        <a:t>3.21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dirty="0">
                          <a:solidFill>
                            <a:srgbClr val="0070C0"/>
                          </a:solidFill>
                          <a:effectLst/>
                          <a:latin typeface="Calibri" panose="020F0502020204030204" pitchFamily="34" charset="0"/>
                        </a:rPr>
                        <a:t>1.59</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dirty="0">
                          <a:solidFill>
                            <a:srgbClr val="0070C0"/>
                          </a:solidFill>
                          <a:effectLst/>
                          <a:latin typeface="Calibri" panose="020F0502020204030204" pitchFamily="34" charset="0"/>
                        </a:rPr>
                        <a:t>1.41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dirty="0">
                          <a:solidFill>
                            <a:srgbClr val="0070C0"/>
                          </a:solidFill>
                          <a:effectLst/>
                          <a:latin typeface="Calibri" panose="020F0502020204030204" pitchFamily="34" charset="0"/>
                        </a:rPr>
                        <a:t>2.28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dirty="0">
                          <a:solidFill>
                            <a:srgbClr val="0070C0"/>
                          </a:solidFill>
                          <a:effectLst/>
                          <a:latin typeface="Calibri" panose="020F0502020204030204" pitchFamily="34" charset="0"/>
                        </a:rPr>
                        <a:t>2.25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GB" sz="1400" b="0" i="0" u="none" strike="noStrike" dirty="0">
                          <a:solidFill>
                            <a:srgbClr val="0070C0"/>
                          </a:solidFill>
                          <a:effectLst/>
                          <a:latin typeface="Calibri" panose="020F0502020204030204" pitchFamily="34" charset="0"/>
                        </a:rPr>
                        <a:t>2.27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30887128"/>
                  </a:ext>
                </a:extLst>
              </a:tr>
            </a:tbl>
          </a:graphicData>
        </a:graphic>
      </p:graphicFrame>
      <p:graphicFrame>
        <p:nvGraphicFramePr>
          <p:cNvPr id="6" name="Chart 5">
            <a:extLst>
              <a:ext uri="{FF2B5EF4-FFF2-40B4-BE49-F238E27FC236}">
                <a16:creationId xmlns:a16="http://schemas.microsoft.com/office/drawing/2014/main" id="{A4B0A94F-6FB5-4821-80DD-F4A0ACECE84F}"/>
              </a:ext>
            </a:extLst>
          </p:cNvPr>
          <p:cNvGraphicFramePr/>
          <p:nvPr>
            <p:extLst>
              <p:ext uri="{D42A27DB-BD31-4B8C-83A1-F6EECF244321}">
                <p14:modId xmlns:p14="http://schemas.microsoft.com/office/powerpoint/2010/main" val="1455176375"/>
              </p:ext>
            </p:extLst>
          </p:nvPr>
        </p:nvGraphicFramePr>
        <p:xfrm>
          <a:off x="832514" y="1514700"/>
          <a:ext cx="10582788" cy="360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Table 6">
            <a:extLst>
              <a:ext uri="{FF2B5EF4-FFF2-40B4-BE49-F238E27FC236}">
                <a16:creationId xmlns:a16="http://schemas.microsoft.com/office/drawing/2014/main" id="{B3E5B83F-8DDD-4488-A54D-8B34D06AF183}"/>
              </a:ext>
            </a:extLst>
          </p:cNvPr>
          <p:cNvGraphicFramePr>
            <a:graphicFrameLocks noGrp="1"/>
          </p:cNvGraphicFramePr>
          <p:nvPr>
            <p:extLst>
              <p:ext uri="{D42A27DB-BD31-4B8C-83A1-F6EECF244321}">
                <p14:modId xmlns:p14="http://schemas.microsoft.com/office/powerpoint/2010/main" val="2065982042"/>
              </p:ext>
            </p:extLst>
          </p:nvPr>
        </p:nvGraphicFramePr>
        <p:xfrm>
          <a:off x="1795347" y="5694561"/>
          <a:ext cx="9477948" cy="222885"/>
        </p:xfrm>
        <a:graphic>
          <a:graphicData uri="http://schemas.openxmlformats.org/drawingml/2006/table">
            <a:tbl>
              <a:tblPr>
                <a:tableStyleId>{2D5ABB26-0587-4C30-8999-92F81FD0307C}</a:tableStyleId>
              </a:tblPr>
              <a:tblGrid>
                <a:gridCol w="789829">
                  <a:extLst>
                    <a:ext uri="{9D8B030D-6E8A-4147-A177-3AD203B41FA5}">
                      <a16:colId xmlns:a16="http://schemas.microsoft.com/office/drawing/2014/main" val="71965769"/>
                    </a:ext>
                  </a:extLst>
                </a:gridCol>
                <a:gridCol w="789829">
                  <a:extLst>
                    <a:ext uri="{9D8B030D-6E8A-4147-A177-3AD203B41FA5}">
                      <a16:colId xmlns:a16="http://schemas.microsoft.com/office/drawing/2014/main" val="4155578195"/>
                    </a:ext>
                  </a:extLst>
                </a:gridCol>
                <a:gridCol w="789829">
                  <a:extLst>
                    <a:ext uri="{9D8B030D-6E8A-4147-A177-3AD203B41FA5}">
                      <a16:colId xmlns:a16="http://schemas.microsoft.com/office/drawing/2014/main" val="1889141429"/>
                    </a:ext>
                  </a:extLst>
                </a:gridCol>
                <a:gridCol w="789829">
                  <a:extLst>
                    <a:ext uri="{9D8B030D-6E8A-4147-A177-3AD203B41FA5}">
                      <a16:colId xmlns:a16="http://schemas.microsoft.com/office/drawing/2014/main" val="3753417597"/>
                    </a:ext>
                  </a:extLst>
                </a:gridCol>
                <a:gridCol w="789829">
                  <a:extLst>
                    <a:ext uri="{9D8B030D-6E8A-4147-A177-3AD203B41FA5}">
                      <a16:colId xmlns:a16="http://schemas.microsoft.com/office/drawing/2014/main" val="1740810762"/>
                    </a:ext>
                  </a:extLst>
                </a:gridCol>
                <a:gridCol w="789829">
                  <a:extLst>
                    <a:ext uri="{9D8B030D-6E8A-4147-A177-3AD203B41FA5}">
                      <a16:colId xmlns:a16="http://schemas.microsoft.com/office/drawing/2014/main" val="790009114"/>
                    </a:ext>
                  </a:extLst>
                </a:gridCol>
                <a:gridCol w="789829">
                  <a:extLst>
                    <a:ext uri="{9D8B030D-6E8A-4147-A177-3AD203B41FA5}">
                      <a16:colId xmlns:a16="http://schemas.microsoft.com/office/drawing/2014/main" val="3015911202"/>
                    </a:ext>
                  </a:extLst>
                </a:gridCol>
                <a:gridCol w="789829">
                  <a:extLst>
                    <a:ext uri="{9D8B030D-6E8A-4147-A177-3AD203B41FA5}">
                      <a16:colId xmlns:a16="http://schemas.microsoft.com/office/drawing/2014/main" val="3232248389"/>
                    </a:ext>
                  </a:extLst>
                </a:gridCol>
                <a:gridCol w="789829">
                  <a:extLst>
                    <a:ext uri="{9D8B030D-6E8A-4147-A177-3AD203B41FA5}">
                      <a16:colId xmlns:a16="http://schemas.microsoft.com/office/drawing/2014/main" val="3458814408"/>
                    </a:ext>
                  </a:extLst>
                </a:gridCol>
                <a:gridCol w="789829">
                  <a:extLst>
                    <a:ext uri="{9D8B030D-6E8A-4147-A177-3AD203B41FA5}">
                      <a16:colId xmlns:a16="http://schemas.microsoft.com/office/drawing/2014/main" val="1536593214"/>
                    </a:ext>
                  </a:extLst>
                </a:gridCol>
                <a:gridCol w="789829">
                  <a:extLst>
                    <a:ext uri="{9D8B030D-6E8A-4147-A177-3AD203B41FA5}">
                      <a16:colId xmlns:a16="http://schemas.microsoft.com/office/drawing/2014/main" val="1349874692"/>
                    </a:ext>
                  </a:extLst>
                </a:gridCol>
                <a:gridCol w="789829">
                  <a:extLst>
                    <a:ext uri="{9D8B030D-6E8A-4147-A177-3AD203B41FA5}">
                      <a16:colId xmlns:a16="http://schemas.microsoft.com/office/drawing/2014/main" val="337574888"/>
                    </a:ext>
                  </a:extLst>
                </a:gridCol>
              </a:tblGrid>
              <a:tr h="190500">
                <a:tc>
                  <a:txBody>
                    <a:bodyPr/>
                    <a:lstStyle/>
                    <a:p>
                      <a:pPr algn="ctr" fontAlgn="b"/>
                      <a:r>
                        <a:rPr lang="en-US" sz="1400" b="1" i="0" u="none" strike="noStrike" dirty="0">
                          <a:solidFill>
                            <a:schemeClr val="bg1">
                              <a:lumMod val="65000"/>
                            </a:schemeClr>
                          </a:solidFill>
                          <a:effectLst/>
                          <a:latin typeface="Calibri" panose="020F0502020204030204" pitchFamily="34" charset="0"/>
                        </a:rPr>
                        <a:t>Base</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1456</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681</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775</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170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290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284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210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158</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344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937</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519</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61141031"/>
                  </a:ext>
                </a:extLst>
              </a:tr>
            </a:tbl>
          </a:graphicData>
        </a:graphic>
      </p:graphicFrame>
    </p:spTree>
    <p:extLst>
      <p:ext uri="{BB962C8B-B14F-4D97-AF65-F5344CB8AC3E}">
        <p14:creationId xmlns:p14="http://schemas.microsoft.com/office/powerpoint/2010/main" val="25349947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Q30. Do you believe electoral processes in Nigeria (e.g., INEC elections) are free and fair?</a:t>
            </a:r>
            <a:endParaRPr lang="en-US" sz="1000" dirty="0">
              <a:latin typeface="Book Antiqua" panose="02040602050305030304" pitchFamily="18" charset="0"/>
            </a:endParaRPr>
          </a:p>
        </p:txBody>
      </p:sp>
      <p:sp>
        <p:nvSpPr>
          <p:cNvPr id="14" name="TextBox 13">
            <a:extLst>
              <a:ext uri="{FF2B5EF4-FFF2-40B4-BE49-F238E27FC236}">
                <a16:creationId xmlns:a16="http://schemas.microsoft.com/office/drawing/2014/main" id="{24EE3164-36BE-1169-158F-AC5F91216B94}"/>
              </a:ext>
            </a:extLst>
          </p:cNvPr>
          <p:cNvSpPr txBox="1"/>
          <p:nvPr/>
        </p:nvSpPr>
        <p:spPr>
          <a:xfrm>
            <a:off x="331302" y="675740"/>
            <a:ext cx="11714923" cy="307777"/>
          </a:xfrm>
          <a:prstGeom prst="rect">
            <a:avLst/>
          </a:prstGeom>
          <a:noFill/>
        </p:spPr>
        <p:txBody>
          <a:bodyPr wrap="square">
            <a:spAutoFit/>
          </a:bodyPr>
          <a:lstStyle/>
          <a:p>
            <a:pPr lvl="0">
              <a:defRPr/>
            </a:pPr>
            <a:r>
              <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rPr>
              <a:t>The majority (77</a:t>
            </a:r>
            <a:r>
              <a:rPr lang="en-US" sz="1400" b="1" dirty="0">
                <a:solidFill>
                  <a:srgbClr val="0070C0"/>
                </a:solidFill>
                <a:latin typeface="Book Antiqua" panose="02040602050305030304" pitchFamily="18" charset="0"/>
                <a:ea typeface="Arial Unicode MS"/>
              </a:rPr>
              <a:t>%), especially in Bauchi (90%) and Enugu (99%), do not believe the electoral processes in Nigeria are free and fair.</a:t>
            </a:r>
            <a:endPar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endParaRPr>
          </a:p>
        </p:txBody>
      </p:sp>
      <p:sp>
        <p:nvSpPr>
          <p:cNvPr id="5" name="TextBox 4">
            <a:extLst>
              <a:ext uri="{FF2B5EF4-FFF2-40B4-BE49-F238E27FC236}">
                <a16:creationId xmlns:a16="http://schemas.microsoft.com/office/drawing/2014/main" id="{55F5642B-83A0-CD7B-E2BA-8E492D002397}"/>
              </a:ext>
            </a:extLst>
          </p:cNvPr>
          <p:cNvSpPr txBox="1"/>
          <p:nvPr/>
        </p:nvSpPr>
        <p:spPr>
          <a:xfrm>
            <a:off x="312991" y="119838"/>
            <a:ext cx="6076658"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Belief in the electoral processes in Nigeria </a:t>
            </a:r>
          </a:p>
        </p:txBody>
      </p:sp>
      <p:graphicFrame>
        <p:nvGraphicFramePr>
          <p:cNvPr id="6" name="Chart 5">
            <a:extLst>
              <a:ext uri="{FF2B5EF4-FFF2-40B4-BE49-F238E27FC236}">
                <a16:creationId xmlns:a16="http://schemas.microsoft.com/office/drawing/2014/main" id="{A4B0A94F-6FB5-4821-80DD-F4A0ACECE84F}"/>
              </a:ext>
            </a:extLst>
          </p:cNvPr>
          <p:cNvGraphicFramePr/>
          <p:nvPr>
            <p:extLst>
              <p:ext uri="{D42A27DB-BD31-4B8C-83A1-F6EECF244321}">
                <p14:modId xmlns:p14="http://schemas.microsoft.com/office/powerpoint/2010/main" val="993885024"/>
              </p:ext>
            </p:extLst>
          </p:nvPr>
        </p:nvGraphicFramePr>
        <p:xfrm>
          <a:off x="770048" y="1514700"/>
          <a:ext cx="10645253" cy="360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 name="Table 1">
            <a:extLst>
              <a:ext uri="{FF2B5EF4-FFF2-40B4-BE49-F238E27FC236}">
                <a16:creationId xmlns:a16="http://schemas.microsoft.com/office/drawing/2014/main" id="{2FD2C1FF-B074-44D9-B438-D622567C91D3}"/>
              </a:ext>
            </a:extLst>
          </p:cNvPr>
          <p:cNvGraphicFramePr>
            <a:graphicFrameLocks noGrp="1"/>
          </p:cNvGraphicFramePr>
          <p:nvPr>
            <p:extLst>
              <p:ext uri="{D42A27DB-BD31-4B8C-83A1-F6EECF244321}">
                <p14:modId xmlns:p14="http://schemas.microsoft.com/office/powerpoint/2010/main" val="2353915413"/>
              </p:ext>
            </p:extLst>
          </p:nvPr>
        </p:nvGraphicFramePr>
        <p:xfrm>
          <a:off x="1862254" y="5170455"/>
          <a:ext cx="9177454" cy="222885"/>
        </p:xfrm>
        <a:graphic>
          <a:graphicData uri="http://schemas.openxmlformats.org/drawingml/2006/table">
            <a:tbl>
              <a:tblPr>
                <a:tableStyleId>{2D5ABB26-0587-4C30-8999-92F81FD0307C}</a:tableStyleId>
              </a:tblPr>
              <a:tblGrid>
                <a:gridCol w="834314">
                  <a:extLst>
                    <a:ext uri="{9D8B030D-6E8A-4147-A177-3AD203B41FA5}">
                      <a16:colId xmlns:a16="http://schemas.microsoft.com/office/drawing/2014/main" val="4155578195"/>
                    </a:ext>
                  </a:extLst>
                </a:gridCol>
                <a:gridCol w="834314">
                  <a:extLst>
                    <a:ext uri="{9D8B030D-6E8A-4147-A177-3AD203B41FA5}">
                      <a16:colId xmlns:a16="http://schemas.microsoft.com/office/drawing/2014/main" val="1889141429"/>
                    </a:ext>
                  </a:extLst>
                </a:gridCol>
                <a:gridCol w="834314">
                  <a:extLst>
                    <a:ext uri="{9D8B030D-6E8A-4147-A177-3AD203B41FA5}">
                      <a16:colId xmlns:a16="http://schemas.microsoft.com/office/drawing/2014/main" val="3753417597"/>
                    </a:ext>
                  </a:extLst>
                </a:gridCol>
                <a:gridCol w="834314">
                  <a:extLst>
                    <a:ext uri="{9D8B030D-6E8A-4147-A177-3AD203B41FA5}">
                      <a16:colId xmlns:a16="http://schemas.microsoft.com/office/drawing/2014/main" val="1740810762"/>
                    </a:ext>
                  </a:extLst>
                </a:gridCol>
                <a:gridCol w="834314">
                  <a:extLst>
                    <a:ext uri="{9D8B030D-6E8A-4147-A177-3AD203B41FA5}">
                      <a16:colId xmlns:a16="http://schemas.microsoft.com/office/drawing/2014/main" val="790009114"/>
                    </a:ext>
                  </a:extLst>
                </a:gridCol>
                <a:gridCol w="834314">
                  <a:extLst>
                    <a:ext uri="{9D8B030D-6E8A-4147-A177-3AD203B41FA5}">
                      <a16:colId xmlns:a16="http://schemas.microsoft.com/office/drawing/2014/main" val="3015911202"/>
                    </a:ext>
                  </a:extLst>
                </a:gridCol>
                <a:gridCol w="834314">
                  <a:extLst>
                    <a:ext uri="{9D8B030D-6E8A-4147-A177-3AD203B41FA5}">
                      <a16:colId xmlns:a16="http://schemas.microsoft.com/office/drawing/2014/main" val="3232248389"/>
                    </a:ext>
                  </a:extLst>
                </a:gridCol>
                <a:gridCol w="834314">
                  <a:extLst>
                    <a:ext uri="{9D8B030D-6E8A-4147-A177-3AD203B41FA5}">
                      <a16:colId xmlns:a16="http://schemas.microsoft.com/office/drawing/2014/main" val="3458814408"/>
                    </a:ext>
                  </a:extLst>
                </a:gridCol>
                <a:gridCol w="834314">
                  <a:extLst>
                    <a:ext uri="{9D8B030D-6E8A-4147-A177-3AD203B41FA5}">
                      <a16:colId xmlns:a16="http://schemas.microsoft.com/office/drawing/2014/main" val="1536593214"/>
                    </a:ext>
                  </a:extLst>
                </a:gridCol>
                <a:gridCol w="834314">
                  <a:extLst>
                    <a:ext uri="{9D8B030D-6E8A-4147-A177-3AD203B41FA5}">
                      <a16:colId xmlns:a16="http://schemas.microsoft.com/office/drawing/2014/main" val="1349874692"/>
                    </a:ext>
                  </a:extLst>
                </a:gridCol>
                <a:gridCol w="834314">
                  <a:extLst>
                    <a:ext uri="{9D8B030D-6E8A-4147-A177-3AD203B41FA5}">
                      <a16:colId xmlns:a16="http://schemas.microsoft.com/office/drawing/2014/main" val="337574888"/>
                    </a:ext>
                  </a:extLst>
                </a:gridCol>
              </a:tblGrid>
              <a:tr h="190500">
                <a:tc>
                  <a:txBody>
                    <a:bodyPr/>
                    <a:lstStyle/>
                    <a:p>
                      <a:pPr algn="ctr" fontAlgn="b"/>
                      <a:r>
                        <a:rPr lang="en-GB" sz="1400" b="1" u="none" strike="noStrike">
                          <a:solidFill>
                            <a:schemeClr val="bg1">
                              <a:lumMod val="65000"/>
                            </a:schemeClr>
                          </a:solidFill>
                          <a:effectLst/>
                        </a:rPr>
                        <a:t>1456</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681</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775</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170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290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284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210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158</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344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937</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519</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61141031"/>
                  </a:ext>
                </a:extLst>
              </a:tr>
            </a:tbl>
          </a:graphicData>
        </a:graphic>
      </p:graphicFrame>
      <p:graphicFrame>
        <p:nvGraphicFramePr>
          <p:cNvPr id="7" name="Table 6">
            <a:extLst>
              <a:ext uri="{FF2B5EF4-FFF2-40B4-BE49-F238E27FC236}">
                <a16:creationId xmlns:a16="http://schemas.microsoft.com/office/drawing/2014/main" id="{75D0CAF5-6E5A-40E4-A11F-EE39DE9932D8}"/>
              </a:ext>
            </a:extLst>
          </p:cNvPr>
          <p:cNvGraphicFramePr>
            <a:graphicFrameLocks noGrp="1"/>
          </p:cNvGraphicFramePr>
          <p:nvPr>
            <p:extLst>
              <p:ext uri="{D42A27DB-BD31-4B8C-83A1-F6EECF244321}">
                <p14:modId xmlns:p14="http://schemas.microsoft.com/office/powerpoint/2010/main" val="2065982042"/>
              </p:ext>
            </p:extLst>
          </p:nvPr>
        </p:nvGraphicFramePr>
        <p:xfrm>
          <a:off x="1795347" y="5694561"/>
          <a:ext cx="9477948" cy="222885"/>
        </p:xfrm>
        <a:graphic>
          <a:graphicData uri="http://schemas.openxmlformats.org/drawingml/2006/table">
            <a:tbl>
              <a:tblPr>
                <a:tableStyleId>{2D5ABB26-0587-4C30-8999-92F81FD0307C}</a:tableStyleId>
              </a:tblPr>
              <a:tblGrid>
                <a:gridCol w="789829">
                  <a:extLst>
                    <a:ext uri="{9D8B030D-6E8A-4147-A177-3AD203B41FA5}">
                      <a16:colId xmlns:a16="http://schemas.microsoft.com/office/drawing/2014/main" val="71965769"/>
                    </a:ext>
                  </a:extLst>
                </a:gridCol>
                <a:gridCol w="789829">
                  <a:extLst>
                    <a:ext uri="{9D8B030D-6E8A-4147-A177-3AD203B41FA5}">
                      <a16:colId xmlns:a16="http://schemas.microsoft.com/office/drawing/2014/main" val="4155578195"/>
                    </a:ext>
                  </a:extLst>
                </a:gridCol>
                <a:gridCol w="789829">
                  <a:extLst>
                    <a:ext uri="{9D8B030D-6E8A-4147-A177-3AD203B41FA5}">
                      <a16:colId xmlns:a16="http://schemas.microsoft.com/office/drawing/2014/main" val="1889141429"/>
                    </a:ext>
                  </a:extLst>
                </a:gridCol>
                <a:gridCol w="789829">
                  <a:extLst>
                    <a:ext uri="{9D8B030D-6E8A-4147-A177-3AD203B41FA5}">
                      <a16:colId xmlns:a16="http://schemas.microsoft.com/office/drawing/2014/main" val="3753417597"/>
                    </a:ext>
                  </a:extLst>
                </a:gridCol>
                <a:gridCol w="789829">
                  <a:extLst>
                    <a:ext uri="{9D8B030D-6E8A-4147-A177-3AD203B41FA5}">
                      <a16:colId xmlns:a16="http://schemas.microsoft.com/office/drawing/2014/main" val="1740810762"/>
                    </a:ext>
                  </a:extLst>
                </a:gridCol>
                <a:gridCol w="789829">
                  <a:extLst>
                    <a:ext uri="{9D8B030D-6E8A-4147-A177-3AD203B41FA5}">
                      <a16:colId xmlns:a16="http://schemas.microsoft.com/office/drawing/2014/main" val="790009114"/>
                    </a:ext>
                  </a:extLst>
                </a:gridCol>
                <a:gridCol w="789829">
                  <a:extLst>
                    <a:ext uri="{9D8B030D-6E8A-4147-A177-3AD203B41FA5}">
                      <a16:colId xmlns:a16="http://schemas.microsoft.com/office/drawing/2014/main" val="3015911202"/>
                    </a:ext>
                  </a:extLst>
                </a:gridCol>
                <a:gridCol w="789829">
                  <a:extLst>
                    <a:ext uri="{9D8B030D-6E8A-4147-A177-3AD203B41FA5}">
                      <a16:colId xmlns:a16="http://schemas.microsoft.com/office/drawing/2014/main" val="3232248389"/>
                    </a:ext>
                  </a:extLst>
                </a:gridCol>
                <a:gridCol w="789829">
                  <a:extLst>
                    <a:ext uri="{9D8B030D-6E8A-4147-A177-3AD203B41FA5}">
                      <a16:colId xmlns:a16="http://schemas.microsoft.com/office/drawing/2014/main" val="3458814408"/>
                    </a:ext>
                  </a:extLst>
                </a:gridCol>
                <a:gridCol w="789829">
                  <a:extLst>
                    <a:ext uri="{9D8B030D-6E8A-4147-A177-3AD203B41FA5}">
                      <a16:colId xmlns:a16="http://schemas.microsoft.com/office/drawing/2014/main" val="1536593214"/>
                    </a:ext>
                  </a:extLst>
                </a:gridCol>
                <a:gridCol w="789829">
                  <a:extLst>
                    <a:ext uri="{9D8B030D-6E8A-4147-A177-3AD203B41FA5}">
                      <a16:colId xmlns:a16="http://schemas.microsoft.com/office/drawing/2014/main" val="1349874692"/>
                    </a:ext>
                  </a:extLst>
                </a:gridCol>
                <a:gridCol w="789829">
                  <a:extLst>
                    <a:ext uri="{9D8B030D-6E8A-4147-A177-3AD203B41FA5}">
                      <a16:colId xmlns:a16="http://schemas.microsoft.com/office/drawing/2014/main" val="337574888"/>
                    </a:ext>
                  </a:extLst>
                </a:gridCol>
              </a:tblGrid>
              <a:tr h="190500">
                <a:tc>
                  <a:txBody>
                    <a:bodyPr/>
                    <a:lstStyle/>
                    <a:p>
                      <a:pPr algn="ctr" fontAlgn="b"/>
                      <a:r>
                        <a:rPr lang="en-US" sz="1400" b="1" i="0" u="none" strike="noStrike" dirty="0">
                          <a:solidFill>
                            <a:schemeClr val="bg1">
                              <a:lumMod val="65000"/>
                            </a:schemeClr>
                          </a:solidFill>
                          <a:effectLst/>
                          <a:latin typeface="Calibri" panose="020F0502020204030204" pitchFamily="34" charset="0"/>
                        </a:rPr>
                        <a:t>Base</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1456</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681</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775</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170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290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284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210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158</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344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937</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519</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61141031"/>
                  </a:ext>
                </a:extLst>
              </a:tr>
            </a:tbl>
          </a:graphicData>
        </a:graphic>
      </p:graphicFrame>
    </p:spTree>
    <p:extLst>
      <p:ext uri="{BB962C8B-B14F-4D97-AF65-F5344CB8AC3E}">
        <p14:creationId xmlns:p14="http://schemas.microsoft.com/office/powerpoint/2010/main" val="42036827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Q31. What is your main source of political information?</a:t>
            </a:r>
            <a:endParaRPr lang="en-US" sz="1000" dirty="0">
              <a:latin typeface="Book Antiqua" panose="02040602050305030304" pitchFamily="18" charset="0"/>
            </a:endParaRPr>
          </a:p>
        </p:txBody>
      </p:sp>
      <p:sp>
        <p:nvSpPr>
          <p:cNvPr id="14" name="TextBox 13">
            <a:extLst>
              <a:ext uri="{FF2B5EF4-FFF2-40B4-BE49-F238E27FC236}">
                <a16:creationId xmlns:a16="http://schemas.microsoft.com/office/drawing/2014/main" id="{24EE3164-36BE-1169-158F-AC5F91216B94}"/>
              </a:ext>
            </a:extLst>
          </p:cNvPr>
          <p:cNvSpPr txBox="1"/>
          <p:nvPr/>
        </p:nvSpPr>
        <p:spPr>
          <a:xfrm>
            <a:off x="331302" y="675740"/>
            <a:ext cx="11714923" cy="307777"/>
          </a:xfrm>
          <a:prstGeom prst="rect">
            <a:avLst/>
          </a:prstGeom>
          <a:noFill/>
        </p:spPr>
        <p:txBody>
          <a:bodyPr wrap="square">
            <a:spAutoFit/>
          </a:bodyPr>
          <a:lstStyle/>
          <a:p>
            <a:pPr lvl="0">
              <a:defRPr/>
            </a:pPr>
            <a:r>
              <a:rPr lang="en-US" sz="1400" b="1" dirty="0">
                <a:solidFill>
                  <a:srgbClr val="0070C0"/>
                </a:solidFill>
                <a:latin typeface="Book Antiqua" panose="02040602050305030304" pitchFamily="18" charset="0"/>
                <a:ea typeface="Arial Unicode MS"/>
              </a:rPr>
              <a:t>Social media (56%) is the main source of political </a:t>
            </a:r>
            <a:r>
              <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rPr>
              <a:t>information. Traditional media (30%), especially in Kano are also crucial.</a:t>
            </a:r>
          </a:p>
        </p:txBody>
      </p:sp>
      <p:sp>
        <p:nvSpPr>
          <p:cNvPr id="5" name="TextBox 4">
            <a:extLst>
              <a:ext uri="{FF2B5EF4-FFF2-40B4-BE49-F238E27FC236}">
                <a16:creationId xmlns:a16="http://schemas.microsoft.com/office/drawing/2014/main" id="{55F5642B-83A0-CD7B-E2BA-8E492D002397}"/>
              </a:ext>
            </a:extLst>
          </p:cNvPr>
          <p:cNvSpPr txBox="1"/>
          <p:nvPr/>
        </p:nvSpPr>
        <p:spPr>
          <a:xfrm>
            <a:off x="312991" y="119838"/>
            <a:ext cx="5605670"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Source of political information</a:t>
            </a:r>
          </a:p>
        </p:txBody>
      </p:sp>
      <p:graphicFrame>
        <p:nvGraphicFramePr>
          <p:cNvPr id="6" name="Chart 5">
            <a:extLst>
              <a:ext uri="{FF2B5EF4-FFF2-40B4-BE49-F238E27FC236}">
                <a16:creationId xmlns:a16="http://schemas.microsoft.com/office/drawing/2014/main" id="{A4B0A94F-6FB5-4821-80DD-F4A0ACECE84F}"/>
              </a:ext>
            </a:extLst>
          </p:cNvPr>
          <p:cNvGraphicFramePr/>
          <p:nvPr>
            <p:extLst>
              <p:ext uri="{D42A27DB-BD31-4B8C-83A1-F6EECF244321}">
                <p14:modId xmlns:p14="http://schemas.microsoft.com/office/powerpoint/2010/main" val="798669887"/>
              </p:ext>
            </p:extLst>
          </p:nvPr>
        </p:nvGraphicFramePr>
        <p:xfrm>
          <a:off x="1335301" y="1514700"/>
          <a:ext cx="10080000" cy="417744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Table 6">
            <a:extLst>
              <a:ext uri="{FF2B5EF4-FFF2-40B4-BE49-F238E27FC236}">
                <a16:creationId xmlns:a16="http://schemas.microsoft.com/office/drawing/2014/main" id="{83F21DE3-F4CF-4C7C-9BC8-F73C5EB6A915}"/>
              </a:ext>
            </a:extLst>
          </p:cNvPr>
          <p:cNvGraphicFramePr>
            <a:graphicFrameLocks noGrp="1"/>
          </p:cNvGraphicFramePr>
          <p:nvPr>
            <p:extLst>
              <p:ext uri="{D42A27DB-BD31-4B8C-83A1-F6EECF244321}">
                <p14:modId xmlns:p14="http://schemas.microsoft.com/office/powerpoint/2010/main" val="208961833"/>
              </p:ext>
            </p:extLst>
          </p:nvPr>
        </p:nvGraphicFramePr>
        <p:xfrm>
          <a:off x="1338147" y="5694561"/>
          <a:ext cx="9879984" cy="222885"/>
        </p:xfrm>
        <a:graphic>
          <a:graphicData uri="http://schemas.openxmlformats.org/drawingml/2006/table">
            <a:tbl>
              <a:tblPr>
                <a:tableStyleId>{2D5ABB26-0587-4C30-8999-92F81FD0307C}</a:tableStyleId>
              </a:tblPr>
              <a:tblGrid>
                <a:gridCol w="823332">
                  <a:extLst>
                    <a:ext uri="{9D8B030D-6E8A-4147-A177-3AD203B41FA5}">
                      <a16:colId xmlns:a16="http://schemas.microsoft.com/office/drawing/2014/main" val="71965769"/>
                    </a:ext>
                  </a:extLst>
                </a:gridCol>
                <a:gridCol w="823332">
                  <a:extLst>
                    <a:ext uri="{9D8B030D-6E8A-4147-A177-3AD203B41FA5}">
                      <a16:colId xmlns:a16="http://schemas.microsoft.com/office/drawing/2014/main" val="4155578195"/>
                    </a:ext>
                  </a:extLst>
                </a:gridCol>
                <a:gridCol w="823332">
                  <a:extLst>
                    <a:ext uri="{9D8B030D-6E8A-4147-A177-3AD203B41FA5}">
                      <a16:colId xmlns:a16="http://schemas.microsoft.com/office/drawing/2014/main" val="1889141429"/>
                    </a:ext>
                  </a:extLst>
                </a:gridCol>
                <a:gridCol w="823332">
                  <a:extLst>
                    <a:ext uri="{9D8B030D-6E8A-4147-A177-3AD203B41FA5}">
                      <a16:colId xmlns:a16="http://schemas.microsoft.com/office/drawing/2014/main" val="3753417597"/>
                    </a:ext>
                  </a:extLst>
                </a:gridCol>
                <a:gridCol w="823332">
                  <a:extLst>
                    <a:ext uri="{9D8B030D-6E8A-4147-A177-3AD203B41FA5}">
                      <a16:colId xmlns:a16="http://schemas.microsoft.com/office/drawing/2014/main" val="1740810762"/>
                    </a:ext>
                  </a:extLst>
                </a:gridCol>
                <a:gridCol w="823332">
                  <a:extLst>
                    <a:ext uri="{9D8B030D-6E8A-4147-A177-3AD203B41FA5}">
                      <a16:colId xmlns:a16="http://schemas.microsoft.com/office/drawing/2014/main" val="790009114"/>
                    </a:ext>
                  </a:extLst>
                </a:gridCol>
                <a:gridCol w="823332">
                  <a:extLst>
                    <a:ext uri="{9D8B030D-6E8A-4147-A177-3AD203B41FA5}">
                      <a16:colId xmlns:a16="http://schemas.microsoft.com/office/drawing/2014/main" val="3015911202"/>
                    </a:ext>
                  </a:extLst>
                </a:gridCol>
                <a:gridCol w="823332">
                  <a:extLst>
                    <a:ext uri="{9D8B030D-6E8A-4147-A177-3AD203B41FA5}">
                      <a16:colId xmlns:a16="http://schemas.microsoft.com/office/drawing/2014/main" val="3232248389"/>
                    </a:ext>
                  </a:extLst>
                </a:gridCol>
                <a:gridCol w="823332">
                  <a:extLst>
                    <a:ext uri="{9D8B030D-6E8A-4147-A177-3AD203B41FA5}">
                      <a16:colId xmlns:a16="http://schemas.microsoft.com/office/drawing/2014/main" val="3458814408"/>
                    </a:ext>
                  </a:extLst>
                </a:gridCol>
                <a:gridCol w="823332">
                  <a:extLst>
                    <a:ext uri="{9D8B030D-6E8A-4147-A177-3AD203B41FA5}">
                      <a16:colId xmlns:a16="http://schemas.microsoft.com/office/drawing/2014/main" val="1536593214"/>
                    </a:ext>
                  </a:extLst>
                </a:gridCol>
                <a:gridCol w="823332">
                  <a:extLst>
                    <a:ext uri="{9D8B030D-6E8A-4147-A177-3AD203B41FA5}">
                      <a16:colId xmlns:a16="http://schemas.microsoft.com/office/drawing/2014/main" val="1349874692"/>
                    </a:ext>
                  </a:extLst>
                </a:gridCol>
                <a:gridCol w="823332">
                  <a:extLst>
                    <a:ext uri="{9D8B030D-6E8A-4147-A177-3AD203B41FA5}">
                      <a16:colId xmlns:a16="http://schemas.microsoft.com/office/drawing/2014/main" val="337574888"/>
                    </a:ext>
                  </a:extLst>
                </a:gridCol>
              </a:tblGrid>
              <a:tr h="190500">
                <a:tc>
                  <a:txBody>
                    <a:bodyPr/>
                    <a:lstStyle/>
                    <a:p>
                      <a:pPr algn="ctr" fontAlgn="b"/>
                      <a:r>
                        <a:rPr lang="en-US" sz="1400" b="1" i="0" u="none" strike="noStrike" dirty="0">
                          <a:solidFill>
                            <a:schemeClr val="bg1">
                              <a:lumMod val="65000"/>
                            </a:schemeClr>
                          </a:solidFill>
                          <a:effectLst/>
                          <a:latin typeface="Calibri" panose="020F0502020204030204" pitchFamily="34" charset="0"/>
                        </a:rPr>
                        <a:t>Base</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1456</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681</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775</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170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290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284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210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158</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344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937</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519</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61141031"/>
                  </a:ext>
                </a:extLst>
              </a:tr>
            </a:tbl>
          </a:graphicData>
        </a:graphic>
      </p:graphicFrame>
    </p:spTree>
    <p:extLst>
      <p:ext uri="{BB962C8B-B14F-4D97-AF65-F5344CB8AC3E}">
        <p14:creationId xmlns:p14="http://schemas.microsoft.com/office/powerpoint/2010/main" val="33080464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080304"/>
            <a:ext cx="10645253" cy="861774"/>
          </a:xfrm>
          <a:prstGeom prst="rect">
            <a:avLst/>
          </a:prstGeom>
          <a:noFill/>
        </p:spPr>
        <p:txBody>
          <a:bodyPr wrap="square">
            <a:spAutoFit/>
          </a:bodyPr>
          <a:lstStyle/>
          <a:p>
            <a:r>
              <a:rPr lang="en-US" sz="1000" dirty="0">
                <a:solidFill>
                  <a:srgbClr val="000000"/>
                </a:solidFill>
                <a:latin typeface="Book Antiqua" panose="02040602050305030304" pitchFamily="18" charset="0"/>
              </a:rPr>
              <a:t>Q322. Did you vote in the last Gubernatorial (Governorship) Elections?</a:t>
            </a:r>
          </a:p>
          <a:p>
            <a:r>
              <a:rPr lang="en-US" sz="1000" dirty="0">
                <a:solidFill>
                  <a:srgbClr val="000000"/>
                </a:solidFill>
                <a:latin typeface="Book Antiqua" panose="02040602050305030304" pitchFamily="18" charset="0"/>
              </a:rPr>
              <a:t>Q323. Did you vote in the last Senate?</a:t>
            </a:r>
          </a:p>
          <a:p>
            <a:r>
              <a:rPr lang="en-US" sz="1000" dirty="0">
                <a:solidFill>
                  <a:srgbClr val="000000"/>
                </a:solidFill>
                <a:latin typeface="Book Antiqua" panose="02040602050305030304" pitchFamily="18" charset="0"/>
              </a:rPr>
              <a:t>Q324. Did you vote in the last National House of Representatives?</a:t>
            </a:r>
          </a:p>
          <a:p>
            <a:r>
              <a:rPr lang="en-US" sz="1000" dirty="0">
                <a:solidFill>
                  <a:srgbClr val="000000"/>
                </a:solidFill>
                <a:latin typeface="Book Antiqua" panose="02040602050305030304" pitchFamily="18" charset="0"/>
              </a:rPr>
              <a:t>Q325. Did you vote in the last State House of Assembly?</a:t>
            </a:r>
          </a:p>
          <a:p>
            <a:r>
              <a:rPr lang="en-US" sz="1000" dirty="0">
                <a:solidFill>
                  <a:srgbClr val="000000"/>
                </a:solidFill>
                <a:latin typeface="Book Antiqua" panose="02040602050305030304" pitchFamily="18" charset="0"/>
              </a:rPr>
              <a:t>Q326. Did you vote in the last Local Government Elections?</a:t>
            </a:r>
          </a:p>
        </p:txBody>
      </p:sp>
      <p:sp>
        <p:nvSpPr>
          <p:cNvPr id="14" name="TextBox 13">
            <a:extLst>
              <a:ext uri="{FF2B5EF4-FFF2-40B4-BE49-F238E27FC236}">
                <a16:creationId xmlns:a16="http://schemas.microsoft.com/office/drawing/2014/main" id="{24EE3164-36BE-1169-158F-AC5F91216B94}"/>
              </a:ext>
            </a:extLst>
          </p:cNvPr>
          <p:cNvSpPr txBox="1"/>
          <p:nvPr/>
        </p:nvSpPr>
        <p:spPr>
          <a:xfrm>
            <a:off x="331302" y="675740"/>
            <a:ext cx="11714923"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rPr>
              <a:t>Only 36% participated in the last presidential election and 34% participated in the governorship election. Participation is low in the other elections across demographics.</a:t>
            </a:r>
          </a:p>
        </p:txBody>
      </p:sp>
      <p:sp>
        <p:nvSpPr>
          <p:cNvPr id="5" name="TextBox 4">
            <a:extLst>
              <a:ext uri="{FF2B5EF4-FFF2-40B4-BE49-F238E27FC236}">
                <a16:creationId xmlns:a16="http://schemas.microsoft.com/office/drawing/2014/main" id="{55F5642B-83A0-CD7B-E2BA-8E492D002397}"/>
              </a:ext>
            </a:extLst>
          </p:cNvPr>
          <p:cNvSpPr txBox="1"/>
          <p:nvPr/>
        </p:nvSpPr>
        <p:spPr>
          <a:xfrm>
            <a:off x="312991" y="119838"/>
            <a:ext cx="5605670"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Participation in the last elections</a:t>
            </a:r>
          </a:p>
        </p:txBody>
      </p:sp>
      <p:graphicFrame>
        <p:nvGraphicFramePr>
          <p:cNvPr id="4" name="Chart 3">
            <a:extLst>
              <a:ext uri="{FF2B5EF4-FFF2-40B4-BE49-F238E27FC236}">
                <a16:creationId xmlns:a16="http://schemas.microsoft.com/office/drawing/2014/main" id="{FB9D19F7-B898-4664-9E55-DB9F2461F386}"/>
              </a:ext>
            </a:extLst>
          </p:cNvPr>
          <p:cNvGraphicFramePr/>
          <p:nvPr>
            <p:extLst>
              <p:ext uri="{D42A27DB-BD31-4B8C-83A1-F6EECF244321}">
                <p14:modId xmlns:p14="http://schemas.microsoft.com/office/powerpoint/2010/main" val="3039154708"/>
              </p:ext>
            </p:extLst>
          </p:nvPr>
        </p:nvGraphicFramePr>
        <p:xfrm>
          <a:off x="982980" y="1805940"/>
          <a:ext cx="10494786" cy="371475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Table 5">
            <a:extLst>
              <a:ext uri="{FF2B5EF4-FFF2-40B4-BE49-F238E27FC236}">
                <a16:creationId xmlns:a16="http://schemas.microsoft.com/office/drawing/2014/main" id="{55D3FDFD-03CF-43E5-8333-45AC39B32D8A}"/>
              </a:ext>
            </a:extLst>
          </p:cNvPr>
          <p:cNvGraphicFramePr>
            <a:graphicFrameLocks noGrp="1"/>
          </p:cNvGraphicFramePr>
          <p:nvPr>
            <p:extLst>
              <p:ext uri="{D42A27DB-BD31-4B8C-83A1-F6EECF244321}">
                <p14:modId xmlns:p14="http://schemas.microsoft.com/office/powerpoint/2010/main" val="2019069613"/>
              </p:ext>
            </p:extLst>
          </p:nvPr>
        </p:nvGraphicFramePr>
        <p:xfrm>
          <a:off x="223024" y="5694561"/>
          <a:ext cx="11254740" cy="222885"/>
        </p:xfrm>
        <a:graphic>
          <a:graphicData uri="http://schemas.openxmlformats.org/drawingml/2006/table">
            <a:tbl>
              <a:tblPr>
                <a:tableStyleId>{2D5ABB26-0587-4C30-8999-92F81FD0307C}</a:tableStyleId>
              </a:tblPr>
              <a:tblGrid>
                <a:gridCol w="937895">
                  <a:extLst>
                    <a:ext uri="{9D8B030D-6E8A-4147-A177-3AD203B41FA5}">
                      <a16:colId xmlns:a16="http://schemas.microsoft.com/office/drawing/2014/main" val="71965769"/>
                    </a:ext>
                  </a:extLst>
                </a:gridCol>
                <a:gridCol w="937895">
                  <a:extLst>
                    <a:ext uri="{9D8B030D-6E8A-4147-A177-3AD203B41FA5}">
                      <a16:colId xmlns:a16="http://schemas.microsoft.com/office/drawing/2014/main" val="4155578195"/>
                    </a:ext>
                  </a:extLst>
                </a:gridCol>
                <a:gridCol w="937895">
                  <a:extLst>
                    <a:ext uri="{9D8B030D-6E8A-4147-A177-3AD203B41FA5}">
                      <a16:colId xmlns:a16="http://schemas.microsoft.com/office/drawing/2014/main" val="1889141429"/>
                    </a:ext>
                  </a:extLst>
                </a:gridCol>
                <a:gridCol w="937895">
                  <a:extLst>
                    <a:ext uri="{9D8B030D-6E8A-4147-A177-3AD203B41FA5}">
                      <a16:colId xmlns:a16="http://schemas.microsoft.com/office/drawing/2014/main" val="3753417597"/>
                    </a:ext>
                  </a:extLst>
                </a:gridCol>
                <a:gridCol w="937895">
                  <a:extLst>
                    <a:ext uri="{9D8B030D-6E8A-4147-A177-3AD203B41FA5}">
                      <a16:colId xmlns:a16="http://schemas.microsoft.com/office/drawing/2014/main" val="1740810762"/>
                    </a:ext>
                  </a:extLst>
                </a:gridCol>
                <a:gridCol w="937895">
                  <a:extLst>
                    <a:ext uri="{9D8B030D-6E8A-4147-A177-3AD203B41FA5}">
                      <a16:colId xmlns:a16="http://schemas.microsoft.com/office/drawing/2014/main" val="790009114"/>
                    </a:ext>
                  </a:extLst>
                </a:gridCol>
                <a:gridCol w="937895">
                  <a:extLst>
                    <a:ext uri="{9D8B030D-6E8A-4147-A177-3AD203B41FA5}">
                      <a16:colId xmlns:a16="http://schemas.microsoft.com/office/drawing/2014/main" val="3015911202"/>
                    </a:ext>
                  </a:extLst>
                </a:gridCol>
                <a:gridCol w="937895">
                  <a:extLst>
                    <a:ext uri="{9D8B030D-6E8A-4147-A177-3AD203B41FA5}">
                      <a16:colId xmlns:a16="http://schemas.microsoft.com/office/drawing/2014/main" val="3232248389"/>
                    </a:ext>
                  </a:extLst>
                </a:gridCol>
                <a:gridCol w="937895">
                  <a:extLst>
                    <a:ext uri="{9D8B030D-6E8A-4147-A177-3AD203B41FA5}">
                      <a16:colId xmlns:a16="http://schemas.microsoft.com/office/drawing/2014/main" val="3458814408"/>
                    </a:ext>
                  </a:extLst>
                </a:gridCol>
                <a:gridCol w="937895">
                  <a:extLst>
                    <a:ext uri="{9D8B030D-6E8A-4147-A177-3AD203B41FA5}">
                      <a16:colId xmlns:a16="http://schemas.microsoft.com/office/drawing/2014/main" val="1536593214"/>
                    </a:ext>
                  </a:extLst>
                </a:gridCol>
                <a:gridCol w="937895">
                  <a:extLst>
                    <a:ext uri="{9D8B030D-6E8A-4147-A177-3AD203B41FA5}">
                      <a16:colId xmlns:a16="http://schemas.microsoft.com/office/drawing/2014/main" val="1349874692"/>
                    </a:ext>
                  </a:extLst>
                </a:gridCol>
                <a:gridCol w="937895">
                  <a:extLst>
                    <a:ext uri="{9D8B030D-6E8A-4147-A177-3AD203B41FA5}">
                      <a16:colId xmlns:a16="http://schemas.microsoft.com/office/drawing/2014/main" val="337574888"/>
                    </a:ext>
                  </a:extLst>
                </a:gridCol>
              </a:tblGrid>
              <a:tr h="190500">
                <a:tc>
                  <a:txBody>
                    <a:bodyPr/>
                    <a:lstStyle/>
                    <a:p>
                      <a:pPr algn="ctr" fontAlgn="b"/>
                      <a:r>
                        <a:rPr lang="en-US" sz="1400" b="1" i="0" u="none" strike="noStrike" dirty="0">
                          <a:solidFill>
                            <a:schemeClr val="bg1">
                              <a:lumMod val="65000"/>
                            </a:schemeClr>
                          </a:solidFill>
                          <a:effectLst/>
                          <a:latin typeface="Calibri" panose="020F0502020204030204" pitchFamily="34" charset="0"/>
                        </a:rPr>
                        <a:t>Base</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1456</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681</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775</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170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290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284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210</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158</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344</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a:solidFill>
                            <a:schemeClr val="bg1">
                              <a:lumMod val="65000"/>
                            </a:schemeClr>
                          </a:solidFill>
                          <a:effectLst/>
                        </a:rPr>
                        <a:t>937</a:t>
                      </a:r>
                      <a:endParaRPr lang="en-GB" sz="1400" b="1" i="0" u="none" strike="noStrike">
                        <a:solidFill>
                          <a:schemeClr val="bg1">
                            <a:lumMod val="65000"/>
                          </a:schemeClr>
                        </a:solidFill>
                        <a:effectLst/>
                        <a:latin typeface="Calibri" panose="020F0502020204030204" pitchFamily="34" charset="0"/>
                      </a:endParaRPr>
                    </a:p>
                  </a:txBody>
                  <a:tcPr marL="9525" marR="9525" marT="9525" marB="0" anchor="b"/>
                </a:tc>
                <a:tc>
                  <a:txBody>
                    <a:bodyPr/>
                    <a:lstStyle/>
                    <a:p>
                      <a:pPr algn="ctr" fontAlgn="b"/>
                      <a:r>
                        <a:rPr lang="en-GB" sz="1400" b="1" u="none" strike="noStrike" dirty="0">
                          <a:solidFill>
                            <a:schemeClr val="bg1">
                              <a:lumMod val="65000"/>
                            </a:schemeClr>
                          </a:solidFill>
                          <a:effectLst/>
                        </a:rPr>
                        <a:t>519</a:t>
                      </a:r>
                      <a:endParaRPr lang="en-GB" sz="1400" b="1" i="0" u="none" strike="noStrike" dirty="0">
                        <a:solidFill>
                          <a:schemeClr val="bg1">
                            <a:lumMod val="65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61141031"/>
                  </a:ext>
                </a:extLst>
              </a:tr>
            </a:tbl>
          </a:graphicData>
        </a:graphic>
      </p:graphicFrame>
    </p:spTree>
    <p:extLst>
      <p:ext uri="{BB962C8B-B14F-4D97-AF65-F5344CB8AC3E}">
        <p14:creationId xmlns:p14="http://schemas.microsoft.com/office/powerpoint/2010/main" val="20219280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Q331.  In the last Presidential election, which political party did you vote for?</a:t>
            </a:r>
            <a:endParaRPr lang="en-US" sz="1000" dirty="0">
              <a:latin typeface="Book Antiqua" panose="02040602050305030304" pitchFamily="18" charset="0"/>
            </a:endParaRPr>
          </a:p>
        </p:txBody>
      </p:sp>
      <p:sp>
        <p:nvSpPr>
          <p:cNvPr id="14" name="TextBox 13">
            <a:extLst>
              <a:ext uri="{FF2B5EF4-FFF2-40B4-BE49-F238E27FC236}">
                <a16:creationId xmlns:a16="http://schemas.microsoft.com/office/drawing/2014/main" id="{24EE3164-36BE-1169-158F-AC5F91216B94}"/>
              </a:ext>
            </a:extLst>
          </p:cNvPr>
          <p:cNvSpPr txBox="1"/>
          <p:nvPr/>
        </p:nvSpPr>
        <p:spPr>
          <a:xfrm>
            <a:off x="331302" y="675740"/>
            <a:ext cx="11714923" cy="523220"/>
          </a:xfrm>
          <a:prstGeom prst="rect">
            <a:avLst/>
          </a:prstGeom>
          <a:noFill/>
        </p:spPr>
        <p:txBody>
          <a:bodyPr wrap="square">
            <a:spAutoFit/>
          </a:bodyPr>
          <a:lstStyle/>
          <a:p>
            <a:pPr lvl="0">
              <a:defRPr/>
            </a:pPr>
            <a:r>
              <a:rPr lang="en-US" sz="1400" b="1" dirty="0">
                <a:solidFill>
                  <a:srgbClr val="0070C0"/>
                </a:solidFill>
                <a:latin typeface="Book Antiqua" panose="02040602050305030304" pitchFamily="18" charset="0"/>
                <a:ea typeface="Arial Unicode MS"/>
              </a:rPr>
              <a:t>All Progressives Congress (APC) (34%), Labour Party (LP) (33%), New Nigeria Peoples Party (NNPP) (18%), and People’s Democratic Party (PDP) (15%) are the main political parties that received significant votes in the last presidential elections.</a:t>
            </a:r>
          </a:p>
        </p:txBody>
      </p:sp>
      <p:sp>
        <p:nvSpPr>
          <p:cNvPr id="5" name="TextBox 4">
            <a:extLst>
              <a:ext uri="{FF2B5EF4-FFF2-40B4-BE49-F238E27FC236}">
                <a16:creationId xmlns:a16="http://schemas.microsoft.com/office/drawing/2014/main" id="{55F5642B-83A0-CD7B-E2BA-8E492D002397}"/>
              </a:ext>
            </a:extLst>
          </p:cNvPr>
          <p:cNvSpPr txBox="1"/>
          <p:nvPr/>
        </p:nvSpPr>
        <p:spPr>
          <a:xfrm>
            <a:off x="312991" y="119838"/>
            <a:ext cx="5605670"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The Last Elections</a:t>
            </a:r>
          </a:p>
        </p:txBody>
      </p:sp>
      <p:graphicFrame>
        <p:nvGraphicFramePr>
          <p:cNvPr id="8" name="Chart 7">
            <a:extLst>
              <a:ext uri="{FF2B5EF4-FFF2-40B4-BE49-F238E27FC236}">
                <a16:creationId xmlns:a16="http://schemas.microsoft.com/office/drawing/2014/main" id="{4859EA40-6F25-4B2E-91DC-3A46D1EA07F4}"/>
              </a:ext>
            </a:extLst>
          </p:cNvPr>
          <p:cNvGraphicFramePr/>
          <p:nvPr>
            <p:extLst>
              <p:ext uri="{D42A27DB-BD31-4B8C-83A1-F6EECF244321}">
                <p14:modId xmlns:p14="http://schemas.microsoft.com/office/powerpoint/2010/main" val="806787616"/>
              </p:ext>
            </p:extLst>
          </p:nvPr>
        </p:nvGraphicFramePr>
        <p:xfrm>
          <a:off x="832513" y="2011680"/>
          <a:ext cx="4402427" cy="379857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Table 8">
            <a:extLst>
              <a:ext uri="{FF2B5EF4-FFF2-40B4-BE49-F238E27FC236}">
                <a16:creationId xmlns:a16="http://schemas.microsoft.com/office/drawing/2014/main" id="{2DAABD72-4D71-430C-A446-136ACDA62862}"/>
              </a:ext>
            </a:extLst>
          </p:cNvPr>
          <p:cNvGraphicFramePr>
            <a:graphicFrameLocks noGrp="1"/>
          </p:cNvGraphicFramePr>
          <p:nvPr>
            <p:extLst>
              <p:ext uri="{D42A27DB-BD31-4B8C-83A1-F6EECF244321}">
                <p14:modId xmlns:p14="http://schemas.microsoft.com/office/powerpoint/2010/main" val="3972040643"/>
              </p:ext>
            </p:extLst>
          </p:nvPr>
        </p:nvGraphicFramePr>
        <p:xfrm>
          <a:off x="5558790" y="1627825"/>
          <a:ext cx="5608320" cy="3992888"/>
        </p:xfrm>
        <a:graphic>
          <a:graphicData uri="http://schemas.openxmlformats.org/drawingml/2006/table">
            <a:tbl>
              <a:tblPr>
                <a:tableStyleId>{BDBED569-4797-4DF1-A0F4-6AAB3CD982D8}</a:tableStyleId>
              </a:tblPr>
              <a:tblGrid>
                <a:gridCol w="560832">
                  <a:extLst>
                    <a:ext uri="{9D8B030D-6E8A-4147-A177-3AD203B41FA5}">
                      <a16:colId xmlns:a16="http://schemas.microsoft.com/office/drawing/2014/main" val="1918203087"/>
                    </a:ext>
                  </a:extLst>
                </a:gridCol>
                <a:gridCol w="560832">
                  <a:extLst>
                    <a:ext uri="{9D8B030D-6E8A-4147-A177-3AD203B41FA5}">
                      <a16:colId xmlns:a16="http://schemas.microsoft.com/office/drawing/2014/main" val="1944241656"/>
                    </a:ext>
                  </a:extLst>
                </a:gridCol>
                <a:gridCol w="560832">
                  <a:extLst>
                    <a:ext uri="{9D8B030D-6E8A-4147-A177-3AD203B41FA5}">
                      <a16:colId xmlns:a16="http://schemas.microsoft.com/office/drawing/2014/main" val="3834393282"/>
                    </a:ext>
                  </a:extLst>
                </a:gridCol>
                <a:gridCol w="560832">
                  <a:extLst>
                    <a:ext uri="{9D8B030D-6E8A-4147-A177-3AD203B41FA5}">
                      <a16:colId xmlns:a16="http://schemas.microsoft.com/office/drawing/2014/main" val="3190588456"/>
                    </a:ext>
                  </a:extLst>
                </a:gridCol>
                <a:gridCol w="560832">
                  <a:extLst>
                    <a:ext uri="{9D8B030D-6E8A-4147-A177-3AD203B41FA5}">
                      <a16:colId xmlns:a16="http://schemas.microsoft.com/office/drawing/2014/main" val="1315901131"/>
                    </a:ext>
                  </a:extLst>
                </a:gridCol>
                <a:gridCol w="560832">
                  <a:extLst>
                    <a:ext uri="{9D8B030D-6E8A-4147-A177-3AD203B41FA5}">
                      <a16:colId xmlns:a16="http://schemas.microsoft.com/office/drawing/2014/main" val="4004572015"/>
                    </a:ext>
                  </a:extLst>
                </a:gridCol>
                <a:gridCol w="560832">
                  <a:extLst>
                    <a:ext uri="{9D8B030D-6E8A-4147-A177-3AD203B41FA5}">
                      <a16:colId xmlns:a16="http://schemas.microsoft.com/office/drawing/2014/main" val="2923258211"/>
                    </a:ext>
                  </a:extLst>
                </a:gridCol>
                <a:gridCol w="560832">
                  <a:extLst>
                    <a:ext uri="{9D8B030D-6E8A-4147-A177-3AD203B41FA5}">
                      <a16:colId xmlns:a16="http://schemas.microsoft.com/office/drawing/2014/main" val="3545192039"/>
                    </a:ext>
                  </a:extLst>
                </a:gridCol>
                <a:gridCol w="560832">
                  <a:extLst>
                    <a:ext uri="{9D8B030D-6E8A-4147-A177-3AD203B41FA5}">
                      <a16:colId xmlns:a16="http://schemas.microsoft.com/office/drawing/2014/main" val="339846481"/>
                    </a:ext>
                  </a:extLst>
                </a:gridCol>
                <a:gridCol w="560832">
                  <a:extLst>
                    <a:ext uri="{9D8B030D-6E8A-4147-A177-3AD203B41FA5}">
                      <a16:colId xmlns:a16="http://schemas.microsoft.com/office/drawing/2014/main" val="808306677"/>
                    </a:ext>
                  </a:extLst>
                </a:gridCol>
              </a:tblGrid>
              <a:tr h="404784">
                <a:tc gridSpan="2">
                  <a:txBody>
                    <a:bodyPr/>
                    <a:lstStyle/>
                    <a:p>
                      <a:pPr algn="ctr" fontAlgn="b"/>
                      <a:r>
                        <a:rPr lang="en-US" sz="1400" b="1" i="0" u="none" strike="noStrike" dirty="0">
                          <a:solidFill>
                            <a:srgbClr val="000000"/>
                          </a:solidFill>
                          <a:effectLst/>
                          <a:latin typeface="Calibri" panose="020F0502020204030204" pitchFamily="34" charset="0"/>
                        </a:rPr>
                        <a:t>Gender</a:t>
                      </a:r>
                      <a:endParaRPr lang="en-GB" sz="14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gridSpan="6">
                  <a:txBody>
                    <a:bodyPr/>
                    <a:lstStyle/>
                    <a:p>
                      <a:pPr algn="ctr" fontAlgn="b"/>
                      <a:r>
                        <a:rPr lang="en-US" sz="1400" b="1" i="0" u="none" strike="noStrike" dirty="0">
                          <a:solidFill>
                            <a:srgbClr val="000000"/>
                          </a:solidFill>
                          <a:effectLst/>
                          <a:latin typeface="Calibri" panose="020F0502020204030204" pitchFamily="34" charset="0"/>
                        </a:rPr>
                        <a:t>Location</a:t>
                      </a:r>
                      <a:endParaRPr lang="en-GB" sz="14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gridSpan="2">
                  <a:txBody>
                    <a:bodyPr/>
                    <a:lstStyle/>
                    <a:p>
                      <a:pPr algn="ctr" fontAlgn="b"/>
                      <a:r>
                        <a:rPr lang="en-US" sz="1400" b="1" i="0" u="none" strike="noStrike" dirty="0">
                          <a:solidFill>
                            <a:srgbClr val="000000"/>
                          </a:solidFill>
                          <a:effectLst/>
                          <a:latin typeface="Calibri" panose="020F0502020204030204" pitchFamily="34" charset="0"/>
                        </a:rPr>
                        <a:t>Urbanization</a:t>
                      </a:r>
                      <a:endParaRPr lang="en-GB" sz="14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986748960"/>
                  </a:ext>
                </a:extLst>
              </a:tr>
              <a:tr h="404784">
                <a:tc>
                  <a:txBody>
                    <a:bodyPr/>
                    <a:lstStyle/>
                    <a:p>
                      <a:pPr algn="ctr" fontAlgn="b"/>
                      <a:r>
                        <a:rPr lang="en-GB" sz="1400" b="1" u="none" strike="noStrike" dirty="0">
                          <a:effectLst/>
                        </a:rPr>
                        <a:t>Male</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Female </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FCT</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Bauchi</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Kano</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Enugu</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Edo</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Lagos</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i="0" u="none" strike="noStrike" dirty="0">
                          <a:solidFill>
                            <a:srgbClr val="000000"/>
                          </a:solidFill>
                          <a:effectLst/>
                          <a:latin typeface="Calibri" panose="020F0502020204030204" pitchFamily="34" charset="0"/>
                        </a:rPr>
                        <a:t>Urban</a:t>
                      </a:r>
                    </a:p>
                  </a:txBody>
                  <a:tcPr marL="9525" marR="9525" marT="9525" marB="0" anchor="ctr"/>
                </a:tc>
                <a:tc>
                  <a:txBody>
                    <a:bodyPr/>
                    <a:lstStyle/>
                    <a:p>
                      <a:pPr algn="ctr" fontAlgn="b"/>
                      <a:r>
                        <a:rPr lang="en-GB" sz="1400" b="1" i="0" u="none" strike="noStrike" dirty="0">
                          <a:solidFill>
                            <a:srgbClr val="000000"/>
                          </a:solidFill>
                          <a:effectLst/>
                          <a:latin typeface="Calibri" panose="020F0502020204030204" pitchFamily="34" charset="0"/>
                        </a:rPr>
                        <a:t>Rural</a:t>
                      </a:r>
                    </a:p>
                  </a:txBody>
                  <a:tcPr marL="9525" marR="9525" marT="9525" marB="0" anchor="ctr"/>
                </a:tc>
                <a:extLst>
                  <a:ext uri="{0D108BD9-81ED-4DB2-BD59-A6C34878D82A}">
                    <a16:rowId xmlns:a16="http://schemas.microsoft.com/office/drawing/2014/main" val="2249696190"/>
                  </a:ext>
                </a:extLst>
              </a:tr>
              <a:tr h="795830">
                <a:tc>
                  <a:txBody>
                    <a:bodyPr/>
                    <a:lstStyle/>
                    <a:p>
                      <a:pPr algn="ctr" fontAlgn="b"/>
                      <a:r>
                        <a:rPr lang="en-GB" sz="1400" b="0" i="0" u="none" strike="noStrike" dirty="0">
                          <a:solidFill>
                            <a:srgbClr val="000000"/>
                          </a:solidFill>
                          <a:effectLst/>
                          <a:latin typeface="Calibri" panose="020F0502020204030204" pitchFamily="34" charset="0"/>
                        </a:rPr>
                        <a:t>34%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16%</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35%</a:t>
                      </a:r>
                    </a:p>
                  </a:txBody>
                  <a:tcPr marL="9525" marR="9525" marT="9525" marB="0" anchor="ctr"/>
                </a:tc>
                <a:extLst>
                  <a:ext uri="{0D108BD9-81ED-4DB2-BD59-A6C34878D82A}">
                    <a16:rowId xmlns:a16="http://schemas.microsoft.com/office/drawing/2014/main" val="2827805479"/>
                  </a:ext>
                </a:extLst>
              </a:tr>
              <a:tr h="795830">
                <a:tc>
                  <a:txBody>
                    <a:bodyPr/>
                    <a:lstStyle/>
                    <a:p>
                      <a:pPr algn="ctr" fontAlgn="b"/>
                      <a:r>
                        <a:rPr lang="en-GB" sz="1400" b="0" i="0" u="none" strike="noStrike">
                          <a:solidFill>
                            <a:srgbClr val="000000"/>
                          </a:solidFill>
                          <a:effectLst/>
                          <a:latin typeface="Calibri" panose="020F0502020204030204" pitchFamily="34" charset="0"/>
                        </a:rPr>
                        <a:t>29%</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38%</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69%</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75%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28%</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31%</a:t>
                      </a:r>
                    </a:p>
                  </a:txBody>
                  <a:tcPr marL="9525" marR="9525" marT="9525" marB="0" anchor="ctr"/>
                </a:tc>
                <a:extLst>
                  <a:ext uri="{0D108BD9-81ED-4DB2-BD59-A6C34878D82A}">
                    <a16:rowId xmlns:a16="http://schemas.microsoft.com/office/drawing/2014/main" val="491645917"/>
                  </a:ext>
                </a:extLst>
              </a:tr>
              <a:tr h="795830">
                <a:tc>
                  <a:txBody>
                    <a:bodyPr/>
                    <a:lstStyle/>
                    <a:p>
                      <a:pPr algn="ctr" fontAlgn="b"/>
                      <a:r>
                        <a:rPr lang="en-GB" sz="1400" b="0" i="0" u="none" strike="noStrike">
                          <a:solidFill>
                            <a:srgbClr val="000000"/>
                          </a:solidFill>
                          <a:effectLst/>
                          <a:latin typeface="Calibri" panose="020F0502020204030204" pitchFamily="34" charset="0"/>
                        </a:rPr>
                        <a:t>18%</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17%</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73%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18%</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18%</a:t>
                      </a:r>
                    </a:p>
                  </a:txBody>
                  <a:tcPr marL="9525" marR="9525" marT="9525" marB="0" anchor="ctr"/>
                </a:tc>
                <a:extLst>
                  <a:ext uri="{0D108BD9-81ED-4DB2-BD59-A6C34878D82A}">
                    <a16:rowId xmlns:a16="http://schemas.microsoft.com/office/drawing/2014/main" val="2138546097"/>
                  </a:ext>
                </a:extLst>
              </a:tr>
              <a:tr h="795830">
                <a:tc>
                  <a:txBody>
                    <a:bodyPr/>
                    <a:lstStyle/>
                    <a:p>
                      <a:pPr algn="ctr" fontAlgn="b"/>
                      <a:r>
                        <a:rPr lang="en-GB" sz="1400" b="0" i="0" u="none" strike="noStrike">
                          <a:solidFill>
                            <a:srgbClr val="000000"/>
                          </a:solidFill>
                          <a:effectLst/>
                          <a:latin typeface="Calibri" panose="020F0502020204030204" pitchFamily="34" charset="0"/>
                        </a:rPr>
                        <a:t>18%</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17%</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9%</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14%</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16%</a:t>
                      </a:r>
                    </a:p>
                  </a:txBody>
                  <a:tcPr marL="9525" marR="9525" marT="9525" marB="0" anchor="ctr"/>
                </a:tc>
                <a:extLst>
                  <a:ext uri="{0D108BD9-81ED-4DB2-BD59-A6C34878D82A}">
                    <a16:rowId xmlns:a16="http://schemas.microsoft.com/office/drawing/2014/main" val="2862610367"/>
                  </a:ext>
                </a:extLst>
              </a:tr>
            </a:tbl>
          </a:graphicData>
        </a:graphic>
      </p:graphicFrame>
      <p:graphicFrame>
        <p:nvGraphicFramePr>
          <p:cNvPr id="11" name="Table 10">
            <a:extLst>
              <a:ext uri="{FF2B5EF4-FFF2-40B4-BE49-F238E27FC236}">
                <a16:creationId xmlns:a16="http://schemas.microsoft.com/office/drawing/2014/main" id="{6F64BAB9-F2A6-4ED6-8F8B-55FFFF076731}"/>
              </a:ext>
            </a:extLst>
          </p:cNvPr>
          <p:cNvGraphicFramePr>
            <a:graphicFrameLocks noGrp="1"/>
          </p:cNvGraphicFramePr>
          <p:nvPr>
            <p:extLst>
              <p:ext uri="{D42A27DB-BD31-4B8C-83A1-F6EECF244321}">
                <p14:modId xmlns:p14="http://schemas.microsoft.com/office/powerpoint/2010/main" val="3071251343"/>
              </p:ext>
            </p:extLst>
          </p:nvPr>
        </p:nvGraphicFramePr>
        <p:xfrm>
          <a:off x="5547360" y="5764530"/>
          <a:ext cx="5642610" cy="190500"/>
        </p:xfrm>
        <a:graphic>
          <a:graphicData uri="http://schemas.openxmlformats.org/drawingml/2006/table">
            <a:tbl>
              <a:tblPr>
                <a:tableStyleId>{BDBED569-4797-4DF1-A0F4-6AAB3CD982D8}</a:tableStyleId>
              </a:tblPr>
              <a:tblGrid>
                <a:gridCol w="564261">
                  <a:extLst>
                    <a:ext uri="{9D8B030D-6E8A-4147-A177-3AD203B41FA5}">
                      <a16:colId xmlns:a16="http://schemas.microsoft.com/office/drawing/2014/main" val="3112059166"/>
                    </a:ext>
                  </a:extLst>
                </a:gridCol>
                <a:gridCol w="564261">
                  <a:extLst>
                    <a:ext uri="{9D8B030D-6E8A-4147-A177-3AD203B41FA5}">
                      <a16:colId xmlns:a16="http://schemas.microsoft.com/office/drawing/2014/main" val="2489636269"/>
                    </a:ext>
                  </a:extLst>
                </a:gridCol>
                <a:gridCol w="564261">
                  <a:extLst>
                    <a:ext uri="{9D8B030D-6E8A-4147-A177-3AD203B41FA5}">
                      <a16:colId xmlns:a16="http://schemas.microsoft.com/office/drawing/2014/main" val="1395971383"/>
                    </a:ext>
                  </a:extLst>
                </a:gridCol>
                <a:gridCol w="564261">
                  <a:extLst>
                    <a:ext uri="{9D8B030D-6E8A-4147-A177-3AD203B41FA5}">
                      <a16:colId xmlns:a16="http://schemas.microsoft.com/office/drawing/2014/main" val="3541316122"/>
                    </a:ext>
                  </a:extLst>
                </a:gridCol>
                <a:gridCol w="564261">
                  <a:extLst>
                    <a:ext uri="{9D8B030D-6E8A-4147-A177-3AD203B41FA5}">
                      <a16:colId xmlns:a16="http://schemas.microsoft.com/office/drawing/2014/main" val="2973643808"/>
                    </a:ext>
                  </a:extLst>
                </a:gridCol>
                <a:gridCol w="564261">
                  <a:extLst>
                    <a:ext uri="{9D8B030D-6E8A-4147-A177-3AD203B41FA5}">
                      <a16:colId xmlns:a16="http://schemas.microsoft.com/office/drawing/2014/main" val="1098445318"/>
                    </a:ext>
                  </a:extLst>
                </a:gridCol>
                <a:gridCol w="564261">
                  <a:extLst>
                    <a:ext uri="{9D8B030D-6E8A-4147-A177-3AD203B41FA5}">
                      <a16:colId xmlns:a16="http://schemas.microsoft.com/office/drawing/2014/main" val="575542565"/>
                    </a:ext>
                  </a:extLst>
                </a:gridCol>
                <a:gridCol w="564261">
                  <a:extLst>
                    <a:ext uri="{9D8B030D-6E8A-4147-A177-3AD203B41FA5}">
                      <a16:colId xmlns:a16="http://schemas.microsoft.com/office/drawing/2014/main" val="3024795525"/>
                    </a:ext>
                  </a:extLst>
                </a:gridCol>
                <a:gridCol w="564261">
                  <a:extLst>
                    <a:ext uri="{9D8B030D-6E8A-4147-A177-3AD203B41FA5}">
                      <a16:colId xmlns:a16="http://schemas.microsoft.com/office/drawing/2014/main" val="1794991674"/>
                    </a:ext>
                  </a:extLst>
                </a:gridCol>
                <a:gridCol w="564261">
                  <a:extLst>
                    <a:ext uri="{9D8B030D-6E8A-4147-A177-3AD203B41FA5}">
                      <a16:colId xmlns:a16="http://schemas.microsoft.com/office/drawing/2014/main" val="3018974446"/>
                    </a:ext>
                  </a:extLst>
                </a:gridCol>
              </a:tblGrid>
              <a:tr h="190500">
                <a:tc>
                  <a:txBody>
                    <a:bodyPr/>
                    <a:lstStyle/>
                    <a:p>
                      <a:pPr algn="ctr" fontAlgn="b"/>
                      <a:r>
                        <a:rPr lang="en-GB" sz="1100" b="0" i="0" u="none" strike="noStrike" dirty="0">
                          <a:solidFill>
                            <a:srgbClr val="000000"/>
                          </a:solidFill>
                          <a:effectLst/>
                          <a:latin typeface="Calibri" panose="020F0502020204030204" pitchFamily="34" charset="0"/>
                        </a:rPr>
                        <a:t>320</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209</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59</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105</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128</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52</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68</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117</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296</a:t>
                      </a:r>
                    </a:p>
                  </a:txBody>
                  <a:tcPr marL="9525" marR="9525" marT="9525" marB="0" anchor="b"/>
                </a:tc>
                <a:tc>
                  <a:txBody>
                    <a:bodyPr/>
                    <a:lstStyle/>
                    <a:p>
                      <a:pPr algn="ctr" fontAlgn="b"/>
                      <a:r>
                        <a:rPr lang="en-GB" sz="1100" b="0" i="0" u="none" strike="noStrike" dirty="0">
                          <a:solidFill>
                            <a:srgbClr val="000000"/>
                          </a:solidFill>
                          <a:effectLst/>
                          <a:latin typeface="Calibri" panose="020F0502020204030204" pitchFamily="34" charset="0"/>
                        </a:rPr>
                        <a:t>233</a:t>
                      </a:r>
                    </a:p>
                  </a:txBody>
                  <a:tcPr marL="9525" marR="9525" marT="9525" marB="0" anchor="b"/>
                </a:tc>
                <a:extLst>
                  <a:ext uri="{0D108BD9-81ED-4DB2-BD59-A6C34878D82A}">
                    <a16:rowId xmlns:a16="http://schemas.microsoft.com/office/drawing/2014/main" val="2504590640"/>
                  </a:ext>
                </a:extLst>
              </a:tr>
            </a:tbl>
          </a:graphicData>
        </a:graphic>
      </p:graphicFrame>
      <p:sp>
        <p:nvSpPr>
          <p:cNvPr id="12" name="Rectangle 11">
            <a:extLst>
              <a:ext uri="{FF2B5EF4-FFF2-40B4-BE49-F238E27FC236}">
                <a16:creationId xmlns:a16="http://schemas.microsoft.com/office/drawing/2014/main" id="{B04CE8E3-6477-4704-A018-FD65D74B66D3}"/>
              </a:ext>
            </a:extLst>
          </p:cNvPr>
          <p:cNvSpPr/>
          <p:nvPr/>
        </p:nvSpPr>
        <p:spPr>
          <a:xfrm>
            <a:off x="2634615" y="5741670"/>
            <a:ext cx="825867" cy="369332"/>
          </a:xfrm>
          <a:prstGeom prst="rect">
            <a:avLst/>
          </a:prstGeom>
        </p:spPr>
        <p:txBody>
          <a:bodyPr wrap="none">
            <a:spAutoFit/>
          </a:bodyPr>
          <a:lstStyle/>
          <a:p>
            <a:r>
              <a:rPr lang="en-GB" dirty="0">
                <a:solidFill>
                  <a:srgbClr val="000000"/>
                </a:solidFill>
                <a:latin typeface="Calibri" panose="020F0502020204030204" pitchFamily="34" charset="0"/>
              </a:rPr>
              <a:t>n=529</a:t>
            </a:r>
            <a:r>
              <a:rPr lang="en-GB" dirty="0"/>
              <a:t> </a:t>
            </a:r>
          </a:p>
        </p:txBody>
      </p:sp>
      <p:sp>
        <p:nvSpPr>
          <p:cNvPr id="10" name="Rectangle 9">
            <a:extLst>
              <a:ext uri="{FF2B5EF4-FFF2-40B4-BE49-F238E27FC236}">
                <a16:creationId xmlns:a16="http://schemas.microsoft.com/office/drawing/2014/main" id="{0B0D8F36-C349-45FB-80D2-DDA8C0E76CCA}"/>
              </a:ext>
            </a:extLst>
          </p:cNvPr>
          <p:cNvSpPr/>
          <p:nvPr/>
        </p:nvSpPr>
        <p:spPr>
          <a:xfrm>
            <a:off x="2129951" y="1646267"/>
            <a:ext cx="2523448" cy="307777"/>
          </a:xfrm>
          <a:prstGeom prst="rect">
            <a:avLst/>
          </a:prstGeom>
        </p:spPr>
        <p:txBody>
          <a:bodyPr wrap="none">
            <a:spAutoFit/>
          </a:bodyPr>
          <a:lstStyle/>
          <a:p>
            <a:r>
              <a:rPr lang="en-US" sz="1400" dirty="0">
                <a:solidFill>
                  <a:srgbClr val="C00000"/>
                </a:solidFill>
                <a:latin typeface="Book Antiqua" panose="02040602050305030304" pitchFamily="18" charset="0"/>
              </a:rPr>
              <a:t>The Last Presidential election</a:t>
            </a:r>
            <a:endParaRPr lang="en-GB" sz="1400" dirty="0">
              <a:solidFill>
                <a:srgbClr val="C00000"/>
              </a:solidFill>
            </a:endParaRPr>
          </a:p>
        </p:txBody>
      </p:sp>
    </p:spTree>
    <p:extLst>
      <p:ext uri="{BB962C8B-B14F-4D97-AF65-F5344CB8AC3E}">
        <p14:creationId xmlns:p14="http://schemas.microsoft.com/office/powerpoint/2010/main" val="21892682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Q332.  In the last Gubernatorial (Governorship) election, which political party did you vote for?</a:t>
            </a:r>
            <a:endParaRPr lang="en-US" sz="1000" dirty="0">
              <a:latin typeface="Book Antiqua" panose="02040602050305030304" pitchFamily="18" charset="0"/>
            </a:endParaRPr>
          </a:p>
        </p:txBody>
      </p:sp>
      <p:graphicFrame>
        <p:nvGraphicFramePr>
          <p:cNvPr id="8" name="Chart 7">
            <a:extLst>
              <a:ext uri="{FF2B5EF4-FFF2-40B4-BE49-F238E27FC236}">
                <a16:creationId xmlns:a16="http://schemas.microsoft.com/office/drawing/2014/main" id="{4859EA40-6F25-4B2E-91DC-3A46D1EA07F4}"/>
              </a:ext>
            </a:extLst>
          </p:cNvPr>
          <p:cNvGraphicFramePr/>
          <p:nvPr>
            <p:extLst>
              <p:ext uri="{D42A27DB-BD31-4B8C-83A1-F6EECF244321}">
                <p14:modId xmlns:p14="http://schemas.microsoft.com/office/powerpoint/2010/main" val="793806687"/>
              </p:ext>
            </p:extLst>
          </p:nvPr>
        </p:nvGraphicFramePr>
        <p:xfrm>
          <a:off x="832513" y="1933623"/>
          <a:ext cx="4402427" cy="3798570"/>
        </p:xfrm>
        <a:graphic>
          <a:graphicData uri="http://schemas.openxmlformats.org/drawingml/2006/chart">
            <c:chart xmlns:c="http://schemas.openxmlformats.org/drawingml/2006/chart" xmlns:r="http://schemas.openxmlformats.org/officeDocument/2006/relationships" r:id="rId2"/>
          </a:graphicData>
        </a:graphic>
      </p:graphicFrame>
      <p:sp>
        <p:nvSpPr>
          <p:cNvPr id="12" name="Rectangle 11">
            <a:extLst>
              <a:ext uri="{FF2B5EF4-FFF2-40B4-BE49-F238E27FC236}">
                <a16:creationId xmlns:a16="http://schemas.microsoft.com/office/drawing/2014/main" id="{B04CE8E3-6477-4704-A018-FD65D74B66D3}"/>
              </a:ext>
            </a:extLst>
          </p:cNvPr>
          <p:cNvSpPr/>
          <p:nvPr/>
        </p:nvSpPr>
        <p:spPr>
          <a:xfrm>
            <a:off x="2634615" y="5741670"/>
            <a:ext cx="772969" cy="369332"/>
          </a:xfrm>
          <a:prstGeom prst="rect">
            <a:avLst/>
          </a:prstGeom>
        </p:spPr>
        <p:txBody>
          <a:bodyPr wrap="none">
            <a:spAutoFit/>
          </a:bodyPr>
          <a:lstStyle/>
          <a:p>
            <a:r>
              <a:rPr lang="en-GB" dirty="0">
                <a:solidFill>
                  <a:srgbClr val="000000"/>
                </a:solidFill>
                <a:latin typeface="Calibri" panose="020F0502020204030204" pitchFamily="34" charset="0"/>
              </a:rPr>
              <a:t>n=490</a:t>
            </a:r>
            <a:endParaRPr lang="en-GB" dirty="0"/>
          </a:p>
        </p:txBody>
      </p:sp>
      <p:sp>
        <p:nvSpPr>
          <p:cNvPr id="10" name="Rectangle 9">
            <a:extLst>
              <a:ext uri="{FF2B5EF4-FFF2-40B4-BE49-F238E27FC236}">
                <a16:creationId xmlns:a16="http://schemas.microsoft.com/office/drawing/2014/main" id="{E6E066AB-FD9D-4AF8-9A21-F4ABBF071D58}"/>
              </a:ext>
            </a:extLst>
          </p:cNvPr>
          <p:cNvSpPr/>
          <p:nvPr/>
        </p:nvSpPr>
        <p:spPr>
          <a:xfrm>
            <a:off x="2129951" y="1646267"/>
            <a:ext cx="2693366" cy="307777"/>
          </a:xfrm>
          <a:prstGeom prst="rect">
            <a:avLst/>
          </a:prstGeom>
        </p:spPr>
        <p:txBody>
          <a:bodyPr wrap="none">
            <a:spAutoFit/>
          </a:bodyPr>
          <a:lstStyle/>
          <a:p>
            <a:r>
              <a:rPr lang="en-US" sz="1400" dirty="0">
                <a:solidFill>
                  <a:srgbClr val="C00000"/>
                </a:solidFill>
                <a:latin typeface="Book Antiqua" panose="02040602050305030304" pitchFamily="18" charset="0"/>
              </a:rPr>
              <a:t>The Last Gubernatorial election</a:t>
            </a:r>
            <a:endParaRPr lang="en-GB" sz="1400" dirty="0">
              <a:solidFill>
                <a:srgbClr val="C00000"/>
              </a:solidFill>
            </a:endParaRPr>
          </a:p>
        </p:txBody>
      </p:sp>
      <p:graphicFrame>
        <p:nvGraphicFramePr>
          <p:cNvPr id="13" name="Table 12">
            <a:extLst>
              <a:ext uri="{FF2B5EF4-FFF2-40B4-BE49-F238E27FC236}">
                <a16:creationId xmlns:a16="http://schemas.microsoft.com/office/drawing/2014/main" id="{81F85F62-FC5A-4AEE-8320-0A652681E8FF}"/>
              </a:ext>
            </a:extLst>
          </p:cNvPr>
          <p:cNvGraphicFramePr>
            <a:graphicFrameLocks noGrp="1"/>
          </p:cNvGraphicFramePr>
          <p:nvPr>
            <p:extLst>
              <p:ext uri="{D42A27DB-BD31-4B8C-83A1-F6EECF244321}">
                <p14:modId xmlns:p14="http://schemas.microsoft.com/office/powerpoint/2010/main" val="4234005031"/>
              </p:ext>
            </p:extLst>
          </p:nvPr>
        </p:nvGraphicFramePr>
        <p:xfrm>
          <a:off x="5558790" y="1672428"/>
          <a:ext cx="5608320" cy="3851021"/>
        </p:xfrm>
        <a:graphic>
          <a:graphicData uri="http://schemas.openxmlformats.org/drawingml/2006/table">
            <a:tbl>
              <a:tblPr>
                <a:tableStyleId>{BDBED569-4797-4DF1-A0F4-6AAB3CD982D8}</a:tableStyleId>
              </a:tblPr>
              <a:tblGrid>
                <a:gridCol w="560832">
                  <a:extLst>
                    <a:ext uri="{9D8B030D-6E8A-4147-A177-3AD203B41FA5}">
                      <a16:colId xmlns:a16="http://schemas.microsoft.com/office/drawing/2014/main" val="1918203087"/>
                    </a:ext>
                  </a:extLst>
                </a:gridCol>
                <a:gridCol w="560832">
                  <a:extLst>
                    <a:ext uri="{9D8B030D-6E8A-4147-A177-3AD203B41FA5}">
                      <a16:colId xmlns:a16="http://schemas.microsoft.com/office/drawing/2014/main" val="1944241656"/>
                    </a:ext>
                  </a:extLst>
                </a:gridCol>
                <a:gridCol w="560832">
                  <a:extLst>
                    <a:ext uri="{9D8B030D-6E8A-4147-A177-3AD203B41FA5}">
                      <a16:colId xmlns:a16="http://schemas.microsoft.com/office/drawing/2014/main" val="3834393282"/>
                    </a:ext>
                  </a:extLst>
                </a:gridCol>
                <a:gridCol w="560832">
                  <a:extLst>
                    <a:ext uri="{9D8B030D-6E8A-4147-A177-3AD203B41FA5}">
                      <a16:colId xmlns:a16="http://schemas.microsoft.com/office/drawing/2014/main" val="3190588456"/>
                    </a:ext>
                  </a:extLst>
                </a:gridCol>
                <a:gridCol w="560832">
                  <a:extLst>
                    <a:ext uri="{9D8B030D-6E8A-4147-A177-3AD203B41FA5}">
                      <a16:colId xmlns:a16="http://schemas.microsoft.com/office/drawing/2014/main" val="1315901131"/>
                    </a:ext>
                  </a:extLst>
                </a:gridCol>
                <a:gridCol w="560832">
                  <a:extLst>
                    <a:ext uri="{9D8B030D-6E8A-4147-A177-3AD203B41FA5}">
                      <a16:colId xmlns:a16="http://schemas.microsoft.com/office/drawing/2014/main" val="4004572015"/>
                    </a:ext>
                  </a:extLst>
                </a:gridCol>
                <a:gridCol w="560832">
                  <a:extLst>
                    <a:ext uri="{9D8B030D-6E8A-4147-A177-3AD203B41FA5}">
                      <a16:colId xmlns:a16="http://schemas.microsoft.com/office/drawing/2014/main" val="2923258211"/>
                    </a:ext>
                  </a:extLst>
                </a:gridCol>
                <a:gridCol w="560832">
                  <a:extLst>
                    <a:ext uri="{9D8B030D-6E8A-4147-A177-3AD203B41FA5}">
                      <a16:colId xmlns:a16="http://schemas.microsoft.com/office/drawing/2014/main" val="3545192039"/>
                    </a:ext>
                  </a:extLst>
                </a:gridCol>
                <a:gridCol w="560832">
                  <a:extLst>
                    <a:ext uri="{9D8B030D-6E8A-4147-A177-3AD203B41FA5}">
                      <a16:colId xmlns:a16="http://schemas.microsoft.com/office/drawing/2014/main" val="339846481"/>
                    </a:ext>
                  </a:extLst>
                </a:gridCol>
                <a:gridCol w="560832">
                  <a:extLst>
                    <a:ext uri="{9D8B030D-6E8A-4147-A177-3AD203B41FA5}">
                      <a16:colId xmlns:a16="http://schemas.microsoft.com/office/drawing/2014/main" val="808306677"/>
                    </a:ext>
                  </a:extLst>
                </a:gridCol>
              </a:tblGrid>
              <a:tr h="315028">
                <a:tc gridSpan="2">
                  <a:txBody>
                    <a:bodyPr/>
                    <a:lstStyle/>
                    <a:p>
                      <a:pPr algn="ctr" fontAlgn="b"/>
                      <a:r>
                        <a:rPr lang="en-US" sz="1400" b="1" i="0" u="none" strike="noStrike" dirty="0">
                          <a:solidFill>
                            <a:srgbClr val="000000"/>
                          </a:solidFill>
                          <a:effectLst/>
                          <a:latin typeface="Calibri" panose="020F0502020204030204" pitchFamily="34" charset="0"/>
                        </a:rPr>
                        <a:t>Gender</a:t>
                      </a:r>
                      <a:endParaRPr lang="en-GB" sz="14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gridSpan="6">
                  <a:txBody>
                    <a:bodyPr/>
                    <a:lstStyle/>
                    <a:p>
                      <a:pPr algn="ctr" fontAlgn="b"/>
                      <a:r>
                        <a:rPr lang="en-US" sz="1400" b="1" i="0" u="none" strike="noStrike" dirty="0">
                          <a:solidFill>
                            <a:srgbClr val="000000"/>
                          </a:solidFill>
                          <a:effectLst/>
                          <a:latin typeface="Calibri" panose="020F0502020204030204" pitchFamily="34" charset="0"/>
                        </a:rPr>
                        <a:t>Location</a:t>
                      </a:r>
                      <a:endParaRPr lang="en-GB" sz="14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gridSpan="2">
                  <a:txBody>
                    <a:bodyPr/>
                    <a:lstStyle/>
                    <a:p>
                      <a:pPr algn="ctr" fontAlgn="b"/>
                      <a:r>
                        <a:rPr lang="en-US" sz="1400" b="1" i="0" u="none" strike="noStrike" dirty="0">
                          <a:solidFill>
                            <a:srgbClr val="000000"/>
                          </a:solidFill>
                          <a:effectLst/>
                          <a:latin typeface="Calibri" panose="020F0502020204030204" pitchFamily="34" charset="0"/>
                        </a:rPr>
                        <a:t>Urbanization</a:t>
                      </a:r>
                      <a:endParaRPr lang="en-GB" sz="14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158331613"/>
                  </a:ext>
                </a:extLst>
              </a:tr>
              <a:tr h="398905">
                <a:tc>
                  <a:txBody>
                    <a:bodyPr/>
                    <a:lstStyle/>
                    <a:p>
                      <a:pPr algn="ctr" fontAlgn="b"/>
                      <a:r>
                        <a:rPr lang="en-GB" sz="1400" b="1" u="none" strike="noStrike" dirty="0">
                          <a:effectLst/>
                        </a:rPr>
                        <a:t>Male</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Female </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FCT</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Bauchi</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Kano</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Enugu</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Edo</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Lagos</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i="0" u="none" strike="noStrike" dirty="0">
                          <a:solidFill>
                            <a:srgbClr val="000000"/>
                          </a:solidFill>
                          <a:effectLst/>
                          <a:latin typeface="Calibri" panose="020F0502020204030204" pitchFamily="34" charset="0"/>
                        </a:rPr>
                        <a:t>Urban</a:t>
                      </a:r>
                    </a:p>
                  </a:txBody>
                  <a:tcPr marL="9525" marR="9525" marT="9525" marB="0" anchor="ctr"/>
                </a:tc>
                <a:tc>
                  <a:txBody>
                    <a:bodyPr/>
                    <a:lstStyle/>
                    <a:p>
                      <a:pPr algn="ctr" fontAlgn="b"/>
                      <a:r>
                        <a:rPr lang="en-GB" sz="1400" b="1" i="0" u="none" strike="noStrike" dirty="0">
                          <a:solidFill>
                            <a:srgbClr val="000000"/>
                          </a:solidFill>
                          <a:effectLst/>
                          <a:latin typeface="Calibri" panose="020F0502020204030204" pitchFamily="34" charset="0"/>
                        </a:rPr>
                        <a:t>Rural</a:t>
                      </a:r>
                    </a:p>
                  </a:txBody>
                  <a:tcPr marL="9525" marR="9525" marT="9525" marB="0" anchor="ctr"/>
                </a:tc>
                <a:extLst>
                  <a:ext uri="{0D108BD9-81ED-4DB2-BD59-A6C34878D82A}">
                    <a16:rowId xmlns:a16="http://schemas.microsoft.com/office/drawing/2014/main" val="2249696190"/>
                  </a:ext>
                </a:extLst>
              </a:tr>
              <a:tr h="784272">
                <a:tc>
                  <a:txBody>
                    <a:bodyPr/>
                    <a:lstStyle/>
                    <a:p>
                      <a:pPr algn="ctr" fontAlgn="b"/>
                      <a:r>
                        <a:rPr lang="en-GB" sz="1400" b="0" i="0" u="none" strike="noStrike" dirty="0">
                          <a:solidFill>
                            <a:srgbClr val="000000"/>
                          </a:solidFill>
                          <a:effectLst/>
                          <a:latin typeface="Calibri" panose="020F0502020204030204" pitchFamily="34" charset="0"/>
                        </a:rPr>
                        <a:t>31%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41%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69%</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16%</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17%</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27%</a:t>
                      </a:r>
                    </a:p>
                  </a:txBody>
                  <a:tcPr marL="9525" marR="9525" marT="9525" marB="0" anchor="ctr"/>
                </a:tc>
                <a:extLst>
                  <a:ext uri="{0D108BD9-81ED-4DB2-BD59-A6C34878D82A}">
                    <a16:rowId xmlns:a16="http://schemas.microsoft.com/office/drawing/2014/main" val="2827805479"/>
                  </a:ext>
                </a:extLst>
              </a:tr>
              <a:tr h="784272">
                <a:tc>
                  <a:txBody>
                    <a:bodyPr/>
                    <a:lstStyle/>
                    <a:p>
                      <a:pPr algn="ctr" fontAlgn="b"/>
                      <a:r>
                        <a:rPr lang="en-GB" sz="1400" b="0" i="0" u="none" strike="noStrike">
                          <a:solidFill>
                            <a:srgbClr val="000000"/>
                          </a:solidFill>
                          <a:effectLst/>
                          <a:latin typeface="Calibri" panose="020F0502020204030204" pitchFamily="34" charset="0"/>
                        </a:rPr>
                        <a:t>28%</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27%</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16%</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67%</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26%</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31%</a:t>
                      </a:r>
                    </a:p>
                  </a:txBody>
                  <a:tcPr marL="9525" marR="9525" marT="9525" marB="0" anchor="ctr"/>
                </a:tc>
                <a:extLst>
                  <a:ext uri="{0D108BD9-81ED-4DB2-BD59-A6C34878D82A}">
                    <a16:rowId xmlns:a16="http://schemas.microsoft.com/office/drawing/2014/main" val="491645917"/>
                  </a:ext>
                </a:extLst>
              </a:tr>
              <a:tr h="784272">
                <a:tc>
                  <a:txBody>
                    <a:bodyPr/>
                    <a:lstStyle/>
                    <a:p>
                      <a:pPr algn="ctr" fontAlgn="b"/>
                      <a:r>
                        <a:rPr lang="en-GB" sz="1400" b="0" i="0" u="none" strike="noStrike">
                          <a:solidFill>
                            <a:srgbClr val="000000"/>
                          </a:solidFill>
                          <a:effectLst/>
                          <a:latin typeface="Calibri" panose="020F0502020204030204" pitchFamily="34" charset="0"/>
                        </a:rPr>
                        <a:t>22%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80%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24%</a:t>
                      </a:r>
                    </a:p>
                  </a:txBody>
                  <a:tcPr marL="9525" marR="9525" marT="9525" marB="0" anchor="ctr"/>
                </a:tc>
                <a:extLst>
                  <a:ext uri="{0D108BD9-81ED-4DB2-BD59-A6C34878D82A}">
                    <a16:rowId xmlns:a16="http://schemas.microsoft.com/office/drawing/2014/main" val="2138546097"/>
                  </a:ext>
                </a:extLst>
              </a:tr>
              <a:tr h="784272">
                <a:tc>
                  <a:txBody>
                    <a:bodyPr/>
                    <a:lstStyle/>
                    <a:p>
                      <a:pPr algn="ctr" fontAlgn="b"/>
                      <a:r>
                        <a:rPr lang="en-GB" sz="1400" b="0" i="0" u="none" strike="noStrike">
                          <a:solidFill>
                            <a:srgbClr val="000000"/>
                          </a:solidFill>
                          <a:effectLst/>
                          <a:latin typeface="Calibri" panose="020F0502020204030204" pitchFamily="34" charset="0"/>
                        </a:rPr>
                        <a:t>17%</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16%</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16%</a:t>
                      </a:r>
                    </a:p>
                  </a:txBody>
                  <a:tcPr marL="9525" marR="9525" marT="9525" marB="0" anchor="ctr"/>
                </a:tc>
                <a:extLst>
                  <a:ext uri="{0D108BD9-81ED-4DB2-BD59-A6C34878D82A}">
                    <a16:rowId xmlns:a16="http://schemas.microsoft.com/office/drawing/2014/main" val="2862610367"/>
                  </a:ext>
                </a:extLst>
              </a:tr>
            </a:tbl>
          </a:graphicData>
        </a:graphic>
      </p:graphicFrame>
      <p:graphicFrame>
        <p:nvGraphicFramePr>
          <p:cNvPr id="15" name="Table 14">
            <a:extLst>
              <a:ext uri="{FF2B5EF4-FFF2-40B4-BE49-F238E27FC236}">
                <a16:creationId xmlns:a16="http://schemas.microsoft.com/office/drawing/2014/main" id="{E444D30F-4DD2-45E9-A1EA-960B12E39723}"/>
              </a:ext>
            </a:extLst>
          </p:cNvPr>
          <p:cNvGraphicFramePr>
            <a:graphicFrameLocks noGrp="1"/>
          </p:cNvGraphicFramePr>
          <p:nvPr>
            <p:extLst>
              <p:ext uri="{D42A27DB-BD31-4B8C-83A1-F6EECF244321}">
                <p14:modId xmlns:p14="http://schemas.microsoft.com/office/powerpoint/2010/main" val="1938778346"/>
              </p:ext>
            </p:extLst>
          </p:nvPr>
        </p:nvGraphicFramePr>
        <p:xfrm>
          <a:off x="5547360" y="5764530"/>
          <a:ext cx="5642610" cy="190500"/>
        </p:xfrm>
        <a:graphic>
          <a:graphicData uri="http://schemas.openxmlformats.org/drawingml/2006/table">
            <a:tbl>
              <a:tblPr>
                <a:tableStyleId>{BDBED569-4797-4DF1-A0F4-6AAB3CD982D8}</a:tableStyleId>
              </a:tblPr>
              <a:tblGrid>
                <a:gridCol w="564261">
                  <a:extLst>
                    <a:ext uri="{9D8B030D-6E8A-4147-A177-3AD203B41FA5}">
                      <a16:colId xmlns:a16="http://schemas.microsoft.com/office/drawing/2014/main" val="3112059166"/>
                    </a:ext>
                  </a:extLst>
                </a:gridCol>
                <a:gridCol w="564261">
                  <a:extLst>
                    <a:ext uri="{9D8B030D-6E8A-4147-A177-3AD203B41FA5}">
                      <a16:colId xmlns:a16="http://schemas.microsoft.com/office/drawing/2014/main" val="2489636269"/>
                    </a:ext>
                  </a:extLst>
                </a:gridCol>
                <a:gridCol w="564261">
                  <a:extLst>
                    <a:ext uri="{9D8B030D-6E8A-4147-A177-3AD203B41FA5}">
                      <a16:colId xmlns:a16="http://schemas.microsoft.com/office/drawing/2014/main" val="1395971383"/>
                    </a:ext>
                  </a:extLst>
                </a:gridCol>
                <a:gridCol w="564261">
                  <a:extLst>
                    <a:ext uri="{9D8B030D-6E8A-4147-A177-3AD203B41FA5}">
                      <a16:colId xmlns:a16="http://schemas.microsoft.com/office/drawing/2014/main" val="3541316122"/>
                    </a:ext>
                  </a:extLst>
                </a:gridCol>
                <a:gridCol w="564261">
                  <a:extLst>
                    <a:ext uri="{9D8B030D-6E8A-4147-A177-3AD203B41FA5}">
                      <a16:colId xmlns:a16="http://schemas.microsoft.com/office/drawing/2014/main" val="2973643808"/>
                    </a:ext>
                  </a:extLst>
                </a:gridCol>
                <a:gridCol w="564261">
                  <a:extLst>
                    <a:ext uri="{9D8B030D-6E8A-4147-A177-3AD203B41FA5}">
                      <a16:colId xmlns:a16="http://schemas.microsoft.com/office/drawing/2014/main" val="1098445318"/>
                    </a:ext>
                  </a:extLst>
                </a:gridCol>
                <a:gridCol w="564261">
                  <a:extLst>
                    <a:ext uri="{9D8B030D-6E8A-4147-A177-3AD203B41FA5}">
                      <a16:colId xmlns:a16="http://schemas.microsoft.com/office/drawing/2014/main" val="575542565"/>
                    </a:ext>
                  </a:extLst>
                </a:gridCol>
                <a:gridCol w="564261">
                  <a:extLst>
                    <a:ext uri="{9D8B030D-6E8A-4147-A177-3AD203B41FA5}">
                      <a16:colId xmlns:a16="http://schemas.microsoft.com/office/drawing/2014/main" val="3024795525"/>
                    </a:ext>
                  </a:extLst>
                </a:gridCol>
                <a:gridCol w="564261">
                  <a:extLst>
                    <a:ext uri="{9D8B030D-6E8A-4147-A177-3AD203B41FA5}">
                      <a16:colId xmlns:a16="http://schemas.microsoft.com/office/drawing/2014/main" val="1794991674"/>
                    </a:ext>
                  </a:extLst>
                </a:gridCol>
                <a:gridCol w="564261">
                  <a:extLst>
                    <a:ext uri="{9D8B030D-6E8A-4147-A177-3AD203B41FA5}">
                      <a16:colId xmlns:a16="http://schemas.microsoft.com/office/drawing/2014/main" val="3018974446"/>
                    </a:ext>
                  </a:extLst>
                </a:gridCol>
              </a:tblGrid>
              <a:tr h="190500">
                <a:tc>
                  <a:txBody>
                    <a:bodyPr/>
                    <a:lstStyle/>
                    <a:p>
                      <a:pPr algn="ctr" fontAlgn="b"/>
                      <a:r>
                        <a:rPr lang="en-GB" sz="1100" b="0" i="0" u="none" strike="noStrike" dirty="0">
                          <a:solidFill>
                            <a:srgbClr val="000000"/>
                          </a:solidFill>
                          <a:effectLst/>
                          <a:latin typeface="Calibri" panose="020F0502020204030204" pitchFamily="34" charset="0"/>
                        </a:rPr>
                        <a:t>314</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176</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22</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99</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136</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78</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51</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104</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299</a:t>
                      </a:r>
                    </a:p>
                  </a:txBody>
                  <a:tcPr marL="9525" marR="9525" marT="9525" marB="0" anchor="b"/>
                </a:tc>
                <a:tc>
                  <a:txBody>
                    <a:bodyPr/>
                    <a:lstStyle/>
                    <a:p>
                      <a:pPr algn="ctr" fontAlgn="b"/>
                      <a:r>
                        <a:rPr lang="en-GB" sz="1100" b="0" i="0" u="none" strike="noStrike" dirty="0">
                          <a:solidFill>
                            <a:srgbClr val="000000"/>
                          </a:solidFill>
                          <a:effectLst/>
                          <a:latin typeface="Calibri" panose="020F0502020204030204" pitchFamily="34" charset="0"/>
                        </a:rPr>
                        <a:t>191</a:t>
                      </a:r>
                    </a:p>
                  </a:txBody>
                  <a:tcPr marL="9525" marR="9525" marT="9525" marB="0" anchor="b"/>
                </a:tc>
                <a:extLst>
                  <a:ext uri="{0D108BD9-81ED-4DB2-BD59-A6C34878D82A}">
                    <a16:rowId xmlns:a16="http://schemas.microsoft.com/office/drawing/2014/main" val="2504590640"/>
                  </a:ext>
                </a:extLst>
              </a:tr>
            </a:tbl>
          </a:graphicData>
        </a:graphic>
      </p:graphicFrame>
      <p:sp>
        <p:nvSpPr>
          <p:cNvPr id="11" name="TextBox 10">
            <a:extLst>
              <a:ext uri="{FF2B5EF4-FFF2-40B4-BE49-F238E27FC236}">
                <a16:creationId xmlns:a16="http://schemas.microsoft.com/office/drawing/2014/main" id="{B7B53175-33C0-4482-AFD0-EF1C64C8AD2A}"/>
              </a:ext>
            </a:extLst>
          </p:cNvPr>
          <p:cNvSpPr txBox="1"/>
          <p:nvPr/>
        </p:nvSpPr>
        <p:spPr>
          <a:xfrm>
            <a:off x="312991" y="119838"/>
            <a:ext cx="5605670"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The Last Elections</a:t>
            </a:r>
          </a:p>
        </p:txBody>
      </p:sp>
      <p:sp>
        <p:nvSpPr>
          <p:cNvPr id="17" name="TextBox 16">
            <a:extLst>
              <a:ext uri="{FF2B5EF4-FFF2-40B4-BE49-F238E27FC236}">
                <a16:creationId xmlns:a16="http://schemas.microsoft.com/office/drawing/2014/main" id="{A9A05CDA-D87F-4838-8B00-FCC121E04E55}"/>
              </a:ext>
            </a:extLst>
          </p:cNvPr>
          <p:cNvSpPr txBox="1"/>
          <p:nvPr/>
        </p:nvSpPr>
        <p:spPr>
          <a:xfrm>
            <a:off x="331302" y="675740"/>
            <a:ext cx="11714923" cy="523220"/>
          </a:xfrm>
          <a:prstGeom prst="rect">
            <a:avLst/>
          </a:prstGeom>
          <a:noFill/>
        </p:spPr>
        <p:txBody>
          <a:bodyPr wrap="square">
            <a:spAutoFit/>
          </a:bodyPr>
          <a:lstStyle/>
          <a:p>
            <a:pPr lvl="0">
              <a:defRPr/>
            </a:pPr>
            <a:r>
              <a:rPr lang="en-US" sz="1400" b="1" dirty="0">
                <a:solidFill>
                  <a:srgbClr val="0070C0"/>
                </a:solidFill>
                <a:latin typeface="Book Antiqua" panose="02040602050305030304" pitchFamily="18" charset="0"/>
                <a:ea typeface="Arial Unicode MS"/>
              </a:rPr>
              <a:t>People’s Democratic Party (PDP) (32%), All Progressives Congress (APC) (28%), New Nigeria Peoples Party (NNPP) (22%), and Labour Party (LP) (16%) are the major political parties that received significant votes in the last governorship elections.</a:t>
            </a:r>
          </a:p>
        </p:txBody>
      </p:sp>
    </p:spTree>
    <p:extLst>
      <p:ext uri="{BB962C8B-B14F-4D97-AF65-F5344CB8AC3E}">
        <p14:creationId xmlns:p14="http://schemas.microsoft.com/office/powerpoint/2010/main" val="12743830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Q333.  In the last  Senate election, which political party did you vote for?</a:t>
            </a:r>
            <a:endParaRPr lang="en-US" sz="1000" dirty="0">
              <a:latin typeface="Book Antiqua" panose="02040602050305030304" pitchFamily="18" charset="0"/>
            </a:endParaRPr>
          </a:p>
        </p:txBody>
      </p:sp>
      <p:graphicFrame>
        <p:nvGraphicFramePr>
          <p:cNvPr id="8" name="Chart 7">
            <a:extLst>
              <a:ext uri="{FF2B5EF4-FFF2-40B4-BE49-F238E27FC236}">
                <a16:creationId xmlns:a16="http://schemas.microsoft.com/office/drawing/2014/main" id="{4859EA40-6F25-4B2E-91DC-3A46D1EA07F4}"/>
              </a:ext>
            </a:extLst>
          </p:cNvPr>
          <p:cNvGraphicFramePr/>
          <p:nvPr>
            <p:extLst>
              <p:ext uri="{D42A27DB-BD31-4B8C-83A1-F6EECF244321}">
                <p14:modId xmlns:p14="http://schemas.microsoft.com/office/powerpoint/2010/main" val="3770132595"/>
              </p:ext>
            </p:extLst>
          </p:nvPr>
        </p:nvGraphicFramePr>
        <p:xfrm>
          <a:off x="832513" y="1933623"/>
          <a:ext cx="4402427" cy="3798570"/>
        </p:xfrm>
        <a:graphic>
          <a:graphicData uri="http://schemas.openxmlformats.org/drawingml/2006/chart">
            <c:chart xmlns:c="http://schemas.openxmlformats.org/drawingml/2006/chart" xmlns:r="http://schemas.openxmlformats.org/officeDocument/2006/relationships" r:id="rId2"/>
          </a:graphicData>
        </a:graphic>
      </p:graphicFrame>
      <p:sp>
        <p:nvSpPr>
          <p:cNvPr id="12" name="Rectangle 11">
            <a:extLst>
              <a:ext uri="{FF2B5EF4-FFF2-40B4-BE49-F238E27FC236}">
                <a16:creationId xmlns:a16="http://schemas.microsoft.com/office/drawing/2014/main" id="{B04CE8E3-6477-4704-A018-FD65D74B66D3}"/>
              </a:ext>
            </a:extLst>
          </p:cNvPr>
          <p:cNvSpPr/>
          <p:nvPr/>
        </p:nvSpPr>
        <p:spPr>
          <a:xfrm>
            <a:off x="2634615" y="5741670"/>
            <a:ext cx="772969" cy="369332"/>
          </a:xfrm>
          <a:prstGeom prst="rect">
            <a:avLst/>
          </a:prstGeom>
        </p:spPr>
        <p:txBody>
          <a:bodyPr wrap="none">
            <a:spAutoFit/>
          </a:bodyPr>
          <a:lstStyle/>
          <a:p>
            <a:r>
              <a:rPr lang="en-GB" dirty="0">
                <a:solidFill>
                  <a:srgbClr val="000000"/>
                </a:solidFill>
                <a:latin typeface="Calibri" panose="020F0502020204030204" pitchFamily="34" charset="0"/>
              </a:rPr>
              <a:t>n=289</a:t>
            </a:r>
            <a:endParaRPr lang="en-GB" dirty="0"/>
          </a:p>
        </p:txBody>
      </p:sp>
      <p:sp>
        <p:nvSpPr>
          <p:cNvPr id="10" name="Rectangle 9">
            <a:extLst>
              <a:ext uri="{FF2B5EF4-FFF2-40B4-BE49-F238E27FC236}">
                <a16:creationId xmlns:a16="http://schemas.microsoft.com/office/drawing/2014/main" id="{EAD45452-BDB4-4561-A216-87D32AB8D54D}"/>
              </a:ext>
            </a:extLst>
          </p:cNvPr>
          <p:cNvSpPr/>
          <p:nvPr/>
        </p:nvSpPr>
        <p:spPr>
          <a:xfrm>
            <a:off x="2129951" y="1646267"/>
            <a:ext cx="2095445" cy="307777"/>
          </a:xfrm>
          <a:prstGeom prst="rect">
            <a:avLst/>
          </a:prstGeom>
        </p:spPr>
        <p:txBody>
          <a:bodyPr wrap="none">
            <a:spAutoFit/>
          </a:bodyPr>
          <a:lstStyle/>
          <a:p>
            <a:r>
              <a:rPr lang="en-US" sz="1400" dirty="0">
                <a:solidFill>
                  <a:srgbClr val="C00000"/>
                </a:solidFill>
                <a:latin typeface="Book Antiqua" panose="02040602050305030304" pitchFamily="18" charset="0"/>
              </a:rPr>
              <a:t>The Last Senate election</a:t>
            </a:r>
            <a:endParaRPr lang="en-GB" sz="1400" dirty="0">
              <a:solidFill>
                <a:srgbClr val="C00000"/>
              </a:solidFill>
            </a:endParaRPr>
          </a:p>
        </p:txBody>
      </p:sp>
      <p:graphicFrame>
        <p:nvGraphicFramePr>
          <p:cNvPr id="13" name="Table 12">
            <a:extLst>
              <a:ext uri="{FF2B5EF4-FFF2-40B4-BE49-F238E27FC236}">
                <a16:creationId xmlns:a16="http://schemas.microsoft.com/office/drawing/2014/main" id="{6F3152A2-2846-4BC7-B2D8-8302E75FE30C}"/>
              </a:ext>
            </a:extLst>
          </p:cNvPr>
          <p:cNvGraphicFramePr>
            <a:graphicFrameLocks noGrp="1"/>
          </p:cNvGraphicFramePr>
          <p:nvPr>
            <p:extLst>
              <p:ext uri="{D42A27DB-BD31-4B8C-83A1-F6EECF244321}">
                <p14:modId xmlns:p14="http://schemas.microsoft.com/office/powerpoint/2010/main" val="4222153298"/>
              </p:ext>
            </p:extLst>
          </p:nvPr>
        </p:nvGraphicFramePr>
        <p:xfrm>
          <a:off x="5558790" y="1672428"/>
          <a:ext cx="5608320" cy="3851021"/>
        </p:xfrm>
        <a:graphic>
          <a:graphicData uri="http://schemas.openxmlformats.org/drawingml/2006/table">
            <a:tbl>
              <a:tblPr>
                <a:tableStyleId>{BDBED569-4797-4DF1-A0F4-6AAB3CD982D8}</a:tableStyleId>
              </a:tblPr>
              <a:tblGrid>
                <a:gridCol w="560832">
                  <a:extLst>
                    <a:ext uri="{9D8B030D-6E8A-4147-A177-3AD203B41FA5}">
                      <a16:colId xmlns:a16="http://schemas.microsoft.com/office/drawing/2014/main" val="1918203087"/>
                    </a:ext>
                  </a:extLst>
                </a:gridCol>
                <a:gridCol w="560832">
                  <a:extLst>
                    <a:ext uri="{9D8B030D-6E8A-4147-A177-3AD203B41FA5}">
                      <a16:colId xmlns:a16="http://schemas.microsoft.com/office/drawing/2014/main" val="1944241656"/>
                    </a:ext>
                  </a:extLst>
                </a:gridCol>
                <a:gridCol w="560832">
                  <a:extLst>
                    <a:ext uri="{9D8B030D-6E8A-4147-A177-3AD203B41FA5}">
                      <a16:colId xmlns:a16="http://schemas.microsoft.com/office/drawing/2014/main" val="3834393282"/>
                    </a:ext>
                  </a:extLst>
                </a:gridCol>
                <a:gridCol w="560832">
                  <a:extLst>
                    <a:ext uri="{9D8B030D-6E8A-4147-A177-3AD203B41FA5}">
                      <a16:colId xmlns:a16="http://schemas.microsoft.com/office/drawing/2014/main" val="3190588456"/>
                    </a:ext>
                  </a:extLst>
                </a:gridCol>
                <a:gridCol w="560832">
                  <a:extLst>
                    <a:ext uri="{9D8B030D-6E8A-4147-A177-3AD203B41FA5}">
                      <a16:colId xmlns:a16="http://schemas.microsoft.com/office/drawing/2014/main" val="1315901131"/>
                    </a:ext>
                  </a:extLst>
                </a:gridCol>
                <a:gridCol w="560832">
                  <a:extLst>
                    <a:ext uri="{9D8B030D-6E8A-4147-A177-3AD203B41FA5}">
                      <a16:colId xmlns:a16="http://schemas.microsoft.com/office/drawing/2014/main" val="4004572015"/>
                    </a:ext>
                  </a:extLst>
                </a:gridCol>
                <a:gridCol w="560832">
                  <a:extLst>
                    <a:ext uri="{9D8B030D-6E8A-4147-A177-3AD203B41FA5}">
                      <a16:colId xmlns:a16="http://schemas.microsoft.com/office/drawing/2014/main" val="2923258211"/>
                    </a:ext>
                  </a:extLst>
                </a:gridCol>
                <a:gridCol w="560832">
                  <a:extLst>
                    <a:ext uri="{9D8B030D-6E8A-4147-A177-3AD203B41FA5}">
                      <a16:colId xmlns:a16="http://schemas.microsoft.com/office/drawing/2014/main" val="3545192039"/>
                    </a:ext>
                  </a:extLst>
                </a:gridCol>
                <a:gridCol w="560832">
                  <a:extLst>
                    <a:ext uri="{9D8B030D-6E8A-4147-A177-3AD203B41FA5}">
                      <a16:colId xmlns:a16="http://schemas.microsoft.com/office/drawing/2014/main" val="339846481"/>
                    </a:ext>
                  </a:extLst>
                </a:gridCol>
                <a:gridCol w="560832">
                  <a:extLst>
                    <a:ext uri="{9D8B030D-6E8A-4147-A177-3AD203B41FA5}">
                      <a16:colId xmlns:a16="http://schemas.microsoft.com/office/drawing/2014/main" val="808306677"/>
                    </a:ext>
                  </a:extLst>
                </a:gridCol>
              </a:tblGrid>
              <a:tr h="315028">
                <a:tc gridSpan="2">
                  <a:txBody>
                    <a:bodyPr/>
                    <a:lstStyle/>
                    <a:p>
                      <a:pPr algn="ctr" fontAlgn="b"/>
                      <a:r>
                        <a:rPr lang="en-US" sz="1400" b="1" i="0" u="none" strike="noStrike" dirty="0">
                          <a:solidFill>
                            <a:srgbClr val="000000"/>
                          </a:solidFill>
                          <a:effectLst/>
                          <a:latin typeface="Calibri" panose="020F0502020204030204" pitchFamily="34" charset="0"/>
                        </a:rPr>
                        <a:t>Gender</a:t>
                      </a:r>
                      <a:endParaRPr lang="en-GB" sz="14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gridSpan="6">
                  <a:txBody>
                    <a:bodyPr/>
                    <a:lstStyle/>
                    <a:p>
                      <a:pPr algn="ctr" fontAlgn="b"/>
                      <a:r>
                        <a:rPr lang="en-US" sz="1400" b="1" i="0" u="none" strike="noStrike" dirty="0">
                          <a:solidFill>
                            <a:srgbClr val="000000"/>
                          </a:solidFill>
                          <a:effectLst/>
                          <a:latin typeface="Calibri" panose="020F0502020204030204" pitchFamily="34" charset="0"/>
                        </a:rPr>
                        <a:t>Location</a:t>
                      </a:r>
                      <a:endParaRPr lang="en-GB" sz="14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gridSpan="2">
                  <a:txBody>
                    <a:bodyPr/>
                    <a:lstStyle/>
                    <a:p>
                      <a:pPr algn="ctr" fontAlgn="b"/>
                      <a:r>
                        <a:rPr lang="en-US" sz="1400" b="1" i="0" u="none" strike="noStrike" dirty="0">
                          <a:solidFill>
                            <a:srgbClr val="000000"/>
                          </a:solidFill>
                          <a:effectLst/>
                          <a:latin typeface="Calibri" panose="020F0502020204030204" pitchFamily="34" charset="0"/>
                        </a:rPr>
                        <a:t>Urbanization</a:t>
                      </a:r>
                      <a:endParaRPr lang="en-GB" sz="14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158331613"/>
                  </a:ext>
                </a:extLst>
              </a:tr>
              <a:tr h="398905">
                <a:tc>
                  <a:txBody>
                    <a:bodyPr/>
                    <a:lstStyle/>
                    <a:p>
                      <a:pPr algn="ctr" fontAlgn="b"/>
                      <a:r>
                        <a:rPr lang="en-GB" sz="1400" b="1" u="none" strike="noStrike" dirty="0">
                          <a:effectLst/>
                        </a:rPr>
                        <a:t>Male</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Female </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FCT</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Bauchi</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Kano</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Enugu</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Edo</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Lagos</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i="0" u="none" strike="noStrike" dirty="0">
                          <a:solidFill>
                            <a:srgbClr val="000000"/>
                          </a:solidFill>
                          <a:effectLst/>
                          <a:latin typeface="Calibri" panose="020F0502020204030204" pitchFamily="34" charset="0"/>
                        </a:rPr>
                        <a:t>Urban</a:t>
                      </a:r>
                    </a:p>
                  </a:txBody>
                  <a:tcPr marL="9525" marR="9525" marT="9525" marB="0" anchor="ctr"/>
                </a:tc>
                <a:tc>
                  <a:txBody>
                    <a:bodyPr/>
                    <a:lstStyle/>
                    <a:p>
                      <a:pPr algn="ctr" fontAlgn="b"/>
                      <a:r>
                        <a:rPr lang="en-GB" sz="1400" b="1" i="0" u="none" strike="noStrike" dirty="0">
                          <a:solidFill>
                            <a:srgbClr val="000000"/>
                          </a:solidFill>
                          <a:effectLst/>
                          <a:latin typeface="Calibri" panose="020F0502020204030204" pitchFamily="34" charset="0"/>
                        </a:rPr>
                        <a:t>Rural</a:t>
                      </a:r>
                    </a:p>
                  </a:txBody>
                  <a:tcPr marL="9525" marR="9525" marT="9525" marB="0" anchor="ctr"/>
                </a:tc>
                <a:extLst>
                  <a:ext uri="{0D108BD9-81ED-4DB2-BD59-A6C34878D82A}">
                    <a16:rowId xmlns:a16="http://schemas.microsoft.com/office/drawing/2014/main" val="2249696190"/>
                  </a:ext>
                </a:extLst>
              </a:tr>
              <a:tr h="784272">
                <a:tc>
                  <a:txBody>
                    <a:bodyPr/>
                    <a:lstStyle/>
                    <a:p>
                      <a:pPr algn="ctr" fontAlgn="b"/>
                      <a:r>
                        <a:rPr lang="en-GB" sz="1400" b="0" i="0" u="none" strike="noStrike" dirty="0">
                          <a:solidFill>
                            <a:srgbClr val="000000"/>
                          </a:solidFill>
                          <a:effectLst/>
                          <a:latin typeface="Calibri" panose="020F0502020204030204" pitchFamily="34" charset="0"/>
                        </a:rPr>
                        <a:t>34%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40%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19%</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29%</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75%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36%</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34%</a:t>
                      </a:r>
                    </a:p>
                  </a:txBody>
                  <a:tcPr marL="9525" marR="9525" marT="9525" marB="0" anchor="ctr"/>
                </a:tc>
                <a:extLst>
                  <a:ext uri="{0D108BD9-81ED-4DB2-BD59-A6C34878D82A}">
                    <a16:rowId xmlns:a16="http://schemas.microsoft.com/office/drawing/2014/main" val="2827805479"/>
                  </a:ext>
                </a:extLst>
              </a:tr>
              <a:tr h="784272">
                <a:tc>
                  <a:txBody>
                    <a:bodyPr/>
                    <a:lstStyle/>
                    <a:p>
                      <a:pPr algn="ctr" fontAlgn="b"/>
                      <a:r>
                        <a:rPr lang="en-GB" sz="1400" b="0" i="0" u="none" strike="noStrike">
                          <a:solidFill>
                            <a:srgbClr val="000000"/>
                          </a:solidFill>
                          <a:effectLst/>
                          <a:latin typeface="Calibri" panose="020F0502020204030204" pitchFamily="34" charset="0"/>
                        </a:rPr>
                        <a:t>31%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29%</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77%</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31%</a:t>
                      </a:r>
                    </a:p>
                  </a:txBody>
                  <a:tcPr marL="9525" marR="9525" marT="9525" marB="0" anchor="ctr"/>
                </a:tc>
                <a:extLst>
                  <a:ext uri="{0D108BD9-81ED-4DB2-BD59-A6C34878D82A}">
                    <a16:rowId xmlns:a16="http://schemas.microsoft.com/office/drawing/2014/main" val="491645917"/>
                  </a:ext>
                </a:extLst>
              </a:tr>
              <a:tr h="784272">
                <a:tc>
                  <a:txBody>
                    <a:bodyPr/>
                    <a:lstStyle/>
                    <a:p>
                      <a:pPr algn="ctr" fontAlgn="b"/>
                      <a:r>
                        <a:rPr lang="en-GB" sz="1400" b="0" i="0" u="none" strike="noStrike">
                          <a:solidFill>
                            <a:srgbClr val="000000"/>
                          </a:solidFill>
                          <a:effectLst/>
                          <a:latin typeface="Calibri" panose="020F0502020204030204" pitchFamily="34" charset="0"/>
                        </a:rPr>
                        <a:t>21%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19%</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19%</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20%</a:t>
                      </a:r>
                    </a:p>
                  </a:txBody>
                  <a:tcPr marL="9525" marR="9525" marT="9525" marB="0" anchor="ctr"/>
                </a:tc>
                <a:extLst>
                  <a:ext uri="{0D108BD9-81ED-4DB2-BD59-A6C34878D82A}">
                    <a16:rowId xmlns:a16="http://schemas.microsoft.com/office/drawing/2014/main" val="2138546097"/>
                  </a:ext>
                </a:extLst>
              </a:tr>
              <a:tr h="784272">
                <a:tc>
                  <a:txBody>
                    <a:bodyPr/>
                    <a:lstStyle/>
                    <a:p>
                      <a:pPr algn="ctr" fontAlgn="b"/>
                      <a:r>
                        <a:rPr lang="en-GB" sz="1400" b="0" i="0" u="none" strike="noStrike">
                          <a:solidFill>
                            <a:srgbClr val="000000"/>
                          </a:solidFill>
                          <a:effectLst/>
                          <a:latin typeface="Calibri" panose="020F0502020204030204" pitchFamily="34" charset="0"/>
                        </a:rPr>
                        <a:t>12%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17%</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27%</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58%</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13%</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15%</a:t>
                      </a:r>
                    </a:p>
                  </a:txBody>
                  <a:tcPr marL="9525" marR="9525" marT="9525" marB="0" anchor="ctr"/>
                </a:tc>
                <a:extLst>
                  <a:ext uri="{0D108BD9-81ED-4DB2-BD59-A6C34878D82A}">
                    <a16:rowId xmlns:a16="http://schemas.microsoft.com/office/drawing/2014/main" val="2862610367"/>
                  </a:ext>
                </a:extLst>
              </a:tr>
            </a:tbl>
          </a:graphicData>
        </a:graphic>
      </p:graphicFrame>
      <p:graphicFrame>
        <p:nvGraphicFramePr>
          <p:cNvPr id="15" name="Table 14">
            <a:extLst>
              <a:ext uri="{FF2B5EF4-FFF2-40B4-BE49-F238E27FC236}">
                <a16:creationId xmlns:a16="http://schemas.microsoft.com/office/drawing/2014/main" id="{1FAD7364-8AAF-4E38-922F-15B6E09C7C8D}"/>
              </a:ext>
            </a:extLst>
          </p:cNvPr>
          <p:cNvGraphicFramePr>
            <a:graphicFrameLocks noGrp="1"/>
          </p:cNvGraphicFramePr>
          <p:nvPr>
            <p:extLst>
              <p:ext uri="{D42A27DB-BD31-4B8C-83A1-F6EECF244321}">
                <p14:modId xmlns:p14="http://schemas.microsoft.com/office/powerpoint/2010/main" val="4218926054"/>
              </p:ext>
            </p:extLst>
          </p:nvPr>
        </p:nvGraphicFramePr>
        <p:xfrm>
          <a:off x="5547360" y="5764530"/>
          <a:ext cx="5642610" cy="190500"/>
        </p:xfrm>
        <a:graphic>
          <a:graphicData uri="http://schemas.openxmlformats.org/drawingml/2006/table">
            <a:tbl>
              <a:tblPr>
                <a:tableStyleId>{BDBED569-4797-4DF1-A0F4-6AAB3CD982D8}</a:tableStyleId>
              </a:tblPr>
              <a:tblGrid>
                <a:gridCol w="564261">
                  <a:extLst>
                    <a:ext uri="{9D8B030D-6E8A-4147-A177-3AD203B41FA5}">
                      <a16:colId xmlns:a16="http://schemas.microsoft.com/office/drawing/2014/main" val="3112059166"/>
                    </a:ext>
                  </a:extLst>
                </a:gridCol>
                <a:gridCol w="564261">
                  <a:extLst>
                    <a:ext uri="{9D8B030D-6E8A-4147-A177-3AD203B41FA5}">
                      <a16:colId xmlns:a16="http://schemas.microsoft.com/office/drawing/2014/main" val="2489636269"/>
                    </a:ext>
                  </a:extLst>
                </a:gridCol>
                <a:gridCol w="564261">
                  <a:extLst>
                    <a:ext uri="{9D8B030D-6E8A-4147-A177-3AD203B41FA5}">
                      <a16:colId xmlns:a16="http://schemas.microsoft.com/office/drawing/2014/main" val="1395971383"/>
                    </a:ext>
                  </a:extLst>
                </a:gridCol>
                <a:gridCol w="564261">
                  <a:extLst>
                    <a:ext uri="{9D8B030D-6E8A-4147-A177-3AD203B41FA5}">
                      <a16:colId xmlns:a16="http://schemas.microsoft.com/office/drawing/2014/main" val="3541316122"/>
                    </a:ext>
                  </a:extLst>
                </a:gridCol>
                <a:gridCol w="564261">
                  <a:extLst>
                    <a:ext uri="{9D8B030D-6E8A-4147-A177-3AD203B41FA5}">
                      <a16:colId xmlns:a16="http://schemas.microsoft.com/office/drawing/2014/main" val="2973643808"/>
                    </a:ext>
                  </a:extLst>
                </a:gridCol>
                <a:gridCol w="564261">
                  <a:extLst>
                    <a:ext uri="{9D8B030D-6E8A-4147-A177-3AD203B41FA5}">
                      <a16:colId xmlns:a16="http://schemas.microsoft.com/office/drawing/2014/main" val="1098445318"/>
                    </a:ext>
                  </a:extLst>
                </a:gridCol>
                <a:gridCol w="564261">
                  <a:extLst>
                    <a:ext uri="{9D8B030D-6E8A-4147-A177-3AD203B41FA5}">
                      <a16:colId xmlns:a16="http://schemas.microsoft.com/office/drawing/2014/main" val="575542565"/>
                    </a:ext>
                  </a:extLst>
                </a:gridCol>
                <a:gridCol w="564261">
                  <a:extLst>
                    <a:ext uri="{9D8B030D-6E8A-4147-A177-3AD203B41FA5}">
                      <a16:colId xmlns:a16="http://schemas.microsoft.com/office/drawing/2014/main" val="3024795525"/>
                    </a:ext>
                  </a:extLst>
                </a:gridCol>
                <a:gridCol w="564261">
                  <a:extLst>
                    <a:ext uri="{9D8B030D-6E8A-4147-A177-3AD203B41FA5}">
                      <a16:colId xmlns:a16="http://schemas.microsoft.com/office/drawing/2014/main" val="1794991674"/>
                    </a:ext>
                  </a:extLst>
                </a:gridCol>
                <a:gridCol w="564261">
                  <a:extLst>
                    <a:ext uri="{9D8B030D-6E8A-4147-A177-3AD203B41FA5}">
                      <a16:colId xmlns:a16="http://schemas.microsoft.com/office/drawing/2014/main" val="3018974446"/>
                    </a:ext>
                  </a:extLst>
                </a:gridCol>
              </a:tblGrid>
              <a:tr h="190500">
                <a:tc>
                  <a:txBody>
                    <a:bodyPr/>
                    <a:lstStyle/>
                    <a:p>
                      <a:pPr algn="ctr" fontAlgn="b"/>
                      <a:r>
                        <a:rPr lang="en-GB" sz="1100" b="0" i="0" u="none" strike="noStrike" dirty="0">
                          <a:solidFill>
                            <a:srgbClr val="000000"/>
                          </a:solidFill>
                          <a:effectLst/>
                          <a:latin typeface="Calibri" panose="020F0502020204030204" pitchFamily="34" charset="0"/>
                        </a:rPr>
                        <a:t>183</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106</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16</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50</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113</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22</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31</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57</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152</a:t>
                      </a:r>
                    </a:p>
                  </a:txBody>
                  <a:tcPr marL="9525" marR="9525" marT="9525" marB="0" anchor="b"/>
                </a:tc>
                <a:tc>
                  <a:txBody>
                    <a:bodyPr/>
                    <a:lstStyle/>
                    <a:p>
                      <a:pPr algn="ctr" fontAlgn="b"/>
                      <a:r>
                        <a:rPr lang="en-GB" sz="1100" b="0" i="0" u="none" strike="noStrike" dirty="0">
                          <a:solidFill>
                            <a:srgbClr val="000000"/>
                          </a:solidFill>
                          <a:effectLst/>
                          <a:latin typeface="Calibri" panose="020F0502020204030204" pitchFamily="34" charset="0"/>
                        </a:rPr>
                        <a:t>137</a:t>
                      </a:r>
                    </a:p>
                  </a:txBody>
                  <a:tcPr marL="9525" marR="9525" marT="9525" marB="0" anchor="b"/>
                </a:tc>
                <a:extLst>
                  <a:ext uri="{0D108BD9-81ED-4DB2-BD59-A6C34878D82A}">
                    <a16:rowId xmlns:a16="http://schemas.microsoft.com/office/drawing/2014/main" val="2504590640"/>
                  </a:ext>
                </a:extLst>
              </a:tr>
            </a:tbl>
          </a:graphicData>
        </a:graphic>
      </p:graphicFrame>
      <p:sp>
        <p:nvSpPr>
          <p:cNvPr id="11" name="TextBox 10">
            <a:extLst>
              <a:ext uri="{FF2B5EF4-FFF2-40B4-BE49-F238E27FC236}">
                <a16:creationId xmlns:a16="http://schemas.microsoft.com/office/drawing/2014/main" id="{6D34BAF6-E2AC-4AF8-AAE9-0C7B51AF70C1}"/>
              </a:ext>
            </a:extLst>
          </p:cNvPr>
          <p:cNvSpPr txBox="1"/>
          <p:nvPr/>
        </p:nvSpPr>
        <p:spPr>
          <a:xfrm>
            <a:off x="312991" y="119838"/>
            <a:ext cx="5605670"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The Last Elections</a:t>
            </a:r>
          </a:p>
        </p:txBody>
      </p:sp>
      <p:sp>
        <p:nvSpPr>
          <p:cNvPr id="17" name="TextBox 16">
            <a:extLst>
              <a:ext uri="{FF2B5EF4-FFF2-40B4-BE49-F238E27FC236}">
                <a16:creationId xmlns:a16="http://schemas.microsoft.com/office/drawing/2014/main" id="{E4322078-2932-4D3E-94AD-05FE66735823}"/>
              </a:ext>
            </a:extLst>
          </p:cNvPr>
          <p:cNvSpPr txBox="1"/>
          <p:nvPr/>
        </p:nvSpPr>
        <p:spPr>
          <a:xfrm>
            <a:off x="331302" y="675740"/>
            <a:ext cx="11714923" cy="523220"/>
          </a:xfrm>
          <a:prstGeom prst="rect">
            <a:avLst/>
          </a:prstGeom>
          <a:noFill/>
        </p:spPr>
        <p:txBody>
          <a:bodyPr wrap="square">
            <a:spAutoFit/>
          </a:bodyPr>
          <a:lstStyle/>
          <a:p>
            <a:pPr lvl="0">
              <a:defRPr/>
            </a:pPr>
            <a:r>
              <a:rPr lang="en-US" sz="1400" b="1" dirty="0">
                <a:solidFill>
                  <a:srgbClr val="0070C0"/>
                </a:solidFill>
                <a:latin typeface="Book Antiqua" panose="02040602050305030304" pitchFamily="18" charset="0"/>
                <a:ea typeface="Arial Unicode MS"/>
              </a:rPr>
              <a:t>All Progressives Congress (APC) (35%), New Nigeria Peoples Party (NNPP) (30%), People’s Democratic Party (PDP) (20%), and Labour Party (LP) (14%), are the main political parties that received significant votes in the last senatorial elections.</a:t>
            </a:r>
          </a:p>
        </p:txBody>
      </p:sp>
    </p:spTree>
    <p:extLst>
      <p:ext uri="{BB962C8B-B14F-4D97-AF65-F5344CB8AC3E}">
        <p14:creationId xmlns:p14="http://schemas.microsoft.com/office/powerpoint/2010/main" val="8366223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Q334.  In the last National House of Representatives election, which political party did you vote for?</a:t>
            </a:r>
            <a:endParaRPr lang="en-US" sz="1000" dirty="0">
              <a:latin typeface="Book Antiqua" panose="02040602050305030304" pitchFamily="18" charset="0"/>
            </a:endParaRPr>
          </a:p>
        </p:txBody>
      </p:sp>
      <p:graphicFrame>
        <p:nvGraphicFramePr>
          <p:cNvPr id="8" name="Chart 7">
            <a:extLst>
              <a:ext uri="{FF2B5EF4-FFF2-40B4-BE49-F238E27FC236}">
                <a16:creationId xmlns:a16="http://schemas.microsoft.com/office/drawing/2014/main" id="{4859EA40-6F25-4B2E-91DC-3A46D1EA07F4}"/>
              </a:ext>
            </a:extLst>
          </p:cNvPr>
          <p:cNvGraphicFramePr/>
          <p:nvPr>
            <p:extLst>
              <p:ext uri="{D42A27DB-BD31-4B8C-83A1-F6EECF244321}">
                <p14:modId xmlns:p14="http://schemas.microsoft.com/office/powerpoint/2010/main" val="2500607191"/>
              </p:ext>
            </p:extLst>
          </p:nvPr>
        </p:nvGraphicFramePr>
        <p:xfrm>
          <a:off x="832513" y="2011680"/>
          <a:ext cx="4402427" cy="3798570"/>
        </p:xfrm>
        <a:graphic>
          <a:graphicData uri="http://schemas.openxmlformats.org/drawingml/2006/chart">
            <c:chart xmlns:c="http://schemas.openxmlformats.org/drawingml/2006/chart" xmlns:r="http://schemas.openxmlformats.org/officeDocument/2006/relationships" r:id="rId2"/>
          </a:graphicData>
        </a:graphic>
      </p:graphicFrame>
      <p:sp>
        <p:nvSpPr>
          <p:cNvPr id="12" name="Rectangle 11">
            <a:extLst>
              <a:ext uri="{FF2B5EF4-FFF2-40B4-BE49-F238E27FC236}">
                <a16:creationId xmlns:a16="http://schemas.microsoft.com/office/drawing/2014/main" id="{B04CE8E3-6477-4704-A018-FD65D74B66D3}"/>
              </a:ext>
            </a:extLst>
          </p:cNvPr>
          <p:cNvSpPr/>
          <p:nvPr/>
        </p:nvSpPr>
        <p:spPr>
          <a:xfrm>
            <a:off x="2634615" y="5741670"/>
            <a:ext cx="772969" cy="369332"/>
          </a:xfrm>
          <a:prstGeom prst="rect">
            <a:avLst/>
          </a:prstGeom>
        </p:spPr>
        <p:txBody>
          <a:bodyPr wrap="none">
            <a:spAutoFit/>
          </a:bodyPr>
          <a:lstStyle/>
          <a:p>
            <a:r>
              <a:rPr lang="en-GB" dirty="0">
                <a:solidFill>
                  <a:srgbClr val="000000"/>
                </a:solidFill>
                <a:latin typeface="Calibri" panose="020F0502020204030204" pitchFamily="34" charset="0"/>
              </a:rPr>
              <a:t>n=250</a:t>
            </a:r>
            <a:endParaRPr lang="en-GB" dirty="0"/>
          </a:p>
        </p:txBody>
      </p:sp>
      <p:sp>
        <p:nvSpPr>
          <p:cNvPr id="10" name="Rectangle 9">
            <a:extLst>
              <a:ext uri="{FF2B5EF4-FFF2-40B4-BE49-F238E27FC236}">
                <a16:creationId xmlns:a16="http://schemas.microsoft.com/office/drawing/2014/main" id="{164CA399-C122-484B-8D91-572B87D579D4}"/>
              </a:ext>
            </a:extLst>
          </p:cNvPr>
          <p:cNvSpPr/>
          <p:nvPr/>
        </p:nvSpPr>
        <p:spPr>
          <a:xfrm>
            <a:off x="2129951" y="1646267"/>
            <a:ext cx="3600666" cy="307777"/>
          </a:xfrm>
          <a:prstGeom prst="rect">
            <a:avLst/>
          </a:prstGeom>
        </p:spPr>
        <p:txBody>
          <a:bodyPr wrap="none">
            <a:spAutoFit/>
          </a:bodyPr>
          <a:lstStyle/>
          <a:p>
            <a:r>
              <a:rPr lang="en-US" sz="1400" dirty="0">
                <a:solidFill>
                  <a:srgbClr val="C00000"/>
                </a:solidFill>
                <a:latin typeface="Book Antiqua" panose="02040602050305030304" pitchFamily="18" charset="0"/>
              </a:rPr>
              <a:t>The Last House of Representatives election</a:t>
            </a:r>
            <a:endParaRPr lang="en-GB" sz="1400" dirty="0">
              <a:solidFill>
                <a:srgbClr val="C00000"/>
              </a:solidFill>
            </a:endParaRPr>
          </a:p>
        </p:txBody>
      </p:sp>
      <p:graphicFrame>
        <p:nvGraphicFramePr>
          <p:cNvPr id="13" name="Table 12">
            <a:extLst>
              <a:ext uri="{FF2B5EF4-FFF2-40B4-BE49-F238E27FC236}">
                <a16:creationId xmlns:a16="http://schemas.microsoft.com/office/drawing/2014/main" id="{59E961F2-88BD-4276-85CA-CF59927EB3D6}"/>
              </a:ext>
            </a:extLst>
          </p:cNvPr>
          <p:cNvGraphicFramePr>
            <a:graphicFrameLocks noGrp="1"/>
          </p:cNvGraphicFramePr>
          <p:nvPr>
            <p:extLst>
              <p:ext uri="{D42A27DB-BD31-4B8C-83A1-F6EECF244321}">
                <p14:modId xmlns:p14="http://schemas.microsoft.com/office/powerpoint/2010/main" val="1162266540"/>
              </p:ext>
            </p:extLst>
          </p:nvPr>
        </p:nvGraphicFramePr>
        <p:xfrm>
          <a:off x="5558790" y="1672429"/>
          <a:ext cx="5608320" cy="3959677"/>
        </p:xfrm>
        <a:graphic>
          <a:graphicData uri="http://schemas.openxmlformats.org/drawingml/2006/table">
            <a:tbl>
              <a:tblPr>
                <a:tableStyleId>{BDBED569-4797-4DF1-A0F4-6AAB3CD982D8}</a:tableStyleId>
              </a:tblPr>
              <a:tblGrid>
                <a:gridCol w="560832">
                  <a:extLst>
                    <a:ext uri="{9D8B030D-6E8A-4147-A177-3AD203B41FA5}">
                      <a16:colId xmlns:a16="http://schemas.microsoft.com/office/drawing/2014/main" val="1918203087"/>
                    </a:ext>
                  </a:extLst>
                </a:gridCol>
                <a:gridCol w="560832">
                  <a:extLst>
                    <a:ext uri="{9D8B030D-6E8A-4147-A177-3AD203B41FA5}">
                      <a16:colId xmlns:a16="http://schemas.microsoft.com/office/drawing/2014/main" val="1944241656"/>
                    </a:ext>
                  </a:extLst>
                </a:gridCol>
                <a:gridCol w="560832">
                  <a:extLst>
                    <a:ext uri="{9D8B030D-6E8A-4147-A177-3AD203B41FA5}">
                      <a16:colId xmlns:a16="http://schemas.microsoft.com/office/drawing/2014/main" val="3834393282"/>
                    </a:ext>
                  </a:extLst>
                </a:gridCol>
                <a:gridCol w="560832">
                  <a:extLst>
                    <a:ext uri="{9D8B030D-6E8A-4147-A177-3AD203B41FA5}">
                      <a16:colId xmlns:a16="http://schemas.microsoft.com/office/drawing/2014/main" val="3190588456"/>
                    </a:ext>
                  </a:extLst>
                </a:gridCol>
                <a:gridCol w="560832">
                  <a:extLst>
                    <a:ext uri="{9D8B030D-6E8A-4147-A177-3AD203B41FA5}">
                      <a16:colId xmlns:a16="http://schemas.microsoft.com/office/drawing/2014/main" val="1315901131"/>
                    </a:ext>
                  </a:extLst>
                </a:gridCol>
                <a:gridCol w="560832">
                  <a:extLst>
                    <a:ext uri="{9D8B030D-6E8A-4147-A177-3AD203B41FA5}">
                      <a16:colId xmlns:a16="http://schemas.microsoft.com/office/drawing/2014/main" val="4004572015"/>
                    </a:ext>
                  </a:extLst>
                </a:gridCol>
                <a:gridCol w="560832">
                  <a:extLst>
                    <a:ext uri="{9D8B030D-6E8A-4147-A177-3AD203B41FA5}">
                      <a16:colId xmlns:a16="http://schemas.microsoft.com/office/drawing/2014/main" val="2923258211"/>
                    </a:ext>
                  </a:extLst>
                </a:gridCol>
                <a:gridCol w="560832">
                  <a:extLst>
                    <a:ext uri="{9D8B030D-6E8A-4147-A177-3AD203B41FA5}">
                      <a16:colId xmlns:a16="http://schemas.microsoft.com/office/drawing/2014/main" val="3545192039"/>
                    </a:ext>
                  </a:extLst>
                </a:gridCol>
                <a:gridCol w="560832">
                  <a:extLst>
                    <a:ext uri="{9D8B030D-6E8A-4147-A177-3AD203B41FA5}">
                      <a16:colId xmlns:a16="http://schemas.microsoft.com/office/drawing/2014/main" val="339846481"/>
                    </a:ext>
                  </a:extLst>
                </a:gridCol>
                <a:gridCol w="560832">
                  <a:extLst>
                    <a:ext uri="{9D8B030D-6E8A-4147-A177-3AD203B41FA5}">
                      <a16:colId xmlns:a16="http://schemas.microsoft.com/office/drawing/2014/main" val="808306677"/>
                    </a:ext>
                  </a:extLst>
                </a:gridCol>
              </a:tblGrid>
              <a:tr h="269110">
                <a:tc gridSpan="2">
                  <a:txBody>
                    <a:bodyPr/>
                    <a:lstStyle/>
                    <a:p>
                      <a:pPr algn="ctr" fontAlgn="b"/>
                      <a:r>
                        <a:rPr lang="en-US" sz="1400" b="1" i="0" u="none" strike="noStrike" dirty="0">
                          <a:solidFill>
                            <a:srgbClr val="000000"/>
                          </a:solidFill>
                          <a:effectLst/>
                          <a:latin typeface="Calibri" panose="020F0502020204030204" pitchFamily="34" charset="0"/>
                        </a:rPr>
                        <a:t>Gender</a:t>
                      </a:r>
                      <a:endParaRPr lang="en-GB" sz="14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gridSpan="6">
                  <a:txBody>
                    <a:bodyPr/>
                    <a:lstStyle/>
                    <a:p>
                      <a:pPr algn="ctr" fontAlgn="b"/>
                      <a:r>
                        <a:rPr lang="en-US" sz="1400" b="1" i="0" u="none" strike="noStrike" dirty="0">
                          <a:solidFill>
                            <a:srgbClr val="000000"/>
                          </a:solidFill>
                          <a:effectLst/>
                          <a:latin typeface="Calibri" panose="020F0502020204030204" pitchFamily="34" charset="0"/>
                        </a:rPr>
                        <a:t>Location</a:t>
                      </a:r>
                      <a:endParaRPr lang="en-GB" sz="14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gridSpan="2">
                  <a:txBody>
                    <a:bodyPr/>
                    <a:lstStyle/>
                    <a:p>
                      <a:pPr algn="ctr" fontAlgn="b"/>
                      <a:r>
                        <a:rPr lang="en-US" sz="1400" b="1" i="0" u="none" strike="noStrike" dirty="0">
                          <a:solidFill>
                            <a:srgbClr val="000000"/>
                          </a:solidFill>
                          <a:effectLst/>
                          <a:latin typeface="Calibri" panose="020F0502020204030204" pitchFamily="34" charset="0"/>
                        </a:rPr>
                        <a:t>Urbanization</a:t>
                      </a:r>
                      <a:endParaRPr lang="en-GB" sz="14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158331613"/>
                  </a:ext>
                </a:extLst>
              </a:tr>
              <a:tr h="340762">
                <a:tc>
                  <a:txBody>
                    <a:bodyPr/>
                    <a:lstStyle/>
                    <a:p>
                      <a:pPr algn="ctr" fontAlgn="b"/>
                      <a:r>
                        <a:rPr lang="en-GB" sz="1400" b="1" u="none" strike="noStrike" dirty="0">
                          <a:effectLst/>
                        </a:rPr>
                        <a:t>Male</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Female </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FCT</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Bauchi</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Kano</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Enugu</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Edo</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Lagos</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i="0" u="none" strike="noStrike" dirty="0">
                          <a:solidFill>
                            <a:srgbClr val="000000"/>
                          </a:solidFill>
                          <a:effectLst/>
                          <a:latin typeface="Calibri" panose="020F0502020204030204" pitchFamily="34" charset="0"/>
                        </a:rPr>
                        <a:t>Urban</a:t>
                      </a:r>
                    </a:p>
                  </a:txBody>
                  <a:tcPr marL="9525" marR="9525" marT="9525" marB="0" anchor="ctr"/>
                </a:tc>
                <a:tc>
                  <a:txBody>
                    <a:bodyPr/>
                    <a:lstStyle/>
                    <a:p>
                      <a:pPr algn="ctr" fontAlgn="b"/>
                      <a:r>
                        <a:rPr lang="en-GB" sz="1400" b="1" i="0" u="none" strike="noStrike" dirty="0">
                          <a:solidFill>
                            <a:srgbClr val="000000"/>
                          </a:solidFill>
                          <a:effectLst/>
                          <a:latin typeface="Calibri" panose="020F0502020204030204" pitchFamily="34" charset="0"/>
                        </a:rPr>
                        <a:t>Rural</a:t>
                      </a:r>
                    </a:p>
                  </a:txBody>
                  <a:tcPr marL="9525" marR="9525" marT="9525" marB="0" anchor="ctr"/>
                </a:tc>
                <a:extLst>
                  <a:ext uri="{0D108BD9-81ED-4DB2-BD59-A6C34878D82A}">
                    <a16:rowId xmlns:a16="http://schemas.microsoft.com/office/drawing/2014/main" val="2249696190"/>
                  </a:ext>
                </a:extLst>
              </a:tr>
              <a:tr h="669961">
                <a:tc>
                  <a:txBody>
                    <a:bodyPr/>
                    <a:lstStyle/>
                    <a:p>
                      <a:pPr algn="ctr" fontAlgn="b"/>
                      <a:r>
                        <a:rPr lang="en-GB" sz="1400" b="0" i="0" u="none" strike="noStrike" dirty="0">
                          <a:solidFill>
                            <a:srgbClr val="000000"/>
                          </a:solidFill>
                          <a:effectLst/>
                          <a:latin typeface="Calibri" panose="020F0502020204030204" pitchFamily="34" charset="0"/>
                        </a:rPr>
                        <a:t>35%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77%</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35%</a:t>
                      </a:r>
                    </a:p>
                  </a:txBody>
                  <a:tcPr marL="9525" marR="9525" marT="9525" marB="0" anchor="ctr"/>
                </a:tc>
                <a:extLst>
                  <a:ext uri="{0D108BD9-81ED-4DB2-BD59-A6C34878D82A}">
                    <a16:rowId xmlns:a16="http://schemas.microsoft.com/office/drawing/2014/main" val="2827805479"/>
                  </a:ext>
                </a:extLst>
              </a:tr>
              <a:tr h="669961">
                <a:tc>
                  <a:txBody>
                    <a:bodyPr/>
                    <a:lstStyle/>
                    <a:p>
                      <a:pPr algn="ctr" fontAlgn="b"/>
                      <a:r>
                        <a:rPr lang="en-GB" sz="1400" b="0" i="0" u="none" strike="noStrike">
                          <a:solidFill>
                            <a:srgbClr val="000000"/>
                          </a:solidFill>
                          <a:effectLst/>
                          <a:latin typeface="Calibri" panose="020F0502020204030204" pitchFamily="34" charset="0"/>
                        </a:rPr>
                        <a:t>32%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17%</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43%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17%</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18%</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71%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32%</a:t>
                      </a:r>
                    </a:p>
                  </a:txBody>
                  <a:tcPr marL="9525" marR="9525" marT="9525" marB="0" anchor="ctr"/>
                </a:tc>
                <a:extLst>
                  <a:ext uri="{0D108BD9-81ED-4DB2-BD59-A6C34878D82A}">
                    <a16:rowId xmlns:a16="http://schemas.microsoft.com/office/drawing/2014/main" val="2236246859"/>
                  </a:ext>
                </a:extLst>
              </a:tr>
              <a:tr h="669961">
                <a:tc>
                  <a:txBody>
                    <a:bodyPr/>
                    <a:lstStyle/>
                    <a:p>
                      <a:pPr algn="ctr" fontAlgn="b"/>
                      <a:r>
                        <a:rPr lang="en-GB" sz="1400" b="0" i="0" u="none" strike="noStrike">
                          <a:solidFill>
                            <a:srgbClr val="000000"/>
                          </a:solidFill>
                          <a:effectLst/>
                          <a:latin typeface="Calibri" panose="020F0502020204030204" pitchFamily="34" charset="0"/>
                        </a:rPr>
                        <a:t>20%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17%</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57%</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67%</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18%</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18%</a:t>
                      </a:r>
                    </a:p>
                  </a:txBody>
                  <a:tcPr marL="9525" marR="9525" marT="9525" marB="0" anchor="ctr"/>
                </a:tc>
                <a:extLst>
                  <a:ext uri="{0D108BD9-81ED-4DB2-BD59-A6C34878D82A}">
                    <a16:rowId xmlns:a16="http://schemas.microsoft.com/office/drawing/2014/main" val="491645917"/>
                  </a:ext>
                </a:extLst>
              </a:tr>
              <a:tr h="669961">
                <a:tc>
                  <a:txBody>
                    <a:bodyPr/>
                    <a:lstStyle/>
                    <a:p>
                      <a:pPr algn="ctr" fontAlgn="b"/>
                      <a:r>
                        <a:rPr lang="en-GB" sz="1400" b="0" i="0" u="none" strike="noStrike">
                          <a:solidFill>
                            <a:srgbClr val="000000"/>
                          </a:solidFill>
                          <a:effectLst/>
                          <a:latin typeface="Calibri" panose="020F0502020204030204" pitchFamily="34" charset="0"/>
                        </a:rPr>
                        <a:t>10%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58%</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76%</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13%</a:t>
                      </a:r>
                    </a:p>
                  </a:txBody>
                  <a:tcPr marL="9525" marR="9525" marT="9525" marB="0" anchor="ctr"/>
                </a:tc>
                <a:extLst>
                  <a:ext uri="{0D108BD9-81ED-4DB2-BD59-A6C34878D82A}">
                    <a16:rowId xmlns:a16="http://schemas.microsoft.com/office/drawing/2014/main" val="2138546097"/>
                  </a:ext>
                </a:extLst>
              </a:tr>
              <a:tr h="669961">
                <a:tc>
                  <a:txBody>
                    <a:bodyPr/>
                    <a:lstStyle/>
                    <a:p>
                      <a:pPr algn="ctr" fontAlgn="b"/>
                      <a:r>
                        <a:rPr lang="en-GB" sz="1400" b="0" i="0" u="none" strike="noStrike">
                          <a:solidFill>
                            <a:srgbClr val="000000"/>
                          </a:solidFill>
                          <a:effectLst/>
                          <a:latin typeface="Calibri" panose="020F0502020204030204" pitchFamily="34" charset="0"/>
                        </a:rPr>
                        <a:t>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8%</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0%</a:t>
                      </a:r>
                    </a:p>
                  </a:txBody>
                  <a:tcPr marL="9525" marR="9525" marT="9525" marB="0" anchor="ctr"/>
                </a:tc>
                <a:extLst>
                  <a:ext uri="{0D108BD9-81ED-4DB2-BD59-A6C34878D82A}">
                    <a16:rowId xmlns:a16="http://schemas.microsoft.com/office/drawing/2014/main" val="2862610367"/>
                  </a:ext>
                </a:extLst>
              </a:tr>
            </a:tbl>
          </a:graphicData>
        </a:graphic>
      </p:graphicFrame>
      <p:graphicFrame>
        <p:nvGraphicFramePr>
          <p:cNvPr id="15" name="Table 14">
            <a:extLst>
              <a:ext uri="{FF2B5EF4-FFF2-40B4-BE49-F238E27FC236}">
                <a16:creationId xmlns:a16="http://schemas.microsoft.com/office/drawing/2014/main" id="{91FDAB61-C481-4F83-AEA4-2811204ACD4F}"/>
              </a:ext>
            </a:extLst>
          </p:cNvPr>
          <p:cNvGraphicFramePr>
            <a:graphicFrameLocks noGrp="1"/>
          </p:cNvGraphicFramePr>
          <p:nvPr>
            <p:extLst>
              <p:ext uri="{D42A27DB-BD31-4B8C-83A1-F6EECF244321}">
                <p14:modId xmlns:p14="http://schemas.microsoft.com/office/powerpoint/2010/main" val="594823992"/>
              </p:ext>
            </p:extLst>
          </p:nvPr>
        </p:nvGraphicFramePr>
        <p:xfrm>
          <a:off x="5547360" y="5764530"/>
          <a:ext cx="5642610" cy="190500"/>
        </p:xfrm>
        <a:graphic>
          <a:graphicData uri="http://schemas.openxmlformats.org/drawingml/2006/table">
            <a:tbl>
              <a:tblPr>
                <a:tableStyleId>{BDBED569-4797-4DF1-A0F4-6AAB3CD982D8}</a:tableStyleId>
              </a:tblPr>
              <a:tblGrid>
                <a:gridCol w="564261">
                  <a:extLst>
                    <a:ext uri="{9D8B030D-6E8A-4147-A177-3AD203B41FA5}">
                      <a16:colId xmlns:a16="http://schemas.microsoft.com/office/drawing/2014/main" val="3112059166"/>
                    </a:ext>
                  </a:extLst>
                </a:gridCol>
                <a:gridCol w="564261">
                  <a:extLst>
                    <a:ext uri="{9D8B030D-6E8A-4147-A177-3AD203B41FA5}">
                      <a16:colId xmlns:a16="http://schemas.microsoft.com/office/drawing/2014/main" val="2489636269"/>
                    </a:ext>
                  </a:extLst>
                </a:gridCol>
                <a:gridCol w="564261">
                  <a:extLst>
                    <a:ext uri="{9D8B030D-6E8A-4147-A177-3AD203B41FA5}">
                      <a16:colId xmlns:a16="http://schemas.microsoft.com/office/drawing/2014/main" val="1395971383"/>
                    </a:ext>
                  </a:extLst>
                </a:gridCol>
                <a:gridCol w="564261">
                  <a:extLst>
                    <a:ext uri="{9D8B030D-6E8A-4147-A177-3AD203B41FA5}">
                      <a16:colId xmlns:a16="http://schemas.microsoft.com/office/drawing/2014/main" val="3541316122"/>
                    </a:ext>
                  </a:extLst>
                </a:gridCol>
                <a:gridCol w="564261">
                  <a:extLst>
                    <a:ext uri="{9D8B030D-6E8A-4147-A177-3AD203B41FA5}">
                      <a16:colId xmlns:a16="http://schemas.microsoft.com/office/drawing/2014/main" val="2973643808"/>
                    </a:ext>
                  </a:extLst>
                </a:gridCol>
                <a:gridCol w="564261">
                  <a:extLst>
                    <a:ext uri="{9D8B030D-6E8A-4147-A177-3AD203B41FA5}">
                      <a16:colId xmlns:a16="http://schemas.microsoft.com/office/drawing/2014/main" val="1098445318"/>
                    </a:ext>
                  </a:extLst>
                </a:gridCol>
                <a:gridCol w="564261">
                  <a:extLst>
                    <a:ext uri="{9D8B030D-6E8A-4147-A177-3AD203B41FA5}">
                      <a16:colId xmlns:a16="http://schemas.microsoft.com/office/drawing/2014/main" val="575542565"/>
                    </a:ext>
                  </a:extLst>
                </a:gridCol>
                <a:gridCol w="564261">
                  <a:extLst>
                    <a:ext uri="{9D8B030D-6E8A-4147-A177-3AD203B41FA5}">
                      <a16:colId xmlns:a16="http://schemas.microsoft.com/office/drawing/2014/main" val="3024795525"/>
                    </a:ext>
                  </a:extLst>
                </a:gridCol>
                <a:gridCol w="564261">
                  <a:extLst>
                    <a:ext uri="{9D8B030D-6E8A-4147-A177-3AD203B41FA5}">
                      <a16:colId xmlns:a16="http://schemas.microsoft.com/office/drawing/2014/main" val="1794991674"/>
                    </a:ext>
                  </a:extLst>
                </a:gridCol>
                <a:gridCol w="564261">
                  <a:extLst>
                    <a:ext uri="{9D8B030D-6E8A-4147-A177-3AD203B41FA5}">
                      <a16:colId xmlns:a16="http://schemas.microsoft.com/office/drawing/2014/main" val="3018974446"/>
                    </a:ext>
                  </a:extLst>
                </a:gridCol>
              </a:tblGrid>
              <a:tr h="190500">
                <a:tc>
                  <a:txBody>
                    <a:bodyPr/>
                    <a:lstStyle/>
                    <a:p>
                      <a:pPr algn="ctr" fontAlgn="b"/>
                      <a:r>
                        <a:rPr lang="en-GB" sz="1100" b="0" i="0" u="none" strike="noStrike" dirty="0">
                          <a:solidFill>
                            <a:srgbClr val="000000"/>
                          </a:solidFill>
                          <a:effectLst/>
                          <a:latin typeface="Calibri" panose="020F0502020204030204" pitchFamily="34" charset="0"/>
                        </a:rPr>
                        <a:t>159</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91</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12</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46</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112</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12</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17</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51</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131</a:t>
                      </a:r>
                    </a:p>
                  </a:txBody>
                  <a:tcPr marL="9525" marR="9525" marT="9525" marB="0" anchor="b"/>
                </a:tc>
                <a:tc>
                  <a:txBody>
                    <a:bodyPr/>
                    <a:lstStyle/>
                    <a:p>
                      <a:pPr algn="ctr" fontAlgn="b"/>
                      <a:r>
                        <a:rPr lang="en-GB" sz="1100" b="0" i="0" u="none" strike="noStrike" dirty="0">
                          <a:solidFill>
                            <a:srgbClr val="000000"/>
                          </a:solidFill>
                          <a:effectLst/>
                          <a:latin typeface="Calibri" panose="020F0502020204030204" pitchFamily="34" charset="0"/>
                        </a:rPr>
                        <a:t>119</a:t>
                      </a:r>
                    </a:p>
                  </a:txBody>
                  <a:tcPr marL="9525" marR="9525" marT="9525" marB="0" anchor="b"/>
                </a:tc>
                <a:extLst>
                  <a:ext uri="{0D108BD9-81ED-4DB2-BD59-A6C34878D82A}">
                    <a16:rowId xmlns:a16="http://schemas.microsoft.com/office/drawing/2014/main" val="2504590640"/>
                  </a:ext>
                </a:extLst>
              </a:tr>
            </a:tbl>
          </a:graphicData>
        </a:graphic>
      </p:graphicFrame>
      <p:sp>
        <p:nvSpPr>
          <p:cNvPr id="11" name="TextBox 10">
            <a:extLst>
              <a:ext uri="{FF2B5EF4-FFF2-40B4-BE49-F238E27FC236}">
                <a16:creationId xmlns:a16="http://schemas.microsoft.com/office/drawing/2014/main" id="{FCC23375-B974-4300-B530-4000B66FC55B}"/>
              </a:ext>
            </a:extLst>
          </p:cNvPr>
          <p:cNvSpPr txBox="1"/>
          <p:nvPr/>
        </p:nvSpPr>
        <p:spPr>
          <a:xfrm>
            <a:off x="312991" y="119838"/>
            <a:ext cx="5605670"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The Last Elections</a:t>
            </a:r>
          </a:p>
        </p:txBody>
      </p:sp>
      <p:sp>
        <p:nvSpPr>
          <p:cNvPr id="17" name="TextBox 16">
            <a:extLst>
              <a:ext uri="{FF2B5EF4-FFF2-40B4-BE49-F238E27FC236}">
                <a16:creationId xmlns:a16="http://schemas.microsoft.com/office/drawing/2014/main" id="{E524EDC5-B2F4-4E70-A0C8-6E1049FE1CEA}"/>
              </a:ext>
            </a:extLst>
          </p:cNvPr>
          <p:cNvSpPr txBox="1"/>
          <p:nvPr/>
        </p:nvSpPr>
        <p:spPr>
          <a:xfrm>
            <a:off x="331302" y="675740"/>
            <a:ext cx="11714923" cy="523220"/>
          </a:xfrm>
          <a:prstGeom prst="rect">
            <a:avLst/>
          </a:prstGeom>
          <a:noFill/>
        </p:spPr>
        <p:txBody>
          <a:bodyPr wrap="square">
            <a:spAutoFit/>
          </a:bodyPr>
          <a:lstStyle/>
          <a:p>
            <a:pPr lvl="0">
              <a:defRPr/>
            </a:pPr>
            <a:r>
              <a:rPr lang="en-US" sz="1400" b="1" dirty="0">
                <a:solidFill>
                  <a:srgbClr val="0070C0"/>
                </a:solidFill>
                <a:latin typeface="Book Antiqua" panose="02040602050305030304" pitchFamily="18" charset="0"/>
                <a:ea typeface="Arial Unicode MS"/>
              </a:rPr>
              <a:t>New Nigeria Peoples Party (NNPP) (34%), All Progressives Congress (APC) (32%), People’s Democratic Party (PDP) (20%), and Labour Party (LP) (12%), are the main political parties that received significant votes in the last House of Reps elections.</a:t>
            </a:r>
          </a:p>
        </p:txBody>
      </p:sp>
    </p:spTree>
    <p:extLst>
      <p:ext uri="{BB962C8B-B14F-4D97-AF65-F5344CB8AC3E}">
        <p14:creationId xmlns:p14="http://schemas.microsoft.com/office/powerpoint/2010/main" val="41845187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Q335.  In the last State House of Assembly election, which political party did you vote for?</a:t>
            </a:r>
            <a:endParaRPr lang="en-US" sz="1000" dirty="0">
              <a:latin typeface="Book Antiqua" panose="02040602050305030304" pitchFamily="18" charset="0"/>
            </a:endParaRPr>
          </a:p>
        </p:txBody>
      </p:sp>
      <p:graphicFrame>
        <p:nvGraphicFramePr>
          <p:cNvPr id="8" name="Chart 7">
            <a:extLst>
              <a:ext uri="{FF2B5EF4-FFF2-40B4-BE49-F238E27FC236}">
                <a16:creationId xmlns:a16="http://schemas.microsoft.com/office/drawing/2014/main" id="{4859EA40-6F25-4B2E-91DC-3A46D1EA07F4}"/>
              </a:ext>
            </a:extLst>
          </p:cNvPr>
          <p:cNvGraphicFramePr/>
          <p:nvPr>
            <p:extLst>
              <p:ext uri="{D42A27DB-BD31-4B8C-83A1-F6EECF244321}">
                <p14:modId xmlns:p14="http://schemas.microsoft.com/office/powerpoint/2010/main" val="4167458640"/>
              </p:ext>
            </p:extLst>
          </p:nvPr>
        </p:nvGraphicFramePr>
        <p:xfrm>
          <a:off x="832513" y="2011680"/>
          <a:ext cx="4402427" cy="3798570"/>
        </p:xfrm>
        <a:graphic>
          <a:graphicData uri="http://schemas.openxmlformats.org/drawingml/2006/chart">
            <c:chart xmlns:c="http://schemas.openxmlformats.org/drawingml/2006/chart" xmlns:r="http://schemas.openxmlformats.org/officeDocument/2006/relationships" r:id="rId2"/>
          </a:graphicData>
        </a:graphic>
      </p:graphicFrame>
      <p:sp>
        <p:nvSpPr>
          <p:cNvPr id="12" name="Rectangle 11">
            <a:extLst>
              <a:ext uri="{FF2B5EF4-FFF2-40B4-BE49-F238E27FC236}">
                <a16:creationId xmlns:a16="http://schemas.microsoft.com/office/drawing/2014/main" id="{B04CE8E3-6477-4704-A018-FD65D74B66D3}"/>
              </a:ext>
            </a:extLst>
          </p:cNvPr>
          <p:cNvSpPr/>
          <p:nvPr/>
        </p:nvSpPr>
        <p:spPr>
          <a:xfrm>
            <a:off x="2634615" y="5741670"/>
            <a:ext cx="772969" cy="369332"/>
          </a:xfrm>
          <a:prstGeom prst="rect">
            <a:avLst/>
          </a:prstGeom>
        </p:spPr>
        <p:txBody>
          <a:bodyPr wrap="none">
            <a:spAutoFit/>
          </a:bodyPr>
          <a:lstStyle/>
          <a:p>
            <a:r>
              <a:rPr lang="en-GB" dirty="0">
                <a:solidFill>
                  <a:srgbClr val="000000"/>
                </a:solidFill>
                <a:latin typeface="Calibri" panose="020F0502020204030204" pitchFamily="34" charset="0"/>
              </a:rPr>
              <a:t>n=238</a:t>
            </a:r>
            <a:endParaRPr lang="en-GB" dirty="0"/>
          </a:p>
        </p:txBody>
      </p:sp>
      <p:sp>
        <p:nvSpPr>
          <p:cNvPr id="2" name="Rectangle 1">
            <a:extLst>
              <a:ext uri="{FF2B5EF4-FFF2-40B4-BE49-F238E27FC236}">
                <a16:creationId xmlns:a16="http://schemas.microsoft.com/office/drawing/2014/main" id="{A90B3879-7818-46E7-8A20-415B205EB70F}"/>
              </a:ext>
            </a:extLst>
          </p:cNvPr>
          <p:cNvSpPr/>
          <p:nvPr/>
        </p:nvSpPr>
        <p:spPr>
          <a:xfrm>
            <a:off x="2129951" y="1646267"/>
            <a:ext cx="3126177" cy="307777"/>
          </a:xfrm>
          <a:prstGeom prst="rect">
            <a:avLst/>
          </a:prstGeom>
        </p:spPr>
        <p:txBody>
          <a:bodyPr wrap="none">
            <a:spAutoFit/>
          </a:bodyPr>
          <a:lstStyle/>
          <a:p>
            <a:r>
              <a:rPr lang="en-US" sz="1400" dirty="0">
                <a:solidFill>
                  <a:srgbClr val="C00000"/>
                </a:solidFill>
                <a:latin typeface="Book Antiqua" panose="02040602050305030304" pitchFamily="18" charset="0"/>
              </a:rPr>
              <a:t>The Last House of Assembly election</a:t>
            </a:r>
            <a:endParaRPr lang="en-GB" sz="1400" dirty="0">
              <a:solidFill>
                <a:srgbClr val="C00000"/>
              </a:solidFill>
            </a:endParaRPr>
          </a:p>
        </p:txBody>
      </p:sp>
      <p:graphicFrame>
        <p:nvGraphicFramePr>
          <p:cNvPr id="10" name="Table 9">
            <a:extLst>
              <a:ext uri="{FF2B5EF4-FFF2-40B4-BE49-F238E27FC236}">
                <a16:creationId xmlns:a16="http://schemas.microsoft.com/office/drawing/2014/main" id="{8C9BF09C-D841-41EC-AB08-4062796F83B6}"/>
              </a:ext>
            </a:extLst>
          </p:cNvPr>
          <p:cNvGraphicFramePr>
            <a:graphicFrameLocks noGrp="1"/>
          </p:cNvGraphicFramePr>
          <p:nvPr>
            <p:extLst>
              <p:ext uri="{D42A27DB-BD31-4B8C-83A1-F6EECF244321}">
                <p14:modId xmlns:p14="http://schemas.microsoft.com/office/powerpoint/2010/main" val="1245060454"/>
              </p:ext>
            </p:extLst>
          </p:nvPr>
        </p:nvGraphicFramePr>
        <p:xfrm>
          <a:off x="5558790" y="1672429"/>
          <a:ext cx="5608320" cy="3959677"/>
        </p:xfrm>
        <a:graphic>
          <a:graphicData uri="http://schemas.openxmlformats.org/drawingml/2006/table">
            <a:tbl>
              <a:tblPr>
                <a:tableStyleId>{BDBED569-4797-4DF1-A0F4-6AAB3CD982D8}</a:tableStyleId>
              </a:tblPr>
              <a:tblGrid>
                <a:gridCol w="560832">
                  <a:extLst>
                    <a:ext uri="{9D8B030D-6E8A-4147-A177-3AD203B41FA5}">
                      <a16:colId xmlns:a16="http://schemas.microsoft.com/office/drawing/2014/main" val="1918203087"/>
                    </a:ext>
                  </a:extLst>
                </a:gridCol>
                <a:gridCol w="560832">
                  <a:extLst>
                    <a:ext uri="{9D8B030D-6E8A-4147-A177-3AD203B41FA5}">
                      <a16:colId xmlns:a16="http://schemas.microsoft.com/office/drawing/2014/main" val="1944241656"/>
                    </a:ext>
                  </a:extLst>
                </a:gridCol>
                <a:gridCol w="560832">
                  <a:extLst>
                    <a:ext uri="{9D8B030D-6E8A-4147-A177-3AD203B41FA5}">
                      <a16:colId xmlns:a16="http://schemas.microsoft.com/office/drawing/2014/main" val="3834393282"/>
                    </a:ext>
                  </a:extLst>
                </a:gridCol>
                <a:gridCol w="560832">
                  <a:extLst>
                    <a:ext uri="{9D8B030D-6E8A-4147-A177-3AD203B41FA5}">
                      <a16:colId xmlns:a16="http://schemas.microsoft.com/office/drawing/2014/main" val="3190588456"/>
                    </a:ext>
                  </a:extLst>
                </a:gridCol>
                <a:gridCol w="560832">
                  <a:extLst>
                    <a:ext uri="{9D8B030D-6E8A-4147-A177-3AD203B41FA5}">
                      <a16:colId xmlns:a16="http://schemas.microsoft.com/office/drawing/2014/main" val="1315901131"/>
                    </a:ext>
                  </a:extLst>
                </a:gridCol>
                <a:gridCol w="560832">
                  <a:extLst>
                    <a:ext uri="{9D8B030D-6E8A-4147-A177-3AD203B41FA5}">
                      <a16:colId xmlns:a16="http://schemas.microsoft.com/office/drawing/2014/main" val="4004572015"/>
                    </a:ext>
                  </a:extLst>
                </a:gridCol>
                <a:gridCol w="560832">
                  <a:extLst>
                    <a:ext uri="{9D8B030D-6E8A-4147-A177-3AD203B41FA5}">
                      <a16:colId xmlns:a16="http://schemas.microsoft.com/office/drawing/2014/main" val="2923258211"/>
                    </a:ext>
                  </a:extLst>
                </a:gridCol>
                <a:gridCol w="560832">
                  <a:extLst>
                    <a:ext uri="{9D8B030D-6E8A-4147-A177-3AD203B41FA5}">
                      <a16:colId xmlns:a16="http://schemas.microsoft.com/office/drawing/2014/main" val="3545192039"/>
                    </a:ext>
                  </a:extLst>
                </a:gridCol>
                <a:gridCol w="560832">
                  <a:extLst>
                    <a:ext uri="{9D8B030D-6E8A-4147-A177-3AD203B41FA5}">
                      <a16:colId xmlns:a16="http://schemas.microsoft.com/office/drawing/2014/main" val="339846481"/>
                    </a:ext>
                  </a:extLst>
                </a:gridCol>
                <a:gridCol w="560832">
                  <a:extLst>
                    <a:ext uri="{9D8B030D-6E8A-4147-A177-3AD203B41FA5}">
                      <a16:colId xmlns:a16="http://schemas.microsoft.com/office/drawing/2014/main" val="808306677"/>
                    </a:ext>
                  </a:extLst>
                </a:gridCol>
              </a:tblGrid>
              <a:tr h="269110">
                <a:tc gridSpan="2">
                  <a:txBody>
                    <a:bodyPr/>
                    <a:lstStyle/>
                    <a:p>
                      <a:pPr algn="ctr" fontAlgn="b"/>
                      <a:r>
                        <a:rPr lang="en-US" sz="1400" b="1" i="0" u="none" strike="noStrike" dirty="0">
                          <a:solidFill>
                            <a:srgbClr val="000000"/>
                          </a:solidFill>
                          <a:effectLst/>
                          <a:latin typeface="Calibri" panose="020F0502020204030204" pitchFamily="34" charset="0"/>
                        </a:rPr>
                        <a:t>Gender</a:t>
                      </a:r>
                      <a:endParaRPr lang="en-GB" sz="14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gridSpan="6">
                  <a:txBody>
                    <a:bodyPr/>
                    <a:lstStyle/>
                    <a:p>
                      <a:pPr algn="ctr" fontAlgn="b"/>
                      <a:r>
                        <a:rPr lang="en-US" sz="1400" b="1" i="0" u="none" strike="noStrike" dirty="0">
                          <a:solidFill>
                            <a:srgbClr val="000000"/>
                          </a:solidFill>
                          <a:effectLst/>
                          <a:latin typeface="Calibri" panose="020F0502020204030204" pitchFamily="34" charset="0"/>
                        </a:rPr>
                        <a:t>Location</a:t>
                      </a:r>
                      <a:endParaRPr lang="en-GB" sz="14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gridSpan="2">
                  <a:txBody>
                    <a:bodyPr/>
                    <a:lstStyle/>
                    <a:p>
                      <a:pPr algn="ctr" fontAlgn="b"/>
                      <a:r>
                        <a:rPr lang="en-US" sz="1400" b="1" i="0" u="none" strike="noStrike" dirty="0">
                          <a:solidFill>
                            <a:srgbClr val="000000"/>
                          </a:solidFill>
                          <a:effectLst/>
                          <a:latin typeface="Calibri" panose="020F0502020204030204" pitchFamily="34" charset="0"/>
                        </a:rPr>
                        <a:t>Urbanization</a:t>
                      </a:r>
                      <a:endParaRPr lang="en-GB" sz="14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158331613"/>
                  </a:ext>
                </a:extLst>
              </a:tr>
              <a:tr h="340762">
                <a:tc>
                  <a:txBody>
                    <a:bodyPr/>
                    <a:lstStyle/>
                    <a:p>
                      <a:pPr algn="ctr" fontAlgn="b"/>
                      <a:r>
                        <a:rPr lang="en-GB" sz="1400" b="1" u="none" strike="noStrike" dirty="0">
                          <a:effectLst/>
                        </a:rPr>
                        <a:t>Male</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Female </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FCT</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Bauchi</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Kano</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Enugu</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Edo</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Lagos</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i="0" u="none" strike="noStrike" dirty="0">
                          <a:solidFill>
                            <a:srgbClr val="000000"/>
                          </a:solidFill>
                          <a:effectLst/>
                          <a:latin typeface="Calibri" panose="020F0502020204030204" pitchFamily="34" charset="0"/>
                        </a:rPr>
                        <a:t>Urban</a:t>
                      </a:r>
                    </a:p>
                  </a:txBody>
                  <a:tcPr marL="9525" marR="9525" marT="9525" marB="0" anchor="ctr"/>
                </a:tc>
                <a:tc>
                  <a:txBody>
                    <a:bodyPr/>
                    <a:lstStyle/>
                    <a:p>
                      <a:pPr algn="ctr" fontAlgn="b"/>
                      <a:r>
                        <a:rPr lang="en-GB" sz="1400" b="1" i="0" u="none" strike="noStrike" dirty="0">
                          <a:solidFill>
                            <a:srgbClr val="000000"/>
                          </a:solidFill>
                          <a:effectLst/>
                          <a:latin typeface="Calibri" panose="020F0502020204030204" pitchFamily="34" charset="0"/>
                        </a:rPr>
                        <a:t>Rural</a:t>
                      </a:r>
                    </a:p>
                  </a:txBody>
                  <a:tcPr marL="9525" marR="9525" marT="9525" marB="0" anchor="ctr"/>
                </a:tc>
                <a:extLst>
                  <a:ext uri="{0D108BD9-81ED-4DB2-BD59-A6C34878D82A}">
                    <a16:rowId xmlns:a16="http://schemas.microsoft.com/office/drawing/2014/main" val="2249696190"/>
                  </a:ext>
                </a:extLst>
              </a:tr>
              <a:tr h="669961">
                <a:tc>
                  <a:txBody>
                    <a:bodyPr/>
                    <a:lstStyle/>
                    <a:p>
                      <a:pPr algn="ctr" fontAlgn="b"/>
                      <a:r>
                        <a:rPr lang="en-GB" sz="1400" b="0" i="0" u="none" strike="noStrike" dirty="0">
                          <a:solidFill>
                            <a:srgbClr val="000000"/>
                          </a:solidFill>
                          <a:effectLst/>
                          <a:latin typeface="Calibri" panose="020F0502020204030204" pitchFamily="34" charset="0"/>
                        </a:rPr>
                        <a:t>37%</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77%</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39%</a:t>
                      </a:r>
                    </a:p>
                  </a:txBody>
                  <a:tcPr marL="9525" marR="9525" marT="9525" marB="0" anchor="ctr"/>
                </a:tc>
                <a:extLst>
                  <a:ext uri="{0D108BD9-81ED-4DB2-BD59-A6C34878D82A}">
                    <a16:rowId xmlns:a16="http://schemas.microsoft.com/office/drawing/2014/main" val="2827805479"/>
                  </a:ext>
                </a:extLst>
              </a:tr>
              <a:tr h="669961">
                <a:tc>
                  <a:txBody>
                    <a:bodyPr/>
                    <a:lstStyle/>
                    <a:p>
                      <a:pPr algn="ctr" fontAlgn="b"/>
                      <a:r>
                        <a:rPr lang="en-GB" sz="1400" b="0" i="0" u="none" strike="noStrike">
                          <a:solidFill>
                            <a:srgbClr val="000000"/>
                          </a:solidFill>
                          <a:effectLst/>
                          <a:latin typeface="Calibri" panose="020F0502020204030204" pitchFamily="34" charset="0"/>
                        </a:rPr>
                        <a:t>31%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45%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16%</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26%</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70%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33%</a:t>
                      </a:r>
                    </a:p>
                  </a:txBody>
                  <a:tcPr marL="9525" marR="9525" marT="9525" marB="0" anchor="ctr"/>
                </a:tc>
                <a:extLst>
                  <a:ext uri="{0D108BD9-81ED-4DB2-BD59-A6C34878D82A}">
                    <a16:rowId xmlns:a16="http://schemas.microsoft.com/office/drawing/2014/main" val="2236246859"/>
                  </a:ext>
                </a:extLst>
              </a:tr>
              <a:tr h="669961">
                <a:tc>
                  <a:txBody>
                    <a:bodyPr/>
                    <a:lstStyle/>
                    <a:p>
                      <a:pPr algn="ctr" fontAlgn="b"/>
                      <a:r>
                        <a:rPr lang="en-GB" sz="1400" b="0" i="0" u="none" strike="noStrike">
                          <a:solidFill>
                            <a:srgbClr val="000000"/>
                          </a:solidFill>
                          <a:effectLst/>
                          <a:latin typeface="Calibri" panose="020F0502020204030204" pitchFamily="34" charset="0"/>
                        </a:rPr>
                        <a:t>19%</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16%</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14%</a:t>
                      </a:r>
                    </a:p>
                  </a:txBody>
                  <a:tcPr marL="9525" marR="9525" marT="9525" marB="0" anchor="ctr"/>
                </a:tc>
                <a:extLst>
                  <a:ext uri="{0D108BD9-81ED-4DB2-BD59-A6C34878D82A}">
                    <a16:rowId xmlns:a16="http://schemas.microsoft.com/office/drawing/2014/main" val="491645917"/>
                  </a:ext>
                </a:extLst>
              </a:tr>
              <a:tr h="669961">
                <a:tc>
                  <a:txBody>
                    <a:bodyPr/>
                    <a:lstStyle/>
                    <a:p>
                      <a:pPr algn="ctr" fontAlgn="b"/>
                      <a:r>
                        <a:rPr lang="en-GB" sz="1400" b="0" i="0" u="none" strike="noStrike">
                          <a:solidFill>
                            <a:srgbClr val="000000"/>
                          </a:solidFill>
                          <a:effectLst/>
                          <a:latin typeface="Calibri" panose="020F0502020204030204" pitchFamily="34" charset="0"/>
                        </a:rPr>
                        <a:t>8%</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27%</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8%</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14%</a:t>
                      </a:r>
                    </a:p>
                  </a:txBody>
                  <a:tcPr marL="9525" marR="9525" marT="9525" marB="0" anchor="ctr"/>
                </a:tc>
                <a:extLst>
                  <a:ext uri="{0D108BD9-81ED-4DB2-BD59-A6C34878D82A}">
                    <a16:rowId xmlns:a16="http://schemas.microsoft.com/office/drawing/2014/main" val="2138546097"/>
                  </a:ext>
                </a:extLst>
              </a:tr>
              <a:tr h="669961">
                <a:tc>
                  <a:txBody>
                    <a:bodyPr/>
                    <a:lstStyle/>
                    <a:p>
                      <a:pPr algn="ctr" fontAlgn="b"/>
                      <a:r>
                        <a:rPr lang="en-GB" sz="1400" b="0" i="0" u="none" strike="noStrike">
                          <a:solidFill>
                            <a:srgbClr val="000000"/>
                          </a:solidFill>
                          <a:effectLst/>
                          <a:latin typeface="Calibri" panose="020F0502020204030204" pitchFamily="34" charset="0"/>
                        </a:rPr>
                        <a:t>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9%</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0%</a:t>
                      </a:r>
                    </a:p>
                  </a:txBody>
                  <a:tcPr marL="9525" marR="9525" marT="9525" marB="0" anchor="ctr"/>
                </a:tc>
                <a:extLst>
                  <a:ext uri="{0D108BD9-81ED-4DB2-BD59-A6C34878D82A}">
                    <a16:rowId xmlns:a16="http://schemas.microsoft.com/office/drawing/2014/main" val="2862610367"/>
                  </a:ext>
                </a:extLst>
              </a:tr>
            </a:tbl>
          </a:graphicData>
        </a:graphic>
      </p:graphicFrame>
      <p:graphicFrame>
        <p:nvGraphicFramePr>
          <p:cNvPr id="13" name="Table 12">
            <a:extLst>
              <a:ext uri="{FF2B5EF4-FFF2-40B4-BE49-F238E27FC236}">
                <a16:creationId xmlns:a16="http://schemas.microsoft.com/office/drawing/2014/main" id="{1890504D-8526-4167-B6D3-451A3353F6AF}"/>
              </a:ext>
            </a:extLst>
          </p:cNvPr>
          <p:cNvGraphicFramePr>
            <a:graphicFrameLocks noGrp="1"/>
          </p:cNvGraphicFramePr>
          <p:nvPr>
            <p:extLst>
              <p:ext uri="{D42A27DB-BD31-4B8C-83A1-F6EECF244321}">
                <p14:modId xmlns:p14="http://schemas.microsoft.com/office/powerpoint/2010/main" val="2957168222"/>
              </p:ext>
            </p:extLst>
          </p:nvPr>
        </p:nvGraphicFramePr>
        <p:xfrm>
          <a:off x="5547360" y="5764530"/>
          <a:ext cx="5642610" cy="190500"/>
        </p:xfrm>
        <a:graphic>
          <a:graphicData uri="http://schemas.openxmlformats.org/drawingml/2006/table">
            <a:tbl>
              <a:tblPr>
                <a:tableStyleId>{BDBED569-4797-4DF1-A0F4-6AAB3CD982D8}</a:tableStyleId>
              </a:tblPr>
              <a:tblGrid>
                <a:gridCol w="564261">
                  <a:extLst>
                    <a:ext uri="{9D8B030D-6E8A-4147-A177-3AD203B41FA5}">
                      <a16:colId xmlns:a16="http://schemas.microsoft.com/office/drawing/2014/main" val="3112059166"/>
                    </a:ext>
                  </a:extLst>
                </a:gridCol>
                <a:gridCol w="564261">
                  <a:extLst>
                    <a:ext uri="{9D8B030D-6E8A-4147-A177-3AD203B41FA5}">
                      <a16:colId xmlns:a16="http://schemas.microsoft.com/office/drawing/2014/main" val="2489636269"/>
                    </a:ext>
                  </a:extLst>
                </a:gridCol>
                <a:gridCol w="564261">
                  <a:extLst>
                    <a:ext uri="{9D8B030D-6E8A-4147-A177-3AD203B41FA5}">
                      <a16:colId xmlns:a16="http://schemas.microsoft.com/office/drawing/2014/main" val="1395971383"/>
                    </a:ext>
                  </a:extLst>
                </a:gridCol>
                <a:gridCol w="564261">
                  <a:extLst>
                    <a:ext uri="{9D8B030D-6E8A-4147-A177-3AD203B41FA5}">
                      <a16:colId xmlns:a16="http://schemas.microsoft.com/office/drawing/2014/main" val="3541316122"/>
                    </a:ext>
                  </a:extLst>
                </a:gridCol>
                <a:gridCol w="564261">
                  <a:extLst>
                    <a:ext uri="{9D8B030D-6E8A-4147-A177-3AD203B41FA5}">
                      <a16:colId xmlns:a16="http://schemas.microsoft.com/office/drawing/2014/main" val="2973643808"/>
                    </a:ext>
                  </a:extLst>
                </a:gridCol>
                <a:gridCol w="564261">
                  <a:extLst>
                    <a:ext uri="{9D8B030D-6E8A-4147-A177-3AD203B41FA5}">
                      <a16:colId xmlns:a16="http://schemas.microsoft.com/office/drawing/2014/main" val="1098445318"/>
                    </a:ext>
                  </a:extLst>
                </a:gridCol>
                <a:gridCol w="564261">
                  <a:extLst>
                    <a:ext uri="{9D8B030D-6E8A-4147-A177-3AD203B41FA5}">
                      <a16:colId xmlns:a16="http://schemas.microsoft.com/office/drawing/2014/main" val="575542565"/>
                    </a:ext>
                  </a:extLst>
                </a:gridCol>
                <a:gridCol w="564261">
                  <a:extLst>
                    <a:ext uri="{9D8B030D-6E8A-4147-A177-3AD203B41FA5}">
                      <a16:colId xmlns:a16="http://schemas.microsoft.com/office/drawing/2014/main" val="3024795525"/>
                    </a:ext>
                  </a:extLst>
                </a:gridCol>
                <a:gridCol w="564261">
                  <a:extLst>
                    <a:ext uri="{9D8B030D-6E8A-4147-A177-3AD203B41FA5}">
                      <a16:colId xmlns:a16="http://schemas.microsoft.com/office/drawing/2014/main" val="1794991674"/>
                    </a:ext>
                  </a:extLst>
                </a:gridCol>
                <a:gridCol w="564261">
                  <a:extLst>
                    <a:ext uri="{9D8B030D-6E8A-4147-A177-3AD203B41FA5}">
                      <a16:colId xmlns:a16="http://schemas.microsoft.com/office/drawing/2014/main" val="3018974446"/>
                    </a:ext>
                  </a:extLst>
                </a:gridCol>
              </a:tblGrid>
              <a:tr h="190500">
                <a:tc>
                  <a:txBody>
                    <a:bodyPr/>
                    <a:lstStyle/>
                    <a:p>
                      <a:pPr algn="ctr" fontAlgn="b"/>
                      <a:r>
                        <a:rPr lang="en-GB" sz="1100" b="0" i="0" u="none" strike="noStrike" dirty="0">
                          <a:solidFill>
                            <a:srgbClr val="000000"/>
                          </a:solidFill>
                          <a:effectLst/>
                          <a:latin typeface="Calibri" panose="020F0502020204030204" pitchFamily="34" charset="0"/>
                        </a:rPr>
                        <a:t>153</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85</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10</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40</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111</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11</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19</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47</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128</a:t>
                      </a:r>
                    </a:p>
                  </a:txBody>
                  <a:tcPr marL="9525" marR="9525" marT="9525" marB="0" anchor="b"/>
                </a:tc>
                <a:tc>
                  <a:txBody>
                    <a:bodyPr/>
                    <a:lstStyle/>
                    <a:p>
                      <a:pPr algn="ctr" fontAlgn="b"/>
                      <a:r>
                        <a:rPr lang="en-GB" sz="1100" b="0" i="0" u="none" strike="noStrike" dirty="0">
                          <a:solidFill>
                            <a:srgbClr val="000000"/>
                          </a:solidFill>
                          <a:effectLst/>
                          <a:latin typeface="Calibri" panose="020F0502020204030204" pitchFamily="34" charset="0"/>
                        </a:rPr>
                        <a:t>110</a:t>
                      </a:r>
                    </a:p>
                  </a:txBody>
                  <a:tcPr marL="9525" marR="9525" marT="9525" marB="0" anchor="b"/>
                </a:tc>
                <a:extLst>
                  <a:ext uri="{0D108BD9-81ED-4DB2-BD59-A6C34878D82A}">
                    <a16:rowId xmlns:a16="http://schemas.microsoft.com/office/drawing/2014/main" val="2504590640"/>
                  </a:ext>
                </a:extLst>
              </a:tr>
            </a:tbl>
          </a:graphicData>
        </a:graphic>
      </p:graphicFrame>
      <p:sp>
        <p:nvSpPr>
          <p:cNvPr id="11" name="TextBox 10">
            <a:extLst>
              <a:ext uri="{FF2B5EF4-FFF2-40B4-BE49-F238E27FC236}">
                <a16:creationId xmlns:a16="http://schemas.microsoft.com/office/drawing/2014/main" id="{5E2E29F0-F8BD-468D-9914-03A85A2A01EF}"/>
              </a:ext>
            </a:extLst>
          </p:cNvPr>
          <p:cNvSpPr txBox="1"/>
          <p:nvPr/>
        </p:nvSpPr>
        <p:spPr>
          <a:xfrm>
            <a:off x="312991" y="119838"/>
            <a:ext cx="5605670"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The Last Elections</a:t>
            </a:r>
          </a:p>
        </p:txBody>
      </p:sp>
      <p:sp>
        <p:nvSpPr>
          <p:cNvPr id="15" name="TextBox 14">
            <a:extLst>
              <a:ext uri="{FF2B5EF4-FFF2-40B4-BE49-F238E27FC236}">
                <a16:creationId xmlns:a16="http://schemas.microsoft.com/office/drawing/2014/main" id="{567FA936-2C02-430F-968B-9EC99076F1DE}"/>
              </a:ext>
            </a:extLst>
          </p:cNvPr>
          <p:cNvSpPr txBox="1"/>
          <p:nvPr/>
        </p:nvSpPr>
        <p:spPr>
          <a:xfrm>
            <a:off x="331302" y="675740"/>
            <a:ext cx="11714923" cy="523220"/>
          </a:xfrm>
          <a:prstGeom prst="rect">
            <a:avLst/>
          </a:prstGeom>
          <a:noFill/>
        </p:spPr>
        <p:txBody>
          <a:bodyPr wrap="square">
            <a:spAutoFit/>
          </a:bodyPr>
          <a:lstStyle/>
          <a:p>
            <a:pPr lvl="0">
              <a:defRPr/>
            </a:pPr>
            <a:r>
              <a:rPr lang="en-US" sz="1400" b="1" dirty="0">
                <a:solidFill>
                  <a:srgbClr val="0070C0"/>
                </a:solidFill>
                <a:latin typeface="Book Antiqua" panose="02040602050305030304" pitchFamily="18" charset="0"/>
                <a:ea typeface="Arial Unicode MS"/>
              </a:rPr>
              <a:t>New Nigeria Peoples Party (NNPP) (36%), All Progressives Congress (APC) (32%), People’s Democratic Party (PDP) (18%), and Labour Party (LP) (11%), are the main political parties that received significant votes in the last House of Assembly elections.</a:t>
            </a:r>
          </a:p>
        </p:txBody>
      </p:sp>
    </p:spTree>
    <p:extLst>
      <p:ext uri="{BB962C8B-B14F-4D97-AF65-F5344CB8AC3E}">
        <p14:creationId xmlns:p14="http://schemas.microsoft.com/office/powerpoint/2010/main" val="4412789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Q336.  In the last  Local Government Elections, which political party did you vote for?</a:t>
            </a:r>
            <a:endParaRPr lang="en-US" sz="1000" dirty="0">
              <a:latin typeface="Book Antiqua" panose="02040602050305030304" pitchFamily="18" charset="0"/>
            </a:endParaRPr>
          </a:p>
        </p:txBody>
      </p:sp>
      <p:graphicFrame>
        <p:nvGraphicFramePr>
          <p:cNvPr id="8" name="Chart 7">
            <a:extLst>
              <a:ext uri="{FF2B5EF4-FFF2-40B4-BE49-F238E27FC236}">
                <a16:creationId xmlns:a16="http://schemas.microsoft.com/office/drawing/2014/main" id="{4859EA40-6F25-4B2E-91DC-3A46D1EA07F4}"/>
              </a:ext>
            </a:extLst>
          </p:cNvPr>
          <p:cNvGraphicFramePr/>
          <p:nvPr>
            <p:extLst>
              <p:ext uri="{D42A27DB-BD31-4B8C-83A1-F6EECF244321}">
                <p14:modId xmlns:p14="http://schemas.microsoft.com/office/powerpoint/2010/main" val="685121071"/>
              </p:ext>
            </p:extLst>
          </p:nvPr>
        </p:nvGraphicFramePr>
        <p:xfrm>
          <a:off x="832513" y="2011680"/>
          <a:ext cx="4402427" cy="3798570"/>
        </p:xfrm>
        <a:graphic>
          <a:graphicData uri="http://schemas.openxmlformats.org/drawingml/2006/chart">
            <c:chart xmlns:c="http://schemas.openxmlformats.org/drawingml/2006/chart" xmlns:r="http://schemas.openxmlformats.org/officeDocument/2006/relationships" r:id="rId2"/>
          </a:graphicData>
        </a:graphic>
      </p:graphicFrame>
      <p:sp>
        <p:nvSpPr>
          <p:cNvPr id="12" name="Rectangle 11">
            <a:extLst>
              <a:ext uri="{FF2B5EF4-FFF2-40B4-BE49-F238E27FC236}">
                <a16:creationId xmlns:a16="http://schemas.microsoft.com/office/drawing/2014/main" id="{B04CE8E3-6477-4704-A018-FD65D74B66D3}"/>
              </a:ext>
            </a:extLst>
          </p:cNvPr>
          <p:cNvSpPr/>
          <p:nvPr/>
        </p:nvSpPr>
        <p:spPr>
          <a:xfrm>
            <a:off x="2634615" y="5741670"/>
            <a:ext cx="772969" cy="369332"/>
          </a:xfrm>
          <a:prstGeom prst="rect">
            <a:avLst/>
          </a:prstGeom>
        </p:spPr>
        <p:txBody>
          <a:bodyPr wrap="none">
            <a:spAutoFit/>
          </a:bodyPr>
          <a:lstStyle/>
          <a:p>
            <a:r>
              <a:rPr lang="en-GB" dirty="0">
                <a:solidFill>
                  <a:srgbClr val="000000"/>
                </a:solidFill>
                <a:latin typeface="Calibri" panose="020F0502020204030204" pitchFamily="34" charset="0"/>
              </a:rPr>
              <a:t>n=225</a:t>
            </a:r>
            <a:endParaRPr lang="en-GB" dirty="0"/>
          </a:p>
        </p:txBody>
      </p:sp>
      <p:sp>
        <p:nvSpPr>
          <p:cNvPr id="2" name="Rectangle 1">
            <a:extLst>
              <a:ext uri="{FF2B5EF4-FFF2-40B4-BE49-F238E27FC236}">
                <a16:creationId xmlns:a16="http://schemas.microsoft.com/office/drawing/2014/main" id="{A90B3879-7818-46E7-8A20-415B205EB70F}"/>
              </a:ext>
            </a:extLst>
          </p:cNvPr>
          <p:cNvSpPr/>
          <p:nvPr/>
        </p:nvSpPr>
        <p:spPr>
          <a:xfrm>
            <a:off x="2129951" y="1646267"/>
            <a:ext cx="3151825" cy="307777"/>
          </a:xfrm>
          <a:prstGeom prst="rect">
            <a:avLst/>
          </a:prstGeom>
        </p:spPr>
        <p:txBody>
          <a:bodyPr wrap="none">
            <a:spAutoFit/>
          </a:bodyPr>
          <a:lstStyle/>
          <a:p>
            <a:r>
              <a:rPr lang="en-US" sz="1400" dirty="0">
                <a:solidFill>
                  <a:srgbClr val="C00000"/>
                </a:solidFill>
                <a:latin typeface="Book Antiqua" panose="02040602050305030304" pitchFamily="18" charset="0"/>
              </a:rPr>
              <a:t>The Last Local Government Elections</a:t>
            </a:r>
            <a:endParaRPr lang="en-GB" sz="1400" dirty="0">
              <a:solidFill>
                <a:srgbClr val="C00000"/>
              </a:solidFill>
            </a:endParaRPr>
          </a:p>
        </p:txBody>
      </p:sp>
      <p:graphicFrame>
        <p:nvGraphicFramePr>
          <p:cNvPr id="10" name="Table 9">
            <a:extLst>
              <a:ext uri="{FF2B5EF4-FFF2-40B4-BE49-F238E27FC236}">
                <a16:creationId xmlns:a16="http://schemas.microsoft.com/office/drawing/2014/main" id="{677E861A-8D9A-49A0-8445-151BF9C18DAD}"/>
              </a:ext>
            </a:extLst>
          </p:cNvPr>
          <p:cNvGraphicFramePr>
            <a:graphicFrameLocks noGrp="1"/>
          </p:cNvGraphicFramePr>
          <p:nvPr>
            <p:extLst>
              <p:ext uri="{D42A27DB-BD31-4B8C-83A1-F6EECF244321}">
                <p14:modId xmlns:p14="http://schemas.microsoft.com/office/powerpoint/2010/main" val="479193160"/>
              </p:ext>
            </p:extLst>
          </p:nvPr>
        </p:nvGraphicFramePr>
        <p:xfrm>
          <a:off x="5558790" y="1672429"/>
          <a:ext cx="5608320" cy="3959677"/>
        </p:xfrm>
        <a:graphic>
          <a:graphicData uri="http://schemas.openxmlformats.org/drawingml/2006/table">
            <a:tbl>
              <a:tblPr>
                <a:tableStyleId>{BDBED569-4797-4DF1-A0F4-6AAB3CD982D8}</a:tableStyleId>
              </a:tblPr>
              <a:tblGrid>
                <a:gridCol w="560832">
                  <a:extLst>
                    <a:ext uri="{9D8B030D-6E8A-4147-A177-3AD203B41FA5}">
                      <a16:colId xmlns:a16="http://schemas.microsoft.com/office/drawing/2014/main" val="1918203087"/>
                    </a:ext>
                  </a:extLst>
                </a:gridCol>
                <a:gridCol w="560832">
                  <a:extLst>
                    <a:ext uri="{9D8B030D-6E8A-4147-A177-3AD203B41FA5}">
                      <a16:colId xmlns:a16="http://schemas.microsoft.com/office/drawing/2014/main" val="1944241656"/>
                    </a:ext>
                  </a:extLst>
                </a:gridCol>
                <a:gridCol w="560832">
                  <a:extLst>
                    <a:ext uri="{9D8B030D-6E8A-4147-A177-3AD203B41FA5}">
                      <a16:colId xmlns:a16="http://schemas.microsoft.com/office/drawing/2014/main" val="3834393282"/>
                    </a:ext>
                  </a:extLst>
                </a:gridCol>
                <a:gridCol w="560832">
                  <a:extLst>
                    <a:ext uri="{9D8B030D-6E8A-4147-A177-3AD203B41FA5}">
                      <a16:colId xmlns:a16="http://schemas.microsoft.com/office/drawing/2014/main" val="3190588456"/>
                    </a:ext>
                  </a:extLst>
                </a:gridCol>
                <a:gridCol w="560832">
                  <a:extLst>
                    <a:ext uri="{9D8B030D-6E8A-4147-A177-3AD203B41FA5}">
                      <a16:colId xmlns:a16="http://schemas.microsoft.com/office/drawing/2014/main" val="1315901131"/>
                    </a:ext>
                  </a:extLst>
                </a:gridCol>
                <a:gridCol w="560832">
                  <a:extLst>
                    <a:ext uri="{9D8B030D-6E8A-4147-A177-3AD203B41FA5}">
                      <a16:colId xmlns:a16="http://schemas.microsoft.com/office/drawing/2014/main" val="4004572015"/>
                    </a:ext>
                  </a:extLst>
                </a:gridCol>
                <a:gridCol w="560832">
                  <a:extLst>
                    <a:ext uri="{9D8B030D-6E8A-4147-A177-3AD203B41FA5}">
                      <a16:colId xmlns:a16="http://schemas.microsoft.com/office/drawing/2014/main" val="2923258211"/>
                    </a:ext>
                  </a:extLst>
                </a:gridCol>
                <a:gridCol w="560832">
                  <a:extLst>
                    <a:ext uri="{9D8B030D-6E8A-4147-A177-3AD203B41FA5}">
                      <a16:colId xmlns:a16="http://schemas.microsoft.com/office/drawing/2014/main" val="3545192039"/>
                    </a:ext>
                  </a:extLst>
                </a:gridCol>
                <a:gridCol w="560832">
                  <a:extLst>
                    <a:ext uri="{9D8B030D-6E8A-4147-A177-3AD203B41FA5}">
                      <a16:colId xmlns:a16="http://schemas.microsoft.com/office/drawing/2014/main" val="339846481"/>
                    </a:ext>
                  </a:extLst>
                </a:gridCol>
                <a:gridCol w="560832">
                  <a:extLst>
                    <a:ext uri="{9D8B030D-6E8A-4147-A177-3AD203B41FA5}">
                      <a16:colId xmlns:a16="http://schemas.microsoft.com/office/drawing/2014/main" val="808306677"/>
                    </a:ext>
                  </a:extLst>
                </a:gridCol>
              </a:tblGrid>
              <a:tr h="269110">
                <a:tc gridSpan="2">
                  <a:txBody>
                    <a:bodyPr/>
                    <a:lstStyle/>
                    <a:p>
                      <a:pPr algn="ctr" fontAlgn="b"/>
                      <a:r>
                        <a:rPr lang="en-US" sz="1400" b="1" i="0" u="none" strike="noStrike" dirty="0">
                          <a:solidFill>
                            <a:srgbClr val="000000"/>
                          </a:solidFill>
                          <a:effectLst/>
                          <a:latin typeface="Calibri" panose="020F0502020204030204" pitchFamily="34" charset="0"/>
                        </a:rPr>
                        <a:t>Gender</a:t>
                      </a:r>
                      <a:endParaRPr lang="en-GB" sz="14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gridSpan="6">
                  <a:txBody>
                    <a:bodyPr/>
                    <a:lstStyle/>
                    <a:p>
                      <a:pPr algn="ctr" fontAlgn="b"/>
                      <a:r>
                        <a:rPr lang="en-US" sz="1400" b="1" i="0" u="none" strike="noStrike" dirty="0">
                          <a:solidFill>
                            <a:srgbClr val="000000"/>
                          </a:solidFill>
                          <a:effectLst/>
                          <a:latin typeface="Calibri" panose="020F0502020204030204" pitchFamily="34" charset="0"/>
                        </a:rPr>
                        <a:t>Location</a:t>
                      </a:r>
                      <a:endParaRPr lang="en-GB" sz="14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gridSpan="2">
                  <a:txBody>
                    <a:bodyPr/>
                    <a:lstStyle/>
                    <a:p>
                      <a:pPr algn="ctr" fontAlgn="b"/>
                      <a:r>
                        <a:rPr lang="en-US" sz="1400" b="1" i="0" u="none" strike="noStrike" dirty="0">
                          <a:solidFill>
                            <a:srgbClr val="000000"/>
                          </a:solidFill>
                          <a:effectLst/>
                          <a:latin typeface="Calibri" panose="020F0502020204030204" pitchFamily="34" charset="0"/>
                        </a:rPr>
                        <a:t>Urbanization</a:t>
                      </a:r>
                      <a:endParaRPr lang="en-GB" sz="14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158331613"/>
                  </a:ext>
                </a:extLst>
              </a:tr>
              <a:tr h="340762">
                <a:tc>
                  <a:txBody>
                    <a:bodyPr/>
                    <a:lstStyle/>
                    <a:p>
                      <a:pPr algn="ctr" fontAlgn="b"/>
                      <a:r>
                        <a:rPr lang="en-GB" sz="1400" b="1" u="none" strike="noStrike" dirty="0">
                          <a:effectLst/>
                        </a:rPr>
                        <a:t>Male</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Female </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FCT</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Bauchi</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Kano</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Enugu</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Edo</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Lagos</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i="0" u="none" strike="noStrike" dirty="0">
                          <a:solidFill>
                            <a:srgbClr val="000000"/>
                          </a:solidFill>
                          <a:effectLst/>
                          <a:latin typeface="Calibri" panose="020F0502020204030204" pitchFamily="34" charset="0"/>
                        </a:rPr>
                        <a:t>Urban</a:t>
                      </a:r>
                    </a:p>
                  </a:txBody>
                  <a:tcPr marL="9525" marR="9525" marT="9525" marB="0" anchor="ctr"/>
                </a:tc>
                <a:tc>
                  <a:txBody>
                    <a:bodyPr/>
                    <a:lstStyle/>
                    <a:p>
                      <a:pPr algn="ctr" fontAlgn="b"/>
                      <a:r>
                        <a:rPr lang="en-GB" sz="1400" b="1" i="0" u="none" strike="noStrike" dirty="0">
                          <a:solidFill>
                            <a:srgbClr val="000000"/>
                          </a:solidFill>
                          <a:effectLst/>
                          <a:latin typeface="Calibri" panose="020F0502020204030204" pitchFamily="34" charset="0"/>
                        </a:rPr>
                        <a:t>Rural</a:t>
                      </a:r>
                    </a:p>
                  </a:txBody>
                  <a:tcPr marL="9525" marR="9525" marT="9525" marB="0" anchor="ctr"/>
                </a:tc>
                <a:extLst>
                  <a:ext uri="{0D108BD9-81ED-4DB2-BD59-A6C34878D82A}">
                    <a16:rowId xmlns:a16="http://schemas.microsoft.com/office/drawing/2014/main" val="2249696190"/>
                  </a:ext>
                </a:extLst>
              </a:tr>
              <a:tr h="669961">
                <a:tc>
                  <a:txBody>
                    <a:bodyPr/>
                    <a:lstStyle/>
                    <a:p>
                      <a:pPr algn="ctr" fontAlgn="b"/>
                      <a:r>
                        <a:rPr lang="en-GB" sz="1400" b="0" i="0" u="none" strike="noStrike" dirty="0">
                          <a:solidFill>
                            <a:srgbClr val="000000"/>
                          </a:solidFill>
                          <a:effectLst/>
                          <a:latin typeface="Calibri" panose="020F0502020204030204" pitchFamily="34" charset="0"/>
                        </a:rPr>
                        <a:t>36%</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82%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38%</a:t>
                      </a:r>
                    </a:p>
                  </a:txBody>
                  <a:tcPr marL="9525" marR="9525" marT="9525" marB="0" anchor="ctr"/>
                </a:tc>
                <a:extLst>
                  <a:ext uri="{0D108BD9-81ED-4DB2-BD59-A6C34878D82A}">
                    <a16:rowId xmlns:a16="http://schemas.microsoft.com/office/drawing/2014/main" val="2827805479"/>
                  </a:ext>
                </a:extLst>
              </a:tr>
              <a:tr h="669961">
                <a:tc>
                  <a:txBody>
                    <a:bodyPr/>
                    <a:lstStyle/>
                    <a:p>
                      <a:pPr algn="ctr" fontAlgn="b"/>
                      <a:r>
                        <a:rPr lang="en-GB" sz="1400" b="0" i="0" u="none" strike="noStrike">
                          <a:solidFill>
                            <a:srgbClr val="000000"/>
                          </a:solidFill>
                          <a:effectLst/>
                          <a:latin typeface="Calibri" panose="020F0502020204030204" pitchFamily="34" charset="0"/>
                        </a:rPr>
                        <a:t>27%</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43%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17%</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79%</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34%</a:t>
                      </a:r>
                    </a:p>
                  </a:txBody>
                  <a:tcPr marL="9525" marR="9525" marT="9525" marB="0" anchor="ctr"/>
                </a:tc>
                <a:extLst>
                  <a:ext uri="{0D108BD9-81ED-4DB2-BD59-A6C34878D82A}">
                    <a16:rowId xmlns:a16="http://schemas.microsoft.com/office/drawing/2014/main" val="2236246859"/>
                  </a:ext>
                </a:extLst>
              </a:tr>
              <a:tr h="669961">
                <a:tc>
                  <a:txBody>
                    <a:bodyPr/>
                    <a:lstStyle/>
                    <a:p>
                      <a:pPr algn="ctr" fontAlgn="b"/>
                      <a:r>
                        <a:rPr lang="en-GB" sz="1400" b="0" i="0" u="none" strike="noStrike">
                          <a:solidFill>
                            <a:srgbClr val="000000"/>
                          </a:solidFill>
                          <a:effectLst/>
                          <a:latin typeface="Calibri" panose="020F0502020204030204" pitchFamily="34" charset="0"/>
                        </a:rPr>
                        <a:t>22%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19%</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43%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42%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68%</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16%</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28%</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13%</a:t>
                      </a:r>
                    </a:p>
                  </a:txBody>
                  <a:tcPr marL="9525" marR="9525" marT="9525" marB="0" anchor="ctr"/>
                </a:tc>
                <a:extLst>
                  <a:ext uri="{0D108BD9-81ED-4DB2-BD59-A6C34878D82A}">
                    <a16:rowId xmlns:a16="http://schemas.microsoft.com/office/drawing/2014/main" val="491645917"/>
                  </a:ext>
                </a:extLst>
              </a:tr>
              <a:tr h="669961">
                <a:tc>
                  <a:txBody>
                    <a:bodyPr/>
                    <a:lstStyle/>
                    <a:p>
                      <a:pPr algn="ctr" fontAlgn="b"/>
                      <a:r>
                        <a:rPr lang="en-GB" sz="1400" b="0" i="0" u="none" strike="noStrike">
                          <a:solidFill>
                            <a:srgbClr val="000000"/>
                          </a:solidFill>
                          <a:effectLst/>
                          <a:latin typeface="Calibri" panose="020F0502020204030204" pitchFamily="34" charset="0"/>
                        </a:rPr>
                        <a:t>12%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18%</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7%</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13%</a:t>
                      </a:r>
                    </a:p>
                  </a:txBody>
                  <a:tcPr marL="9525" marR="9525" marT="9525" marB="0" anchor="ctr"/>
                </a:tc>
                <a:extLst>
                  <a:ext uri="{0D108BD9-81ED-4DB2-BD59-A6C34878D82A}">
                    <a16:rowId xmlns:a16="http://schemas.microsoft.com/office/drawing/2014/main" val="2138546097"/>
                  </a:ext>
                </a:extLst>
              </a:tr>
              <a:tr h="669961">
                <a:tc>
                  <a:txBody>
                    <a:bodyPr/>
                    <a:lstStyle/>
                    <a:p>
                      <a:pPr algn="ctr" fontAlgn="b"/>
                      <a:r>
                        <a:rPr lang="en-GB" sz="1400" b="0" i="0" u="none" strike="noStrike">
                          <a:solidFill>
                            <a:srgbClr val="000000"/>
                          </a:solidFill>
                          <a:effectLst/>
                          <a:latin typeface="Calibri" panose="020F0502020204030204" pitchFamily="34" charset="0"/>
                        </a:rPr>
                        <a:t>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1%</a:t>
                      </a:r>
                    </a:p>
                  </a:txBody>
                  <a:tcPr marL="9525" marR="9525" marT="9525" marB="0" anchor="ctr"/>
                </a:tc>
                <a:extLst>
                  <a:ext uri="{0D108BD9-81ED-4DB2-BD59-A6C34878D82A}">
                    <a16:rowId xmlns:a16="http://schemas.microsoft.com/office/drawing/2014/main" val="2862610367"/>
                  </a:ext>
                </a:extLst>
              </a:tr>
            </a:tbl>
          </a:graphicData>
        </a:graphic>
      </p:graphicFrame>
      <p:graphicFrame>
        <p:nvGraphicFramePr>
          <p:cNvPr id="13" name="Table 12">
            <a:extLst>
              <a:ext uri="{FF2B5EF4-FFF2-40B4-BE49-F238E27FC236}">
                <a16:creationId xmlns:a16="http://schemas.microsoft.com/office/drawing/2014/main" id="{734B3D38-343C-447D-867C-0861B46FFC7D}"/>
              </a:ext>
            </a:extLst>
          </p:cNvPr>
          <p:cNvGraphicFramePr>
            <a:graphicFrameLocks noGrp="1"/>
          </p:cNvGraphicFramePr>
          <p:nvPr>
            <p:extLst>
              <p:ext uri="{D42A27DB-BD31-4B8C-83A1-F6EECF244321}">
                <p14:modId xmlns:p14="http://schemas.microsoft.com/office/powerpoint/2010/main" val="755813528"/>
              </p:ext>
            </p:extLst>
          </p:nvPr>
        </p:nvGraphicFramePr>
        <p:xfrm>
          <a:off x="5547360" y="5764530"/>
          <a:ext cx="5642610" cy="190500"/>
        </p:xfrm>
        <a:graphic>
          <a:graphicData uri="http://schemas.openxmlformats.org/drawingml/2006/table">
            <a:tbl>
              <a:tblPr>
                <a:tableStyleId>{BDBED569-4797-4DF1-A0F4-6AAB3CD982D8}</a:tableStyleId>
              </a:tblPr>
              <a:tblGrid>
                <a:gridCol w="564261">
                  <a:extLst>
                    <a:ext uri="{9D8B030D-6E8A-4147-A177-3AD203B41FA5}">
                      <a16:colId xmlns:a16="http://schemas.microsoft.com/office/drawing/2014/main" val="3112059166"/>
                    </a:ext>
                  </a:extLst>
                </a:gridCol>
                <a:gridCol w="564261">
                  <a:extLst>
                    <a:ext uri="{9D8B030D-6E8A-4147-A177-3AD203B41FA5}">
                      <a16:colId xmlns:a16="http://schemas.microsoft.com/office/drawing/2014/main" val="2489636269"/>
                    </a:ext>
                  </a:extLst>
                </a:gridCol>
                <a:gridCol w="564261">
                  <a:extLst>
                    <a:ext uri="{9D8B030D-6E8A-4147-A177-3AD203B41FA5}">
                      <a16:colId xmlns:a16="http://schemas.microsoft.com/office/drawing/2014/main" val="1395971383"/>
                    </a:ext>
                  </a:extLst>
                </a:gridCol>
                <a:gridCol w="564261">
                  <a:extLst>
                    <a:ext uri="{9D8B030D-6E8A-4147-A177-3AD203B41FA5}">
                      <a16:colId xmlns:a16="http://schemas.microsoft.com/office/drawing/2014/main" val="3541316122"/>
                    </a:ext>
                  </a:extLst>
                </a:gridCol>
                <a:gridCol w="564261">
                  <a:extLst>
                    <a:ext uri="{9D8B030D-6E8A-4147-A177-3AD203B41FA5}">
                      <a16:colId xmlns:a16="http://schemas.microsoft.com/office/drawing/2014/main" val="2973643808"/>
                    </a:ext>
                  </a:extLst>
                </a:gridCol>
                <a:gridCol w="564261">
                  <a:extLst>
                    <a:ext uri="{9D8B030D-6E8A-4147-A177-3AD203B41FA5}">
                      <a16:colId xmlns:a16="http://schemas.microsoft.com/office/drawing/2014/main" val="1098445318"/>
                    </a:ext>
                  </a:extLst>
                </a:gridCol>
                <a:gridCol w="564261">
                  <a:extLst>
                    <a:ext uri="{9D8B030D-6E8A-4147-A177-3AD203B41FA5}">
                      <a16:colId xmlns:a16="http://schemas.microsoft.com/office/drawing/2014/main" val="575542565"/>
                    </a:ext>
                  </a:extLst>
                </a:gridCol>
                <a:gridCol w="564261">
                  <a:extLst>
                    <a:ext uri="{9D8B030D-6E8A-4147-A177-3AD203B41FA5}">
                      <a16:colId xmlns:a16="http://schemas.microsoft.com/office/drawing/2014/main" val="3024795525"/>
                    </a:ext>
                  </a:extLst>
                </a:gridCol>
                <a:gridCol w="564261">
                  <a:extLst>
                    <a:ext uri="{9D8B030D-6E8A-4147-A177-3AD203B41FA5}">
                      <a16:colId xmlns:a16="http://schemas.microsoft.com/office/drawing/2014/main" val="1794991674"/>
                    </a:ext>
                  </a:extLst>
                </a:gridCol>
                <a:gridCol w="564261">
                  <a:extLst>
                    <a:ext uri="{9D8B030D-6E8A-4147-A177-3AD203B41FA5}">
                      <a16:colId xmlns:a16="http://schemas.microsoft.com/office/drawing/2014/main" val="3018974446"/>
                    </a:ext>
                  </a:extLst>
                </a:gridCol>
              </a:tblGrid>
              <a:tr h="190500">
                <a:tc>
                  <a:txBody>
                    <a:bodyPr/>
                    <a:lstStyle/>
                    <a:p>
                      <a:pPr algn="ctr" fontAlgn="b"/>
                      <a:r>
                        <a:rPr lang="en-GB" sz="1100" b="0" i="0" u="none" strike="noStrike" dirty="0">
                          <a:solidFill>
                            <a:srgbClr val="000000"/>
                          </a:solidFill>
                          <a:effectLst/>
                          <a:latin typeface="Calibri" panose="020F0502020204030204" pitchFamily="34" charset="0"/>
                        </a:rPr>
                        <a:t>146</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79</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7</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26</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94</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37</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32</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29</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123</a:t>
                      </a:r>
                    </a:p>
                  </a:txBody>
                  <a:tcPr marL="9525" marR="9525" marT="9525" marB="0" anchor="b"/>
                </a:tc>
                <a:tc>
                  <a:txBody>
                    <a:bodyPr/>
                    <a:lstStyle/>
                    <a:p>
                      <a:pPr algn="ctr" fontAlgn="b"/>
                      <a:r>
                        <a:rPr lang="en-GB" sz="1100" b="0" i="0" u="none" strike="noStrike" dirty="0">
                          <a:solidFill>
                            <a:srgbClr val="000000"/>
                          </a:solidFill>
                          <a:effectLst/>
                          <a:latin typeface="Calibri" panose="020F0502020204030204" pitchFamily="34" charset="0"/>
                        </a:rPr>
                        <a:t>102</a:t>
                      </a:r>
                    </a:p>
                  </a:txBody>
                  <a:tcPr marL="9525" marR="9525" marT="9525" marB="0" anchor="b"/>
                </a:tc>
                <a:extLst>
                  <a:ext uri="{0D108BD9-81ED-4DB2-BD59-A6C34878D82A}">
                    <a16:rowId xmlns:a16="http://schemas.microsoft.com/office/drawing/2014/main" val="2504590640"/>
                  </a:ext>
                </a:extLst>
              </a:tr>
            </a:tbl>
          </a:graphicData>
        </a:graphic>
      </p:graphicFrame>
      <p:sp>
        <p:nvSpPr>
          <p:cNvPr id="11" name="TextBox 10">
            <a:extLst>
              <a:ext uri="{FF2B5EF4-FFF2-40B4-BE49-F238E27FC236}">
                <a16:creationId xmlns:a16="http://schemas.microsoft.com/office/drawing/2014/main" id="{CDD1128B-1A25-4F17-A554-52C6F72C4573}"/>
              </a:ext>
            </a:extLst>
          </p:cNvPr>
          <p:cNvSpPr txBox="1"/>
          <p:nvPr/>
        </p:nvSpPr>
        <p:spPr>
          <a:xfrm>
            <a:off x="312991" y="119838"/>
            <a:ext cx="5605670"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The Last Elections</a:t>
            </a:r>
          </a:p>
        </p:txBody>
      </p:sp>
      <p:sp>
        <p:nvSpPr>
          <p:cNvPr id="15" name="TextBox 14">
            <a:extLst>
              <a:ext uri="{FF2B5EF4-FFF2-40B4-BE49-F238E27FC236}">
                <a16:creationId xmlns:a16="http://schemas.microsoft.com/office/drawing/2014/main" id="{05D600B1-2D81-4B2D-88D4-73D6A8DF328D}"/>
              </a:ext>
            </a:extLst>
          </p:cNvPr>
          <p:cNvSpPr txBox="1"/>
          <p:nvPr/>
        </p:nvSpPr>
        <p:spPr>
          <a:xfrm>
            <a:off x="331302" y="675740"/>
            <a:ext cx="11714923" cy="523220"/>
          </a:xfrm>
          <a:prstGeom prst="rect">
            <a:avLst/>
          </a:prstGeom>
          <a:noFill/>
        </p:spPr>
        <p:txBody>
          <a:bodyPr wrap="square">
            <a:spAutoFit/>
          </a:bodyPr>
          <a:lstStyle/>
          <a:p>
            <a:pPr lvl="0">
              <a:defRPr/>
            </a:pPr>
            <a:r>
              <a:rPr lang="en-US" sz="1400" b="1" dirty="0">
                <a:solidFill>
                  <a:srgbClr val="0070C0"/>
                </a:solidFill>
                <a:latin typeface="Book Antiqua" panose="02040602050305030304" pitchFamily="18" charset="0"/>
                <a:ea typeface="Arial Unicode MS"/>
              </a:rPr>
              <a:t>New Nigeria Peoples Party (NNPP) (34%), All Progressives Congress (APC) (29%), People’s Democratic Party (PDP) (21%), and Labour Party (LP) (14%), are the main political parties that received significant votes in the last local government elections.</a:t>
            </a:r>
          </a:p>
        </p:txBody>
      </p:sp>
    </p:spTree>
    <p:extLst>
      <p:ext uri="{BB962C8B-B14F-4D97-AF65-F5344CB8AC3E}">
        <p14:creationId xmlns:p14="http://schemas.microsoft.com/office/powerpoint/2010/main" val="21648511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Q341.  If another Presidential Election were to be held today, which political party would you vote for?</a:t>
            </a:r>
            <a:endParaRPr lang="en-US" sz="1000" dirty="0">
              <a:latin typeface="Book Antiqua" panose="02040602050305030304" pitchFamily="18" charset="0"/>
            </a:endParaRPr>
          </a:p>
        </p:txBody>
      </p:sp>
      <p:sp>
        <p:nvSpPr>
          <p:cNvPr id="14" name="TextBox 13">
            <a:extLst>
              <a:ext uri="{FF2B5EF4-FFF2-40B4-BE49-F238E27FC236}">
                <a16:creationId xmlns:a16="http://schemas.microsoft.com/office/drawing/2014/main" id="{24EE3164-36BE-1169-158F-AC5F91216B94}"/>
              </a:ext>
            </a:extLst>
          </p:cNvPr>
          <p:cNvSpPr txBox="1"/>
          <p:nvPr/>
        </p:nvSpPr>
        <p:spPr>
          <a:xfrm>
            <a:off x="331302" y="675740"/>
            <a:ext cx="11714923" cy="523220"/>
          </a:xfrm>
          <a:prstGeom prst="rect">
            <a:avLst/>
          </a:prstGeom>
          <a:noFill/>
        </p:spPr>
        <p:txBody>
          <a:bodyPr wrap="square">
            <a:spAutoFit/>
          </a:bodyPr>
          <a:lstStyle/>
          <a:p>
            <a:pPr lvl="0">
              <a:defRPr/>
            </a:pPr>
            <a:r>
              <a:rPr lang="en-US" sz="1400" b="1" dirty="0">
                <a:solidFill>
                  <a:srgbClr val="0070C0"/>
                </a:solidFill>
                <a:latin typeface="Book Antiqua" panose="02040602050305030304" pitchFamily="18" charset="0"/>
                <a:ea typeface="Arial Unicode MS"/>
              </a:rPr>
              <a:t>The majority (66%) declared their support to vote for the All Progressives Congress (APC) in the next presidential election, while 23% have not decided.</a:t>
            </a:r>
            <a:endPar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endParaRPr>
          </a:p>
        </p:txBody>
      </p:sp>
      <p:graphicFrame>
        <p:nvGraphicFramePr>
          <p:cNvPr id="8" name="Chart 7">
            <a:extLst>
              <a:ext uri="{FF2B5EF4-FFF2-40B4-BE49-F238E27FC236}">
                <a16:creationId xmlns:a16="http://schemas.microsoft.com/office/drawing/2014/main" id="{4859EA40-6F25-4B2E-91DC-3A46D1EA07F4}"/>
              </a:ext>
            </a:extLst>
          </p:cNvPr>
          <p:cNvGraphicFramePr/>
          <p:nvPr>
            <p:extLst>
              <p:ext uri="{D42A27DB-BD31-4B8C-83A1-F6EECF244321}">
                <p14:modId xmlns:p14="http://schemas.microsoft.com/office/powerpoint/2010/main" val="2757352740"/>
              </p:ext>
            </p:extLst>
          </p:nvPr>
        </p:nvGraphicFramePr>
        <p:xfrm>
          <a:off x="832513" y="1866717"/>
          <a:ext cx="4402427" cy="3798570"/>
        </p:xfrm>
        <a:graphic>
          <a:graphicData uri="http://schemas.openxmlformats.org/drawingml/2006/chart">
            <c:chart xmlns:c="http://schemas.openxmlformats.org/drawingml/2006/chart" xmlns:r="http://schemas.openxmlformats.org/officeDocument/2006/relationships" r:id="rId2"/>
          </a:graphicData>
        </a:graphic>
      </p:graphicFrame>
      <p:sp>
        <p:nvSpPr>
          <p:cNvPr id="12" name="Rectangle 11">
            <a:extLst>
              <a:ext uri="{FF2B5EF4-FFF2-40B4-BE49-F238E27FC236}">
                <a16:creationId xmlns:a16="http://schemas.microsoft.com/office/drawing/2014/main" id="{B04CE8E3-6477-4704-A018-FD65D74B66D3}"/>
              </a:ext>
            </a:extLst>
          </p:cNvPr>
          <p:cNvSpPr/>
          <p:nvPr/>
        </p:nvSpPr>
        <p:spPr>
          <a:xfrm>
            <a:off x="2634615" y="5741670"/>
            <a:ext cx="772969" cy="369332"/>
          </a:xfrm>
          <a:prstGeom prst="rect">
            <a:avLst/>
          </a:prstGeom>
        </p:spPr>
        <p:txBody>
          <a:bodyPr wrap="none">
            <a:spAutoFit/>
          </a:bodyPr>
          <a:lstStyle/>
          <a:p>
            <a:r>
              <a:rPr lang="en-GB" dirty="0">
                <a:solidFill>
                  <a:srgbClr val="000000"/>
                </a:solidFill>
                <a:latin typeface="Calibri" panose="020F0502020204030204" pitchFamily="34" charset="0"/>
              </a:rPr>
              <a:t>n=178</a:t>
            </a:r>
            <a:endParaRPr lang="en-GB" dirty="0"/>
          </a:p>
        </p:txBody>
      </p:sp>
      <p:sp>
        <p:nvSpPr>
          <p:cNvPr id="2" name="Rectangle 1">
            <a:extLst>
              <a:ext uri="{FF2B5EF4-FFF2-40B4-BE49-F238E27FC236}">
                <a16:creationId xmlns:a16="http://schemas.microsoft.com/office/drawing/2014/main" id="{A90B3879-7818-46E7-8A20-415B205EB70F}"/>
              </a:ext>
            </a:extLst>
          </p:cNvPr>
          <p:cNvSpPr/>
          <p:nvPr/>
        </p:nvSpPr>
        <p:spPr>
          <a:xfrm>
            <a:off x="2129951" y="1646267"/>
            <a:ext cx="2675732" cy="307777"/>
          </a:xfrm>
          <a:prstGeom prst="rect">
            <a:avLst/>
          </a:prstGeom>
        </p:spPr>
        <p:txBody>
          <a:bodyPr wrap="none">
            <a:spAutoFit/>
          </a:bodyPr>
          <a:lstStyle/>
          <a:p>
            <a:r>
              <a:rPr lang="en-US" sz="1400" dirty="0">
                <a:solidFill>
                  <a:srgbClr val="C00000"/>
                </a:solidFill>
                <a:latin typeface="Book Antiqua" panose="02040602050305030304" pitchFamily="18" charset="0"/>
              </a:rPr>
              <a:t>The Next Presidential Election</a:t>
            </a:r>
            <a:endParaRPr lang="en-GB" sz="1400" dirty="0">
              <a:solidFill>
                <a:srgbClr val="C00000"/>
              </a:solidFill>
            </a:endParaRPr>
          </a:p>
        </p:txBody>
      </p:sp>
      <p:graphicFrame>
        <p:nvGraphicFramePr>
          <p:cNvPr id="10" name="Table 9">
            <a:extLst>
              <a:ext uri="{FF2B5EF4-FFF2-40B4-BE49-F238E27FC236}">
                <a16:creationId xmlns:a16="http://schemas.microsoft.com/office/drawing/2014/main" id="{677E861A-8D9A-49A0-8445-151BF9C18DAD}"/>
              </a:ext>
            </a:extLst>
          </p:cNvPr>
          <p:cNvGraphicFramePr>
            <a:graphicFrameLocks noGrp="1"/>
          </p:cNvGraphicFramePr>
          <p:nvPr>
            <p:extLst>
              <p:ext uri="{D42A27DB-BD31-4B8C-83A1-F6EECF244321}">
                <p14:modId xmlns:p14="http://schemas.microsoft.com/office/powerpoint/2010/main" val="611333251"/>
              </p:ext>
            </p:extLst>
          </p:nvPr>
        </p:nvGraphicFramePr>
        <p:xfrm>
          <a:off x="5558790" y="1672430"/>
          <a:ext cx="5631180" cy="3917468"/>
        </p:xfrm>
        <a:graphic>
          <a:graphicData uri="http://schemas.openxmlformats.org/drawingml/2006/table">
            <a:tbl>
              <a:tblPr>
                <a:tableStyleId>{BDBED569-4797-4DF1-A0F4-6AAB3CD982D8}</a:tableStyleId>
              </a:tblPr>
              <a:tblGrid>
                <a:gridCol w="563118">
                  <a:extLst>
                    <a:ext uri="{9D8B030D-6E8A-4147-A177-3AD203B41FA5}">
                      <a16:colId xmlns:a16="http://schemas.microsoft.com/office/drawing/2014/main" val="1826968673"/>
                    </a:ext>
                  </a:extLst>
                </a:gridCol>
                <a:gridCol w="563118">
                  <a:extLst>
                    <a:ext uri="{9D8B030D-6E8A-4147-A177-3AD203B41FA5}">
                      <a16:colId xmlns:a16="http://schemas.microsoft.com/office/drawing/2014/main" val="1550905977"/>
                    </a:ext>
                  </a:extLst>
                </a:gridCol>
                <a:gridCol w="563118">
                  <a:extLst>
                    <a:ext uri="{9D8B030D-6E8A-4147-A177-3AD203B41FA5}">
                      <a16:colId xmlns:a16="http://schemas.microsoft.com/office/drawing/2014/main" val="1918203087"/>
                    </a:ext>
                  </a:extLst>
                </a:gridCol>
                <a:gridCol w="563118">
                  <a:extLst>
                    <a:ext uri="{9D8B030D-6E8A-4147-A177-3AD203B41FA5}">
                      <a16:colId xmlns:a16="http://schemas.microsoft.com/office/drawing/2014/main" val="1944241656"/>
                    </a:ext>
                  </a:extLst>
                </a:gridCol>
                <a:gridCol w="563118">
                  <a:extLst>
                    <a:ext uri="{9D8B030D-6E8A-4147-A177-3AD203B41FA5}">
                      <a16:colId xmlns:a16="http://schemas.microsoft.com/office/drawing/2014/main" val="3834393282"/>
                    </a:ext>
                  </a:extLst>
                </a:gridCol>
                <a:gridCol w="563118">
                  <a:extLst>
                    <a:ext uri="{9D8B030D-6E8A-4147-A177-3AD203B41FA5}">
                      <a16:colId xmlns:a16="http://schemas.microsoft.com/office/drawing/2014/main" val="3190588456"/>
                    </a:ext>
                  </a:extLst>
                </a:gridCol>
                <a:gridCol w="563118">
                  <a:extLst>
                    <a:ext uri="{9D8B030D-6E8A-4147-A177-3AD203B41FA5}">
                      <a16:colId xmlns:a16="http://schemas.microsoft.com/office/drawing/2014/main" val="1315901131"/>
                    </a:ext>
                  </a:extLst>
                </a:gridCol>
                <a:gridCol w="563118">
                  <a:extLst>
                    <a:ext uri="{9D8B030D-6E8A-4147-A177-3AD203B41FA5}">
                      <a16:colId xmlns:a16="http://schemas.microsoft.com/office/drawing/2014/main" val="4004572015"/>
                    </a:ext>
                  </a:extLst>
                </a:gridCol>
                <a:gridCol w="563118">
                  <a:extLst>
                    <a:ext uri="{9D8B030D-6E8A-4147-A177-3AD203B41FA5}">
                      <a16:colId xmlns:a16="http://schemas.microsoft.com/office/drawing/2014/main" val="2923258211"/>
                    </a:ext>
                  </a:extLst>
                </a:gridCol>
                <a:gridCol w="563118">
                  <a:extLst>
                    <a:ext uri="{9D8B030D-6E8A-4147-A177-3AD203B41FA5}">
                      <a16:colId xmlns:a16="http://schemas.microsoft.com/office/drawing/2014/main" val="3545192039"/>
                    </a:ext>
                  </a:extLst>
                </a:gridCol>
              </a:tblGrid>
              <a:tr h="213190">
                <a:tc gridSpan="2">
                  <a:txBody>
                    <a:bodyPr/>
                    <a:lstStyle/>
                    <a:p>
                      <a:pPr algn="ctr" fontAlgn="b"/>
                      <a:r>
                        <a:rPr lang="en-US" sz="1400" b="1" i="0" u="none" strike="noStrike" dirty="0">
                          <a:solidFill>
                            <a:srgbClr val="000000"/>
                          </a:solidFill>
                          <a:effectLst/>
                          <a:latin typeface="Calibri" panose="020F0502020204030204" pitchFamily="34" charset="0"/>
                        </a:rPr>
                        <a:t>Gender</a:t>
                      </a:r>
                      <a:endParaRPr lang="en-GB" sz="14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gridSpan="6">
                  <a:txBody>
                    <a:bodyPr/>
                    <a:lstStyle/>
                    <a:p>
                      <a:pPr algn="ctr" fontAlgn="b"/>
                      <a:r>
                        <a:rPr lang="en-US" sz="1400" b="1" i="0" u="none" strike="noStrike" dirty="0">
                          <a:solidFill>
                            <a:srgbClr val="000000"/>
                          </a:solidFill>
                          <a:effectLst/>
                          <a:latin typeface="Calibri" panose="020F0502020204030204" pitchFamily="34" charset="0"/>
                        </a:rPr>
                        <a:t>Location </a:t>
                      </a:r>
                      <a:endParaRPr lang="en-GB" sz="14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gridSpan="2">
                  <a:txBody>
                    <a:bodyPr/>
                    <a:lstStyle/>
                    <a:p>
                      <a:pPr algn="ctr" fontAlgn="b"/>
                      <a:r>
                        <a:rPr lang="en-US" sz="1400" b="1" i="0" u="none" strike="noStrike" dirty="0">
                          <a:solidFill>
                            <a:srgbClr val="000000"/>
                          </a:solidFill>
                          <a:effectLst/>
                          <a:latin typeface="Calibri" panose="020F0502020204030204" pitchFamily="34" charset="0"/>
                        </a:rPr>
                        <a:t>Urbanization</a:t>
                      </a:r>
                      <a:endParaRPr lang="en-GB" sz="14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158331613"/>
                  </a:ext>
                </a:extLst>
              </a:tr>
              <a:tr h="250268">
                <a:tc>
                  <a:txBody>
                    <a:bodyPr/>
                    <a:lstStyle/>
                    <a:p>
                      <a:pPr algn="ctr" fontAlgn="b"/>
                      <a:r>
                        <a:rPr lang="en-US" sz="1400" b="1" i="0" u="none" strike="noStrike" dirty="0">
                          <a:solidFill>
                            <a:srgbClr val="000000"/>
                          </a:solidFill>
                          <a:effectLst/>
                          <a:latin typeface="Calibri" panose="020F0502020204030204" pitchFamily="34" charset="0"/>
                        </a:rPr>
                        <a:t>Male</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400" b="1" i="0" u="none" strike="noStrike" dirty="0">
                          <a:solidFill>
                            <a:srgbClr val="000000"/>
                          </a:solidFill>
                          <a:effectLst/>
                          <a:latin typeface="Calibri" panose="020F0502020204030204" pitchFamily="34" charset="0"/>
                        </a:rPr>
                        <a:t>Female</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FCT</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Bauchi</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Kano</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Enugu</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Edo</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u="none" strike="noStrike" dirty="0">
                          <a:effectLst/>
                        </a:rPr>
                        <a:t>Lagos</a:t>
                      </a:r>
                      <a:endParaRPr lang="en-GB"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1" i="0" u="none" strike="noStrike" dirty="0">
                          <a:solidFill>
                            <a:srgbClr val="000000"/>
                          </a:solidFill>
                          <a:effectLst/>
                          <a:latin typeface="Calibri" panose="020F0502020204030204" pitchFamily="34" charset="0"/>
                        </a:rPr>
                        <a:t>Urban</a:t>
                      </a:r>
                    </a:p>
                  </a:txBody>
                  <a:tcPr marL="9525" marR="9525" marT="9525" marB="0" anchor="ctr"/>
                </a:tc>
                <a:tc>
                  <a:txBody>
                    <a:bodyPr/>
                    <a:lstStyle/>
                    <a:p>
                      <a:pPr algn="ctr" fontAlgn="b"/>
                      <a:r>
                        <a:rPr lang="en-GB" sz="1400" b="1" i="0" u="none" strike="noStrike" dirty="0">
                          <a:solidFill>
                            <a:srgbClr val="000000"/>
                          </a:solidFill>
                          <a:effectLst/>
                          <a:latin typeface="Calibri" panose="020F0502020204030204" pitchFamily="34" charset="0"/>
                        </a:rPr>
                        <a:t>Rural</a:t>
                      </a:r>
                    </a:p>
                  </a:txBody>
                  <a:tcPr marL="9525" marR="9525" marT="9525" marB="0" anchor="ctr"/>
                </a:tc>
                <a:extLst>
                  <a:ext uri="{0D108BD9-81ED-4DB2-BD59-A6C34878D82A}">
                    <a16:rowId xmlns:a16="http://schemas.microsoft.com/office/drawing/2014/main" val="2249696190"/>
                  </a:ext>
                </a:extLst>
              </a:tr>
              <a:tr h="492045">
                <a:tc>
                  <a:txBody>
                    <a:bodyPr/>
                    <a:lstStyle/>
                    <a:p>
                      <a:pPr algn="ctr" fontAlgn="b"/>
                      <a:r>
                        <a:rPr lang="en-GB" sz="1400" b="0" i="0" u="none" strike="noStrike" dirty="0">
                          <a:solidFill>
                            <a:srgbClr val="000000"/>
                          </a:solidFill>
                          <a:effectLst/>
                          <a:latin typeface="Calibri" panose="020F0502020204030204" pitchFamily="34" charset="0"/>
                        </a:rPr>
                        <a:t>69%</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92%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71%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57%</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89%</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59%</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59%</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74%</a:t>
                      </a:r>
                    </a:p>
                  </a:txBody>
                  <a:tcPr marL="9525" marR="9525" marT="9525" marB="0" anchor="ctr"/>
                </a:tc>
                <a:extLst>
                  <a:ext uri="{0D108BD9-81ED-4DB2-BD59-A6C34878D82A}">
                    <a16:rowId xmlns:a16="http://schemas.microsoft.com/office/drawing/2014/main" val="2827805479"/>
                  </a:ext>
                </a:extLst>
              </a:tr>
              <a:tr h="492045">
                <a:tc>
                  <a:txBody>
                    <a:bodyPr/>
                    <a:lstStyle/>
                    <a:p>
                      <a:pPr algn="ctr" fontAlgn="b"/>
                      <a:r>
                        <a:rPr lang="en-GB" sz="1400" b="0" i="0" u="none" strike="noStrike">
                          <a:solidFill>
                            <a:srgbClr val="000000"/>
                          </a:solidFill>
                          <a:effectLst/>
                          <a:latin typeface="Calibri" panose="020F0502020204030204" pitchFamily="34" charset="0"/>
                        </a:rPr>
                        <a:t>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7%</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29%</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a:t>
                      </a:r>
                    </a:p>
                  </a:txBody>
                  <a:tcPr marL="9525" marR="9525" marT="9525" marB="0" anchor="ctr"/>
                </a:tc>
                <a:extLst>
                  <a:ext uri="{0D108BD9-81ED-4DB2-BD59-A6C34878D82A}">
                    <a16:rowId xmlns:a16="http://schemas.microsoft.com/office/drawing/2014/main" val="556687053"/>
                  </a:ext>
                </a:extLst>
              </a:tr>
              <a:tr h="492045">
                <a:tc>
                  <a:txBody>
                    <a:bodyPr/>
                    <a:lstStyle/>
                    <a:p>
                      <a:pPr algn="ctr" fontAlgn="b"/>
                      <a:r>
                        <a:rPr lang="en-GB" sz="1400" b="0" i="0" u="none" strike="noStrike">
                          <a:solidFill>
                            <a:srgbClr val="000000"/>
                          </a:solidFill>
                          <a:effectLst/>
                          <a:latin typeface="Calibri" panose="020F0502020204030204" pitchFamily="34" charset="0"/>
                        </a:rPr>
                        <a:t>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4%</a:t>
                      </a:r>
                    </a:p>
                  </a:txBody>
                  <a:tcPr marL="9525" marR="9525" marT="9525" marB="0" anchor="ctr"/>
                </a:tc>
                <a:extLst>
                  <a:ext uri="{0D108BD9-81ED-4DB2-BD59-A6C34878D82A}">
                    <a16:rowId xmlns:a16="http://schemas.microsoft.com/office/drawing/2014/main" val="2914403998"/>
                  </a:ext>
                </a:extLst>
              </a:tr>
              <a:tr h="492045">
                <a:tc>
                  <a:txBody>
                    <a:bodyPr/>
                    <a:lstStyle/>
                    <a:p>
                      <a:pPr algn="ctr" fontAlgn="b"/>
                      <a:r>
                        <a:rPr lang="en-GB" sz="1400" b="0" i="0" u="none" strike="noStrike">
                          <a:solidFill>
                            <a:srgbClr val="000000"/>
                          </a:solidFill>
                          <a:effectLst/>
                          <a:latin typeface="Calibri" panose="020F0502020204030204" pitchFamily="34" charset="0"/>
                        </a:rPr>
                        <a:t>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a:t>
                      </a:r>
                    </a:p>
                  </a:txBody>
                  <a:tcPr marL="9525" marR="9525" marT="9525" marB="0" anchor="ctr"/>
                </a:tc>
                <a:extLst>
                  <a:ext uri="{0D108BD9-81ED-4DB2-BD59-A6C34878D82A}">
                    <a16:rowId xmlns:a16="http://schemas.microsoft.com/office/drawing/2014/main" val="2236246859"/>
                  </a:ext>
                </a:extLst>
              </a:tr>
              <a:tr h="492045">
                <a:tc>
                  <a:txBody>
                    <a:bodyPr/>
                    <a:lstStyle/>
                    <a:p>
                      <a:pPr algn="ctr" fontAlgn="b"/>
                      <a:r>
                        <a:rPr lang="en-GB" sz="1400" b="0" i="0" u="none" strike="noStrike">
                          <a:solidFill>
                            <a:srgbClr val="000000"/>
                          </a:solidFill>
                          <a:effectLst/>
                          <a:latin typeface="Calibri" panose="020F0502020204030204" pitchFamily="34" charset="0"/>
                        </a:rPr>
                        <a:t>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extLst>
                  <a:ext uri="{0D108BD9-81ED-4DB2-BD59-A6C34878D82A}">
                    <a16:rowId xmlns:a16="http://schemas.microsoft.com/office/drawing/2014/main" val="491645917"/>
                  </a:ext>
                </a:extLst>
              </a:tr>
              <a:tr h="492045">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8%</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4%</a:t>
                      </a:r>
                    </a:p>
                  </a:txBody>
                  <a:tcPr marL="9525" marR="9525" marT="9525" marB="0" anchor="ctr"/>
                </a:tc>
                <a:extLst>
                  <a:ext uri="{0D108BD9-81ED-4DB2-BD59-A6C34878D82A}">
                    <a16:rowId xmlns:a16="http://schemas.microsoft.com/office/drawing/2014/main" val="2138546097"/>
                  </a:ext>
                </a:extLst>
              </a:tr>
              <a:tr h="492045">
                <a:tc>
                  <a:txBody>
                    <a:bodyPr/>
                    <a:lstStyle/>
                    <a:p>
                      <a:pPr algn="ctr" fontAlgn="b"/>
                      <a:r>
                        <a:rPr lang="en-GB" sz="1400" b="0" i="0" u="none" strike="noStrike">
                          <a:solidFill>
                            <a:srgbClr val="000000"/>
                          </a:solidFill>
                          <a:effectLst/>
                          <a:latin typeface="Calibri" panose="020F0502020204030204" pitchFamily="34" charset="0"/>
                        </a:rPr>
                        <a:t>16%</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27%</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27%</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12%</a:t>
                      </a:r>
                    </a:p>
                  </a:txBody>
                  <a:tcPr marL="9525" marR="9525" marT="9525" marB="0" anchor="ctr"/>
                </a:tc>
                <a:extLst>
                  <a:ext uri="{0D108BD9-81ED-4DB2-BD59-A6C34878D82A}">
                    <a16:rowId xmlns:a16="http://schemas.microsoft.com/office/drawing/2014/main" val="2862610367"/>
                  </a:ext>
                </a:extLst>
              </a:tr>
            </a:tbl>
          </a:graphicData>
        </a:graphic>
      </p:graphicFrame>
      <p:graphicFrame>
        <p:nvGraphicFramePr>
          <p:cNvPr id="13" name="Table 12">
            <a:extLst>
              <a:ext uri="{FF2B5EF4-FFF2-40B4-BE49-F238E27FC236}">
                <a16:creationId xmlns:a16="http://schemas.microsoft.com/office/drawing/2014/main" id="{734B3D38-343C-447D-867C-0861B46FFC7D}"/>
              </a:ext>
            </a:extLst>
          </p:cNvPr>
          <p:cNvGraphicFramePr>
            <a:graphicFrameLocks noGrp="1"/>
          </p:cNvGraphicFramePr>
          <p:nvPr>
            <p:extLst>
              <p:ext uri="{D42A27DB-BD31-4B8C-83A1-F6EECF244321}">
                <p14:modId xmlns:p14="http://schemas.microsoft.com/office/powerpoint/2010/main" val="1143946042"/>
              </p:ext>
            </p:extLst>
          </p:nvPr>
        </p:nvGraphicFramePr>
        <p:xfrm>
          <a:off x="5547360" y="5764530"/>
          <a:ext cx="5642610" cy="190500"/>
        </p:xfrm>
        <a:graphic>
          <a:graphicData uri="http://schemas.openxmlformats.org/drawingml/2006/table">
            <a:tbl>
              <a:tblPr>
                <a:tableStyleId>{BDBED569-4797-4DF1-A0F4-6AAB3CD982D8}</a:tableStyleId>
              </a:tblPr>
              <a:tblGrid>
                <a:gridCol w="564261">
                  <a:extLst>
                    <a:ext uri="{9D8B030D-6E8A-4147-A177-3AD203B41FA5}">
                      <a16:colId xmlns:a16="http://schemas.microsoft.com/office/drawing/2014/main" val="3112059166"/>
                    </a:ext>
                  </a:extLst>
                </a:gridCol>
                <a:gridCol w="564261">
                  <a:extLst>
                    <a:ext uri="{9D8B030D-6E8A-4147-A177-3AD203B41FA5}">
                      <a16:colId xmlns:a16="http://schemas.microsoft.com/office/drawing/2014/main" val="2489636269"/>
                    </a:ext>
                  </a:extLst>
                </a:gridCol>
                <a:gridCol w="564261">
                  <a:extLst>
                    <a:ext uri="{9D8B030D-6E8A-4147-A177-3AD203B41FA5}">
                      <a16:colId xmlns:a16="http://schemas.microsoft.com/office/drawing/2014/main" val="1395971383"/>
                    </a:ext>
                  </a:extLst>
                </a:gridCol>
                <a:gridCol w="564261">
                  <a:extLst>
                    <a:ext uri="{9D8B030D-6E8A-4147-A177-3AD203B41FA5}">
                      <a16:colId xmlns:a16="http://schemas.microsoft.com/office/drawing/2014/main" val="3541316122"/>
                    </a:ext>
                  </a:extLst>
                </a:gridCol>
                <a:gridCol w="564261">
                  <a:extLst>
                    <a:ext uri="{9D8B030D-6E8A-4147-A177-3AD203B41FA5}">
                      <a16:colId xmlns:a16="http://schemas.microsoft.com/office/drawing/2014/main" val="2973643808"/>
                    </a:ext>
                  </a:extLst>
                </a:gridCol>
                <a:gridCol w="564261">
                  <a:extLst>
                    <a:ext uri="{9D8B030D-6E8A-4147-A177-3AD203B41FA5}">
                      <a16:colId xmlns:a16="http://schemas.microsoft.com/office/drawing/2014/main" val="1098445318"/>
                    </a:ext>
                  </a:extLst>
                </a:gridCol>
                <a:gridCol w="564261">
                  <a:extLst>
                    <a:ext uri="{9D8B030D-6E8A-4147-A177-3AD203B41FA5}">
                      <a16:colId xmlns:a16="http://schemas.microsoft.com/office/drawing/2014/main" val="575542565"/>
                    </a:ext>
                  </a:extLst>
                </a:gridCol>
                <a:gridCol w="564261">
                  <a:extLst>
                    <a:ext uri="{9D8B030D-6E8A-4147-A177-3AD203B41FA5}">
                      <a16:colId xmlns:a16="http://schemas.microsoft.com/office/drawing/2014/main" val="3024795525"/>
                    </a:ext>
                  </a:extLst>
                </a:gridCol>
                <a:gridCol w="564261">
                  <a:extLst>
                    <a:ext uri="{9D8B030D-6E8A-4147-A177-3AD203B41FA5}">
                      <a16:colId xmlns:a16="http://schemas.microsoft.com/office/drawing/2014/main" val="1794991674"/>
                    </a:ext>
                  </a:extLst>
                </a:gridCol>
                <a:gridCol w="564261">
                  <a:extLst>
                    <a:ext uri="{9D8B030D-6E8A-4147-A177-3AD203B41FA5}">
                      <a16:colId xmlns:a16="http://schemas.microsoft.com/office/drawing/2014/main" val="3018974446"/>
                    </a:ext>
                  </a:extLst>
                </a:gridCol>
              </a:tblGrid>
              <a:tr h="190500">
                <a:tc>
                  <a:txBody>
                    <a:bodyPr/>
                    <a:lstStyle/>
                    <a:p>
                      <a:pPr algn="ctr" fontAlgn="b"/>
                      <a:r>
                        <a:rPr lang="en-GB" sz="1100" b="0" i="0" u="none" strike="noStrike" dirty="0">
                          <a:solidFill>
                            <a:srgbClr val="000000"/>
                          </a:solidFill>
                          <a:effectLst/>
                          <a:latin typeface="Calibri" panose="020F0502020204030204" pitchFamily="34" charset="0"/>
                        </a:rPr>
                        <a:t>108</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70</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13</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56</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20</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7</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9</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73</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97</a:t>
                      </a:r>
                    </a:p>
                  </a:txBody>
                  <a:tcPr marL="9525" marR="9525" marT="9525" marB="0" anchor="b"/>
                </a:tc>
                <a:tc>
                  <a:txBody>
                    <a:bodyPr/>
                    <a:lstStyle/>
                    <a:p>
                      <a:pPr algn="ctr" fontAlgn="b"/>
                      <a:r>
                        <a:rPr lang="en-GB" sz="1100" b="0" i="0" u="none" strike="noStrike" dirty="0">
                          <a:solidFill>
                            <a:srgbClr val="000000"/>
                          </a:solidFill>
                          <a:effectLst/>
                          <a:latin typeface="Calibri" panose="020F0502020204030204" pitchFamily="34" charset="0"/>
                        </a:rPr>
                        <a:t>81</a:t>
                      </a:r>
                    </a:p>
                  </a:txBody>
                  <a:tcPr marL="9525" marR="9525" marT="9525" marB="0" anchor="b"/>
                </a:tc>
                <a:extLst>
                  <a:ext uri="{0D108BD9-81ED-4DB2-BD59-A6C34878D82A}">
                    <a16:rowId xmlns:a16="http://schemas.microsoft.com/office/drawing/2014/main" val="2504590640"/>
                  </a:ext>
                </a:extLst>
              </a:tr>
            </a:tbl>
          </a:graphicData>
        </a:graphic>
      </p:graphicFrame>
      <p:sp>
        <p:nvSpPr>
          <p:cNvPr id="11" name="TextBox 10">
            <a:extLst>
              <a:ext uri="{FF2B5EF4-FFF2-40B4-BE49-F238E27FC236}">
                <a16:creationId xmlns:a16="http://schemas.microsoft.com/office/drawing/2014/main" id="{C41015DD-5C2C-4BDD-B7B3-AB707FC8B0E8}"/>
              </a:ext>
            </a:extLst>
          </p:cNvPr>
          <p:cNvSpPr txBox="1"/>
          <p:nvPr/>
        </p:nvSpPr>
        <p:spPr>
          <a:xfrm>
            <a:off x="312991" y="119838"/>
            <a:ext cx="5605670"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The Next Elections</a:t>
            </a:r>
          </a:p>
        </p:txBody>
      </p:sp>
    </p:spTree>
    <p:extLst>
      <p:ext uri="{BB962C8B-B14F-4D97-AF65-F5344CB8AC3E}">
        <p14:creationId xmlns:p14="http://schemas.microsoft.com/office/powerpoint/2010/main" val="1666563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Q342.  If another Gubernatorial (Governorship) election were to be held today, which political party would you vote for?</a:t>
            </a:r>
            <a:endParaRPr lang="en-US" sz="1000" dirty="0">
              <a:latin typeface="Book Antiqua" panose="02040602050305030304" pitchFamily="18" charset="0"/>
            </a:endParaRPr>
          </a:p>
        </p:txBody>
      </p:sp>
      <p:graphicFrame>
        <p:nvGraphicFramePr>
          <p:cNvPr id="8" name="Chart 7">
            <a:extLst>
              <a:ext uri="{FF2B5EF4-FFF2-40B4-BE49-F238E27FC236}">
                <a16:creationId xmlns:a16="http://schemas.microsoft.com/office/drawing/2014/main" id="{4859EA40-6F25-4B2E-91DC-3A46D1EA07F4}"/>
              </a:ext>
            </a:extLst>
          </p:cNvPr>
          <p:cNvGraphicFramePr/>
          <p:nvPr>
            <p:extLst>
              <p:ext uri="{D42A27DB-BD31-4B8C-83A1-F6EECF244321}">
                <p14:modId xmlns:p14="http://schemas.microsoft.com/office/powerpoint/2010/main" val="4007949478"/>
              </p:ext>
            </p:extLst>
          </p:nvPr>
        </p:nvGraphicFramePr>
        <p:xfrm>
          <a:off x="331303" y="1866717"/>
          <a:ext cx="4903638" cy="3798570"/>
        </p:xfrm>
        <a:graphic>
          <a:graphicData uri="http://schemas.openxmlformats.org/drawingml/2006/chart">
            <c:chart xmlns:c="http://schemas.openxmlformats.org/drawingml/2006/chart" xmlns:r="http://schemas.openxmlformats.org/officeDocument/2006/relationships" r:id="rId2"/>
          </a:graphicData>
        </a:graphic>
      </p:graphicFrame>
      <p:sp>
        <p:nvSpPr>
          <p:cNvPr id="12" name="Rectangle 11">
            <a:extLst>
              <a:ext uri="{FF2B5EF4-FFF2-40B4-BE49-F238E27FC236}">
                <a16:creationId xmlns:a16="http://schemas.microsoft.com/office/drawing/2014/main" id="{B04CE8E3-6477-4704-A018-FD65D74B66D3}"/>
              </a:ext>
            </a:extLst>
          </p:cNvPr>
          <p:cNvSpPr/>
          <p:nvPr/>
        </p:nvSpPr>
        <p:spPr>
          <a:xfrm>
            <a:off x="2634615" y="5741670"/>
            <a:ext cx="772969" cy="369332"/>
          </a:xfrm>
          <a:prstGeom prst="rect">
            <a:avLst/>
          </a:prstGeom>
        </p:spPr>
        <p:txBody>
          <a:bodyPr wrap="none">
            <a:spAutoFit/>
          </a:bodyPr>
          <a:lstStyle/>
          <a:p>
            <a:r>
              <a:rPr lang="en-GB" dirty="0">
                <a:solidFill>
                  <a:srgbClr val="000000"/>
                </a:solidFill>
                <a:latin typeface="Calibri" panose="020F0502020204030204" pitchFamily="34" charset="0"/>
              </a:rPr>
              <a:t>n=139</a:t>
            </a:r>
            <a:endParaRPr lang="en-GB" dirty="0"/>
          </a:p>
        </p:txBody>
      </p:sp>
      <p:sp>
        <p:nvSpPr>
          <p:cNvPr id="2" name="Rectangle 1">
            <a:extLst>
              <a:ext uri="{FF2B5EF4-FFF2-40B4-BE49-F238E27FC236}">
                <a16:creationId xmlns:a16="http://schemas.microsoft.com/office/drawing/2014/main" id="{A90B3879-7818-46E7-8A20-415B205EB70F}"/>
              </a:ext>
            </a:extLst>
          </p:cNvPr>
          <p:cNvSpPr/>
          <p:nvPr/>
        </p:nvSpPr>
        <p:spPr>
          <a:xfrm>
            <a:off x="2129951" y="1646267"/>
            <a:ext cx="2845651" cy="307777"/>
          </a:xfrm>
          <a:prstGeom prst="rect">
            <a:avLst/>
          </a:prstGeom>
        </p:spPr>
        <p:txBody>
          <a:bodyPr wrap="none">
            <a:spAutoFit/>
          </a:bodyPr>
          <a:lstStyle/>
          <a:p>
            <a:r>
              <a:rPr lang="en-US" sz="1400" dirty="0">
                <a:solidFill>
                  <a:srgbClr val="C00000"/>
                </a:solidFill>
                <a:latin typeface="Book Antiqua" panose="02040602050305030304" pitchFamily="18" charset="0"/>
              </a:rPr>
              <a:t>The Next Gubernatorial Election</a:t>
            </a:r>
            <a:endParaRPr lang="en-GB" sz="1400" dirty="0">
              <a:solidFill>
                <a:srgbClr val="C00000"/>
              </a:solidFill>
            </a:endParaRPr>
          </a:p>
        </p:txBody>
      </p:sp>
      <p:graphicFrame>
        <p:nvGraphicFramePr>
          <p:cNvPr id="13" name="Table 12">
            <a:extLst>
              <a:ext uri="{FF2B5EF4-FFF2-40B4-BE49-F238E27FC236}">
                <a16:creationId xmlns:a16="http://schemas.microsoft.com/office/drawing/2014/main" id="{734B3D38-343C-447D-867C-0861B46FFC7D}"/>
              </a:ext>
            </a:extLst>
          </p:cNvPr>
          <p:cNvGraphicFramePr>
            <a:graphicFrameLocks noGrp="1"/>
          </p:cNvGraphicFramePr>
          <p:nvPr>
            <p:extLst>
              <p:ext uri="{D42A27DB-BD31-4B8C-83A1-F6EECF244321}">
                <p14:modId xmlns:p14="http://schemas.microsoft.com/office/powerpoint/2010/main" val="812853410"/>
              </p:ext>
            </p:extLst>
          </p:nvPr>
        </p:nvGraphicFramePr>
        <p:xfrm>
          <a:off x="5547360" y="5764530"/>
          <a:ext cx="5642610" cy="190500"/>
        </p:xfrm>
        <a:graphic>
          <a:graphicData uri="http://schemas.openxmlformats.org/drawingml/2006/table">
            <a:tbl>
              <a:tblPr>
                <a:tableStyleId>{BDBED569-4797-4DF1-A0F4-6AAB3CD982D8}</a:tableStyleId>
              </a:tblPr>
              <a:tblGrid>
                <a:gridCol w="564261">
                  <a:extLst>
                    <a:ext uri="{9D8B030D-6E8A-4147-A177-3AD203B41FA5}">
                      <a16:colId xmlns:a16="http://schemas.microsoft.com/office/drawing/2014/main" val="3112059166"/>
                    </a:ext>
                  </a:extLst>
                </a:gridCol>
                <a:gridCol w="564261">
                  <a:extLst>
                    <a:ext uri="{9D8B030D-6E8A-4147-A177-3AD203B41FA5}">
                      <a16:colId xmlns:a16="http://schemas.microsoft.com/office/drawing/2014/main" val="2489636269"/>
                    </a:ext>
                  </a:extLst>
                </a:gridCol>
                <a:gridCol w="564261">
                  <a:extLst>
                    <a:ext uri="{9D8B030D-6E8A-4147-A177-3AD203B41FA5}">
                      <a16:colId xmlns:a16="http://schemas.microsoft.com/office/drawing/2014/main" val="1395971383"/>
                    </a:ext>
                  </a:extLst>
                </a:gridCol>
                <a:gridCol w="564261">
                  <a:extLst>
                    <a:ext uri="{9D8B030D-6E8A-4147-A177-3AD203B41FA5}">
                      <a16:colId xmlns:a16="http://schemas.microsoft.com/office/drawing/2014/main" val="3541316122"/>
                    </a:ext>
                  </a:extLst>
                </a:gridCol>
                <a:gridCol w="564261">
                  <a:extLst>
                    <a:ext uri="{9D8B030D-6E8A-4147-A177-3AD203B41FA5}">
                      <a16:colId xmlns:a16="http://schemas.microsoft.com/office/drawing/2014/main" val="2973643808"/>
                    </a:ext>
                  </a:extLst>
                </a:gridCol>
                <a:gridCol w="564261">
                  <a:extLst>
                    <a:ext uri="{9D8B030D-6E8A-4147-A177-3AD203B41FA5}">
                      <a16:colId xmlns:a16="http://schemas.microsoft.com/office/drawing/2014/main" val="1098445318"/>
                    </a:ext>
                  </a:extLst>
                </a:gridCol>
                <a:gridCol w="564261">
                  <a:extLst>
                    <a:ext uri="{9D8B030D-6E8A-4147-A177-3AD203B41FA5}">
                      <a16:colId xmlns:a16="http://schemas.microsoft.com/office/drawing/2014/main" val="575542565"/>
                    </a:ext>
                  </a:extLst>
                </a:gridCol>
                <a:gridCol w="564261">
                  <a:extLst>
                    <a:ext uri="{9D8B030D-6E8A-4147-A177-3AD203B41FA5}">
                      <a16:colId xmlns:a16="http://schemas.microsoft.com/office/drawing/2014/main" val="3024795525"/>
                    </a:ext>
                  </a:extLst>
                </a:gridCol>
                <a:gridCol w="564261">
                  <a:extLst>
                    <a:ext uri="{9D8B030D-6E8A-4147-A177-3AD203B41FA5}">
                      <a16:colId xmlns:a16="http://schemas.microsoft.com/office/drawing/2014/main" val="1794991674"/>
                    </a:ext>
                  </a:extLst>
                </a:gridCol>
                <a:gridCol w="564261">
                  <a:extLst>
                    <a:ext uri="{9D8B030D-6E8A-4147-A177-3AD203B41FA5}">
                      <a16:colId xmlns:a16="http://schemas.microsoft.com/office/drawing/2014/main" val="3018974446"/>
                    </a:ext>
                  </a:extLst>
                </a:gridCol>
              </a:tblGrid>
              <a:tr h="190500">
                <a:tc>
                  <a:txBody>
                    <a:bodyPr/>
                    <a:lstStyle/>
                    <a:p>
                      <a:pPr algn="ctr" fontAlgn="b"/>
                      <a:r>
                        <a:rPr lang="en-GB" sz="1100" b="0" i="0" u="none" strike="noStrike" dirty="0">
                          <a:solidFill>
                            <a:srgbClr val="000000"/>
                          </a:solidFill>
                          <a:effectLst/>
                          <a:latin typeface="Calibri" panose="020F0502020204030204" pitchFamily="34" charset="0"/>
                        </a:rPr>
                        <a:t>87</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52</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6</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30</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22</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1</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10</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70</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79</a:t>
                      </a:r>
                    </a:p>
                  </a:txBody>
                  <a:tcPr marL="9525" marR="9525" marT="9525" marB="0" anchor="b"/>
                </a:tc>
                <a:tc>
                  <a:txBody>
                    <a:bodyPr/>
                    <a:lstStyle/>
                    <a:p>
                      <a:pPr algn="ctr" fontAlgn="b"/>
                      <a:r>
                        <a:rPr lang="en-GB" sz="1100" b="0" i="0" u="none" strike="noStrike" dirty="0">
                          <a:solidFill>
                            <a:srgbClr val="000000"/>
                          </a:solidFill>
                          <a:effectLst/>
                          <a:latin typeface="Calibri" panose="020F0502020204030204" pitchFamily="34" charset="0"/>
                        </a:rPr>
                        <a:t>60</a:t>
                      </a:r>
                    </a:p>
                  </a:txBody>
                  <a:tcPr marL="9525" marR="9525" marT="9525" marB="0" anchor="b"/>
                </a:tc>
                <a:extLst>
                  <a:ext uri="{0D108BD9-81ED-4DB2-BD59-A6C34878D82A}">
                    <a16:rowId xmlns:a16="http://schemas.microsoft.com/office/drawing/2014/main" val="2504590640"/>
                  </a:ext>
                </a:extLst>
              </a:tr>
            </a:tbl>
          </a:graphicData>
        </a:graphic>
      </p:graphicFrame>
      <p:graphicFrame>
        <p:nvGraphicFramePr>
          <p:cNvPr id="11" name="Table 10">
            <a:extLst>
              <a:ext uri="{FF2B5EF4-FFF2-40B4-BE49-F238E27FC236}">
                <a16:creationId xmlns:a16="http://schemas.microsoft.com/office/drawing/2014/main" id="{FDBDBEC7-9706-46C4-90EC-A5B9F7D9A31D}"/>
              </a:ext>
            </a:extLst>
          </p:cNvPr>
          <p:cNvGraphicFramePr>
            <a:graphicFrameLocks noGrp="1"/>
          </p:cNvGraphicFramePr>
          <p:nvPr>
            <p:extLst>
              <p:ext uri="{D42A27DB-BD31-4B8C-83A1-F6EECF244321}">
                <p14:modId xmlns:p14="http://schemas.microsoft.com/office/powerpoint/2010/main" val="3950939185"/>
              </p:ext>
            </p:extLst>
          </p:nvPr>
        </p:nvGraphicFramePr>
        <p:xfrm>
          <a:off x="5558790" y="1672430"/>
          <a:ext cx="5631180" cy="3934226"/>
        </p:xfrm>
        <a:graphic>
          <a:graphicData uri="http://schemas.openxmlformats.org/drawingml/2006/table">
            <a:tbl>
              <a:tblPr>
                <a:tableStyleId>{BDBED569-4797-4DF1-A0F4-6AAB3CD982D8}</a:tableStyleId>
              </a:tblPr>
              <a:tblGrid>
                <a:gridCol w="563118">
                  <a:extLst>
                    <a:ext uri="{9D8B030D-6E8A-4147-A177-3AD203B41FA5}">
                      <a16:colId xmlns:a16="http://schemas.microsoft.com/office/drawing/2014/main" val="1826968673"/>
                    </a:ext>
                  </a:extLst>
                </a:gridCol>
                <a:gridCol w="563118">
                  <a:extLst>
                    <a:ext uri="{9D8B030D-6E8A-4147-A177-3AD203B41FA5}">
                      <a16:colId xmlns:a16="http://schemas.microsoft.com/office/drawing/2014/main" val="1550905977"/>
                    </a:ext>
                  </a:extLst>
                </a:gridCol>
                <a:gridCol w="563118">
                  <a:extLst>
                    <a:ext uri="{9D8B030D-6E8A-4147-A177-3AD203B41FA5}">
                      <a16:colId xmlns:a16="http://schemas.microsoft.com/office/drawing/2014/main" val="1918203087"/>
                    </a:ext>
                  </a:extLst>
                </a:gridCol>
                <a:gridCol w="563118">
                  <a:extLst>
                    <a:ext uri="{9D8B030D-6E8A-4147-A177-3AD203B41FA5}">
                      <a16:colId xmlns:a16="http://schemas.microsoft.com/office/drawing/2014/main" val="1944241656"/>
                    </a:ext>
                  </a:extLst>
                </a:gridCol>
                <a:gridCol w="563118">
                  <a:extLst>
                    <a:ext uri="{9D8B030D-6E8A-4147-A177-3AD203B41FA5}">
                      <a16:colId xmlns:a16="http://schemas.microsoft.com/office/drawing/2014/main" val="3834393282"/>
                    </a:ext>
                  </a:extLst>
                </a:gridCol>
                <a:gridCol w="563118">
                  <a:extLst>
                    <a:ext uri="{9D8B030D-6E8A-4147-A177-3AD203B41FA5}">
                      <a16:colId xmlns:a16="http://schemas.microsoft.com/office/drawing/2014/main" val="3190588456"/>
                    </a:ext>
                  </a:extLst>
                </a:gridCol>
                <a:gridCol w="563118">
                  <a:extLst>
                    <a:ext uri="{9D8B030D-6E8A-4147-A177-3AD203B41FA5}">
                      <a16:colId xmlns:a16="http://schemas.microsoft.com/office/drawing/2014/main" val="1315901131"/>
                    </a:ext>
                  </a:extLst>
                </a:gridCol>
                <a:gridCol w="563118">
                  <a:extLst>
                    <a:ext uri="{9D8B030D-6E8A-4147-A177-3AD203B41FA5}">
                      <a16:colId xmlns:a16="http://schemas.microsoft.com/office/drawing/2014/main" val="4004572015"/>
                    </a:ext>
                  </a:extLst>
                </a:gridCol>
                <a:gridCol w="563118">
                  <a:extLst>
                    <a:ext uri="{9D8B030D-6E8A-4147-A177-3AD203B41FA5}">
                      <a16:colId xmlns:a16="http://schemas.microsoft.com/office/drawing/2014/main" val="2923258211"/>
                    </a:ext>
                  </a:extLst>
                </a:gridCol>
                <a:gridCol w="563118">
                  <a:extLst>
                    <a:ext uri="{9D8B030D-6E8A-4147-A177-3AD203B41FA5}">
                      <a16:colId xmlns:a16="http://schemas.microsoft.com/office/drawing/2014/main" val="3545192039"/>
                    </a:ext>
                  </a:extLst>
                </a:gridCol>
              </a:tblGrid>
              <a:tr h="197524">
                <a:tc gridSpan="2">
                  <a:txBody>
                    <a:bodyPr/>
                    <a:lstStyle/>
                    <a:p>
                      <a:pPr algn="ctr" fontAlgn="b"/>
                      <a:r>
                        <a:rPr lang="en-US" sz="1400" b="0" i="0" u="none" strike="noStrike" dirty="0">
                          <a:solidFill>
                            <a:srgbClr val="000000"/>
                          </a:solidFill>
                          <a:effectLst/>
                          <a:latin typeface="Calibri" panose="020F0502020204030204" pitchFamily="34" charset="0"/>
                        </a:rPr>
                        <a:t>Gender</a:t>
                      </a:r>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gridSpan="6">
                  <a:txBody>
                    <a:bodyPr/>
                    <a:lstStyle/>
                    <a:p>
                      <a:pPr algn="ctr" fontAlgn="b"/>
                      <a:r>
                        <a:rPr lang="en-US" sz="1400" b="0" i="0" u="none" strike="noStrike" dirty="0">
                          <a:solidFill>
                            <a:srgbClr val="000000"/>
                          </a:solidFill>
                          <a:effectLst/>
                          <a:latin typeface="Calibri" panose="020F0502020204030204" pitchFamily="34" charset="0"/>
                        </a:rPr>
                        <a:t>Location </a:t>
                      </a:r>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gridSpan="2">
                  <a:txBody>
                    <a:bodyPr/>
                    <a:lstStyle/>
                    <a:p>
                      <a:pPr algn="ctr" fontAlgn="b"/>
                      <a:r>
                        <a:rPr lang="en-US" sz="1400" b="0" i="0" u="none" strike="noStrike" dirty="0">
                          <a:solidFill>
                            <a:srgbClr val="000000"/>
                          </a:solidFill>
                          <a:effectLst/>
                          <a:latin typeface="Calibri" panose="020F0502020204030204" pitchFamily="34" charset="0"/>
                        </a:rPr>
                        <a:t>Urbanization</a:t>
                      </a:r>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158331613"/>
                  </a:ext>
                </a:extLst>
              </a:tr>
              <a:tr h="221791">
                <a:tc>
                  <a:txBody>
                    <a:bodyPr/>
                    <a:lstStyle/>
                    <a:p>
                      <a:pPr algn="ctr" fontAlgn="b"/>
                      <a:r>
                        <a:rPr lang="en-US" sz="1400" b="0" i="0" u="none" strike="noStrike" dirty="0">
                          <a:solidFill>
                            <a:srgbClr val="000000"/>
                          </a:solidFill>
                          <a:effectLst/>
                          <a:latin typeface="Calibri" panose="020F0502020204030204" pitchFamily="34" charset="0"/>
                        </a:rPr>
                        <a:t>Male</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400" b="0" i="0" u="none" strike="noStrike" dirty="0">
                          <a:solidFill>
                            <a:srgbClr val="000000"/>
                          </a:solidFill>
                          <a:effectLst/>
                          <a:latin typeface="Calibri" panose="020F0502020204030204" pitchFamily="34" charset="0"/>
                        </a:rPr>
                        <a:t>Female</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u="none" strike="noStrike" dirty="0">
                          <a:effectLst/>
                        </a:rPr>
                        <a:t>FCT</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u="none" strike="noStrike" dirty="0">
                          <a:effectLst/>
                        </a:rPr>
                        <a:t>Bauchi</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u="none" strike="noStrike" dirty="0">
                          <a:effectLst/>
                        </a:rPr>
                        <a:t>Kano</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u="none" strike="noStrike" dirty="0">
                          <a:effectLst/>
                        </a:rPr>
                        <a:t>Enugu</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u="none" strike="noStrike" dirty="0">
                          <a:effectLst/>
                        </a:rPr>
                        <a:t>Edo</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u="none" strike="noStrike" dirty="0">
                          <a:effectLst/>
                        </a:rPr>
                        <a:t>Lagos</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Urban</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Rural</a:t>
                      </a:r>
                    </a:p>
                  </a:txBody>
                  <a:tcPr marL="9525" marR="9525" marT="9525" marB="0" anchor="ctr"/>
                </a:tc>
                <a:extLst>
                  <a:ext uri="{0D108BD9-81ED-4DB2-BD59-A6C34878D82A}">
                    <a16:rowId xmlns:a16="http://schemas.microsoft.com/office/drawing/2014/main" val="2249696190"/>
                  </a:ext>
                </a:extLst>
              </a:tr>
              <a:tr h="436057">
                <a:tc>
                  <a:txBody>
                    <a:bodyPr/>
                    <a:lstStyle/>
                    <a:p>
                      <a:pPr algn="ctr" fontAlgn="b"/>
                      <a:r>
                        <a:rPr lang="en-GB" sz="1400" b="0" i="0" u="none" strike="noStrike" dirty="0">
                          <a:solidFill>
                            <a:srgbClr val="000000"/>
                          </a:solidFill>
                          <a:effectLst/>
                          <a:latin typeface="Calibri" panose="020F0502020204030204" pitchFamily="34" charset="0"/>
                        </a:rPr>
                        <a:t>68%</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58%</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83%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73%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59%</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100%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70%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59%</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67%</a:t>
                      </a:r>
                    </a:p>
                  </a:txBody>
                  <a:tcPr marL="9525" marR="9525" marT="9525" marB="0" anchor="ctr"/>
                </a:tc>
                <a:extLst>
                  <a:ext uri="{0D108BD9-81ED-4DB2-BD59-A6C34878D82A}">
                    <a16:rowId xmlns:a16="http://schemas.microsoft.com/office/drawing/2014/main" val="2827805479"/>
                  </a:ext>
                </a:extLst>
              </a:tr>
              <a:tr h="436057">
                <a:tc>
                  <a:txBody>
                    <a:bodyPr/>
                    <a:lstStyle/>
                    <a:p>
                      <a:pPr algn="ctr" fontAlgn="b"/>
                      <a:r>
                        <a:rPr lang="en-GB" sz="1400" b="0" i="0" u="none" strike="noStrike">
                          <a:solidFill>
                            <a:srgbClr val="000000"/>
                          </a:solidFill>
                          <a:effectLst/>
                          <a:latin typeface="Calibri" panose="020F0502020204030204" pitchFamily="34" charset="0"/>
                        </a:rPr>
                        <a:t>6%</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tc>
                <a:extLst>
                  <a:ext uri="{0D108BD9-81ED-4DB2-BD59-A6C34878D82A}">
                    <a16:rowId xmlns:a16="http://schemas.microsoft.com/office/drawing/2014/main" val="1858804298"/>
                  </a:ext>
                </a:extLst>
              </a:tr>
              <a:tr h="436057">
                <a:tc>
                  <a:txBody>
                    <a:bodyPr/>
                    <a:lstStyle/>
                    <a:p>
                      <a:pPr algn="ctr" fontAlgn="b"/>
                      <a:r>
                        <a:rPr lang="en-GB" sz="1400" b="0" i="0" u="none" strike="noStrike">
                          <a:solidFill>
                            <a:srgbClr val="000000"/>
                          </a:solidFill>
                          <a:effectLst/>
                          <a:latin typeface="Calibri" panose="020F0502020204030204" pitchFamily="34" charset="0"/>
                        </a:rPr>
                        <a:t>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10%</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extLst>
                  <a:ext uri="{0D108BD9-81ED-4DB2-BD59-A6C34878D82A}">
                    <a16:rowId xmlns:a16="http://schemas.microsoft.com/office/drawing/2014/main" val="556687053"/>
                  </a:ext>
                </a:extLst>
              </a:tr>
              <a:tr h="436057">
                <a:tc>
                  <a:txBody>
                    <a:bodyPr/>
                    <a:lstStyle/>
                    <a:p>
                      <a:pPr algn="ctr" fontAlgn="b"/>
                      <a:r>
                        <a:rPr lang="en-GB" sz="1400" b="0" i="0" u="none" strike="noStrike">
                          <a:solidFill>
                            <a:srgbClr val="000000"/>
                          </a:solidFill>
                          <a:effectLst/>
                          <a:latin typeface="Calibri" panose="020F0502020204030204" pitchFamily="34" charset="0"/>
                        </a:rPr>
                        <a:t>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tc>
                <a:extLst>
                  <a:ext uri="{0D108BD9-81ED-4DB2-BD59-A6C34878D82A}">
                    <a16:rowId xmlns:a16="http://schemas.microsoft.com/office/drawing/2014/main" val="2914403998"/>
                  </a:ext>
                </a:extLst>
              </a:tr>
              <a:tr h="436057">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10%</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extLst>
                  <a:ext uri="{0D108BD9-81ED-4DB2-BD59-A6C34878D82A}">
                    <a16:rowId xmlns:a16="http://schemas.microsoft.com/office/drawing/2014/main" val="2236246859"/>
                  </a:ext>
                </a:extLst>
              </a:tr>
              <a:tr h="436057">
                <a:tc>
                  <a:txBody>
                    <a:bodyPr/>
                    <a:lstStyle/>
                    <a:p>
                      <a:pPr algn="ctr" fontAlgn="b"/>
                      <a:r>
                        <a:rPr lang="en-GB" sz="1400" b="0" i="0" u="none" strike="noStrike">
                          <a:solidFill>
                            <a:srgbClr val="000000"/>
                          </a:solidFill>
                          <a:effectLst/>
                          <a:latin typeface="Calibri" panose="020F0502020204030204" pitchFamily="34" charset="0"/>
                        </a:rPr>
                        <a:t>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a:t>
                      </a:r>
                    </a:p>
                  </a:txBody>
                  <a:tcPr marL="9525" marR="9525" marT="9525" marB="0" anchor="ctr"/>
                </a:tc>
                <a:extLst>
                  <a:ext uri="{0D108BD9-81ED-4DB2-BD59-A6C34878D82A}">
                    <a16:rowId xmlns:a16="http://schemas.microsoft.com/office/drawing/2014/main" val="491645917"/>
                  </a:ext>
                </a:extLst>
              </a:tr>
              <a:tr h="436057">
                <a:tc>
                  <a:txBody>
                    <a:bodyPr/>
                    <a:lstStyle/>
                    <a:p>
                      <a:pPr algn="ctr" fontAlgn="b"/>
                      <a:r>
                        <a:rPr lang="en-GB" sz="1400" b="0" i="0" u="none" strike="noStrike">
                          <a:solidFill>
                            <a:srgbClr val="000000"/>
                          </a:solidFill>
                          <a:effectLst/>
                          <a:latin typeface="Calibri" panose="020F0502020204030204" pitchFamily="34" charset="0"/>
                        </a:rPr>
                        <a:t>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17%</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3%</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5%</a:t>
                      </a:r>
                    </a:p>
                  </a:txBody>
                  <a:tcPr marL="9525" marR="9525" marT="9525" marB="0" anchor="ctr"/>
                </a:tc>
                <a:extLst>
                  <a:ext uri="{0D108BD9-81ED-4DB2-BD59-A6C34878D82A}">
                    <a16:rowId xmlns:a16="http://schemas.microsoft.com/office/drawing/2014/main" val="2138546097"/>
                  </a:ext>
                </a:extLst>
              </a:tr>
              <a:tr h="436057">
                <a:tc>
                  <a:txBody>
                    <a:bodyPr/>
                    <a:lstStyle/>
                    <a:p>
                      <a:pPr algn="ctr" fontAlgn="b"/>
                      <a:r>
                        <a:rPr lang="en-GB" sz="1400" b="0" i="0" u="none" strike="noStrike">
                          <a:solidFill>
                            <a:srgbClr val="000000"/>
                          </a:solidFill>
                          <a:effectLst/>
                          <a:latin typeface="Calibri" panose="020F0502020204030204" pitchFamily="34" charset="0"/>
                        </a:rPr>
                        <a:t>17%</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27%</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9%</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23%</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18%</a:t>
                      </a:r>
                    </a:p>
                  </a:txBody>
                  <a:tcPr marL="9525" marR="9525" marT="9525" marB="0" anchor="ctr"/>
                </a:tc>
                <a:extLst>
                  <a:ext uri="{0D108BD9-81ED-4DB2-BD59-A6C34878D82A}">
                    <a16:rowId xmlns:a16="http://schemas.microsoft.com/office/drawing/2014/main" val="2862610367"/>
                  </a:ext>
                </a:extLst>
              </a:tr>
            </a:tbl>
          </a:graphicData>
        </a:graphic>
      </p:graphicFrame>
      <p:sp>
        <p:nvSpPr>
          <p:cNvPr id="10" name="TextBox 9">
            <a:extLst>
              <a:ext uri="{FF2B5EF4-FFF2-40B4-BE49-F238E27FC236}">
                <a16:creationId xmlns:a16="http://schemas.microsoft.com/office/drawing/2014/main" id="{6505439B-2C0E-48E6-B8F3-9FF85D82686B}"/>
              </a:ext>
            </a:extLst>
          </p:cNvPr>
          <p:cNvSpPr txBox="1"/>
          <p:nvPr/>
        </p:nvSpPr>
        <p:spPr>
          <a:xfrm>
            <a:off x="312991" y="119838"/>
            <a:ext cx="5605670"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The Next Elections</a:t>
            </a:r>
          </a:p>
        </p:txBody>
      </p:sp>
      <p:sp>
        <p:nvSpPr>
          <p:cNvPr id="15" name="TextBox 14">
            <a:extLst>
              <a:ext uri="{FF2B5EF4-FFF2-40B4-BE49-F238E27FC236}">
                <a16:creationId xmlns:a16="http://schemas.microsoft.com/office/drawing/2014/main" id="{7969B450-B7AD-40A1-B91C-2BA68B2DE564}"/>
              </a:ext>
            </a:extLst>
          </p:cNvPr>
          <p:cNvSpPr txBox="1"/>
          <p:nvPr/>
        </p:nvSpPr>
        <p:spPr>
          <a:xfrm>
            <a:off x="331302" y="675740"/>
            <a:ext cx="11714923" cy="523220"/>
          </a:xfrm>
          <a:prstGeom prst="rect">
            <a:avLst/>
          </a:prstGeom>
          <a:noFill/>
        </p:spPr>
        <p:txBody>
          <a:bodyPr wrap="square">
            <a:spAutoFit/>
          </a:bodyPr>
          <a:lstStyle/>
          <a:p>
            <a:pPr lvl="0">
              <a:defRPr/>
            </a:pPr>
            <a:r>
              <a:rPr lang="en-US" sz="1400" b="1" dirty="0">
                <a:solidFill>
                  <a:srgbClr val="0070C0"/>
                </a:solidFill>
                <a:latin typeface="Book Antiqua" panose="02040602050305030304" pitchFamily="18" charset="0"/>
                <a:ea typeface="Arial Unicode MS"/>
              </a:rPr>
              <a:t>The majority (64%) pledged their support to vote for All Progressives Congress (APC) in the next governorship elections, while 25% have not decided.</a:t>
            </a:r>
            <a:endPar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endParaRPr>
          </a:p>
        </p:txBody>
      </p:sp>
    </p:spTree>
    <p:extLst>
      <p:ext uri="{BB962C8B-B14F-4D97-AF65-F5344CB8AC3E}">
        <p14:creationId xmlns:p14="http://schemas.microsoft.com/office/powerpoint/2010/main" val="40421938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Q343.  If another  Senate election were to be held today, which political party would you vote for?</a:t>
            </a:r>
            <a:endParaRPr lang="en-US" sz="1000" dirty="0">
              <a:latin typeface="Book Antiqua" panose="02040602050305030304" pitchFamily="18" charset="0"/>
            </a:endParaRPr>
          </a:p>
        </p:txBody>
      </p:sp>
      <p:graphicFrame>
        <p:nvGraphicFramePr>
          <p:cNvPr id="8" name="Chart 7">
            <a:extLst>
              <a:ext uri="{FF2B5EF4-FFF2-40B4-BE49-F238E27FC236}">
                <a16:creationId xmlns:a16="http://schemas.microsoft.com/office/drawing/2014/main" id="{4859EA40-6F25-4B2E-91DC-3A46D1EA07F4}"/>
              </a:ext>
            </a:extLst>
          </p:cNvPr>
          <p:cNvGraphicFramePr/>
          <p:nvPr>
            <p:extLst>
              <p:ext uri="{D42A27DB-BD31-4B8C-83A1-F6EECF244321}">
                <p14:modId xmlns:p14="http://schemas.microsoft.com/office/powerpoint/2010/main" val="2872819574"/>
              </p:ext>
            </p:extLst>
          </p:nvPr>
        </p:nvGraphicFramePr>
        <p:xfrm>
          <a:off x="832513" y="1866717"/>
          <a:ext cx="4402427" cy="3798570"/>
        </p:xfrm>
        <a:graphic>
          <a:graphicData uri="http://schemas.openxmlformats.org/drawingml/2006/chart">
            <c:chart xmlns:c="http://schemas.openxmlformats.org/drawingml/2006/chart" xmlns:r="http://schemas.openxmlformats.org/officeDocument/2006/relationships" r:id="rId2"/>
          </a:graphicData>
        </a:graphic>
      </p:graphicFrame>
      <p:sp>
        <p:nvSpPr>
          <p:cNvPr id="12" name="Rectangle 11">
            <a:extLst>
              <a:ext uri="{FF2B5EF4-FFF2-40B4-BE49-F238E27FC236}">
                <a16:creationId xmlns:a16="http://schemas.microsoft.com/office/drawing/2014/main" id="{B04CE8E3-6477-4704-A018-FD65D74B66D3}"/>
              </a:ext>
            </a:extLst>
          </p:cNvPr>
          <p:cNvSpPr/>
          <p:nvPr/>
        </p:nvSpPr>
        <p:spPr>
          <a:xfrm>
            <a:off x="2634615" y="5741670"/>
            <a:ext cx="772969" cy="369332"/>
          </a:xfrm>
          <a:prstGeom prst="rect">
            <a:avLst/>
          </a:prstGeom>
        </p:spPr>
        <p:txBody>
          <a:bodyPr wrap="none">
            <a:spAutoFit/>
          </a:bodyPr>
          <a:lstStyle/>
          <a:p>
            <a:r>
              <a:rPr lang="en-GB" dirty="0">
                <a:solidFill>
                  <a:srgbClr val="000000"/>
                </a:solidFill>
                <a:latin typeface="Calibri" panose="020F0502020204030204" pitchFamily="34" charset="0"/>
              </a:rPr>
              <a:t>n=100</a:t>
            </a:r>
            <a:endParaRPr lang="en-GB" dirty="0"/>
          </a:p>
        </p:txBody>
      </p:sp>
      <p:sp>
        <p:nvSpPr>
          <p:cNvPr id="2" name="Rectangle 1">
            <a:extLst>
              <a:ext uri="{FF2B5EF4-FFF2-40B4-BE49-F238E27FC236}">
                <a16:creationId xmlns:a16="http://schemas.microsoft.com/office/drawing/2014/main" id="{A90B3879-7818-46E7-8A20-415B205EB70F}"/>
              </a:ext>
            </a:extLst>
          </p:cNvPr>
          <p:cNvSpPr/>
          <p:nvPr/>
        </p:nvSpPr>
        <p:spPr>
          <a:xfrm>
            <a:off x="2129951" y="1646267"/>
            <a:ext cx="2247731" cy="307777"/>
          </a:xfrm>
          <a:prstGeom prst="rect">
            <a:avLst/>
          </a:prstGeom>
        </p:spPr>
        <p:txBody>
          <a:bodyPr wrap="none">
            <a:spAutoFit/>
          </a:bodyPr>
          <a:lstStyle/>
          <a:p>
            <a:r>
              <a:rPr lang="en-US" sz="1400" dirty="0">
                <a:solidFill>
                  <a:srgbClr val="C00000"/>
                </a:solidFill>
                <a:latin typeface="Book Antiqua" panose="02040602050305030304" pitchFamily="18" charset="0"/>
              </a:rPr>
              <a:t>The Next Senate Election</a:t>
            </a:r>
            <a:endParaRPr lang="en-GB" sz="1400" dirty="0">
              <a:solidFill>
                <a:srgbClr val="C00000"/>
              </a:solidFill>
            </a:endParaRPr>
          </a:p>
        </p:txBody>
      </p:sp>
      <p:graphicFrame>
        <p:nvGraphicFramePr>
          <p:cNvPr id="13" name="Table 12">
            <a:extLst>
              <a:ext uri="{FF2B5EF4-FFF2-40B4-BE49-F238E27FC236}">
                <a16:creationId xmlns:a16="http://schemas.microsoft.com/office/drawing/2014/main" id="{734B3D38-343C-447D-867C-0861B46FFC7D}"/>
              </a:ext>
            </a:extLst>
          </p:cNvPr>
          <p:cNvGraphicFramePr>
            <a:graphicFrameLocks noGrp="1"/>
          </p:cNvGraphicFramePr>
          <p:nvPr>
            <p:extLst>
              <p:ext uri="{D42A27DB-BD31-4B8C-83A1-F6EECF244321}">
                <p14:modId xmlns:p14="http://schemas.microsoft.com/office/powerpoint/2010/main" val="2888336146"/>
              </p:ext>
            </p:extLst>
          </p:nvPr>
        </p:nvGraphicFramePr>
        <p:xfrm>
          <a:off x="5547360" y="5764530"/>
          <a:ext cx="5642610" cy="190500"/>
        </p:xfrm>
        <a:graphic>
          <a:graphicData uri="http://schemas.openxmlformats.org/drawingml/2006/table">
            <a:tbl>
              <a:tblPr>
                <a:tableStyleId>{BDBED569-4797-4DF1-A0F4-6AAB3CD982D8}</a:tableStyleId>
              </a:tblPr>
              <a:tblGrid>
                <a:gridCol w="564261">
                  <a:extLst>
                    <a:ext uri="{9D8B030D-6E8A-4147-A177-3AD203B41FA5}">
                      <a16:colId xmlns:a16="http://schemas.microsoft.com/office/drawing/2014/main" val="3112059166"/>
                    </a:ext>
                  </a:extLst>
                </a:gridCol>
                <a:gridCol w="564261">
                  <a:extLst>
                    <a:ext uri="{9D8B030D-6E8A-4147-A177-3AD203B41FA5}">
                      <a16:colId xmlns:a16="http://schemas.microsoft.com/office/drawing/2014/main" val="2489636269"/>
                    </a:ext>
                  </a:extLst>
                </a:gridCol>
                <a:gridCol w="564261">
                  <a:extLst>
                    <a:ext uri="{9D8B030D-6E8A-4147-A177-3AD203B41FA5}">
                      <a16:colId xmlns:a16="http://schemas.microsoft.com/office/drawing/2014/main" val="1395971383"/>
                    </a:ext>
                  </a:extLst>
                </a:gridCol>
                <a:gridCol w="564261">
                  <a:extLst>
                    <a:ext uri="{9D8B030D-6E8A-4147-A177-3AD203B41FA5}">
                      <a16:colId xmlns:a16="http://schemas.microsoft.com/office/drawing/2014/main" val="3541316122"/>
                    </a:ext>
                  </a:extLst>
                </a:gridCol>
                <a:gridCol w="564261">
                  <a:extLst>
                    <a:ext uri="{9D8B030D-6E8A-4147-A177-3AD203B41FA5}">
                      <a16:colId xmlns:a16="http://schemas.microsoft.com/office/drawing/2014/main" val="2973643808"/>
                    </a:ext>
                  </a:extLst>
                </a:gridCol>
                <a:gridCol w="564261">
                  <a:extLst>
                    <a:ext uri="{9D8B030D-6E8A-4147-A177-3AD203B41FA5}">
                      <a16:colId xmlns:a16="http://schemas.microsoft.com/office/drawing/2014/main" val="1098445318"/>
                    </a:ext>
                  </a:extLst>
                </a:gridCol>
                <a:gridCol w="564261">
                  <a:extLst>
                    <a:ext uri="{9D8B030D-6E8A-4147-A177-3AD203B41FA5}">
                      <a16:colId xmlns:a16="http://schemas.microsoft.com/office/drawing/2014/main" val="575542565"/>
                    </a:ext>
                  </a:extLst>
                </a:gridCol>
                <a:gridCol w="564261">
                  <a:extLst>
                    <a:ext uri="{9D8B030D-6E8A-4147-A177-3AD203B41FA5}">
                      <a16:colId xmlns:a16="http://schemas.microsoft.com/office/drawing/2014/main" val="3024795525"/>
                    </a:ext>
                  </a:extLst>
                </a:gridCol>
                <a:gridCol w="564261">
                  <a:extLst>
                    <a:ext uri="{9D8B030D-6E8A-4147-A177-3AD203B41FA5}">
                      <a16:colId xmlns:a16="http://schemas.microsoft.com/office/drawing/2014/main" val="1794991674"/>
                    </a:ext>
                  </a:extLst>
                </a:gridCol>
                <a:gridCol w="564261">
                  <a:extLst>
                    <a:ext uri="{9D8B030D-6E8A-4147-A177-3AD203B41FA5}">
                      <a16:colId xmlns:a16="http://schemas.microsoft.com/office/drawing/2014/main" val="3018974446"/>
                    </a:ext>
                  </a:extLst>
                </a:gridCol>
              </a:tblGrid>
              <a:tr h="190500">
                <a:tc>
                  <a:txBody>
                    <a:bodyPr/>
                    <a:lstStyle/>
                    <a:p>
                      <a:pPr algn="ctr" fontAlgn="b"/>
                      <a:r>
                        <a:rPr lang="en-GB" sz="1100" b="0" i="0" u="none" strike="noStrike" dirty="0">
                          <a:solidFill>
                            <a:srgbClr val="000000"/>
                          </a:solidFill>
                          <a:effectLst/>
                          <a:latin typeface="Calibri" panose="020F0502020204030204" pitchFamily="34" charset="0"/>
                        </a:rPr>
                        <a:t>63</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37</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4</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20</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21</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3</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9</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43</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54</a:t>
                      </a:r>
                    </a:p>
                  </a:txBody>
                  <a:tcPr marL="9525" marR="9525" marT="9525" marB="0" anchor="b"/>
                </a:tc>
                <a:tc>
                  <a:txBody>
                    <a:bodyPr/>
                    <a:lstStyle/>
                    <a:p>
                      <a:pPr algn="ctr" fontAlgn="b"/>
                      <a:r>
                        <a:rPr lang="en-GB" sz="1100" b="0" i="0" u="none" strike="noStrike" dirty="0">
                          <a:solidFill>
                            <a:srgbClr val="000000"/>
                          </a:solidFill>
                          <a:effectLst/>
                          <a:latin typeface="Calibri" panose="020F0502020204030204" pitchFamily="34" charset="0"/>
                        </a:rPr>
                        <a:t>46</a:t>
                      </a:r>
                    </a:p>
                  </a:txBody>
                  <a:tcPr marL="9525" marR="9525" marT="9525" marB="0" anchor="b"/>
                </a:tc>
                <a:extLst>
                  <a:ext uri="{0D108BD9-81ED-4DB2-BD59-A6C34878D82A}">
                    <a16:rowId xmlns:a16="http://schemas.microsoft.com/office/drawing/2014/main" val="2504590640"/>
                  </a:ext>
                </a:extLst>
              </a:tr>
            </a:tbl>
          </a:graphicData>
        </a:graphic>
      </p:graphicFrame>
      <p:graphicFrame>
        <p:nvGraphicFramePr>
          <p:cNvPr id="11" name="Table 10">
            <a:extLst>
              <a:ext uri="{FF2B5EF4-FFF2-40B4-BE49-F238E27FC236}">
                <a16:creationId xmlns:a16="http://schemas.microsoft.com/office/drawing/2014/main" id="{FDBDBEC7-9706-46C4-90EC-A5B9F7D9A31D}"/>
              </a:ext>
            </a:extLst>
          </p:cNvPr>
          <p:cNvGraphicFramePr>
            <a:graphicFrameLocks noGrp="1"/>
          </p:cNvGraphicFramePr>
          <p:nvPr>
            <p:extLst>
              <p:ext uri="{D42A27DB-BD31-4B8C-83A1-F6EECF244321}">
                <p14:modId xmlns:p14="http://schemas.microsoft.com/office/powerpoint/2010/main" val="4125461079"/>
              </p:ext>
            </p:extLst>
          </p:nvPr>
        </p:nvGraphicFramePr>
        <p:xfrm>
          <a:off x="5558790" y="1728185"/>
          <a:ext cx="5631180" cy="3892635"/>
        </p:xfrm>
        <a:graphic>
          <a:graphicData uri="http://schemas.openxmlformats.org/drawingml/2006/table">
            <a:tbl>
              <a:tblPr>
                <a:tableStyleId>{BDBED569-4797-4DF1-A0F4-6AAB3CD982D8}</a:tableStyleId>
              </a:tblPr>
              <a:tblGrid>
                <a:gridCol w="563118">
                  <a:extLst>
                    <a:ext uri="{9D8B030D-6E8A-4147-A177-3AD203B41FA5}">
                      <a16:colId xmlns:a16="http://schemas.microsoft.com/office/drawing/2014/main" val="1826968673"/>
                    </a:ext>
                  </a:extLst>
                </a:gridCol>
                <a:gridCol w="563118">
                  <a:extLst>
                    <a:ext uri="{9D8B030D-6E8A-4147-A177-3AD203B41FA5}">
                      <a16:colId xmlns:a16="http://schemas.microsoft.com/office/drawing/2014/main" val="1550905977"/>
                    </a:ext>
                  </a:extLst>
                </a:gridCol>
                <a:gridCol w="563118">
                  <a:extLst>
                    <a:ext uri="{9D8B030D-6E8A-4147-A177-3AD203B41FA5}">
                      <a16:colId xmlns:a16="http://schemas.microsoft.com/office/drawing/2014/main" val="1918203087"/>
                    </a:ext>
                  </a:extLst>
                </a:gridCol>
                <a:gridCol w="563118">
                  <a:extLst>
                    <a:ext uri="{9D8B030D-6E8A-4147-A177-3AD203B41FA5}">
                      <a16:colId xmlns:a16="http://schemas.microsoft.com/office/drawing/2014/main" val="1944241656"/>
                    </a:ext>
                  </a:extLst>
                </a:gridCol>
                <a:gridCol w="563118">
                  <a:extLst>
                    <a:ext uri="{9D8B030D-6E8A-4147-A177-3AD203B41FA5}">
                      <a16:colId xmlns:a16="http://schemas.microsoft.com/office/drawing/2014/main" val="3834393282"/>
                    </a:ext>
                  </a:extLst>
                </a:gridCol>
                <a:gridCol w="563118">
                  <a:extLst>
                    <a:ext uri="{9D8B030D-6E8A-4147-A177-3AD203B41FA5}">
                      <a16:colId xmlns:a16="http://schemas.microsoft.com/office/drawing/2014/main" val="3190588456"/>
                    </a:ext>
                  </a:extLst>
                </a:gridCol>
                <a:gridCol w="563118">
                  <a:extLst>
                    <a:ext uri="{9D8B030D-6E8A-4147-A177-3AD203B41FA5}">
                      <a16:colId xmlns:a16="http://schemas.microsoft.com/office/drawing/2014/main" val="1315901131"/>
                    </a:ext>
                  </a:extLst>
                </a:gridCol>
                <a:gridCol w="563118">
                  <a:extLst>
                    <a:ext uri="{9D8B030D-6E8A-4147-A177-3AD203B41FA5}">
                      <a16:colId xmlns:a16="http://schemas.microsoft.com/office/drawing/2014/main" val="4004572015"/>
                    </a:ext>
                  </a:extLst>
                </a:gridCol>
                <a:gridCol w="563118">
                  <a:extLst>
                    <a:ext uri="{9D8B030D-6E8A-4147-A177-3AD203B41FA5}">
                      <a16:colId xmlns:a16="http://schemas.microsoft.com/office/drawing/2014/main" val="2923258211"/>
                    </a:ext>
                  </a:extLst>
                </a:gridCol>
                <a:gridCol w="563118">
                  <a:extLst>
                    <a:ext uri="{9D8B030D-6E8A-4147-A177-3AD203B41FA5}">
                      <a16:colId xmlns:a16="http://schemas.microsoft.com/office/drawing/2014/main" val="3545192039"/>
                    </a:ext>
                  </a:extLst>
                </a:gridCol>
              </a:tblGrid>
              <a:tr h="214262">
                <a:tc gridSpan="2">
                  <a:txBody>
                    <a:bodyPr/>
                    <a:lstStyle/>
                    <a:p>
                      <a:pPr algn="ctr" fontAlgn="b"/>
                      <a:r>
                        <a:rPr lang="en-US" sz="1400" b="0" i="0" u="none" strike="noStrike" dirty="0">
                          <a:solidFill>
                            <a:srgbClr val="000000"/>
                          </a:solidFill>
                          <a:effectLst/>
                          <a:latin typeface="Calibri" panose="020F0502020204030204" pitchFamily="34" charset="0"/>
                        </a:rPr>
                        <a:t>Gender</a:t>
                      </a:r>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gridSpan="6">
                  <a:txBody>
                    <a:bodyPr/>
                    <a:lstStyle/>
                    <a:p>
                      <a:pPr algn="ctr" fontAlgn="b"/>
                      <a:r>
                        <a:rPr lang="en-US" sz="1400" b="0" i="0" u="none" strike="noStrike" dirty="0">
                          <a:solidFill>
                            <a:srgbClr val="000000"/>
                          </a:solidFill>
                          <a:effectLst/>
                          <a:latin typeface="Calibri" panose="020F0502020204030204" pitchFamily="34" charset="0"/>
                        </a:rPr>
                        <a:t>Location </a:t>
                      </a:r>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gridSpan="2">
                  <a:txBody>
                    <a:bodyPr/>
                    <a:lstStyle/>
                    <a:p>
                      <a:pPr algn="ctr" fontAlgn="b"/>
                      <a:r>
                        <a:rPr lang="en-US" sz="1400" b="0" i="0" u="none" strike="noStrike" dirty="0">
                          <a:solidFill>
                            <a:srgbClr val="000000"/>
                          </a:solidFill>
                          <a:effectLst/>
                          <a:latin typeface="Calibri" panose="020F0502020204030204" pitchFamily="34" charset="0"/>
                        </a:rPr>
                        <a:t>Urbanization</a:t>
                      </a:r>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158331613"/>
                  </a:ext>
                </a:extLst>
              </a:tr>
              <a:tr h="214262">
                <a:tc>
                  <a:txBody>
                    <a:bodyPr/>
                    <a:lstStyle/>
                    <a:p>
                      <a:pPr algn="ctr" fontAlgn="b"/>
                      <a:r>
                        <a:rPr lang="en-US" sz="1400" b="0" i="0" u="none" strike="noStrike" dirty="0">
                          <a:solidFill>
                            <a:srgbClr val="000000"/>
                          </a:solidFill>
                          <a:effectLst/>
                          <a:latin typeface="Calibri" panose="020F0502020204030204" pitchFamily="34" charset="0"/>
                        </a:rPr>
                        <a:t>Male</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400" b="0" i="0" u="none" strike="noStrike" dirty="0">
                          <a:solidFill>
                            <a:srgbClr val="000000"/>
                          </a:solidFill>
                          <a:effectLst/>
                          <a:latin typeface="Calibri" panose="020F0502020204030204" pitchFamily="34" charset="0"/>
                        </a:rPr>
                        <a:t>Female</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u="none" strike="noStrike" dirty="0">
                          <a:effectLst/>
                        </a:rPr>
                        <a:t>FCT</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u="none" strike="noStrike" dirty="0">
                          <a:effectLst/>
                        </a:rPr>
                        <a:t>Bauchi</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u="none" strike="noStrike" dirty="0">
                          <a:effectLst/>
                        </a:rPr>
                        <a:t>Kano</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u="none" strike="noStrike" dirty="0">
                          <a:effectLst/>
                        </a:rPr>
                        <a:t>Enugu</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u="none" strike="noStrike" dirty="0">
                          <a:effectLst/>
                        </a:rPr>
                        <a:t>Edo</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u="none" strike="noStrike" dirty="0">
                          <a:effectLst/>
                        </a:rPr>
                        <a:t>Lagos</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Urban</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Rural</a:t>
                      </a:r>
                    </a:p>
                  </a:txBody>
                  <a:tcPr marL="9525" marR="9525" marT="9525" marB="0" anchor="ctr"/>
                </a:tc>
                <a:extLst>
                  <a:ext uri="{0D108BD9-81ED-4DB2-BD59-A6C34878D82A}">
                    <a16:rowId xmlns:a16="http://schemas.microsoft.com/office/drawing/2014/main" val="2249696190"/>
                  </a:ext>
                </a:extLst>
              </a:tr>
              <a:tr h="382985">
                <a:tc>
                  <a:txBody>
                    <a:bodyPr/>
                    <a:lstStyle/>
                    <a:p>
                      <a:pPr algn="ctr" fontAlgn="b"/>
                      <a:r>
                        <a:rPr lang="en-GB" sz="1400" b="0" i="0" u="none" strike="noStrike" dirty="0">
                          <a:solidFill>
                            <a:srgbClr val="000000"/>
                          </a:solidFill>
                          <a:effectLst/>
                          <a:latin typeface="Calibri" panose="020F0502020204030204" pitchFamily="34" charset="0"/>
                        </a:rPr>
                        <a:t>59%</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49%</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100%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57%</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52%</a:t>
                      </a:r>
                    </a:p>
                  </a:txBody>
                  <a:tcPr marL="9525" marR="9525" marT="9525" marB="0" anchor="ctr"/>
                </a:tc>
                <a:extLst>
                  <a:ext uri="{0D108BD9-81ED-4DB2-BD59-A6C34878D82A}">
                    <a16:rowId xmlns:a16="http://schemas.microsoft.com/office/drawing/2014/main" val="2827805479"/>
                  </a:ext>
                </a:extLst>
              </a:tr>
              <a:tr h="382985">
                <a:tc>
                  <a:txBody>
                    <a:bodyPr/>
                    <a:lstStyle/>
                    <a:p>
                      <a:pPr algn="ctr" fontAlgn="b"/>
                      <a:r>
                        <a:rPr lang="en-GB" sz="1400" b="0" i="0" u="none" strike="noStrike">
                          <a:solidFill>
                            <a:srgbClr val="000000"/>
                          </a:solidFill>
                          <a:effectLst/>
                          <a:latin typeface="Calibri" panose="020F0502020204030204" pitchFamily="34" charset="0"/>
                        </a:rPr>
                        <a:t>8%</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8%</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67%</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67%</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11%</a:t>
                      </a:r>
                    </a:p>
                  </a:txBody>
                  <a:tcPr marL="9525" marR="9525" marT="9525" marB="0" anchor="ctr"/>
                </a:tc>
                <a:extLst>
                  <a:ext uri="{0D108BD9-81ED-4DB2-BD59-A6C34878D82A}">
                    <a16:rowId xmlns:a16="http://schemas.microsoft.com/office/drawing/2014/main" val="2714110212"/>
                  </a:ext>
                </a:extLst>
              </a:tr>
              <a:tr h="382985">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extLst>
                  <a:ext uri="{0D108BD9-81ED-4DB2-BD59-A6C34878D82A}">
                    <a16:rowId xmlns:a16="http://schemas.microsoft.com/office/drawing/2014/main" val="1858804298"/>
                  </a:ext>
                </a:extLst>
              </a:tr>
              <a:tr h="382985">
                <a:tc>
                  <a:txBody>
                    <a:bodyPr/>
                    <a:lstStyle/>
                    <a:p>
                      <a:pPr algn="ctr" fontAlgn="b"/>
                      <a:r>
                        <a:rPr lang="en-GB" sz="1400" b="0" i="0" u="none" strike="noStrike">
                          <a:solidFill>
                            <a:srgbClr val="000000"/>
                          </a:solidFill>
                          <a:effectLst/>
                          <a:latin typeface="Calibri" panose="020F0502020204030204" pitchFamily="34" charset="0"/>
                        </a:rPr>
                        <a:t>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a:t>
                      </a:r>
                    </a:p>
                  </a:txBody>
                  <a:tcPr marL="9525" marR="9525" marT="9525" marB="0" anchor="ctr"/>
                </a:tc>
                <a:extLst>
                  <a:ext uri="{0D108BD9-81ED-4DB2-BD59-A6C34878D82A}">
                    <a16:rowId xmlns:a16="http://schemas.microsoft.com/office/drawing/2014/main" val="556687053"/>
                  </a:ext>
                </a:extLst>
              </a:tr>
              <a:tr h="382985">
                <a:tc>
                  <a:txBody>
                    <a:bodyPr/>
                    <a:lstStyle/>
                    <a:p>
                      <a:pPr algn="ctr" fontAlgn="b"/>
                      <a:r>
                        <a:rPr lang="en-GB" sz="1400" b="0" i="0" u="none" strike="noStrike">
                          <a:solidFill>
                            <a:srgbClr val="000000"/>
                          </a:solidFill>
                          <a:effectLst/>
                          <a:latin typeface="Calibri" panose="020F0502020204030204" pitchFamily="34" charset="0"/>
                        </a:rPr>
                        <a:t>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extLst>
                  <a:ext uri="{0D108BD9-81ED-4DB2-BD59-A6C34878D82A}">
                    <a16:rowId xmlns:a16="http://schemas.microsoft.com/office/drawing/2014/main" val="2914403998"/>
                  </a:ext>
                </a:extLst>
              </a:tr>
              <a:tr h="382985">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a:t>
                      </a:r>
                    </a:p>
                  </a:txBody>
                  <a:tcPr marL="9525" marR="9525" marT="9525" marB="0" anchor="ctr"/>
                </a:tc>
                <a:extLst>
                  <a:ext uri="{0D108BD9-81ED-4DB2-BD59-A6C34878D82A}">
                    <a16:rowId xmlns:a16="http://schemas.microsoft.com/office/drawing/2014/main" val="2236246859"/>
                  </a:ext>
                </a:extLst>
              </a:tr>
              <a:tr h="382985">
                <a:tc>
                  <a:txBody>
                    <a:bodyPr/>
                    <a:lstStyle/>
                    <a:p>
                      <a:pPr algn="ctr" fontAlgn="b"/>
                      <a:r>
                        <a:rPr lang="en-GB" sz="1400" b="0" i="0" u="none" strike="noStrike">
                          <a:solidFill>
                            <a:srgbClr val="000000"/>
                          </a:solidFill>
                          <a:effectLst/>
                          <a:latin typeface="Calibri" panose="020F0502020204030204" pitchFamily="34" charset="0"/>
                        </a:rPr>
                        <a:t>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a:t>
                      </a:r>
                    </a:p>
                  </a:txBody>
                  <a:tcPr marL="9525" marR="9525" marT="9525" marB="0" anchor="ctr"/>
                </a:tc>
                <a:extLst>
                  <a:ext uri="{0D108BD9-81ED-4DB2-BD59-A6C34878D82A}">
                    <a16:rowId xmlns:a16="http://schemas.microsoft.com/office/drawing/2014/main" val="491645917"/>
                  </a:ext>
                </a:extLst>
              </a:tr>
              <a:tr h="382985">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7%</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a:t>
                      </a:r>
                    </a:p>
                  </a:txBody>
                  <a:tcPr marL="9525" marR="9525" marT="9525" marB="0" anchor="ctr"/>
                </a:tc>
                <a:extLst>
                  <a:ext uri="{0D108BD9-81ED-4DB2-BD59-A6C34878D82A}">
                    <a16:rowId xmlns:a16="http://schemas.microsoft.com/office/drawing/2014/main" val="2138546097"/>
                  </a:ext>
                </a:extLst>
              </a:tr>
              <a:tr h="382985">
                <a:tc>
                  <a:txBody>
                    <a:bodyPr/>
                    <a:lstStyle/>
                    <a:p>
                      <a:pPr algn="ctr" fontAlgn="b"/>
                      <a:r>
                        <a:rPr lang="en-GB" sz="1400" b="0" i="0" u="none" strike="noStrike">
                          <a:solidFill>
                            <a:srgbClr val="000000"/>
                          </a:solidFill>
                          <a:effectLst/>
                          <a:latin typeface="Calibri" panose="020F0502020204030204" pitchFamily="34" charset="0"/>
                        </a:rPr>
                        <a:t>21%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40%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28%</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22%</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28%</a:t>
                      </a:r>
                    </a:p>
                  </a:txBody>
                  <a:tcPr marL="9525" marR="9525" marT="9525" marB="0" anchor="ctr"/>
                </a:tc>
                <a:extLst>
                  <a:ext uri="{0D108BD9-81ED-4DB2-BD59-A6C34878D82A}">
                    <a16:rowId xmlns:a16="http://schemas.microsoft.com/office/drawing/2014/main" val="2862610367"/>
                  </a:ext>
                </a:extLst>
              </a:tr>
            </a:tbl>
          </a:graphicData>
        </a:graphic>
      </p:graphicFrame>
      <p:sp>
        <p:nvSpPr>
          <p:cNvPr id="10" name="TextBox 9">
            <a:extLst>
              <a:ext uri="{FF2B5EF4-FFF2-40B4-BE49-F238E27FC236}">
                <a16:creationId xmlns:a16="http://schemas.microsoft.com/office/drawing/2014/main" id="{BD09719E-736E-4371-A77F-9BA647583707}"/>
              </a:ext>
            </a:extLst>
          </p:cNvPr>
          <p:cNvSpPr txBox="1"/>
          <p:nvPr/>
        </p:nvSpPr>
        <p:spPr>
          <a:xfrm>
            <a:off x="312991" y="119838"/>
            <a:ext cx="5605670"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The Next Elections</a:t>
            </a:r>
          </a:p>
        </p:txBody>
      </p:sp>
      <p:sp>
        <p:nvSpPr>
          <p:cNvPr id="15" name="TextBox 14">
            <a:extLst>
              <a:ext uri="{FF2B5EF4-FFF2-40B4-BE49-F238E27FC236}">
                <a16:creationId xmlns:a16="http://schemas.microsoft.com/office/drawing/2014/main" id="{E0674065-EEEC-48E1-9A6E-58C7480E65D1}"/>
              </a:ext>
            </a:extLst>
          </p:cNvPr>
          <p:cNvSpPr txBox="1"/>
          <p:nvPr/>
        </p:nvSpPr>
        <p:spPr>
          <a:xfrm>
            <a:off x="331302" y="675740"/>
            <a:ext cx="11714923" cy="523220"/>
          </a:xfrm>
          <a:prstGeom prst="rect">
            <a:avLst/>
          </a:prstGeom>
          <a:noFill/>
        </p:spPr>
        <p:txBody>
          <a:bodyPr wrap="square">
            <a:spAutoFit/>
          </a:bodyPr>
          <a:lstStyle/>
          <a:p>
            <a:pPr lvl="0">
              <a:defRPr/>
            </a:pPr>
            <a:r>
              <a:rPr lang="en-US" sz="1400" b="1" dirty="0">
                <a:solidFill>
                  <a:srgbClr val="0070C0"/>
                </a:solidFill>
                <a:latin typeface="Book Antiqua" panose="02040602050305030304" pitchFamily="18" charset="0"/>
                <a:ea typeface="Arial Unicode MS"/>
              </a:rPr>
              <a:t>The majority (55%) pledged their support to vote for the All Progressives Congress (APC) in the next senatorial elections, 8% mentioned Labour Party, while 29% have not decided.</a:t>
            </a:r>
            <a:endPar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endParaRPr>
          </a:p>
        </p:txBody>
      </p:sp>
    </p:spTree>
    <p:extLst>
      <p:ext uri="{BB962C8B-B14F-4D97-AF65-F5344CB8AC3E}">
        <p14:creationId xmlns:p14="http://schemas.microsoft.com/office/powerpoint/2010/main" val="36657132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Q344.  If another National House of Representatives election were to be held today, which political party would you vote for?</a:t>
            </a:r>
            <a:endParaRPr lang="en-US" sz="1000" dirty="0">
              <a:latin typeface="Book Antiqua" panose="02040602050305030304" pitchFamily="18" charset="0"/>
            </a:endParaRPr>
          </a:p>
        </p:txBody>
      </p:sp>
      <p:graphicFrame>
        <p:nvGraphicFramePr>
          <p:cNvPr id="8" name="Chart 7">
            <a:extLst>
              <a:ext uri="{FF2B5EF4-FFF2-40B4-BE49-F238E27FC236}">
                <a16:creationId xmlns:a16="http://schemas.microsoft.com/office/drawing/2014/main" id="{4859EA40-6F25-4B2E-91DC-3A46D1EA07F4}"/>
              </a:ext>
            </a:extLst>
          </p:cNvPr>
          <p:cNvGraphicFramePr/>
          <p:nvPr>
            <p:extLst>
              <p:ext uri="{D42A27DB-BD31-4B8C-83A1-F6EECF244321}">
                <p14:modId xmlns:p14="http://schemas.microsoft.com/office/powerpoint/2010/main" val="2412864108"/>
              </p:ext>
            </p:extLst>
          </p:nvPr>
        </p:nvGraphicFramePr>
        <p:xfrm>
          <a:off x="832513" y="1866717"/>
          <a:ext cx="4402427" cy="3798570"/>
        </p:xfrm>
        <a:graphic>
          <a:graphicData uri="http://schemas.openxmlformats.org/drawingml/2006/chart">
            <c:chart xmlns:c="http://schemas.openxmlformats.org/drawingml/2006/chart" xmlns:r="http://schemas.openxmlformats.org/officeDocument/2006/relationships" r:id="rId2"/>
          </a:graphicData>
        </a:graphic>
      </p:graphicFrame>
      <p:sp>
        <p:nvSpPr>
          <p:cNvPr id="12" name="Rectangle 11">
            <a:extLst>
              <a:ext uri="{FF2B5EF4-FFF2-40B4-BE49-F238E27FC236}">
                <a16:creationId xmlns:a16="http://schemas.microsoft.com/office/drawing/2014/main" id="{B04CE8E3-6477-4704-A018-FD65D74B66D3}"/>
              </a:ext>
            </a:extLst>
          </p:cNvPr>
          <p:cNvSpPr/>
          <p:nvPr/>
        </p:nvSpPr>
        <p:spPr>
          <a:xfrm>
            <a:off x="2634615" y="5741670"/>
            <a:ext cx="655949" cy="369332"/>
          </a:xfrm>
          <a:prstGeom prst="rect">
            <a:avLst/>
          </a:prstGeom>
        </p:spPr>
        <p:txBody>
          <a:bodyPr wrap="none">
            <a:spAutoFit/>
          </a:bodyPr>
          <a:lstStyle/>
          <a:p>
            <a:r>
              <a:rPr lang="en-GB" dirty="0">
                <a:solidFill>
                  <a:srgbClr val="000000"/>
                </a:solidFill>
                <a:latin typeface="Calibri" panose="020F0502020204030204" pitchFamily="34" charset="0"/>
              </a:rPr>
              <a:t>n=80</a:t>
            </a:r>
            <a:endParaRPr lang="en-GB" dirty="0"/>
          </a:p>
        </p:txBody>
      </p:sp>
      <p:sp>
        <p:nvSpPr>
          <p:cNvPr id="2" name="Rectangle 1">
            <a:extLst>
              <a:ext uri="{FF2B5EF4-FFF2-40B4-BE49-F238E27FC236}">
                <a16:creationId xmlns:a16="http://schemas.microsoft.com/office/drawing/2014/main" id="{A90B3879-7818-46E7-8A20-415B205EB70F}"/>
              </a:ext>
            </a:extLst>
          </p:cNvPr>
          <p:cNvSpPr/>
          <p:nvPr/>
        </p:nvSpPr>
        <p:spPr>
          <a:xfrm>
            <a:off x="1996139" y="1646267"/>
            <a:ext cx="2858475" cy="307777"/>
          </a:xfrm>
          <a:prstGeom prst="rect">
            <a:avLst/>
          </a:prstGeom>
        </p:spPr>
        <p:txBody>
          <a:bodyPr wrap="none">
            <a:spAutoFit/>
          </a:bodyPr>
          <a:lstStyle/>
          <a:p>
            <a:r>
              <a:rPr lang="en-US" sz="1400" dirty="0">
                <a:solidFill>
                  <a:srgbClr val="C00000"/>
                </a:solidFill>
                <a:latin typeface="Book Antiqua" panose="02040602050305030304" pitchFamily="18" charset="0"/>
              </a:rPr>
              <a:t>The Next House of Reps Election</a:t>
            </a:r>
            <a:endParaRPr lang="en-GB" sz="1400" dirty="0">
              <a:solidFill>
                <a:srgbClr val="C00000"/>
              </a:solidFill>
            </a:endParaRPr>
          </a:p>
        </p:txBody>
      </p:sp>
      <p:graphicFrame>
        <p:nvGraphicFramePr>
          <p:cNvPr id="13" name="Table 12">
            <a:extLst>
              <a:ext uri="{FF2B5EF4-FFF2-40B4-BE49-F238E27FC236}">
                <a16:creationId xmlns:a16="http://schemas.microsoft.com/office/drawing/2014/main" id="{734B3D38-343C-447D-867C-0861B46FFC7D}"/>
              </a:ext>
            </a:extLst>
          </p:cNvPr>
          <p:cNvGraphicFramePr>
            <a:graphicFrameLocks noGrp="1"/>
          </p:cNvGraphicFramePr>
          <p:nvPr>
            <p:extLst>
              <p:ext uri="{D42A27DB-BD31-4B8C-83A1-F6EECF244321}">
                <p14:modId xmlns:p14="http://schemas.microsoft.com/office/powerpoint/2010/main" val="580037453"/>
              </p:ext>
            </p:extLst>
          </p:nvPr>
        </p:nvGraphicFramePr>
        <p:xfrm>
          <a:off x="5547360" y="5764530"/>
          <a:ext cx="5642610" cy="190500"/>
        </p:xfrm>
        <a:graphic>
          <a:graphicData uri="http://schemas.openxmlformats.org/drawingml/2006/table">
            <a:tbl>
              <a:tblPr>
                <a:tableStyleId>{BDBED569-4797-4DF1-A0F4-6AAB3CD982D8}</a:tableStyleId>
              </a:tblPr>
              <a:tblGrid>
                <a:gridCol w="564261">
                  <a:extLst>
                    <a:ext uri="{9D8B030D-6E8A-4147-A177-3AD203B41FA5}">
                      <a16:colId xmlns:a16="http://schemas.microsoft.com/office/drawing/2014/main" val="3112059166"/>
                    </a:ext>
                  </a:extLst>
                </a:gridCol>
                <a:gridCol w="564261">
                  <a:extLst>
                    <a:ext uri="{9D8B030D-6E8A-4147-A177-3AD203B41FA5}">
                      <a16:colId xmlns:a16="http://schemas.microsoft.com/office/drawing/2014/main" val="2489636269"/>
                    </a:ext>
                  </a:extLst>
                </a:gridCol>
                <a:gridCol w="564261">
                  <a:extLst>
                    <a:ext uri="{9D8B030D-6E8A-4147-A177-3AD203B41FA5}">
                      <a16:colId xmlns:a16="http://schemas.microsoft.com/office/drawing/2014/main" val="1395971383"/>
                    </a:ext>
                  </a:extLst>
                </a:gridCol>
                <a:gridCol w="564261">
                  <a:extLst>
                    <a:ext uri="{9D8B030D-6E8A-4147-A177-3AD203B41FA5}">
                      <a16:colId xmlns:a16="http://schemas.microsoft.com/office/drawing/2014/main" val="3541316122"/>
                    </a:ext>
                  </a:extLst>
                </a:gridCol>
                <a:gridCol w="564261">
                  <a:extLst>
                    <a:ext uri="{9D8B030D-6E8A-4147-A177-3AD203B41FA5}">
                      <a16:colId xmlns:a16="http://schemas.microsoft.com/office/drawing/2014/main" val="2973643808"/>
                    </a:ext>
                  </a:extLst>
                </a:gridCol>
                <a:gridCol w="564261">
                  <a:extLst>
                    <a:ext uri="{9D8B030D-6E8A-4147-A177-3AD203B41FA5}">
                      <a16:colId xmlns:a16="http://schemas.microsoft.com/office/drawing/2014/main" val="1098445318"/>
                    </a:ext>
                  </a:extLst>
                </a:gridCol>
                <a:gridCol w="564261">
                  <a:extLst>
                    <a:ext uri="{9D8B030D-6E8A-4147-A177-3AD203B41FA5}">
                      <a16:colId xmlns:a16="http://schemas.microsoft.com/office/drawing/2014/main" val="575542565"/>
                    </a:ext>
                  </a:extLst>
                </a:gridCol>
                <a:gridCol w="564261">
                  <a:extLst>
                    <a:ext uri="{9D8B030D-6E8A-4147-A177-3AD203B41FA5}">
                      <a16:colId xmlns:a16="http://schemas.microsoft.com/office/drawing/2014/main" val="3024795525"/>
                    </a:ext>
                  </a:extLst>
                </a:gridCol>
                <a:gridCol w="564261">
                  <a:extLst>
                    <a:ext uri="{9D8B030D-6E8A-4147-A177-3AD203B41FA5}">
                      <a16:colId xmlns:a16="http://schemas.microsoft.com/office/drawing/2014/main" val="1794991674"/>
                    </a:ext>
                  </a:extLst>
                </a:gridCol>
                <a:gridCol w="564261">
                  <a:extLst>
                    <a:ext uri="{9D8B030D-6E8A-4147-A177-3AD203B41FA5}">
                      <a16:colId xmlns:a16="http://schemas.microsoft.com/office/drawing/2014/main" val="3018974446"/>
                    </a:ext>
                  </a:extLst>
                </a:gridCol>
              </a:tblGrid>
              <a:tr h="190500">
                <a:tc>
                  <a:txBody>
                    <a:bodyPr/>
                    <a:lstStyle/>
                    <a:p>
                      <a:pPr algn="ctr" fontAlgn="b"/>
                      <a:r>
                        <a:rPr lang="en-GB" sz="1100" b="0" i="0" u="none" strike="noStrike" dirty="0">
                          <a:solidFill>
                            <a:srgbClr val="000000"/>
                          </a:solidFill>
                          <a:effectLst/>
                          <a:latin typeface="Calibri" panose="020F0502020204030204" pitchFamily="34" charset="0"/>
                        </a:rPr>
                        <a:t>51</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29</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2</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20</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19</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0</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3</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36</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42</a:t>
                      </a:r>
                    </a:p>
                  </a:txBody>
                  <a:tcPr marL="9525" marR="9525" marT="9525" marB="0" anchor="b"/>
                </a:tc>
                <a:tc>
                  <a:txBody>
                    <a:bodyPr/>
                    <a:lstStyle/>
                    <a:p>
                      <a:pPr algn="ctr" fontAlgn="b"/>
                      <a:r>
                        <a:rPr lang="en-GB" sz="1100" b="0" i="0" u="none" strike="noStrike" dirty="0">
                          <a:solidFill>
                            <a:srgbClr val="000000"/>
                          </a:solidFill>
                          <a:effectLst/>
                          <a:latin typeface="Calibri" panose="020F0502020204030204" pitchFamily="34" charset="0"/>
                        </a:rPr>
                        <a:t>38</a:t>
                      </a:r>
                    </a:p>
                  </a:txBody>
                  <a:tcPr marL="9525" marR="9525" marT="9525" marB="0" anchor="b"/>
                </a:tc>
                <a:extLst>
                  <a:ext uri="{0D108BD9-81ED-4DB2-BD59-A6C34878D82A}">
                    <a16:rowId xmlns:a16="http://schemas.microsoft.com/office/drawing/2014/main" val="2504590640"/>
                  </a:ext>
                </a:extLst>
              </a:tr>
            </a:tbl>
          </a:graphicData>
        </a:graphic>
      </p:graphicFrame>
      <p:graphicFrame>
        <p:nvGraphicFramePr>
          <p:cNvPr id="11" name="Table 10">
            <a:extLst>
              <a:ext uri="{FF2B5EF4-FFF2-40B4-BE49-F238E27FC236}">
                <a16:creationId xmlns:a16="http://schemas.microsoft.com/office/drawing/2014/main" id="{FDBDBEC7-9706-46C4-90EC-A5B9F7D9A31D}"/>
              </a:ext>
            </a:extLst>
          </p:cNvPr>
          <p:cNvGraphicFramePr>
            <a:graphicFrameLocks noGrp="1"/>
          </p:cNvGraphicFramePr>
          <p:nvPr>
            <p:extLst>
              <p:ext uri="{D42A27DB-BD31-4B8C-83A1-F6EECF244321}">
                <p14:modId xmlns:p14="http://schemas.microsoft.com/office/powerpoint/2010/main" val="2837842083"/>
              </p:ext>
            </p:extLst>
          </p:nvPr>
        </p:nvGraphicFramePr>
        <p:xfrm>
          <a:off x="5558790" y="1728185"/>
          <a:ext cx="5631180" cy="3798570"/>
        </p:xfrm>
        <a:graphic>
          <a:graphicData uri="http://schemas.openxmlformats.org/drawingml/2006/table">
            <a:tbl>
              <a:tblPr>
                <a:tableStyleId>{BDBED569-4797-4DF1-A0F4-6AAB3CD982D8}</a:tableStyleId>
              </a:tblPr>
              <a:tblGrid>
                <a:gridCol w="563118">
                  <a:extLst>
                    <a:ext uri="{9D8B030D-6E8A-4147-A177-3AD203B41FA5}">
                      <a16:colId xmlns:a16="http://schemas.microsoft.com/office/drawing/2014/main" val="1826968673"/>
                    </a:ext>
                  </a:extLst>
                </a:gridCol>
                <a:gridCol w="563118">
                  <a:extLst>
                    <a:ext uri="{9D8B030D-6E8A-4147-A177-3AD203B41FA5}">
                      <a16:colId xmlns:a16="http://schemas.microsoft.com/office/drawing/2014/main" val="1550905977"/>
                    </a:ext>
                  </a:extLst>
                </a:gridCol>
                <a:gridCol w="563118">
                  <a:extLst>
                    <a:ext uri="{9D8B030D-6E8A-4147-A177-3AD203B41FA5}">
                      <a16:colId xmlns:a16="http://schemas.microsoft.com/office/drawing/2014/main" val="1918203087"/>
                    </a:ext>
                  </a:extLst>
                </a:gridCol>
                <a:gridCol w="563118">
                  <a:extLst>
                    <a:ext uri="{9D8B030D-6E8A-4147-A177-3AD203B41FA5}">
                      <a16:colId xmlns:a16="http://schemas.microsoft.com/office/drawing/2014/main" val="1944241656"/>
                    </a:ext>
                  </a:extLst>
                </a:gridCol>
                <a:gridCol w="563118">
                  <a:extLst>
                    <a:ext uri="{9D8B030D-6E8A-4147-A177-3AD203B41FA5}">
                      <a16:colId xmlns:a16="http://schemas.microsoft.com/office/drawing/2014/main" val="3834393282"/>
                    </a:ext>
                  </a:extLst>
                </a:gridCol>
                <a:gridCol w="563118">
                  <a:extLst>
                    <a:ext uri="{9D8B030D-6E8A-4147-A177-3AD203B41FA5}">
                      <a16:colId xmlns:a16="http://schemas.microsoft.com/office/drawing/2014/main" val="3190588456"/>
                    </a:ext>
                  </a:extLst>
                </a:gridCol>
                <a:gridCol w="563118">
                  <a:extLst>
                    <a:ext uri="{9D8B030D-6E8A-4147-A177-3AD203B41FA5}">
                      <a16:colId xmlns:a16="http://schemas.microsoft.com/office/drawing/2014/main" val="1315901131"/>
                    </a:ext>
                  </a:extLst>
                </a:gridCol>
                <a:gridCol w="563118">
                  <a:extLst>
                    <a:ext uri="{9D8B030D-6E8A-4147-A177-3AD203B41FA5}">
                      <a16:colId xmlns:a16="http://schemas.microsoft.com/office/drawing/2014/main" val="4004572015"/>
                    </a:ext>
                  </a:extLst>
                </a:gridCol>
                <a:gridCol w="563118">
                  <a:extLst>
                    <a:ext uri="{9D8B030D-6E8A-4147-A177-3AD203B41FA5}">
                      <a16:colId xmlns:a16="http://schemas.microsoft.com/office/drawing/2014/main" val="2923258211"/>
                    </a:ext>
                  </a:extLst>
                </a:gridCol>
                <a:gridCol w="563118">
                  <a:extLst>
                    <a:ext uri="{9D8B030D-6E8A-4147-A177-3AD203B41FA5}">
                      <a16:colId xmlns:a16="http://schemas.microsoft.com/office/drawing/2014/main" val="3545192039"/>
                    </a:ext>
                  </a:extLst>
                </a:gridCol>
              </a:tblGrid>
              <a:tr h="308580">
                <a:tc gridSpan="2">
                  <a:txBody>
                    <a:bodyPr/>
                    <a:lstStyle/>
                    <a:p>
                      <a:pPr algn="ctr" fontAlgn="b"/>
                      <a:r>
                        <a:rPr lang="en-US" sz="1400" b="0" i="0" u="none" strike="noStrike" dirty="0">
                          <a:solidFill>
                            <a:srgbClr val="000000"/>
                          </a:solidFill>
                          <a:effectLst/>
                          <a:latin typeface="Calibri" panose="020F0502020204030204" pitchFamily="34" charset="0"/>
                        </a:rPr>
                        <a:t>Gender</a:t>
                      </a:r>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gridSpan="6">
                  <a:txBody>
                    <a:bodyPr/>
                    <a:lstStyle/>
                    <a:p>
                      <a:pPr algn="ctr" fontAlgn="b"/>
                      <a:r>
                        <a:rPr lang="en-US" sz="1400" b="0" i="0" u="none" strike="noStrike" dirty="0">
                          <a:solidFill>
                            <a:srgbClr val="000000"/>
                          </a:solidFill>
                          <a:effectLst/>
                          <a:latin typeface="Calibri" panose="020F0502020204030204" pitchFamily="34" charset="0"/>
                        </a:rPr>
                        <a:t>Location </a:t>
                      </a:r>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gridSpan="2">
                  <a:txBody>
                    <a:bodyPr/>
                    <a:lstStyle/>
                    <a:p>
                      <a:pPr algn="ctr" fontAlgn="b"/>
                      <a:r>
                        <a:rPr lang="en-US" sz="1400" b="0" i="0" u="none" strike="noStrike" dirty="0">
                          <a:solidFill>
                            <a:srgbClr val="000000"/>
                          </a:solidFill>
                          <a:effectLst/>
                          <a:latin typeface="Calibri" panose="020F0502020204030204" pitchFamily="34" charset="0"/>
                        </a:rPr>
                        <a:t>Urbanization</a:t>
                      </a:r>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158331613"/>
                  </a:ext>
                </a:extLst>
              </a:tr>
              <a:tr h="308580">
                <a:tc>
                  <a:txBody>
                    <a:bodyPr/>
                    <a:lstStyle/>
                    <a:p>
                      <a:pPr algn="ctr" fontAlgn="b"/>
                      <a:r>
                        <a:rPr lang="en-US" sz="1400" b="0" i="0" u="none" strike="noStrike" dirty="0">
                          <a:solidFill>
                            <a:srgbClr val="000000"/>
                          </a:solidFill>
                          <a:effectLst/>
                          <a:latin typeface="Calibri" panose="020F0502020204030204" pitchFamily="34" charset="0"/>
                        </a:rPr>
                        <a:t>Male</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400" b="0" i="0" u="none" strike="noStrike" dirty="0">
                          <a:solidFill>
                            <a:srgbClr val="000000"/>
                          </a:solidFill>
                          <a:effectLst/>
                          <a:latin typeface="Calibri" panose="020F0502020204030204" pitchFamily="34" charset="0"/>
                        </a:rPr>
                        <a:t>Female</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u="none" strike="noStrike" dirty="0">
                          <a:effectLst/>
                        </a:rPr>
                        <a:t>FCT</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u="none" strike="noStrike" dirty="0">
                          <a:effectLst/>
                        </a:rPr>
                        <a:t>Bauchi</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u="none" strike="noStrike" dirty="0">
                          <a:effectLst/>
                        </a:rPr>
                        <a:t>Kano</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u="none" strike="noStrike" dirty="0">
                          <a:effectLst/>
                        </a:rPr>
                        <a:t>Enugu</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u="none" strike="noStrike" dirty="0">
                          <a:effectLst/>
                        </a:rPr>
                        <a:t>Edo</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u="none" strike="noStrike" dirty="0">
                          <a:effectLst/>
                        </a:rPr>
                        <a:t>Lagos</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Urban</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Rural</a:t>
                      </a:r>
                    </a:p>
                  </a:txBody>
                  <a:tcPr marL="9525" marR="9525" marT="9525" marB="0" anchor="ctr"/>
                </a:tc>
                <a:extLst>
                  <a:ext uri="{0D108BD9-81ED-4DB2-BD59-A6C34878D82A}">
                    <a16:rowId xmlns:a16="http://schemas.microsoft.com/office/drawing/2014/main" val="2249696190"/>
                  </a:ext>
                </a:extLst>
              </a:tr>
              <a:tr h="530235">
                <a:tc>
                  <a:txBody>
                    <a:bodyPr/>
                    <a:lstStyle/>
                    <a:p>
                      <a:pPr algn="ctr" fontAlgn="b"/>
                      <a:r>
                        <a:rPr lang="en-GB" sz="1400" b="0" i="0" u="none" strike="noStrike" dirty="0">
                          <a:solidFill>
                            <a:srgbClr val="000000"/>
                          </a:solidFill>
                          <a:effectLst/>
                          <a:latin typeface="Calibri" panose="020F0502020204030204" pitchFamily="34" charset="0"/>
                        </a:rPr>
                        <a:t>67%</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100%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100%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61%</a:t>
                      </a:r>
                    </a:p>
                  </a:txBody>
                  <a:tcPr marL="9525" marR="9525" marT="9525" marB="0" anchor="ctr"/>
                </a:tc>
                <a:extLst>
                  <a:ext uri="{0D108BD9-81ED-4DB2-BD59-A6C34878D82A}">
                    <a16:rowId xmlns:a16="http://schemas.microsoft.com/office/drawing/2014/main" val="2827805479"/>
                  </a:ext>
                </a:extLst>
              </a:tr>
              <a:tr h="530235">
                <a:tc>
                  <a:txBody>
                    <a:bodyPr/>
                    <a:lstStyle/>
                    <a:p>
                      <a:pPr algn="ctr" fontAlgn="b"/>
                      <a:r>
                        <a:rPr lang="en-GB" sz="1400" b="0" i="0" u="none" strike="noStrike">
                          <a:solidFill>
                            <a:srgbClr val="000000"/>
                          </a:solidFill>
                          <a:effectLst/>
                          <a:latin typeface="Calibri" panose="020F0502020204030204" pitchFamily="34" charset="0"/>
                        </a:rPr>
                        <a:t>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16%</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8%</a:t>
                      </a:r>
                    </a:p>
                  </a:txBody>
                  <a:tcPr marL="9525" marR="9525" marT="9525" marB="0" anchor="ctr"/>
                </a:tc>
                <a:extLst>
                  <a:ext uri="{0D108BD9-81ED-4DB2-BD59-A6C34878D82A}">
                    <a16:rowId xmlns:a16="http://schemas.microsoft.com/office/drawing/2014/main" val="2714110212"/>
                  </a:ext>
                </a:extLst>
              </a:tr>
              <a:tr h="530235">
                <a:tc>
                  <a:txBody>
                    <a:bodyPr/>
                    <a:lstStyle/>
                    <a:p>
                      <a:pPr algn="ctr" fontAlgn="b"/>
                      <a:r>
                        <a:rPr lang="en-GB" sz="1400" b="0" i="0" u="none" strike="noStrike">
                          <a:solidFill>
                            <a:srgbClr val="000000"/>
                          </a:solidFill>
                          <a:effectLst/>
                          <a:latin typeface="Calibri" panose="020F0502020204030204" pitchFamily="34" charset="0"/>
                        </a:rPr>
                        <a:t>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tc>
                <a:extLst>
                  <a:ext uri="{0D108BD9-81ED-4DB2-BD59-A6C34878D82A}">
                    <a16:rowId xmlns:a16="http://schemas.microsoft.com/office/drawing/2014/main" val="1858804298"/>
                  </a:ext>
                </a:extLst>
              </a:tr>
              <a:tr h="530235">
                <a:tc>
                  <a:txBody>
                    <a:bodyPr/>
                    <a:lstStyle/>
                    <a:p>
                      <a:pPr algn="ctr" fontAlgn="b"/>
                      <a:r>
                        <a:rPr lang="en-GB" sz="1400" b="0" i="0" u="none" strike="noStrike">
                          <a:solidFill>
                            <a:srgbClr val="000000"/>
                          </a:solidFill>
                          <a:effectLst/>
                          <a:latin typeface="Calibri" panose="020F0502020204030204" pitchFamily="34" charset="0"/>
                        </a:rPr>
                        <a:t>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tc>
                <a:extLst>
                  <a:ext uri="{0D108BD9-81ED-4DB2-BD59-A6C34878D82A}">
                    <a16:rowId xmlns:a16="http://schemas.microsoft.com/office/drawing/2014/main" val="556687053"/>
                  </a:ext>
                </a:extLst>
              </a:tr>
              <a:tr h="530235">
                <a:tc>
                  <a:txBody>
                    <a:bodyPr/>
                    <a:lstStyle/>
                    <a:p>
                      <a:pPr algn="ctr" fontAlgn="b"/>
                      <a:r>
                        <a:rPr lang="en-GB" sz="1400" b="0" i="0" u="none" strike="noStrike">
                          <a:solidFill>
                            <a:srgbClr val="000000"/>
                          </a:solidFill>
                          <a:effectLst/>
                          <a:latin typeface="Calibri" panose="020F0502020204030204" pitchFamily="34" charset="0"/>
                        </a:rPr>
                        <a:t>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extLst>
                  <a:ext uri="{0D108BD9-81ED-4DB2-BD59-A6C34878D82A}">
                    <a16:rowId xmlns:a16="http://schemas.microsoft.com/office/drawing/2014/main" val="2914403998"/>
                  </a:ext>
                </a:extLst>
              </a:tr>
              <a:tr h="530235">
                <a:tc>
                  <a:txBody>
                    <a:bodyPr/>
                    <a:lstStyle/>
                    <a:p>
                      <a:pPr algn="ctr" fontAlgn="b"/>
                      <a:r>
                        <a:rPr lang="en-GB" sz="1400" b="0" i="0" u="none" strike="noStrike">
                          <a:solidFill>
                            <a:srgbClr val="000000"/>
                          </a:solidFill>
                          <a:effectLst/>
                          <a:latin typeface="Calibri" panose="020F0502020204030204" pitchFamily="34" charset="0"/>
                        </a:rPr>
                        <a:t>22%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28%</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40%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28%</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24%</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24%</a:t>
                      </a:r>
                    </a:p>
                  </a:txBody>
                  <a:tcPr marL="9525" marR="9525" marT="9525" marB="0" anchor="ctr"/>
                </a:tc>
                <a:extLst>
                  <a:ext uri="{0D108BD9-81ED-4DB2-BD59-A6C34878D82A}">
                    <a16:rowId xmlns:a16="http://schemas.microsoft.com/office/drawing/2014/main" val="2236246859"/>
                  </a:ext>
                </a:extLst>
              </a:tr>
            </a:tbl>
          </a:graphicData>
        </a:graphic>
      </p:graphicFrame>
      <p:sp>
        <p:nvSpPr>
          <p:cNvPr id="10" name="TextBox 9">
            <a:extLst>
              <a:ext uri="{FF2B5EF4-FFF2-40B4-BE49-F238E27FC236}">
                <a16:creationId xmlns:a16="http://schemas.microsoft.com/office/drawing/2014/main" id="{FC44450A-9057-4876-A0D6-1CB698A94CB9}"/>
              </a:ext>
            </a:extLst>
          </p:cNvPr>
          <p:cNvSpPr txBox="1"/>
          <p:nvPr/>
        </p:nvSpPr>
        <p:spPr>
          <a:xfrm>
            <a:off x="312991" y="119838"/>
            <a:ext cx="5605670"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The Next Elections</a:t>
            </a:r>
          </a:p>
        </p:txBody>
      </p:sp>
      <p:sp>
        <p:nvSpPr>
          <p:cNvPr id="15" name="TextBox 14">
            <a:extLst>
              <a:ext uri="{FF2B5EF4-FFF2-40B4-BE49-F238E27FC236}">
                <a16:creationId xmlns:a16="http://schemas.microsoft.com/office/drawing/2014/main" id="{959075A6-847D-4191-BCB0-2B7936D52FBE}"/>
              </a:ext>
            </a:extLst>
          </p:cNvPr>
          <p:cNvSpPr txBox="1"/>
          <p:nvPr/>
        </p:nvSpPr>
        <p:spPr>
          <a:xfrm>
            <a:off x="331302" y="675740"/>
            <a:ext cx="11714923" cy="523220"/>
          </a:xfrm>
          <a:prstGeom prst="rect">
            <a:avLst/>
          </a:prstGeom>
          <a:noFill/>
        </p:spPr>
        <p:txBody>
          <a:bodyPr wrap="square">
            <a:spAutoFit/>
          </a:bodyPr>
          <a:lstStyle/>
          <a:p>
            <a:pPr lvl="0">
              <a:defRPr/>
            </a:pPr>
            <a:r>
              <a:rPr lang="en-US" sz="1400" b="1" dirty="0">
                <a:solidFill>
                  <a:srgbClr val="0070C0"/>
                </a:solidFill>
                <a:latin typeface="Book Antiqua" panose="02040602050305030304" pitchFamily="18" charset="0"/>
                <a:ea typeface="Arial Unicode MS"/>
              </a:rPr>
              <a:t>The majority (63%) pledged their support to vote for the All Progressives Congress (APC) in the next House of Reps elections, while 27% have not decided.</a:t>
            </a:r>
            <a:endPar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endParaRPr>
          </a:p>
        </p:txBody>
      </p:sp>
    </p:spTree>
    <p:extLst>
      <p:ext uri="{BB962C8B-B14F-4D97-AF65-F5344CB8AC3E}">
        <p14:creationId xmlns:p14="http://schemas.microsoft.com/office/powerpoint/2010/main" val="14537834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Q345.  If another State House of Assembly election were to be held today, which political party would you vote for?</a:t>
            </a:r>
            <a:endParaRPr lang="en-US" sz="1000" dirty="0">
              <a:latin typeface="Book Antiqua" panose="02040602050305030304" pitchFamily="18" charset="0"/>
            </a:endParaRPr>
          </a:p>
        </p:txBody>
      </p:sp>
      <p:graphicFrame>
        <p:nvGraphicFramePr>
          <p:cNvPr id="8" name="Chart 7">
            <a:extLst>
              <a:ext uri="{FF2B5EF4-FFF2-40B4-BE49-F238E27FC236}">
                <a16:creationId xmlns:a16="http://schemas.microsoft.com/office/drawing/2014/main" id="{4859EA40-6F25-4B2E-91DC-3A46D1EA07F4}"/>
              </a:ext>
            </a:extLst>
          </p:cNvPr>
          <p:cNvGraphicFramePr/>
          <p:nvPr>
            <p:extLst>
              <p:ext uri="{D42A27DB-BD31-4B8C-83A1-F6EECF244321}">
                <p14:modId xmlns:p14="http://schemas.microsoft.com/office/powerpoint/2010/main" val="909209341"/>
              </p:ext>
            </p:extLst>
          </p:nvPr>
        </p:nvGraphicFramePr>
        <p:xfrm>
          <a:off x="832513" y="1967076"/>
          <a:ext cx="4402427" cy="3798570"/>
        </p:xfrm>
        <a:graphic>
          <a:graphicData uri="http://schemas.openxmlformats.org/drawingml/2006/chart">
            <c:chart xmlns:c="http://schemas.openxmlformats.org/drawingml/2006/chart" xmlns:r="http://schemas.openxmlformats.org/officeDocument/2006/relationships" r:id="rId2"/>
          </a:graphicData>
        </a:graphic>
      </p:graphicFrame>
      <p:sp>
        <p:nvSpPr>
          <p:cNvPr id="12" name="Rectangle 11">
            <a:extLst>
              <a:ext uri="{FF2B5EF4-FFF2-40B4-BE49-F238E27FC236}">
                <a16:creationId xmlns:a16="http://schemas.microsoft.com/office/drawing/2014/main" id="{B04CE8E3-6477-4704-A018-FD65D74B66D3}"/>
              </a:ext>
            </a:extLst>
          </p:cNvPr>
          <p:cNvSpPr/>
          <p:nvPr/>
        </p:nvSpPr>
        <p:spPr>
          <a:xfrm>
            <a:off x="2634615" y="5741670"/>
            <a:ext cx="655949" cy="369332"/>
          </a:xfrm>
          <a:prstGeom prst="rect">
            <a:avLst/>
          </a:prstGeom>
        </p:spPr>
        <p:txBody>
          <a:bodyPr wrap="none">
            <a:spAutoFit/>
          </a:bodyPr>
          <a:lstStyle/>
          <a:p>
            <a:r>
              <a:rPr lang="en-GB" dirty="0">
                <a:solidFill>
                  <a:srgbClr val="000000"/>
                </a:solidFill>
                <a:latin typeface="Calibri" panose="020F0502020204030204" pitchFamily="34" charset="0"/>
              </a:rPr>
              <a:t>n=76</a:t>
            </a:r>
            <a:endParaRPr lang="en-GB" dirty="0"/>
          </a:p>
        </p:txBody>
      </p:sp>
      <p:sp>
        <p:nvSpPr>
          <p:cNvPr id="2" name="Rectangle 1">
            <a:extLst>
              <a:ext uri="{FF2B5EF4-FFF2-40B4-BE49-F238E27FC236}">
                <a16:creationId xmlns:a16="http://schemas.microsoft.com/office/drawing/2014/main" id="{A90B3879-7818-46E7-8A20-415B205EB70F}"/>
              </a:ext>
            </a:extLst>
          </p:cNvPr>
          <p:cNvSpPr/>
          <p:nvPr/>
        </p:nvSpPr>
        <p:spPr>
          <a:xfrm>
            <a:off x="1996139" y="1646267"/>
            <a:ext cx="3203121" cy="307777"/>
          </a:xfrm>
          <a:prstGeom prst="rect">
            <a:avLst/>
          </a:prstGeom>
        </p:spPr>
        <p:txBody>
          <a:bodyPr wrap="none">
            <a:spAutoFit/>
          </a:bodyPr>
          <a:lstStyle/>
          <a:p>
            <a:r>
              <a:rPr lang="en-US" sz="1400" dirty="0">
                <a:solidFill>
                  <a:srgbClr val="C00000"/>
                </a:solidFill>
                <a:latin typeface="Book Antiqua" panose="02040602050305030304" pitchFamily="18" charset="0"/>
              </a:rPr>
              <a:t>The Next House of Assembly Election</a:t>
            </a:r>
            <a:endParaRPr lang="en-GB" sz="1400" dirty="0">
              <a:solidFill>
                <a:srgbClr val="C00000"/>
              </a:solidFill>
            </a:endParaRPr>
          </a:p>
        </p:txBody>
      </p:sp>
      <p:graphicFrame>
        <p:nvGraphicFramePr>
          <p:cNvPr id="13" name="Table 12">
            <a:extLst>
              <a:ext uri="{FF2B5EF4-FFF2-40B4-BE49-F238E27FC236}">
                <a16:creationId xmlns:a16="http://schemas.microsoft.com/office/drawing/2014/main" id="{734B3D38-343C-447D-867C-0861B46FFC7D}"/>
              </a:ext>
            </a:extLst>
          </p:cNvPr>
          <p:cNvGraphicFramePr>
            <a:graphicFrameLocks noGrp="1"/>
          </p:cNvGraphicFramePr>
          <p:nvPr>
            <p:extLst>
              <p:ext uri="{D42A27DB-BD31-4B8C-83A1-F6EECF244321}">
                <p14:modId xmlns:p14="http://schemas.microsoft.com/office/powerpoint/2010/main" val="3138694405"/>
              </p:ext>
            </p:extLst>
          </p:nvPr>
        </p:nvGraphicFramePr>
        <p:xfrm>
          <a:off x="5547360" y="5764530"/>
          <a:ext cx="5642610" cy="190500"/>
        </p:xfrm>
        <a:graphic>
          <a:graphicData uri="http://schemas.openxmlformats.org/drawingml/2006/table">
            <a:tbl>
              <a:tblPr>
                <a:tableStyleId>{BDBED569-4797-4DF1-A0F4-6AAB3CD982D8}</a:tableStyleId>
              </a:tblPr>
              <a:tblGrid>
                <a:gridCol w="564261">
                  <a:extLst>
                    <a:ext uri="{9D8B030D-6E8A-4147-A177-3AD203B41FA5}">
                      <a16:colId xmlns:a16="http://schemas.microsoft.com/office/drawing/2014/main" val="3112059166"/>
                    </a:ext>
                  </a:extLst>
                </a:gridCol>
                <a:gridCol w="564261">
                  <a:extLst>
                    <a:ext uri="{9D8B030D-6E8A-4147-A177-3AD203B41FA5}">
                      <a16:colId xmlns:a16="http://schemas.microsoft.com/office/drawing/2014/main" val="2489636269"/>
                    </a:ext>
                  </a:extLst>
                </a:gridCol>
                <a:gridCol w="564261">
                  <a:extLst>
                    <a:ext uri="{9D8B030D-6E8A-4147-A177-3AD203B41FA5}">
                      <a16:colId xmlns:a16="http://schemas.microsoft.com/office/drawing/2014/main" val="1395971383"/>
                    </a:ext>
                  </a:extLst>
                </a:gridCol>
                <a:gridCol w="564261">
                  <a:extLst>
                    <a:ext uri="{9D8B030D-6E8A-4147-A177-3AD203B41FA5}">
                      <a16:colId xmlns:a16="http://schemas.microsoft.com/office/drawing/2014/main" val="3541316122"/>
                    </a:ext>
                  </a:extLst>
                </a:gridCol>
                <a:gridCol w="564261">
                  <a:extLst>
                    <a:ext uri="{9D8B030D-6E8A-4147-A177-3AD203B41FA5}">
                      <a16:colId xmlns:a16="http://schemas.microsoft.com/office/drawing/2014/main" val="2973643808"/>
                    </a:ext>
                  </a:extLst>
                </a:gridCol>
                <a:gridCol w="564261">
                  <a:extLst>
                    <a:ext uri="{9D8B030D-6E8A-4147-A177-3AD203B41FA5}">
                      <a16:colId xmlns:a16="http://schemas.microsoft.com/office/drawing/2014/main" val="1098445318"/>
                    </a:ext>
                  </a:extLst>
                </a:gridCol>
                <a:gridCol w="564261">
                  <a:extLst>
                    <a:ext uri="{9D8B030D-6E8A-4147-A177-3AD203B41FA5}">
                      <a16:colId xmlns:a16="http://schemas.microsoft.com/office/drawing/2014/main" val="575542565"/>
                    </a:ext>
                  </a:extLst>
                </a:gridCol>
                <a:gridCol w="564261">
                  <a:extLst>
                    <a:ext uri="{9D8B030D-6E8A-4147-A177-3AD203B41FA5}">
                      <a16:colId xmlns:a16="http://schemas.microsoft.com/office/drawing/2014/main" val="3024795525"/>
                    </a:ext>
                  </a:extLst>
                </a:gridCol>
                <a:gridCol w="564261">
                  <a:extLst>
                    <a:ext uri="{9D8B030D-6E8A-4147-A177-3AD203B41FA5}">
                      <a16:colId xmlns:a16="http://schemas.microsoft.com/office/drawing/2014/main" val="1794991674"/>
                    </a:ext>
                  </a:extLst>
                </a:gridCol>
                <a:gridCol w="564261">
                  <a:extLst>
                    <a:ext uri="{9D8B030D-6E8A-4147-A177-3AD203B41FA5}">
                      <a16:colId xmlns:a16="http://schemas.microsoft.com/office/drawing/2014/main" val="3018974446"/>
                    </a:ext>
                  </a:extLst>
                </a:gridCol>
              </a:tblGrid>
              <a:tr h="190500">
                <a:tc>
                  <a:txBody>
                    <a:bodyPr/>
                    <a:lstStyle/>
                    <a:p>
                      <a:pPr algn="ctr" fontAlgn="b"/>
                      <a:r>
                        <a:rPr lang="en-GB" sz="1100" b="0" i="0" u="none" strike="noStrike" dirty="0">
                          <a:solidFill>
                            <a:srgbClr val="000000"/>
                          </a:solidFill>
                          <a:effectLst/>
                          <a:latin typeface="Calibri" panose="020F0502020204030204" pitchFamily="34" charset="0"/>
                        </a:rPr>
                        <a:t>47</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29</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2</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18</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18</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0</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5</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33</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40</a:t>
                      </a:r>
                    </a:p>
                  </a:txBody>
                  <a:tcPr marL="9525" marR="9525" marT="9525" marB="0" anchor="b"/>
                </a:tc>
                <a:tc>
                  <a:txBody>
                    <a:bodyPr/>
                    <a:lstStyle/>
                    <a:p>
                      <a:pPr algn="ctr" fontAlgn="b"/>
                      <a:r>
                        <a:rPr lang="en-GB" sz="1100" b="0" i="0" u="none" strike="noStrike" dirty="0">
                          <a:solidFill>
                            <a:srgbClr val="000000"/>
                          </a:solidFill>
                          <a:effectLst/>
                          <a:latin typeface="Calibri" panose="020F0502020204030204" pitchFamily="34" charset="0"/>
                        </a:rPr>
                        <a:t>36</a:t>
                      </a:r>
                    </a:p>
                  </a:txBody>
                  <a:tcPr marL="9525" marR="9525" marT="9525" marB="0" anchor="b"/>
                </a:tc>
                <a:extLst>
                  <a:ext uri="{0D108BD9-81ED-4DB2-BD59-A6C34878D82A}">
                    <a16:rowId xmlns:a16="http://schemas.microsoft.com/office/drawing/2014/main" val="2504590640"/>
                  </a:ext>
                </a:extLst>
              </a:tr>
            </a:tbl>
          </a:graphicData>
        </a:graphic>
      </p:graphicFrame>
      <p:graphicFrame>
        <p:nvGraphicFramePr>
          <p:cNvPr id="11" name="Table 10">
            <a:extLst>
              <a:ext uri="{FF2B5EF4-FFF2-40B4-BE49-F238E27FC236}">
                <a16:creationId xmlns:a16="http://schemas.microsoft.com/office/drawing/2014/main" id="{FDBDBEC7-9706-46C4-90EC-A5B9F7D9A31D}"/>
              </a:ext>
            </a:extLst>
          </p:cNvPr>
          <p:cNvGraphicFramePr>
            <a:graphicFrameLocks noGrp="1"/>
          </p:cNvGraphicFramePr>
          <p:nvPr>
            <p:extLst>
              <p:ext uri="{D42A27DB-BD31-4B8C-83A1-F6EECF244321}">
                <p14:modId xmlns:p14="http://schemas.microsoft.com/office/powerpoint/2010/main" val="1928302710"/>
              </p:ext>
            </p:extLst>
          </p:nvPr>
        </p:nvGraphicFramePr>
        <p:xfrm>
          <a:off x="5558790" y="1728186"/>
          <a:ext cx="5631180" cy="3937099"/>
        </p:xfrm>
        <a:graphic>
          <a:graphicData uri="http://schemas.openxmlformats.org/drawingml/2006/table">
            <a:tbl>
              <a:tblPr>
                <a:tableStyleId>{BDBED569-4797-4DF1-A0F4-6AAB3CD982D8}</a:tableStyleId>
              </a:tblPr>
              <a:tblGrid>
                <a:gridCol w="563118">
                  <a:extLst>
                    <a:ext uri="{9D8B030D-6E8A-4147-A177-3AD203B41FA5}">
                      <a16:colId xmlns:a16="http://schemas.microsoft.com/office/drawing/2014/main" val="1826968673"/>
                    </a:ext>
                  </a:extLst>
                </a:gridCol>
                <a:gridCol w="563118">
                  <a:extLst>
                    <a:ext uri="{9D8B030D-6E8A-4147-A177-3AD203B41FA5}">
                      <a16:colId xmlns:a16="http://schemas.microsoft.com/office/drawing/2014/main" val="1550905977"/>
                    </a:ext>
                  </a:extLst>
                </a:gridCol>
                <a:gridCol w="563118">
                  <a:extLst>
                    <a:ext uri="{9D8B030D-6E8A-4147-A177-3AD203B41FA5}">
                      <a16:colId xmlns:a16="http://schemas.microsoft.com/office/drawing/2014/main" val="1918203087"/>
                    </a:ext>
                  </a:extLst>
                </a:gridCol>
                <a:gridCol w="563118">
                  <a:extLst>
                    <a:ext uri="{9D8B030D-6E8A-4147-A177-3AD203B41FA5}">
                      <a16:colId xmlns:a16="http://schemas.microsoft.com/office/drawing/2014/main" val="1944241656"/>
                    </a:ext>
                  </a:extLst>
                </a:gridCol>
                <a:gridCol w="563118">
                  <a:extLst>
                    <a:ext uri="{9D8B030D-6E8A-4147-A177-3AD203B41FA5}">
                      <a16:colId xmlns:a16="http://schemas.microsoft.com/office/drawing/2014/main" val="3834393282"/>
                    </a:ext>
                  </a:extLst>
                </a:gridCol>
                <a:gridCol w="563118">
                  <a:extLst>
                    <a:ext uri="{9D8B030D-6E8A-4147-A177-3AD203B41FA5}">
                      <a16:colId xmlns:a16="http://schemas.microsoft.com/office/drawing/2014/main" val="3190588456"/>
                    </a:ext>
                  </a:extLst>
                </a:gridCol>
                <a:gridCol w="563118">
                  <a:extLst>
                    <a:ext uri="{9D8B030D-6E8A-4147-A177-3AD203B41FA5}">
                      <a16:colId xmlns:a16="http://schemas.microsoft.com/office/drawing/2014/main" val="1315901131"/>
                    </a:ext>
                  </a:extLst>
                </a:gridCol>
                <a:gridCol w="563118">
                  <a:extLst>
                    <a:ext uri="{9D8B030D-6E8A-4147-A177-3AD203B41FA5}">
                      <a16:colId xmlns:a16="http://schemas.microsoft.com/office/drawing/2014/main" val="4004572015"/>
                    </a:ext>
                  </a:extLst>
                </a:gridCol>
                <a:gridCol w="563118">
                  <a:extLst>
                    <a:ext uri="{9D8B030D-6E8A-4147-A177-3AD203B41FA5}">
                      <a16:colId xmlns:a16="http://schemas.microsoft.com/office/drawing/2014/main" val="2923258211"/>
                    </a:ext>
                  </a:extLst>
                </a:gridCol>
                <a:gridCol w="563118">
                  <a:extLst>
                    <a:ext uri="{9D8B030D-6E8A-4147-A177-3AD203B41FA5}">
                      <a16:colId xmlns:a16="http://schemas.microsoft.com/office/drawing/2014/main" val="3545192039"/>
                    </a:ext>
                  </a:extLst>
                </a:gridCol>
              </a:tblGrid>
              <a:tr h="280657">
                <a:tc gridSpan="2">
                  <a:txBody>
                    <a:bodyPr/>
                    <a:lstStyle/>
                    <a:p>
                      <a:pPr algn="ctr" fontAlgn="b"/>
                      <a:r>
                        <a:rPr lang="en-US" sz="1400" b="0" i="0" u="none" strike="noStrike" dirty="0">
                          <a:solidFill>
                            <a:srgbClr val="000000"/>
                          </a:solidFill>
                          <a:effectLst/>
                          <a:latin typeface="Calibri" panose="020F0502020204030204" pitchFamily="34" charset="0"/>
                        </a:rPr>
                        <a:t>Gender</a:t>
                      </a:r>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gridSpan="6">
                  <a:txBody>
                    <a:bodyPr/>
                    <a:lstStyle/>
                    <a:p>
                      <a:pPr algn="ctr" fontAlgn="b"/>
                      <a:r>
                        <a:rPr lang="en-US" sz="1400" b="0" i="0" u="none" strike="noStrike" dirty="0">
                          <a:solidFill>
                            <a:srgbClr val="000000"/>
                          </a:solidFill>
                          <a:effectLst/>
                          <a:latin typeface="Calibri" panose="020F0502020204030204" pitchFamily="34" charset="0"/>
                        </a:rPr>
                        <a:t>Location </a:t>
                      </a:r>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gridSpan="2">
                  <a:txBody>
                    <a:bodyPr/>
                    <a:lstStyle/>
                    <a:p>
                      <a:pPr algn="ctr" fontAlgn="b"/>
                      <a:r>
                        <a:rPr lang="en-US" sz="1400" b="0" i="0" u="none" strike="noStrike" dirty="0">
                          <a:solidFill>
                            <a:srgbClr val="000000"/>
                          </a:solidFill>
                          <a:effectLst/>
                          <a:latin typeface="Calibri" panose="020F0502020204030204" pitchFamily="34" charset="0"/>
                        </a:rPr>
                        <a:t>Urbanization</a:t>
                      </a:r>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158331613"/>
                  </a:ext>
                </a:extLst>
              </a:tr>
              <a:tr h="280657">
                <a:tc>
                  <a:txBody>
                    <a:bodyPr/>
                    <a:lstStyle/>
                    <a:p>
                      <a:pPr algn="ctr" fontAlgn="b"/>
                      <a:r>
                        <a:rPr lang="en-US" sz="1400" b="0" i="0" u="none" strike="noStrike" dirty="0">
                          <a:solidFill>
                            <a:srgbClr val="000000"/>
                          </a:solidFill>
                          <a:effectLst/>
                          <a:latin typeface="Calibri" panose="020F0502020204030204" pitchFamily="34" charset="0"/>
                        </a:rPr>
                        <a:t>Male</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400" b="0" i="0" u="none" strike="noStrike" dirty="0">
                          <a:solidFill>
                            <a:srgbClr val="000000"/>
                          </a:solidFill>
                          <a:effectLst/>
                          <a:latin typeface="Calibri" panose="020F0502020204030204" pitchFamily="34" charset="0"/>
                        </a:rPr>
                        <a:t>Female</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u="none" strike="noStrike" dirty="0">
                          <a:effectLst/>
                        </a:rPr>
                        <a:t>FCT</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u="none" strike="noStrike" dirty="0">
                          <a:effectLst/>
                        </a:rPr>
                        <a:t>Bauchi</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u="none" strike="noStrike" dirty="0">
                          <a:effectLst/>
                        </a:rPr>
                        <a:t>Kano</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u="none" strike="noStrike" dirty="0">
                          <a:effectLst/>
                        </a:rPr>
                        <a:t>Enugu</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u="none" strike="noStrike" dirty="0">
                          <a:effectLst/>
                        </a:rPr>
                        <a:t>Edo</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u="none" strike="noStrike" dirty="0">
                          <a:effectLst/>
                        </a:rPr>
                        <a:t>Lagos</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Urban</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Rural</a:t>
                      </a:r>
                    </a:p>
                  </a:txBody>
                  <a:tcPr marL="9525" marR="9525" marT="9525" marB="0" anchor="ctr"/>
                </a:tc>
                <a:extLst>
                  <a:ext uri="{0D108BD9-81ED-4DB2-BD59-A6C34878D82A}">
                    <a16:rowId xmlns:a16="http://schemas.microsoft.com/office/drawing/2014/main" val="2249696190"/>
                  </a:ext>
                </a:extLst>
              </a:tr>
              <a:tr h="482255">
                <a:tc>
                  <a:txBody>
                    <a:bodyPr/>
                    <a:lstStyle/>
                    <a:p>
                      <a:pPr algn="ctr" fontAlgn="b"/>
                      <a:r>
                        <a:rPr lang="en-GB" sz="1400" b="0" i="0" u="none" strike="noStrike" dirty="0">
                          <a:solidFill>
                            <a:srgbClr val="000000"/>
                          </a:solidFill>
                          <a:effectLst/>
                          <a:latin typeface="Calibri" panose="020F0502020204030204" pitchFamily="34" charset="0"/>
                        </a:rPr>
                        <a:t>64%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100%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56%</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67%</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80%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64%</a:t>
                      </a:r>
                    </a:p>
                  </a:txBody>
                  <a:tcPr marL="9525" marR="9525" marT="9525" marB="0" anchor="ctr"/>
                </a:tc>
                <a:extLst>
                  <a:ext uri="{0D108BD9-81ED-4DB2-BD59-A6C34878D82A}">
                    <a16:rowId xmlns:a16="http://schemas.microsoft.com/office/drawing/2014/main" val="2827805479"/>
                  </a:ext>
                </a:extLst>
              </a:tr>
              <a:tr h="482255">
                <a:tc>
                  <a:txBody>
                    <a:bodyPr/>
                    <a:lstStyle/>
                    <a:p>
                      <a:pPr algn="ctr" fontAlgn="b"/>
                      <a:r>
                        <a:rPr lang="en-GB" sz="1400" b="0" i="0" u="none" strike="noStrike">
                          <a:solidFill>
                            <a:srgbClr val="000000"/>
                          </a:solidFill>
                          <a:effectLst/>
                          <a:latin typeface="Calibri" panose="020F0502020204030204" pitchFamily="34" charset="0"/>
                        </a:rPr>
                        <a:t>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tc>
                <a:extLst>
                  <a:ext uri="{0D108BD9-81ED-4DB2-BD59-A6C34878D82A}">
                    <a16:rowId xmlns:a16="http://schemas.microsoft.com/office/drawing/2014/main" val="2993110197"/>
                  </a:ext>
                </a:extLst>
              </a:tr>
              <a:tr h="482255">
                <a:tc>
                  <a:txBody>
                    <a:bodyPr/>
                    <a:lstStyle/>
                    <a:p>
                      <a:pPr algn="ctr" fontAlgn="b"/>
                      <a:r>
                        <a:rPr lang="en-GB" sz="1400" b="0" i="0" u="none" strike="noStrike">
                          <a:solidFill>
                            <a:srgbClr val="000000"/>
                          </a:solidFill>
                          <a:effectLst/>
                          <a:latin typeface="Calibri" panose="020F0502020204030204" pitchFamily="34" charset="0"/>
                        </a:rPr>
                        <a:t>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a:t>
                      </a:r>
                    </a:p>
                  </a:txBody>
                  <a:tcPr marL="9525" marR="9525" marT="9525" marB="0" anchor="ctr"/>
                </a:tc>
                <a:extLst>
                  <a:ext uri="{0D108BD9-81ED-4DB2-BD59-A6C34878D82A}">
                    <a16:rowId xmlns:a16="http://schemas.microsoft.com/office/drawing/2014/main" val="2714110212"/>
                  </a:ext>
                </a:extLst>
              </a:tr>
              <a:tr h="482255">
                <a:tc>
                  <a:txBody>
                    <a:bodyPr/>
                    <a:lstStyle/>
                    <a:p>
                      <a:pPr algn="ctr" fontAlgn="b"/>
                      <a:r>
                        <a:rPr lang="en-GB" sz="1400" b="0" i="0" u="none" strike="noStrike">
                          <a:solidFill>
                            <a:srgbClr val="000000"/>
                          </a:solidFill>
                          <a:effectLst/>
                          <a:latin typeface="Calibri" panose="020F0502020204030204" pitchFamily="34" charset="0"/>
                        </a:rPr>
                        <a:t>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tc>
                <a:extLst>
                  <a:ext uri="{0D108BD9-81ED-4DB2-BD59-A6C34878D82A}">
                    <a16:rowId xmlns:a16="http://schemas.microsoft.com/office/drawing/2014/main" val="1858804298"/>
                  </a:ext>
                </a:extLst>
              </a:tr>
              <a:tr h="482255">
                <a:tc>
                  <a:txBody>
                    <a:bodyPr/>
                    <a:lstStyle/>
                    <a:p>
                      <a:pPr algn="ctr" fontAlgn="b"/>
                      <a:r>
                        <a:rPr lang="en-GB" sz="1400" b="0" i="0" u="none" strike="noStrike">
                          <a:solidFill>
                            <a:srgbClr val="000000"/>
                          </a:solidFill>
                          <a:effectLst/>
                          <a:latin typeface="Calibri" panose="020F0502020204030204" pitchFamily="34" charset="0"/>
                        </a:rPr>
                        <a:t>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tc>
                <a:extLst>
                  <a:ext uri="{0D108BD9-81ED-4DB2-BD59-A6C34878D82A}">
                    <a16:rowId xmlns:a16="http://schemas.microsoft.com/office/drawing/2014/main" val="556687053"/>
                  </a:ext>
                </a:extLst>
              </a:tr>
              <a:tr h="482255">
                <a:tc>
                  <a:txBody>
                    <a:bodyPr/>
                    <a:lstStyle/>
                    <a:p>
                      <a:pPr algn="ctr" fontAlgn="b"/>
                      <a:r>
                        <a:rPr lang="en-GB" sz="1400" b="0" i="0" u="none" strike="noStrike">
                          <a:solidFill>
                            <a:srgbClr val="000000"/>
                          </a:solidFill>
                          <a:effectLst/>
                          <a:latin typeface="Calibri" panose="020F0502020204030204" pitchFamily="34" charset="0"/>
                        </a:rPr>
                        <a:t>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extLst>
                  <a:ext uri="{0D108BD9-81ED-4DB2-BD59-A6C34878D82A}">
                    <a16:rowId xmlns:a16="http://schemas.microsoft.com/office/drawing/2014/main" val="2914403998"/>
                  </a:ext>
                </a:extLst>
              </a:tr>
              <a:tr h="482255">
                <a:tc>
                  <a:txBody>
                    <a:bodyPr/>
                    <a:lstStyle/>
                    <a:p>
                      <a:pPr algn="ctr" fontAlgn="b"/>
                      <a:r>
                        <a:rPr lang="en-GB" sz="1400" b="0" i="0" u="none" strike="noStrike">
                          <a:solidFill>
                            <a:srgbClr val="000000"/>
                          </a:solidFill>
                          <a:effectLst/>
                          <a:latin typeface="Calibri" panose="020F0502020204030204" pitchFamily="34" charset="0"/>
                        </a:rPr>
                        <a:t>21%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44%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25%</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19%</a:t>
                      </a:r>
                    </a:p>
                  </a:txBody>
                  <a:tcPr marL="9525" marR="9525" marT="9525" marB="0" anchor="ctr"/>
                </a:tc>
                <a:extLst>
                  <a:ext uri="{0D108BD9-81ED-4DB2-BD59-A6C34878D82A}">
                    <a16:rowId xmlns:a16="http://schemas.microsoft.com/office/drawing/2014/main" val="2236246859"/>
                  </a:ext>
                </a:extLst>
              </a:tr>
            </a:tbl>
          </a:graphicData>
        </a:graphic>
      </p:graphicFrame>
      <p:sp>
        <p:nvSpPr>
          <p:cNvPr id="10" name="TextBox 9">
            <a:extLst>
              <a:ext uri="{FF2B5EF4-FFF2-40B4-BE49-F238E27FC236}">
                <a16:creationId xmlns:a16="http://schemas.microsoft.com/office/drawing/2014/main" id="{F05FDF6E-FB3F-4B98-9B87-4CC45AD4A942}"/>
              </a:ext>
            </a:extLst>
          </p:cNvPr>
          <p:cNvSpPr txBox="1"/>
          <p:nvPr/>
        </p:nvSpPr>
        <p:spPr>
          <a:xfrm>
            <a:off x="312991" y="119838"/>
            <a:ext cx="5605670"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The Next Elections</a:t>
            </a:r>
          </a:p>
        </p:txBody>
      </p:sp>
      <p:sp>
        <p:nvSpPr>
          <p:cNvPr id="15" name="TextBox 14">
            <a:extLst>
              <a:ext uri="{FF2B5EF4-FFF2-40B4-BE49-F238E27FC236}">
                <a16:creationId xmlns:a16="http://schemas.microsoft.com/office/drawing/2014/main" id="{A3C2BD4D-458B-459B-8157-8B7BB6ECFFF5}"/>
              </a:ext>
            </a:extLst>
          </p:cNvPr>
          <p:cNvSpPr txBox="1"/>
          <p:nvPr/>
        </p:nvSpPr>
        <p:spPr>
          <a:xfrm>
            <a:off x="331302" y="675740"/>
            <a:ext cx="11714923" cy="523220"/>
          </a:xfrm>
          <a:prstGeom prst="rect">
            <a:avLst/>
          </a:prstGeom>
          <a:noFill/>
        </p:spPr>
        <p:txBody>
          <a:bodyPr wrap="square">
            <a:spAutoFit/>
          </a:bodyPr>
          <a:lstStyle/>
          <a:p>
            <a:pPr lvl="0">
              <a:defRPr/>
            </a:pPr>
            <a:r>
              <a:rPr lang="en-US" sz="1400" b="1" dirty="0">
                <a:solidFill>
                  <a:srgbClr val="0070C0"/>
                </a:solidFill>
                <a:latin typeface="Book Antiqua" panose="02040602050305030304" pitchFamily="18" charset="0"/>
                <a:ea typeface="Arial Unicode MS"/>
              </a:rPr>
              <a:t>The majority (63%) pledged their support to vote for the All Progressives Congress (APC) in the next State House of Assembly elections, while 25% have not decided.</a:t>
            </a:r>
            <a:endPar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endParaRPr>
          </a:p>
        </p:txBody>
      </p:sp>
    </p:spTree>
    <p:extLst>
      <p:ext uri="{BB962C8B-B14F-4D97-AF65-F5344CB8AC3E}">
        <p14:creationId xmlns:p14="http://schemas.microsoft.com/office/powerpoint/2010/main" val="7523184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Q346.  If another  Local Government election were to be held today, which political party would you vote for?</a:t>
            </a:r>
            <a:endParaRPr lang="en-US" sz="1000" dirty="0">
              <a:latin typeface="Book Antiqua" panose="02040602050305030304" pitchFamily="18" charset="0"/>
            </a:endParaRPr>
          </a:p>
        </p:txBody>
      </p:sp>
      <p:graphicFrame>
        <p:nvGraphicFramePr>
          <p:cNvPr id="8" name="Chart 7">
            <a:extLst>
              <a:ext uri="{FF2B5EF4-FFF2-40B4-BE49-F238E27FC236}">
                <a16:creationId xmlns:a16="http://schemas.microsoft.com/office/drawing/2014/main" id="{4859EA40-6F25-4B2E-91DC-3A46D1EA07F4}"/>
              </a:ext>
            </a:extLst>
          </p:cNvPr>
          <p:cNvGraphicFramePr/>
          <p:nvPr>
            <p:extLst>
              <p:ext uri="{D42A27DB-BD31-4B8C-83A1-F6EECF244321}">
                <p14:modId xmlns:p14="http://schemas.microsoft.com/office/powerpoint/2010/main" val="1162321506"/>
              </p:ext>
            </p:extLst>
          </p:nvPr>
        </p:nvGraphicFramePr>
        <p:xfrm>
          <a:off x="832513" y="1967076"/>
          <a:ext cx="4402427" cy="3798570"/>
        </p:xfrm>
        <a:graphic>
          <a:graphicData uri="http://schemas.openxmlformats.org/drawingml/2006/chart">
            <c:chart xmlns:c="http://schemas.openxmlformats.org/drawingml/2006/chart" xmlns:r="http://schemas.openxmlformats.org/officeDocument/2006/relationships" r:id="rId2"/>
          </a:graphicData>
        </a:graphic>
      </p:graphicFrame>
      <p:sp>
        <p:nvSpPr>
          <p:cNvPr id="12" name="Rectangle 11">
            <a:extLst>
              <a:ext uri="{FF2B5EF4-FFF2-40B4-BE49-F238E27FC236}">
                <a16:creationId xmlns:a16="http://schemas.microsoft.com/office/drawing/2014/main" id="{B04CE8E3-6477-4704-A018-FD65D74B66D3}"/>
              </a:ext>
            </a:extLst>
          </p:cNvPr>
          <p:cNvSpPr/>
          <p:nvPr/>
        </p:nvSpPr>
        <p:spPr>
          <a:xfrm>
            <a:off x="2634615" y="5741670"/>
            <a:ext cx="655949" cy="369332"/>
          </a:xfrm>
          <a:prstGeom prst="rect">
            <a:avLst/>
          </a:prstGeom>
        </p:spPr>
        <p:txBody>
          <a:bodyPr wrap="none">
            <a:spAutoFit/>
          </a:bodyPr>
          <a:lstStyle/>
          <a:p>
            <a:r>
              <a:rPr lang="en-GB" dirty="0">
                <a:solidFill>
                  <a:srgbClr val="000000"/>
                </a:solidFill>
                <a:latin typeface="Calibri" panose="020F0502020204030204" pitchFamily="34" charset="0"/>
              </a:rPr>
              <a:t>n=66</a:t>
            </a:r>
            <a:endParaRPr lang="en-GB" dirty="0"/>
          </a:p>
        </p:txBody>
      </p:sp>
      <p:sp>
        <p:nvSpPr>
          <p:cNvPr id="2" name="Rectangle 1">
            <a:extLst>
              <a:ext uri="{FF2B5EF4-FFF2-40B4-BE49-F238E27FC236}">
                <a16:creationId xmlns:a16="http://schemas.microsoft.com/office/drawing/2014/main" id="{A90B3879-7818-46E7-8A20-415B205EB70F}"/>
              </a:ext>
            </a:extLst>
          </p:cNvPr>
          <p:cNvSpPr/>
          <p:nvPr/>
        </p:nvSpPr>
        <p:spPr>
          <a:xfrm>
            <a:off x="1996139" y="1646267"/>
            <a:ext cx="3203121" cy="307777"/>
          </a:xfrm>
          <a:prstGeom prst="rect">
            <a:avLst/>
          </a:prstGeom>
        </p:spPr>
        <p:txBody>
          <a:bodyPr wrap="none">
            <a:spAutoFit/>
          </a:bodyPr>
          <a:lstStyle/>
          <a:p>
            <a:r>
              <a:rPr lang="en-US" sz="1400" dirty="0">
                <a:solidFill>
                  <a:srgbClr val="C00000"/>
                </a:solidFill>
                <a:latin typeface="Book Antiqua" panose="02040602050305030304" pitchFamily="18" charset="0"/>
              </a:rPr>
              <a:t>The Next Local Government  Election</a:t>
            </a:r>
            <a:endParaRPr lang="en-GB" sz="1400" dirty="0">
              <a:solidFill>
                <a:srgbClr val="C00000"/>
              </a:solidFill>
            </a:endParaRPr>
          </a:p>
        </p:txBody>
      </p:sp>
      <p:graphicFrame>
        <p:nvGraphicFramePr>
          <p:cNvPr id="13" name="Table 12">
            <a:extLst>
              <a:ext uri="{FF2B5EF4-FFF2-40B4-BE49-F238E27FC236}">
                <a16:creationId xmlns:a16="http://schemas.microsoft.com/office/drawing/2014/main" id="{734B3D38-343C-447D-867C-0861B46FFC7D}"/>
              </a:ext>
            </a:extLst>
          </p:cNvPr>
          <p:cNvGraphicFramePr>
            <a:graphicFrameLocks noGrp="1"/>
          </p:cNvGraphicFramePr>
          <p:nvPr>
            <p:extLst>
              <p:ext uri="{D42A27DB-BD31-4B8C-83A1-F6EECF244321}">
                <p14:modId xmlns:p14="http://schemas.microsoft.com/office/powerpoint/2010/main" val="3540805519"/>
              </p:ext>
            </p:extLst>
          </p:nvPr>
        </p:nvGraphicFramePr>
        <p:xfrm>
          <a:off x="5547360" y="5764530"/>
          <a:ext cx="5642610" cy="190500"/>
        </p:xfrm>
        <a:graphic>
          <a:graphicData uri="http://schemas.openxmlformats.org/drawingml/2006/table">
            <a:tbl>
              <a:tblPr>
                <a:tableStyleId>{BDBED569-4797-4DF1-A0F4-6AAB3CD982D8}</a:tableStyleId>
              </a:tblPr>
              <a:tblGrid>
                <a:gridCol w="564261">
                  <a:extLst>
                    <a:ext uri="{9D8B030D-6E8A-4147-A177-3AD203B41FA5}">
                      <a16:colId xmlns:a16="http://schemas.microsoft.com/office/drawing/2014/main" val="3112059166"/>
                    </a:ext>
                  </a:extLst>
                </a:gridCol>
                <a:gridCol w="564261">
                  <a:extLst>
                    <a:ext uri="{9D8B030D-6E8A-4147-A177-3AD203B41FA5}">
                      <a16:colId xmlns:a16="http://schemas.microsoft.com/office/drawing/2014/main" val="2489636269"/>
                    </a:ext>
                  </a:extLst>
                </a:gridCol>
                <a:gridCol w="564261">
                  <a:extLst>
                    <a:ext uri="{9D8B030D-6E8A-4147-A177-3AD203B41FA5}">
                      <a16:colId xmlns:a16="http://schemas.microsoft.com/office/drawing/2014/main" val="1395971383"/>
                    </a:ext>
                  </a:extLst>
                </a:gridCol>
                <a:gridCol w="564261">
                  <a:extLst>
                    <a:ext uri="{9D8B030D-6E8A-4147-A177-3AD203B41FA5}">
                      <a16:colId xmlns:a16="http://schemas.microsoft.com/office/drawing/2014/main" val="3541316122"/>
                    </a:ext>
                  </a:extLst>
                </a:gridCol>
                <a:gridCol w="564261">
                  <a:extLst>
                    <a:ext uri="{9D8B030D-6E8A-4147-A177-3AD203B41FA5}">
                      <a16:colId xmlns:a16="http://schemas.microsoft.com/office/drawing/2014/main" val="2973643808"/>
                    </a:ext>
                  </a:extLst>
                </a:gridCol>
                <a:gridCol w="564261">
                  <a:extLst>
                    <a:ext uri="{9D8B030D-6E8A-4147-A177-3AD203B41FA5}">
                      <a16:colId xmlns:a16="http://schemas.microsoft.com/office/drawing/2014/main" val="1098445318"/>
                    </a:ext>
                  </a:extLst>
                </a:gridCol>
                <a:gridCol w="564261">
                  <a:extLst>
                    <a:ext uri="{9D8B030D-6E8A-4147-A177-3AD203B41FA5}">
                      <a16:colId xmlns:a16="http://schemas.microsoft.com/office/drawing/2014/main" val="575542565"/>
                    </a:ext>
                  </a:extLst>
                </a:gridCol>
                <a:gridCol w="564261">
                  <a:extLst>
                    <a:ext uri="{9D8B030D-6E8A-4147-A177-3AD203B41FA5}">
                      <a16:colId xmlns:a16="http://schemas.microsoft.com/office/drawing/2014/main" val="3024795525"/>
                    </a:ext>
                  </a:extLst>
                </a:gridCol>
                <a:gridCol w="564261">
                  <a:extLst>
                    <a:ext uri="{9D8B030D-6E8A-4147-A177-3AD203B41FA5}">
                      <a16:colId xmlns:a16="http://schemas.microsoft.com/office/drawing/2014/main" val="1794991674"/>
                    </a:ext>
                  </a:extLst>
                </a:gridCol>
                <a:gridCol w="564261">
                  <a:extLst>
                    <a:ext uri="{9D8B030D-6E8A-4147-A177-3AD203B41FA5}">
                      <a16:colId xmlns:a16="http://schemas.microsoft.com/office/drawing/2014/main" val="3018974446"/>
                    </a:ext>
                  </a:extLst>
                </a:gridCol>
              </a:tblGrid>
              <a:tr h="190500">
                <a:tc>
                  <a:txBody>
                    <a:bodyPr/>
                    <a:lstStyle/>
                    <a:p>
                      <a:pPr algn="ctr" fontAlgn="b"/>
                      <a:r>
                        <a:rPr lang="en-GB" sz="1100" b="0" i="0" u="none" strike="noStrike" dirty="0">
                          <a:solidFill>
                            <a:srgbClr val="000000"/>
                          </a:solidFill>
                          <a:effectLst/>
                          <a:latin typeface="Calibri" panose="020F0502020204030204" pitchFamily="34" charset="0"/>
                        </a:rPr>
                        <a:t>40</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26</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3</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14</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16</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0</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10</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23</a:t>
                      </a:r>
                    </a:p>
                  </a:txBody>
                  <a:tcPr marL="9525" marR="9525" marT="9525" marB="0" anchor="b"/>
                </a:tc>
                <a:tc>
                  <a:txBody>
                    <a:bodyPr/>
                    <a:lstStyle/>
                    <a:p>
                      <a:pPr algn="ctr" fontAlgn="b"/>
                      <a:r>
                        <a:rPr lang="en-GB" sz="1100" b="0" i="0" u="none" strike="noStrike">
                          <a:solidFill>
                            <a:srgbClr val="000000"/>
                          </a:solidFill>
                          <a:effectLst/>
                          <a:latin typeface="Calibri" panose="020F0502020204030204" pitchFamily="34" charset="0"/>
                        </a:rPr>
                        <a:t>31</a:t>
                      </a:r>
                    </a:p>
                  </a:txBody>
                  <a:tcPr marL="9525" marR="9525" marT="9525" marB="0" anchor="b"/>
                </a:tc>
                <a:tc>
                  <a:txBody>
                    <a:bodyPr/>
                    <a:lstStyle/>
                    <a:p>
                      <a:pPr algn="ctr" fontAlgn="b"/>
                      <a:r>
                        <a:rPr lang="en-GB" sz="1100" b="0" i="0" u="none" strike="noStrike" dirty="0">
                          <a:solidFill>
                            <a:srgbClr val="000000"/>
                          </a:solidFill>
                          <a:effectLst/>
                          <a:latin typeface="Calibri" panose="020F0502020204030204" pitchFamily="34" charset="0"/>
                        </a:rPr>
                        <a:t>35</a:t>
                      </a:r>
                    </a:p>
                  </a:txBody>
                  <a:tcPr marL="9525" marR="9525" marT="9525" marB="0" anchor="b"/>
                </a:tc>
                <a:extLst>
                  <a:ext uri="{0D108BD9-81ED-4DB2-BD59-A6C34878D82A}">
                    <a16:rowId xmlns:a16="http://schemas.microsoft.com/office/drawing/2014/main" val="2504590640"/>
                  </a:ext>
                </a:extLst>
              </a:tr>
            </a:tbl>
          </a:graphicData>
        </a:graphic>
      </p:graphicFrame>
      <p:graphicFrame>
        <p:nvGraphicFramePr>
          <p:cNvPr id="11" name="Table 10">
            <a:extLst>
              <a:ext uri="{FF2B5EF4-FFF2-40B4-BE49-F238E27FC236}">
                <a16:creationId xmlns:a16="http://schemas.microsoft.com/office/drawing/2014/main" id="{FDBDBEC7-9706-46C4-90EC-A5B9F7D9A31D}"/>
              </a:ext>
            </a:extLst>
          </p:cNvPr>
          <p:cNvGraphicFramePr>
            <a:graphicFrameLocks noGrp="1"/>
          </p:cNvGraphicFramePr>
          <p:nvPr>
            <p:extLst>
              <p:ext uri="{D42A27DB-BD31-4B8C-83A1-F6EECF244321}">
                <p14:modId xmlns:p14="http://schemas.microsoft.com/office/powerpoint/2010/main" val="619687715"/>
              </p:ext>
            </p:extLst>
          </p:nvPr>
        </p:nvGraphicFramePr>
        <p:xfrm>
          <a:off x="5558790" y="1728185"/>
          <a:ext cx="5631180" cy="3798570"/>
        </p:xfrm>
        <a:graphic>
          <a:graphicData uri="http://schemas.openxmlformats.org/drawingml/2006/table">
            <a:tbl>
              <a:tblPr>
                <a:tableStyleId>{BDBED569-4797-4DF1-A0F4-6AAB3CD982D8}</a:tableStyleId>
              </a:tblPr>
              <a:tblGrid>
                <a:gridCol w="563118">
                  <a:extLst>
                    <a:ext uri="{9D8B030D-6E8A-4147-A177-3AD203B41FA5}">
                      <a16:colId xmlns:a16="http://schemas.microsoft.com/office/drawing/2014/main" val="1826968673"/>
                    </a:ext>
                  </a:extLst>
                </a:gridCol>
                <a:gridCol w="563118">
                  <a:extLst>
                    <a:ext uri="{9D8B030D-6E8A-4147-A177-3AD203B41FA5}">
                      <a16:colId xmlns:a16="http://schemas.microsoft.com/office/drawing/2014/main" val="1550905977"/>
                    </a:ext>
                  </a:extLst>
                </a:gridCol>
                <a:gridCol w="563118">
                  <a:extLst>
                    <a:ext uri="{9D8B030D-6E8A-4147-A177-3AD203B41FA5}">
                      <a16:colId xmlns:a16="http://schemas.microsoft.com/office/drawing/2014/main" val="1918203087"/>
                    </a:ext>
                  </a:extLst>
                </a:gridCol>
                <a:gridCol w="563118">
                  <a:extLst>
                    <a:ext uri="{9D8B030D-6E8A-4147-A177-3AD203B41FA5}">
                      <a16:colId xmlns:a16="http://schemas.microsoft.com/office/drawing/2014/main" val="1944241656"/>
                    </a:ext>
                  </a:extLst>
                </a:gridCol>
                <a:gridCol w="563118">
                  <a:extLst>
                    <a:ext uri="{9D8B030D-6E8A-4147-A177-3AD203B41FA5}">
                      <a16:colId xmlns:a16="http://schemas.microsoft.com/office/drawing/2014/main" val="3834393282"/>
                    </a:ext>
                  </a:extLst>
                </a:gridCol>
                <a:gridCol w="563118">
                  <a:extLst>
                    <a:ext uri="{9D8B030D-6E8A-4147-A177-3AD203B41FA5}">
                      <a16:colId xmlns:a16="http://schemas.microsoft.com/office/drawing/2014/main" val="3190588456"/>
                    </a:ext>
                  </a:extLst>
                </a:gridCol>
                <a:gridCol w="563118">
                  <a:extLst>
                    <a:ext uri="{9D8B030D-6E8A-4147-A177-3AD203B41FA5}">
                      <a16:colId xmlns:a16="http://schemas.microsoft.com/office/drawing/2014/main" val="1315901131"/>
                    </a:ext>
                  </a:extLst>
                </a:gridCol>
                <a:gridCol w="563118">
                  <a:extLst>
                    <a:ext uri="{9D8B030D-6E8A-4147-A177-3AD203B41FA5}">
                      <a16:colId xmlns:a16="http://schemas.microsoft.com/office/drawing/2014/main" val="4004572015"/>
                    </a:ext>
                  </a:extLst>
                </a:gridCol>
                <a:gridCol w="563118">
                  <a:extLst>
                    <a:ext uri="{9D8B030D-6E8A-4147-A177-3AD203B41FA5}">
                      <a16:colId xmlns:a16="http://schemas.microsoft.com/office/drawing/2014/main" val="2923258211"/>
                    </a:ext>
                  </a:extLst>
                </a:gridCol>
                <a:gridCol w="563118">
                  <a:extLst>
                    <a:ext uri="{9D8B030D-6E8A-4147-A177-3AD203B41FA5}">
                      <a16:colId xmlns:a16="http://schemas.microsoft.com/office/drawing/2014/main" val="3545192039"/>
                    </a:ext>
                  </a:extLst>
                </a:gridCol>
              </a:tblGrid>
              <a:tr h="308580">
                <a:tc gridSpan="2">
                  <a:txBody>
                    <a:bodyPr/>
                    <a:lstStyle/>
                    <a:p>
                      <a:pPr algn="ctr" fontAlgn="b"/>
                      <a:r>
                        <a:rPr lang="en-US" sz="1400" b="0" i="0" u="none" strike="noStrike" dirty="0">
                          <a:solidFill>
                            <a:srgbClr val="000000"/>
                          </a:solidFill>
                          <a:effectLst/>
                          <a:latin typeface="Calibri" panose="020F0502020204030204" pitchFamily="34" charset="0"/>
                        </a:rPr>
                        <a:t>Gender</a:t>
                      </a:r>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gridSpan="6">
                  <a:txBody>
                    <a:bodyPr/>
                    <a:lstStyle/>
                    <a:p>
                      <a:pPr algn="ctr" fontAlgn="b"/>
                      <a:r>
                        <a:rPr lang="en-US" sz="1400" b="0" i="0" u="none" strike="noStrike" dirty="0">
                          <a:solidFill>
                            <a:srgbClr val="000000"/>
                          </a:solidFill>
                          <a:effectLst/>
                          <a:latin typeface="Calibri" panose="020F0502020204030204" pitchFamily="34" charset="0"/>
                        </a:rPr>
                        <a:t>Location </a:t>
                      </a:r>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tc gridSpan="2">
                  <a:txBody>
                    <a:bodyPr/>
                    <a:lstStyle/>
                    <a:p>
                      <a:pPr algn="ctr" fontAlgn="b"/>
                      <a:r>
                        <a:rPr lang="en-US" sz="1400" b="0" i="0" u="none" strike="noStrike" dirty="0">
                          <a:solidFill>
                            <a:srgbClr val="000000"/>
                          </a:solidFill>
                          <a:effectLst/>
                          <a:latin typeface="Calibri" panose="020F0502020204030204" pitchFamily="34" charset="0"/>
                        </a:rPr>
                        <a:t>Urbanization</a:t>
                      </a:r>
                      <a:endParaRPr lang="en-GB"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GB"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158331613"/>
                  </a:ext>
                </a:extLst>
              </a:tr>
              <a:tr h="308580">
                <a:tc>
                  <a:txBody>
                    <a:bodyPr/>
                    <a:lstStyle/>
                    <a:p>
                      <a:pPr algn="ctr" fontAlgn="b"/>
                      <a:r>
                        <a:rPr lang="en-US" sz="1400" b="0" i="0" u="none" strike="noStrike" dirty="0">
                          <a:solidFill>
                            <a:srgbClr val="000000"/>
                          </a:solidFill>
                          <a:effectLst/>
                          <a:latin typeface="Calibri" panose="020F0502020204030204" pitchFamily="34" charset="0"/>
                        </a:rPr>
                        <a:t>Male</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400" b="0" i="0" u="none" strike="noStrike" dirty="0">
                          <a:solidFill>
                            <a:srgbClr val="000000"/>
                          </a:solidFill>
                          <a:effectLst/>
                          <a:latin typeface="Calibri" panose="020F0502020204030204" pitchFamily="34" charset="0"/>
                        </a:rPr>
                        <a:t>Female</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u="none" strike="noStrike" dirty="0">
                          <a:effectLst/>
                        </a:rPr>
                        <a:t>FCT</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u="none" strike="noStrike" dirty="0">
                          <a:effectLst/>
                        </a:rPr>
                        <a:t>Bauchi</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u="none" strike="noStrike" dirty="0">
                          <a:effectLst/>
                        </a:rPr>
                        <a:t>Kano</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u="none" strike="noStrike" dirty="0">
                          <a:effectLst/>
                        </a:rPr>
                        <a:t>Enugu</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u="none" strike="noStrike" dirty="0">
                          <a:effectLst/>
                        </a:rPr>
                        <a:t>Edo</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u="none" strike="noStrike" dirty="0">
                          <a:effectLst/>
                        </a:rPr>
                        <a:t>Lagos</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Urban</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Rural</a:t>
                      </a:r>
                    </a:p>
                  </a:txBody>
                  <a:tcPr marL="9525" marR="9525" marT="9525" marB="0" anchor="ctr"/>
                </a:tc>
                <a:extLst>
                  <a:ext uri="{0D108BD9-81ED-4DB2-BD59-A6C34878D82A}">
                    <a16:rowId xmlns:a16="http://schemas.microsoft.com/office/drawing/2014/main" val="2249696190"/>
                  </a:ext>
                </a:extLst>
              </a:tr>
              <a:tr h="530235">
                <a:tc>
                  <a:txBody>
                    <a:bodyPr/>
                    <a:lstStyle/>
                    <a:p>
                      <a:pPr algn="ctr" fontAlgn="b"/>
                      <a:r>
                        <a:rPr lang="en-GB" sz="1400" b="0" i="0" u="none" strike="noStrike" dirty="0">
                          <a:solidFill>
                            <a:srgbClr val="000000"/>
                          </a:solidFill>
                          <a:effectLst/>
                          <a:latin typeface="Calibri" panose="020F0502020204030204" pitchFamily="34" charset="0"/>
                        </a:rPr>
                        <a:t>60%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100%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58%</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57%</a:t>
                      </a:r>
                    </a:p>
                  </a:txBody>
                  <a:tcPr marL="9525" marR="9525" marT="9525" marB="0" anchor="ctr"/>
                </a:tc>
                <a:extLst>
                  <a:ext uri="{0D108BD9-81ED-4DB2-BD59-A6C34878D82A}">
                    <a16:rowId xmlns:a16="http://schemas.microsoft.com/office/drawing/2014/main" val="2827805479"/>
                  </a:ext>
                </a:extLst>
              </a:tr>
              <a:tr h="530235">
                <a:tc>
                  <a:txBody>
                    <a:bodyPr/>
                    <a:lstStyle/>
                    <a:p>
                      <a:pPr algn="ctr" fontAlgn="b"/>
                      <a:r>
                        <a:rPr lang="en-GB" sz="1400" b="0" i="0" u="none" strike="noStrike">
                          <a:solidFill>
                            <a:srgbClr val="000000"/>
                          </a:solidFill>
                          <a:effectLst/>
                          <a:latin typeface="Calibri" panose="020F0502020204030204" pitchFamily="34" charset="0"/>
                        </a:rPr>
                        <a:t>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8%</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40%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a:t>
                      </a:r>
                    </a:p>
                  </a:txBody>
                  <a:tcPr marL="9525" marR="9525" marT="9525" marB="0" anchor="ctr"/>
                </a:tc>
                <a:extLst>
                  <a:ext uri="{0D108BD9-81ED-4DB2-BD59-A6C34878D82A}">
                    <a16:rowId xmlns:a16="http://schemas.microsoft.com/office/drawing/2014/main" val="2993110197"/>
                  </a:ext>
                </a:extLst>
              </a:tr>
              <a:tr h="530235">
                <a:tc>
                  <a:txBody>
                    <a:bodyPr/>
                    <a:lstStyle/>
                    <a:p>
                      <a:pPr algn="ctr" fontAlgn="b"/>
                      <a:r>
                        <a:rPr lang="en-GB" sz="1400" b="0" i="0" u="none" strike="noStrike">
                          <a:solidFill>
                            <a:srgbClr val="000000"/>
                          </a:solidFill>
                          <a:effectLst/>
                          <a:latin typeface="Calibri" panose="020F0502020204030204" pitchFamily="34" charset="0"/>
                        </a:rPr>
                        <a:t>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19%</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a:t>
                      </a:r>
                    </a:p>
                  </a:txBody>
                  <a:tcPr marL="9525" marR="9525" marT="9525" marB="0" anchor="ctr"/>
                </a:tc>
                <a:extLst>
                  <a:ext uri="{0D108BD9-81ED-4DB2-BD59-A6C34878D82A}">
                    <a16:rowId xmlns:a16="http://schemas.microsoft.com/office/drawing/2014/main" val="2714110212"/>
                  </a:ext>
                </a:extLst>
              </a:tr>
              <a:tr h="530235">
                <a:tc>
                  <a:txBody>
                    <a:bodyPr/>
                    <a:lstStyle/>
                    <a:p>
                      <a:pPr algn="ctr" fontAlgn="b"/>
                      <a:r>
                        <a:rPr lang="en-GB" sz="1400" b="0" i="0" u="none" strike="noStrike">
                          <a:solidFill>
                            <a:srgbClr val="000000"/>
                          </a:solidFill>
                          <a:effectLst/>
                          <a:latin typeface="Calibri" panose="020F0502020204030204" pitchFamily="34" charset="0"/>
                        </a:rPr>
                        <a:t>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tc>
                <a:extLst>
                  <a:ext uri="{0D108BD9-81ED-4DB2-BD59-A6C34878D82A}">
                    <a16:rowId xmlns:a16="http://schemas.microsoft.com/office/drawing/2014/main" val="1858804298"/>
                  </a:ext>
                </a:extLst>
              </a:tr>
              <a:tr h="530235">
                <a:tc>
                  <a:txBody>
                    <a:bodyPr/>
                    <a:lstStyle/>
                    <a:p>
                      <a:pPr algn="ctr" fontAlgn="b"/>
                      <a:r>
                        <a:rPr lang="en-GB" sz="1400" b="0" i="0" u="none" strike="noStrike">
                          <a:solidFill>
                            <a:srgbClr val="000000"/>
                          </a:solidFill>
                          <a:effectLst/>
                          <a:latin typeface="Calibri" panose="020F0502020204030204" pitchFamily="34" charset="0"/>
                        </a:rPr>
                        <a:t>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9%</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tc>
                <a:extLst>
                  <a:ext uri="{0D108BD9-81ED-4DB2-BD59-A6C34878D82A}">
                    <a16:rowId xmlns:a16="http://schemas.microsoft.com/office/drawing/2014/main" val="556687053"/>
                  </a:ext>
                </a:extLst>
              </a:tr>
              <a:tr h="530235">
                <a:tc>
                  <a:txBody>
                    <a:bodyPr/>
                    <a:lstStyle/>
                    <a:p>
                      <a:pPr algn="ctr" fontAlgn="b"/>
                      <a:r>
                        <a:rPr lang="en-GB" sz="1400" b="0" i="0" u="none" strike="noStrike">
                          <a:solidFill>
                            <a:srgbClr val="000000"/>
                          </a:solidFill>
                          <a:effectLst/>
                          <a:latin typeface="Calibri" panose="020F0502020204030204" pitchFamily="34" charset="0"/>
                        </a:rPr>
                        <a:t>20%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13%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26%</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26%</a:t>
                      </a:r>
                    </a:p>
                  </a:txBody>
                  <a:tcPr marL="9525" marR="9525" marT="9525" marB="0" anchor="ctr"/>
                </a:tc>
                <a:extLst>
                  <a:ext uri="{0D108BD9-81ED-4DB2-BD59-A6C34878D82A}">
                    <a16:rowId xmlns:a16="http://schemas.microsoft.com/office/drawing/2014/main" val="2914403998"/>
                  </a:ext>
                </a:extLst>
              </a:tr>
            </a:tbl>
          </a:graphicData>
        </a:graphic>
      </p:graphicFrame>
      <p:sp>
        <p:nvSpPr>
          <p:cNvPr id="10" name="TextBox 9">
            <a:extLst>
              <a:ext uri="{FF2B5EF4-FFF2-40B4-BE49-F238E27FC236}">
                <a16:creationId xmlns:a16="http://schemas.microsoft.com/office/drawing/2014/main" id="{5A97EC25-FBFE-4A63-B7C3-7106CDF6917C}"/>
              </a:ext>
            </a:extLst>
          </p:cNvPr>
          <p:cNvSpPr txBox="1"/>
          <p:nvPr/>
        </p:nvSpPr>
        <p:spPr>
          <a:xfrm>
            <a:off x="312991" y="119838"/>
            <a:ext cx="5605670"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The Next Elections</a:t>
            </a:r>
          </a:p>
        </p:txBody>
      </p:sp>
      <p:sp>
        <p:nvSpPr>
          <p:cNvPr id="15" name="TextBox 14">
            <a:extLst>
              <a:ext uri="{FF2B5EF4-FFF2-40B4-BE49-F238E27FC236}">
                <a16:creationId xmlns:a16="http://schemas.microsoft.com/office/drawing/2014/main" id="{DF5A9082-CB5F-44AA-BF8D-8217C40D43A8}"/>
              </a:ext>
            </a:extLst>
          </p:cNvPr>
          <p:cNvSpPr txBox="1"/>
          <p:nvPr/>
        </p:nvSpPr>
        <p:spPr>
          <a:xfrm>
            <a:off x="331302" y="675740"/>
            <a:ext cx="11714923" cy="523220"/>
          </a:xfrm>
          <a:prstGeom prst="rect">
            <a:avLst/>
          </a:prstGeom>
          <a:noFill/>
        </p:spPr>
        <p:txBody>
          <a:bodyPr wrap="square">
            <a:spAutoFit/>
          </a:bodyPr>
          <a:lstStyle/>
          <a:p>
            <a:pPr lvl="0">
              <a:defRPr/>
            </a:pPr>
            <a:r>
              <a:rPr lang="en-US" sz="1400" b="1" dirty="0">
                <a:solidFill>
                  <a:srgbClr val="0070C0"/>
                </a:solidFill>
                <a:latin typeface="Book Antiqua" panose="02040602050305030304" pitchFamily="18" charset="0"/>
                <a:ea typeface="Arial Unicode MS"/>
              </a:rPr>
              <a:t>The majority (58%) pledged their support to vote for the All Progressives Congress (APC) in the next local government elections,, while 29% have not decided.</a:t>
            </a:r>
            <a:endPar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endParaRPr>
          </a:p>
        </p:txBody>
      </p:sp>
    </p:spTree>
    <p:extLst>
      <p:ext uri="{BB962C8B-B14F-4D97-AF65-F5344CB8AC3E}">
        <p14:creationId xmlns:p14="http://schemas.microsoft.com/office/powerpoint/2010/main" val="30708833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24EE3164-36BE-1169-158F-AC5F91216B94}"/>
              </a:ext>
            </a:extLst>
          </p:cNvPr>
          <p:cNvSpPr txBox="1"/>
          <p:nvPr/>
        </p:nvSpPr>
        <p:spPr>
          <a:xfrm>
            <a:off x="331302" y="675740"/>
            <a:ext cx="11714923"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rPr>
              <a:t>The overall performance rating is generally low across the Governor, Senator, House of Reps, and Local Government Chairmen and across demographics. Only Kano and Bauchi are satisfied with their governors. The rating is particularly low across offices in Edo State.</a:t>
            </a:r>
          </a:p>
        </p:txBody>
      </p:sp>
      <p:sp>
        <p:nvSpPr>
          <p:cNvPr id="5" name="TextBox 4">
            <a:extLst>
              <a:ext uri="{FF2B5EF4-FFF2-40B4-BE49-F238E27FC236}">
                <a16:creationId xmlns:a16="http://schemas.microsoft.com/office/drawing/2014/main" id="{55F5642B-83A0-CD7B-E2BA-8E492D002397}"/>
              </a:ext>
            </a:extLst>
          </p:cNvPr>
          <p:cNvSpPr txBox="1"/>
          <p:nvPr/>
        </p:nvSpPr>
        <p:spPr>
          <a:xfrm>
            <a:off x="312990" y="119838"/>
            <a:ext cx="7024511"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Elected Officers’ performance rating</a:t>
            </a:r>
          </a:p>
        </p:txBody>
      </p:sp>
      <p:sp>
        <p:nvSpPr>
          <p:cNvPr id="8" name="TextBox 7">
            <a:extLst>
              <a:ext uri="{FF2B5EF4-FFF2-40B4-BE49-F238E27FC236}">
                <a16:creationId xmlns:a16="http://schemas.microsoft.com/office/drawing/2014/main" id="{E520DA7B-E5B8-4985-87CF-D92BEAF6218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Q23. On a scale of 1-10, where 1 means very unsatisfied and 10 means very satisfied, how will you rate the Overall performance of this state’s Governor, where you live?</a:t>
            </a:r>
            <a:endParaRPr lang="en-US" sz="1000" dirty="0">
              <a:latin typeface="Book Antiqua" panose="02040602050305030304" pitchFamily="18" charset="0"/>
            </a:endParaRPr>
          </a:p>
        </p:txBody>
      </p:sp>
      <p:sp>
        <p:nvSpPr>
          <p:cNvPr id="10" name="Rectangle 9">
            <a:extLst>
              <a:ext uri="{FF2B5EF4-FFF2-40B4-BE49-F238E27FC236}">
                <a16:creationId xmlns:a16="http://schemas.microsoft.com/office/drawing/2014/main" id="{436FB50C-25EC-4617-9855-9F4F4639B133}"/>
              </a:ext>
            </a:extLst>
          </p:cNvPr>
          <p:cNvSpPr/>
          <p:nvPr/>
        </p:nvSpPr>
        <p:spPr>
          <a:xfrm rot="16200000">
            <a:off x="5903540" y="-2041934"/>
            <a:ext cx="66710" cy="7833804"/>
          </a:xfrm>
          <a:prstGeom prst="rect">
            <a:avLst/>
          </a:prstGeom>
          <a:gradFill flip="none" rotWithShape="1">
            <a:gsLst>
              <a:gs pos="0">
                <a:srgbClr val="00B050"/>
              </a:gs>
              <a:gs pos="50000">
                <a:srgbClr val="5BFFA5"/>
              </a:gs>
              <a:gs pos="98000">
                <a:srgbClr val="FFFF2F"/>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cs typeface="Arial" panose="020B0604020202020204" pitchFamily="34" charset="0"/>
            </a:endParaRPr>
          </a:p>
        </p:txBody>
      </p:sp>
      <p:sp>
        <p:nvSpPr>
          <p:cNvPr id="11" name="Rectangle 10">
            <a:extLst>
              <a:ext uri="{FF2B5EF4-FFF2-40B4-BE49-F238E27FC236}">
                <a16:creationId xmlns:a16="http://schemas.microsoft.com/office/drawing/2014/main" id="{1D984896-9DF8-4EAB-9EF0-FA869745EC87}"/>
              </a:ext>
            </a:extLst>
          </p:cNvPr>
          <p:cNvSpPr/>
          <p:nvPr/>
        </p:nvSpPr>
        <p:spPr>
          <a:xfrm>
            <a:off x="676968" y="1703112"/>
            <a:ext cx="1638267" cy="27699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0" cap="none" spc="0" normalizeH="0" baseline="0" noProof="0" dirty="0">
                <a:ln>
                  <a:noFill/>
                </a:ln>
                <a:solidFill>
                  <a:srgbClr val="000000"/>
                </a:solidFill>
                <a:effectLst/>
                <a:uLnTx/>
                <a:uFillTx/>
                <a:cs typeface="Arial" panose="020B0604020202020204" pitchFamily="34" charset="0"/>
              </a:rPr>
              <a:t>Very Satisfied(10)</a:t>
            </a:r>
            <a:endParaRPr kumimoji="0" lang="en-US" sz="1200" b="0" i="1" u="none" strike="noStrike" kern="0" cap="none" spc="0" normalizeH="0" baseline="0" noProof="0" dirty="0">
              <a:ln>
                <a:noFill/>
              </a:ln>
              <a:solidFill>
                <a:prstClr val="black"/>
              </a:solidFill>
              <a:effectLst/>
              <a:uLnTx/>
              <a:uFillTx/>
              <a:cs typeface="Arial" panose="020B0604020202020204" pitchFamily="34" charset="0"/>
            </a:endParaRPr>
          </a:p>
        </p:txBody>
      </p:sp>
      <p:sp>
        <p:nvSpPr>
          <p:cNvPr id="12" name="Rectangle 11">
            <a:extLst>
              <a:ext uri="{FF2B5EF4-FFF2-40B4-BE49-F238E27FC236}">
                <a16:creationId xmlns:a16="http://schemas.microsoft.com/office/drawing/2014/main" id="{8DE1E49E-0533-4A70-898B-2FB4BBB5C0B9}"/>
              </a:ext>
            </a:extLst>
          </p:cNvPr>
          <p:cNvSpPr/>
          <p:nvPr/>
        </p:nvSpPr>
        <p:spPr>
          <a:xfrm>
            <a:off x="9874374" y="1719075"/>
            <a:ext cx="1435008" cy="27699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0" cap="none" spc="0" normalizeH="0" baseline="0" noProof="0" dirty="0">
                <a:ln>
                  <a:noFill/>
                </a:ln>
                <a:solidFill>
                  <a:srgbClr val="000000"/>
                </a:solidFill>
                <a:effectLst/>
                <a:uLnTx/>
                <a:uFillTx/>
                <a:cs typeface="Arial" panose="020B0604020202020204" pitchFamily="34" charset="0"/>
              </a:rPr>
              <a:t>Very unsatisfied (1)</a:t>
            </a:r>
            <a:endParaRPr kumimoji="0" lang="en-US" sz="1200" b="0" i="1" u="none" strike="noStrike" kern="0" cap="none" spc="0" normalizeH="0" baseline="0" noProof="0" dirty="0">
              <a:ln>
                <a:noFill/>
              </a:ln>
              <a:solidFill>
                <a:prstClr val="black"/>
              </a:solidFill>
              <a:effectLst/>
              <a:uLnTx/>
              <a:uFillTx/>
              <a:cs typeface="Arial" panose="020B0604020202020204" pitchFamily="34" charset="0"/>
            </a:endParaRPr>
          </a:p>
        </p:txBody>
      </p:sp>
      <p:graphicFrame>
        <p:nvGraphicFramePr>
          <p:cNvPr id="13" name="Table 12">
            <a:extLst>
              <a:ext uri="{FF2B5EF4-FFF2-40B4-BE49-F238E27FC236}">
                <a16:creationId xmlns:a16="http://schemas.microsoft.com/office/drawing/2014/main" id="{A60CA88C-C467-41F9-ADC1-7C22EA2213FD}"/>
              </a:ext>
            </a:extLst>
          </p:cNvPr>
          <p:cNvGraphicFramePr>
            <a:graphicFrameLocks noGrp="1"/>
          </p:cNvGraphicFramePr>
          <p:nvPr>
            <p:extLst>
              <p:ext uri="{D42A27DB-BD31-4B8C-83A1-F6EECF244321}">
                <p14:modId xmlns:p14="http://schemas.microsoft.com/office/powerpoint/2010/main" val="32525441"/>
              </p:ext>
            </p:extLst>
          </p:nvPr>
        </p:nvGraphicFramePr>
        <p:xfrm>
          <a:off x="375428" y="1992450"/>
          <a:ext cx="11307599" cy="2617202"/>
        </p:xfrm>
        <a:graphic>
          <a:graphicData uri="http://schemas.openxmlformats.org/drawingml/2006/table">
            <a:tbl>
              <a:tblPr/>
              <a:tblGrid>
                <a:gridCol w="2033235">
                  <a:extLst>
                    <a:ext uri="{9D8B030D-6E8A-4147-A177-3AD203B41FA5}">
                      <a16:colId xmlns:a16="http://schemas.microsoft.com/office/drawing/2014/main" val="2645054690"/>
                    </a:ext>
                  </a:extLst>
                </a:gridCol>
                <a:gridCol w="843124">
                  <a:extLst>
                    <a:ext uri="{9D8B030D-6E8A-4147-A177-3AD203B41FA5}">
                      <a16:colId xmlns:a16="http://schemas.microsoft.com/office/drawing/2014/main" val="3525754402"/>
                    </a:ext>
                  </a:extLst>
                </a:gridCol>
                <a:gridCol w="843124">
                  <a:extLst>
                    <a:ext uri="{9D8B030D-6E8A-4147-A177-3AD203B41FA5}">
                      <a16:colId xmlns:a16="http://schemas.microsoft.com/office/drawing/2014/main" val="931026803"/>
                    </a:ext>
                  </a:extLst>
                </a:gridCol>
                <a:gridCol w="843124">
                  <a:extLst>
                    <a:ext uri="{9D8B030D-6E8A-4147-A177-3AD203B41FA5}">
                      <a16:colId xmlns:a16="http://schemas.microsoft.com/office/drawing/2014/main" val="3087321015"/>
                    </a:ext>
                  </a:extLst>
                </a:gridCol>
                <a:gridCol w="843124">
                  <a:extLst>
                    <a:ext uri="{9D8B030D-6E8A-4147-A177-3AD203B41FA5}">
                      <a16:colId xmlns:a16="http://schemas.microsoft.com/office/drawing/2014/main" val="3271847240"/>
                    </a:ext>
                  </a:extLst>
                </a:gridCol>
                <a:gridCol w="843124">
                  <a:extLst>
                    <a:ext uri="{9D8B030D-6E8A-4147-A177-3AD203B41FA5}">
                      <a16:colId xmlns:a16="http://schemas.microsoft.com/office/drawing/2014/main" val="864530848"/>
                    </a:ext>
                  </a:extLst>
                </a:gridCol>
                <a:gridCol w="843124">
                  <a:extLst>
                    <a:ext uri="{9D8B030D-6E8A-4147-A177-3AD203B41FA5}">
                      <a16:colId xmlns:a16="http://schemas.microsoft.com/office/drawing/2014/main" val="1325817878"/>
                    </a:ext>
                  </a:extLst>
                </a:gridCol>
                <a:gridCol w="843124">
                  <a:extLst>
                    <a:ext uri="{9D8B030D-6E8A-4147-A177-3AD203B41FA5}">
                      <a16:colId xmlns:a16="http://schemas.microsoft.com/office/drawing/2014/main" val="2774495672"/>
                    </a:ext>
                  </a:extLst>
                </a:gridCol>
                <a:gridCol w="843124">
                  <a:extLst>
                    <a:ext uri="{9D8B030D-6E8A-4147-A177-3AD203B41FA5}">
                      <a16:colId xmlns:a16="http://schemas.microsoft.com/office/drawing/2014/main" val="2261011199"/>
                    </a:ext>
                  </a:extLst>
                </a:gridCol>
                <a:gridCol w="843124">
                  <a:extLst>
                    <a:ext uri="{9D8B030D-6E8A-4147-A177-3AD203B41FA5}">
                      <a16:colId xmlns:a16="http://schemas.microsoft.com/office/drawing/2014/main" val="226054743"/>
                    </a:ext>
                  </a:extLst>
                </a:gridCol>
                <a:gridCol w="843124">
                  <a:extLst>
                    <a:ext uri="{9D8B030D-6E8A-4147-A177-3AD203B41FA5}">
                      <a16:colId xmlns:a16="http://schemas.microsoft.com/office/drawing/2014/main" val="1579530509"/>
                    </a:ext>
                  </a:extLst>
                </a:gridCol>
                <a:gridCol w="843124">
                  <a:extLst>
                    <a:ext uri="{9D8B030D-6E8A-4147-A177-3AD203B41FA5}">
                      <a16:colId xmlns:a16="http://schemas.microsoft.com/office/drawing/2014/main" val="137364399"/>
                    </a:ext>
                  </a:extLst>
                </a:gridCol>
              </a:tblGrid>
              <a:tr h="373886">
                <a:tc>
                  <a:txBody>
                    <a:bodyPr/>
                    <a:lstStyle/>
                    <a:p>
                      <a:pPr algn="l" fontAlgn="b"/>
                      <a:endParaRPr lang="en-GB" sz="1400" b="1" i="0" u="none" strike="noStrike" dirty="0">
                        <a:solidFill>
                          <a:srgbClr val="000000"/>
                        </a:solidFill>
                        <a:effectLst/>
                        <a:latin typeface="Calibri" panose="020F0502020204030204" pitchFamily="34" charset="0"/>
                      </a:endParaRPr>
                    </a:p>
                  </a:txBody>
                  <a:tcPr marL="9525" marR="9525" marT="9525" marB="0" anchor="ctr">
                    <a:lnL>
                      <a:noFill/>
                    </a:lnL>
                    <a:lnR w="12700" cap="flat" cmpd="sng" algn="ctr">
                      <a:solidFill>
                        <a:srgbClr val="C00000"/>
                      </a:solidFill>
                      <a:prstDash val="solid"/>
                      <a:round/>
                      <a:headEnd type="none" w="med" len="med"/>
                      <a:tailEnd type="none" w="med" len="med"/>
                    </a:lnR>
                    <a:lnT>
                      <a:noFill/>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Total</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a:noFill/>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Male</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a:noFill/>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Female</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a:noFill/>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FCT</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a:noFill/>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Bauchi</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a:noFill/>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Kano</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a:noFill/>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Enugu</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a:noFill/>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Edo</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a:noFill/>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Lagos</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a:noFill/>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Urban</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a:noFill/>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Rural</a:t>
                      </a:r>
                    </a:p>
                  </a:txBody>
                  <a:tcPr marL="9525" marR="9525" marT="9525" marB="0" anchor="ctr">
                    <a:lnL w="12700" cap="flat" cmpd="sng" algn="ctr">
                      <a:solidFill>
                        <a:srgbClr val="C00000"/>
                      </a:solidFill>
                      <a:prstDash val="solid"/>
                      <a:round/>
                      <a:headEnd type="none" w="med" len="med"/>
                      <a:tailEnd type="none" w="med" len="med"/>
                    </a:lnL>
                    <a:lnR>
                      <a:noFill/>
                    </a:lnR>
                    <a:lnT>
                      <a:noFill/>
                    </a:lnT>
                    <a:lnB w="127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183085002"/>
                  </a:ext>
                </a:extLst>
              </a:tr>
              <a:tr h="373886">
                <a:tc>
                  <a:txBody>
                    <a:bodyPr/>
                    <a:lstStyle/>
                    <a:p>
                      <a:pPr algn="l" fontAlgn="b"/>
                      <a:r>
                        <a:rPr lang="en-GB" sz="1400" b="1" i="0" u="none" strike="noStrike">
                          <a:solidFill>
                            <a:srgbClr val="000000"/>
                          </a:solidFill>
                          <a:effectLst/>
                          <a:latin typeface="Calibri" panose="020F0502020204030204" pitchFamily="34" charset="0"/>
                        </a:rPr>
                        <a:t>Total</a:t>
                      </a:r>
                    </a:p>
                  </a:txBody>
                  <a:tcPr marL="9525" marR="9525" marT="9525" marB="0" anchor="ctr">
                    <a:lnL>
                      <a:noFill/>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225</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146</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79</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7</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26</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94</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37</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32</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29</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123</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102</a:t>
                      </a:r>
                    </a:p>
                  </a:txBody>
                  <a:tcPr marL="9525" marR="9525" marT="9525" marB="0" anchor="ctr">
                    <a:lnL w="12700" cap="flat" cmpd="sng" algn="ctr">
                      <a:solidFill>
                        <a:srgbClr val="C00000"/>
                      </a:solidFill>
                      <a:prstDash val="solid"/>
                      <a:round/>
                      <a:headEnd type="none" w="med" len="med"/>
                      <a:tailEnd type="none" w="med" len="med"/>
                    </a:lnL>
                    <a:lnR>
                      <a:noFill/>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3001613975"/>
                  </a:ext>
                </a:extLst>
              </a:tr>
              <a:tr h="373886">
                <a:tc>
                  <a:txBody>
                    <a:bodyPr/>
                    <a:lstStyle/>
                    <a:p>
                      <a:pPr algn="l" fontAlgn="b"/>
                      <a:r>
                        <a:rPr lang="en-GB" sz="1400" b="0" i="0" u="none" strike="noStrike" dirty="0">
                          <a:solidFill>
                            <a:srgbClr val="000000"/>
                          </a:solidFill>
                          <a:effectLst/>
                          <a:latin typeface="Calibri" panose="020F0502020204030204" pitchFamily="34" charset="0"/>
                        </a:rPr>
                        <a:t>President</a:t>
                      </a:r>
                    </a:p>
                  </a:txBody>
                  <a:tcPr marL="9525" marR="9525" marT="9525" marB="0" anchor="ctr">
                    <a:lnL>
                      <a:noFill/>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2.87</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CBEF10"/>
                    </a:solidFill>
                  </a:tcPr>
                </a:tc>
                <a:tc>
                  <a:txBody>
                    <a:bodyPr/>
                    <a:lstStyle/>
                    <a:p>
                      <a:pPr algn="ctr" fontAlgn="b"/>
                      <a:r>
                        <a:rPr lang="en-GB" sz="1400" b="0" i="0" u="none" strike="noStrike" dirty="0">
                          <a:solidFill>
                            <a:srgbClr val="000000"/>
                          </a:solidFill>
                          <a:effectLst/>
                          <a:latin typeface="Calibri" panose="020F0502020204030204" pitchFamily="34" charset="0"/>
                        </a:rPr>
                        <a:t>3.00</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C7EE11"/>
                    </a:solidFill>
                  </a:tcPr>
                </a:tc>
                <a:tc>
                  <a:txBody>
                    <a:bodyPr/>
                    <a:lstStyle/>
                    <a:p>
                      <a:pPr algn="ctr" fontAlgn="b"/>
                      <a:r>
                        <a:rPr lang="en-GB" sz="1400" b="0" i="0" u="none" strike="noStrike">
                          <a:solidFill>
                            <a:srgbClr val="000000"/>
                          </a:solidFill>
                          <a:effectLst/>
                          <a:latin typeface="Calibri" panose="020F0502020204030204" pitchFamily="34" charset="0"/>
                        </a:rPr>
                        <a:t>2.76</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CEF00F"/>
                    </a:solidFill>
                  </a:tcPr>
                </a:tc>
                <a:tc>
                  <a:txBody>
                    <a:bodyPr/>
                    <a:lstStyle/>
                    <a:p>
                      <a:pPr algn="ctr" fontAlgn="b"/>
                      <a:r>
                        <a:rPr lang="en-GB" sz="1400" b="0" i="0" u="none" strike="noStrike" dirty="0">
                          <a:solidFill>
                            <a:srgbClr val="000000"/>
                          </a:solidFill>
                          <a:effectLst/>
                          <a:latin typeface="Calibri" panose="020F0502020204030204" pitchFamily="34" charset="0"/>
                        </a:rPr>
                        <a:t>2.13</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FF60A"/>
                    </a:solidFill>
                  </a:tcPr>
                </a:tc>
                <a:tc>
                  <a:txBody>
                    <a:bodyPr/>
                    <a:lstStyle/>
                    <a:p>
                      <a:pPr algn="ctr" fontAlgn="b"/>
                      <a:r>
                        <a:rPr lang="en-GB" sz="1400" b="0" i="0" u="none" strike="noStrike" dirty="0">
                          <a:solidFill>
                            <a:srgbClr val="000000"/>
                          </a:solidFill>
                          <a:effectLst/>
                          <a:latin typeface="Calibri" panose="020F0502020204030204" pitchFamily="34" charset="0"/>
                        </a:rPr>
                        <a:t>2.96</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C8EE11"/>
                    </a:solidFill>
                  </a:tcPr>
                </a:tc>
                <a:tc>
                  <a:txBody>
                    <a:bodyPr/>
                    <a:lstStyle/>
                    <a:p>
                      <a:pPr algn="ctr" fontAlgn="b"/>
                      <a:r>
                        <a:rPr lang="en-GB" sz="1400" b="0" i="0" u="none" strike="noStrike">
                          <a:solidFill>
                            <a:srgbClr val="000000"/>
                          </a:solidFill>
                          <a:effectLst/>
                          <a:latin typeface="Calibri" panose="020F0502020204030204" pitchFamily="34" charset="0"/>
                        </a:rPr>
                        <a:t>2.98</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C7EE11"/>
                    </a:solidFill>
                  </a:tcPr>
                </a:tc>
                <a:tc>
                  <a:txBody>
                    <a:bodyPr/>
                    <a:lstStyle/>
                    <a:p>
                      <a:pPr algn="ctr" fontAlgn="b"/>
                      <a:r>
                        <a:rPr lang="en-GB" sz="1400" b="0" i="0" u="none" strike="noStrike">
                          <a:solidFill>
                            <a:srgbClr val="000000"/>
                          </a:solidFill>
                          <a:effectLst/>
                          <a:latin typeface="Calibri" panose="020F0502020204030204" pitchFamily="34" charset="0"/>
                        </a:rPr>
                        <a:t>2.92</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C9EF11"/>
                    </a:solidFill>
                  </a:tcPr>
                </a:tc>
                <a:tc>
                  <a:txBody>
                    <a:bodyPr/>
                    <a:lstStyle/>
                    <a:p>
                      <a:pPr algn="ctr" fontAlgn="b"/>
                      <a:r>
                        <a:rPr lang="en-GB" sz="1400" b="0" i="0" u="none" strike="noStrike">
                          <a:solidFill>
                            <a:srgbClr val="000000"/>
                          </a:solidFill>
                          <a:effectLst/>
                          <a:latin typeface="Calibri" panose="020F0502020204030204" pitchFamily="34" charset="0"/>
                        </a:rPr>
                        <a:t>1.30</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7FD02"/>
                    </a:solidFill>
                  </a:tcPr>
                </a:tc>
                <a:tc>
                  <a:txBody>
                    <a:bodyPr/>
                    <a:lstStyle/>
                    <a:p>
                      <a:pPr algn="ctr" fontAlgn="b"/>
                      <a:r>
                        <a:rPr lang="en-GB" sz="1400" b="0" i="0" u="none" strike="noStrike">
                          <a:solidFill>
                            <a:srgbClr val="000000"/>
                          </a:solidFill>
                          <a:effectLst/>
                          <a:latin typeface="Calibri" panose="020F0502020204030204" pitchFamily="34" charset="0"/>
                        </a:rPr>
                        <a:t>3.76</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B1E718"/>
                    </a:solidFill>
                  </a:tcPr>
                </a:tc>
                <a:tc>
                  <a:txBody>
                    <a:bodyPr/>
                    <a:lstStyle/>
                    <a:p>
                      <a:pPr algn="ctr" fontAlgn="b"/>
                      <a:r>
                        <a:rPr lang="en-GB" sz="1400" b="0" i="0" u="none" strike="noStrike">
                          <a:solidFill>
                            <a:srgbClr val="000000"/>
                          </a:solidFill>
                          <a:effectLst/>
                          <a:latin typeface="Calibri" panose="020F0502020204030204" pitchFamily="34" charset="0"/>
                        </a:rPr>
                        <a:t>2.97</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C8EE11"/>
                    </a:solidFill>
                  </a:tcPr>
                </a:tc>
                <a:tc>
                  <a:txBody>
                    <a:bodyPr/>
                    <a:lstStyle/>
                    <a:p>
                      <a:pPr algn="ctr" fontAlgn="b"/>
                      <a:r>
                        <a:rPr lang="en-GB" sz="1400" b="0" i="0" u="none" strike="noStrike">
                          <a:solidFill>
                            <a:srgbClr val="000000"/>
                          </a:solidFill>
                          <a:effectLst/>
                          <a:latin typeface="Calibri" panose="020F0502020204030204" pitchFamily="34" charset="0"/>
                        </a:rPr>
                        <a:t>2.69</a:t>
                      </a:r>
                    </a:p>
                  </a:txBody>
                  <a:tcPr marL="9525" marR="9525" marT="9525" marB="0" anchor="ctr">
                    <a:lnL w="12700" cap="flat" cmpd="sng" algn="ctr">
                      <a:solidFill>
                        <a:srgbClr val="C00000"/>
                      </a:solidFill>
                      <a:prstDash val="solid"/>
                      <a:round/>
                      <a:headEnd type="none" w="med" len="med"/>
                      <a:tailEnd type="none" w="med" len="med"/>
                    </a:lnL>
                    <a:lnR>
                      <a:noFill/>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0F10F"/>
                    </a:solidFill>
                  </a:tcPr>
                </a:tc>
                <a:extLst>
                  <a:ext uri="{0D108BD9-81ED-4DB2-BD59-A6C34878D82A}">
                    <a16:rowId xmlns:a16="http://schemas.microsoft.com/office/drawing/2014/main" val="2741076935"/>
                  </a:ext>
                </a:extLst>
              </a:tr>
              <a:tr h="373886">
                <a:tc>
                  <a:txBody>
                    <a:bodyPr/>
                    <a:lstStyle/>
                    <a:p>
                      <a:pPr algn="l" fontAlgn="b"/>
                      <a:r>
                        <a:rPr lang="en-GB" sz="1400" b="0" i="0" u="none" strike="noStrike" dirty="0">
                          <a:solidFill>
                            <a:srgbClr val="000000"/>
                          </a:solidFill>
                          <a:effectLst/>
                          <a:latin typeface="Calibri" panose="020F0502020204030204" pitchFamily="34" charset="0"/>
                        </a:rPr>
                        <a:t>Governor</a:t>
                      </a:r>
                    </a:p>
                  </a:txBody>
                  <a:tcPr marL="9525" marR="9525" marT="9525" marB="0" anchor="ctr">
                    <a:lnL>
                      <a:noFill/>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5.46</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81D827"/>
                    </a:solidFill>
                  </a:tcPr>
                </a:tc>
                <a:tc>
                  <a:txBody>
                    <a:bodyPr/>
                    <a:lstStyle/>
                    <a:p>
                      <a:pPr algn="ctr" fontAlgn="b"/>
                      <a:r>
                        <a:rPr lang="en-GB" sz="1400" b="0" i="0" u="none" strike="noStrike" dirty="0">
                          <a:solidFill>
                            <a:srgbClr val="000000"/>
                          </a:solidFill>
                          <a:effectLst/>
                          <a:latin typeface="Calibri" panose="020F0502020204030204" pitchFamily="34" charset="0"/>
                        </a:rPr>
                        <a:t>5.59</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7DD728"/>
                    </a:solidFill>
                  </a:tcPr>
                </a:tc>
                <a:tc>
                  <a:txBody>
                    <a:bodyPr/>
                    <a:lstStyle/>
                    <a:p>
                      <a:pPr algn="ctr" fontAlgn="b"/>
                      <a:r>
                        <a:rPr lang="en-GB" sz="1400" b="0" i="0" u="none" strike="noStrike" dirty="0">
                          <a:solidFill>
                            <a:srgbClr val="000000"/>
                          </a:solidFill>
                          <a:effectLst/>
                          <a:latin typeface="Calibri" panose="020F0502020204030204" pitchFamily="34" charset="0"/>
                        </a:rPr>
                        <a:t>5.34</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85D926"/>
                    </a:solidFill>
                  </a:tcPr>
                </a:tc>
                <a:tc>
                  <a:txBody>
                    <a:bodyPr/>
                    <a:lstStyle/>
                    <a:p>
                      <a:pPr algn="ctr" fontAlgn="b"/>
                      <a:r>
                        <a:rPr lang="en-GB" sz="1400" b="0" i="0" u="none" strike="noStrike" dirty="0">
                          <a:solidFill>
                            <a:srgbClr val="000000"/>
                          </a:solidFill>
                          <a:effectLst/>
                          <a:latin typeface="Calibri" panose="020F0502020204030204" pitchFamily="34" charset="0"/>
                        </a:rPr>
                        <a:t>3.19</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C1EC13"/>
                    </a:solidFill>
                  </a:tcPr>
                </a:tc>
                <a:tc>
                  <a:txBody>
                    <a:bodyPr/>
                    <a:lstStyle/>
                    <a:p>
                      <a:pPr algn="ctr" fontAlgn="b"/>
                      <a:r>
                        <a:rPr lang="en-GB" sz="1400" b="0" i="0" u="none" strike="noStrike" dirty="0">
                          <a:solidFill>
                            <a:srgbClr val="000000"/>
                          </a:solidFill>
                          <a:effectLst/>
                          <a:latin typeface="Calibri" panose="020F0502020204030204" pitchFamily="34" charset="0"/>
                        </a:rPr>
                        <a:t>7.52</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47C639"/>
                    </a:solidFill>
                  </a:tcPr>
                </a:tc>
                <a:tc>
                  <a:txBody>
                    <a:bodyPr/>
                    <a:lstStyle/>
                    <a:p>
                      <a:pPr algn="ctr" fontAlgn="b"/>
                      <a:r>
                        <a:rPr lang="en-GB" sz="1400" b="0" i="0" u="none" strike="noStrike" dirty="0">
                          <a:solidFill>
                            <a:srgbClr val="000000"/>
                          </a:solidFill>
                          <a:effectLst/>
                          <a:latin typeface="Calibri" panose="020F0502020204030204" pitchFamily="34" charset="0"/>
                        </a:rPr>
                        <a:t>8.39</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2EBF41"/>
                    </a:solidFill>
                  </a:tcPr>
                </a:tc>
                <a:tc>
                  <a:txBody>
                    <a:bodyPr/>
                    <a:lstStyle/>
                    <a:p>
                      <a:pPr algn="ctr" fontAlgn="b"/>
                      <a:r>
                        <a:rPr lang="en-GB" sz="1400" b="0" i="0" u="none" strike="noStrike" dirty="0">
                          <a:solidFill>
                            <a:srgbClr val="000000"/>
                          </a:solidFill>
                          <a:effectLst/>
                          <a:latin typeface="Calibri" panose="020F0502020204030204" pitchFamily="34" charset="0"/>
                        </a:rPr>
                        <a:t>4.30</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A2E31D"/>
                    </a:solidFill>
                  </a:tcPr>
                </a:tc>
                <a:tc>
                  <a:txBody>
                    <a:bodyPr/>
                    <a:lstStyle/>
                    <a:p>
                      <a:pPr algn="ctr" fontAlgn="b"/>
                      <a:r>
                        <a:rPr lang="en-GB" sz="1400" b="0" i="0" u="none" strike="noStrike">
                          <a:solidFill>
                            <a:srgbClr val="000000"/>
                          </a:solidFill>
                          <a:effectLst/>
                          <a:latin typeface="Calibri" panose="020F0502020204030204" pitchFamily="34" charset="0"/>
                        </a:rPr>
                        <a:t>1.74</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EBF906"/>
                    </a:solidFill>
                  </a:tcPr>
                </a:tc>
                <a:tc>
                  <a:txBody>
                    <a:bodyPr/>
                    <a:lstStyle/>
                    <a:p>
                      <a:pPr algn="ctr" fontAlgn="b"/>
                      <a:r>
                        <a:rPr lang="en-GB" sz="1400" b="0" i="0" u="none" strike="noStrike">
                          <a:solidFill>
                            <a:srgbClr val="000000"/>
                          </a:solidFill>
                          <a:effectLst/>
                          <a:latin typeface="Calibri" panose="020F0502020204030204" pitchFamily="34" charset="0"/>
                        </a:rPr>
                        <a:t>4.83</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93DE22"/>
                    </a:solidFill>
                  </a:tcPr>
                </a:tc>
                <a:tc>
                  <a:txBody>
                    <a:bodyPr/>
                    <a:lstStyle/>
                    <a:p>
                      <a:pPr algn="ctr" fontAlgn="b"/>
                      <a:r>
                        <a:rPr lang="en-GB" sz="1400" b="0" i="0" u="none" strike="noStrike">
                          <a:solidFill>
                            <a:srgbClr val="000000"/>
                          </a:solidFill>
                          <a:effectLst/>
                          <a:latin typeface="Calibri" panose="020F0502020204030204" pitchFamily="34" charset="0"/>
                        </a:rPr>
                        <a:t>5.57</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7ED728"/>
                    </a:solidFill>
                  </a:tcPr>
                </a:tc>
                <a:tc>
                  <a:txBody>
                    <a:bodyPr/>
                    <a:lstStyle/>
                    <a:p>
                      <a:pPr algn="ctr" fontAlgn="b"/>
                      <a:r>
                        <a:rPr lang="en-GB" sz="1400" b="0" i="0" u="none" strike="noStrike">
                          <a:solidFill>
                            <a:srgbClr val="000000"/>
                          </a:solidFill>
                          <a:effectLst/>
                          <a:latin typeface="Calibri" panose="020F0502020204030204" pitchFamily="34" charset="0"/>
                        </a:rPr>
                        <a:t>5.26</a:t>
                      </a:r>
                    </a:p>
                  </a:txBody>
                  <a:tcPr marL="9525" marR="9525" marT="9525" marB="0" anchor="ctr">
                    <a:lnL w="12700" cap="flat" cmpd="sng" algn="ctr">
                      <a:solidFill>
                        <a:srgbClr val="C00000"/>
                      </a:solidFill>
                      <a:prstDash val="solid"/>
                      <a:round/>
                      <a:headEnd type="none" w="med" len="med"/>
                      <a:tailEnd type="none" w="med" len="med"/>
                    </a:lnL>
                    <a:lnR>
                      <a:noFill/>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87DA25"/>
                    </a:solidFill>
                  </a:tcPr>
                </a:tc>
                <a:extLst>
                  <a:ext uri="{0D108BD9-81ED-4DB2-BD59-A6C34878D82A}">
                    <a16:rowId xmlns:a16="http://schemas.microsoft.com/office/drawing/2014/main" val="4170119638"/>
                  </a:ext>
                </a:extLst>
              </a:tr>
              <a:tr h="373886">
                <a:tc>
                  <a:txBody>
                    <a:bodyPr/>
                    <a:lstStyle/>
                    <a:p>
                      <a:pPr algn="l" fontAlgn="b"/>
                      <a:r>
                        <a:rPr lang="en-GB" sz="1400" b="0" i="0" u="none" strike="noStrike" dirty="0">
                          <a:solidFill>
                            <a:srgbClr val="000000"/>
                          </a:solidFill>
                          <a:effectLst/>
                          <a:latin typeface="Calibri" panose="020F0502020204030204" pitchFamily="34" charset="0"/>
                        </a:rPr>
                        <a:t>Senate</a:t>
                      </a:r>
                    </a:p>
                  </a:txBody>
                  <a:tcPr marL="9525" marR="9525" marT="9525" marB="0" anchor="ctr">
                    <a:lnL>
                      <a:noFill/>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3.45</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BAEA15"/>
                    </a:solidFill>
                  </a:tcPr>
                </a:tc>
                <a:tc>
                  <a:txBody>
                    <a:bodyPr/>
                    <a:lstStyle/>
                    <a:p>
                      <a:pPr algn="ctr" fontAlgn="b"/>
                      <a:r>
                        <a:rPr lang="en-GB" sz="1400" b="0" i="0" u="none" strike="noStrike">
                          <a:solidFill>
                            <a:srgbClr val="000000"/>
                          </a:solidFill>
                          <a:effectLst/>
                          <a:latin typeface="Calibri" panose="020F0502020204030204" pitchFamily="34" charset="0"/>
                        </a:rPr>
                        <a:t>3.54</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B8E916"/>
                    </a:solidFill>
                  </a:tcPr>
                </a:tc>
                <a:tc>
                  <a:txBody>
                    <a:bodyPr/>
                    <a:lstStyle/>
                    <a:p>
                      <a:pPr algn="ctr" fontAlgn="b"/>
                      <a:r>
                        <a:rPr lang="en-GB" sz="1400" b="0" i="0" u="none" strike="noStrike">
                          <a:solidFill>
                            <a:srgbClr val="000000"/>
                          </a:solidFill>
                          <a:effectLst/>
                          <a:latin typeface="Calibri" panose="020F0502020204030204" pitchFamily="34" charset="0"/>
                        </a:rPr>
                        <a:t>3.37</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BCEB15"/>
                    </a:solidFill>
                  </a:tcPr>
                </a:tc>
                <a:tc>
                  <a:txBody>
                    <a:bodyPr/>
                    <a:lstStyle/>
                    <a:p>
                      <a:pPr algn="ctr" fontAlgn="b"/>
                      <a:r>
                        <a:rPr lang="en-GB" sz="1400" b="0" i="0" u="none" strike="noStrike" dirty="0">
                          <a:solidFill>
                            <a:srgbClr val="000000"/>
                          </a:solidFill>
                          <a:effectLst/>
                          <a:latin typeface="Calibri" panose="020F0502020204030204" pitchFamily="34" charset="0"/>
                        </a:rPr>
                        <a:t>2.99</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C7EE11"/>
                    </a:solidFill>
                  </a:tcPr>
                </a:tc>
                <a:tc>
                  <a:txBody>
                    <a:bodyPr/>
                    <a:lstStyle/>
                    <a:p>
                      <a:pPr algn="ctr" fontAlgn="b"/>
                      <a:r>
                        <a:rPr lang="en-GB" sz="1400" b="0" i="0" u="none" strike="noStrike" dirty="0">
                          <a:solidFill>
                            <a:srgbClr val="000000"/>
                          </a:solidFill>
                          <a:effectLst/>
                          <a:latin typeface="Calibri" panose="020F0502020204030204" pitchFamily="34" charset="0"/>
                        </a:rPr>
                        <a:t>2.96</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C8EE11"/>
                    </a:solidFill>
                  </a:tcPr>
                </a:tc>
                <a:tc>
                  <a:txBody>
                    <a:bodyPr/>
                    <a:lstStyle/>
                    <a:p>
                      <a:pPr algn="ctr" fontAlgn="b"/>
                      <a:r>
                        <a:rPr lang="en-GB" sz="1400" b="0" i="0" u="none" strike="noStrike" dirty="0">
                          <a:solidFill>
                            <a:srgbClr val="000000"/>
                          </a:solidFill>
                          <a:effectLst/>
                          <a:latin typeface="Calibri" panose="020F0502020204030204" pitchFamily="34" charset="0"/>
                        </a:rPr>
                        <a:t>4.86</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92DE22"/>
                    </a:solidFill>
                  </a:tcPr>
                </a:tc>
                <a:tc>
                  <a:txBody>
                    <a:bodyPr/>
                    <a:lstStyle/>
                    <a:p>
                      <a:pPr algn="ctr" fontAlgn="b"/>
                      <a:r>
                        <a:rPr lang="en-GB" sz="1400" b="0" i="0" u="none" strike="noStrike" dirty="0">
                          <a:solidFill>
                            <a:srgbClr val="000000"/>
                          </a:solidFill>
                          <a:effectLst/>
                          <a:latin typeface="Calibri" panose="020F0502020204030204" pitchFamily="34" charset="0"/>
                        </a:rPr>
                        <a:t>2.98</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C7EE11"/>
                    </a:solidFill>
                  </a:tcPr>
                </a:tc>
                <a:tc>
                  <a:txBody>
                    <a:bodyPr/>
                    <a:lstStyle/>
                    <a:p>
                      <a:pPr algn="ctr" fontAlgn="b"/>
                      <a:r>
                        <a:rPr lang="en-GB" sz="1400" b="0" i="0" u="none" strike="noStrike" dirty="0">
                          <a:solidFill>
                            <a:srgbClr val="000000"/>
                          </a:solidFill>
                          <a:effectLst/>
                          <a:latin typeface="Calibri" panose="020F0502020204030204" pitchFamily="34" charset="0"/>
                        </a:rPr>
                        <a:t>1.82</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E8F807"/>
                    </a:solidFill>
                  </a:tcPr>
                </a:tc>
                <a:tc>
                  <a:txBody>
                    <a:bodyPr/>
                    <a:lstStyle/>
                    <a:p>
                      <a:pPr algn="ctr" fontAlgn="b"/>
                      <a:r>
                        <a:rPr lang="en-GB" sz="1400" b="0" i="0" u="none" strike="noStrike">
                          <a:solidFill>
                            <a:srgbClr val="000000"/>
                          </a:solidFill>
                          <a:effectLst/>
                          <a:latin typeface="Calibri" panose="020F0502020204030204" pitchFamily="34" charset="0"/>
                        </a:rPr>
                        <a:t>4.02</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AAE51A"/>
                    </a:solidFill>
                  </a:tcPr>
                </a:tc>
                <a:tc>
                  <a:txBody>
                    <a:bodyPr/>
                    <a:lstStyle/>
                    <a:p>
                      <a:pPr algn="ctr" fontAlgn="b"/>
                      <a:r>
                        <a:rPr lang="en-GB" sz="1400" b="0" i="0" u="none" strike="noStrike">
                          <a:solidFill>
                            <a:srgbClr val="000000"/>
                          </a:solidFill>
                          <a:effectLst/>
                          <a:latin typeface="Calibri" panose="020F0502020204030204" pitchFamily="34" charset="0"/>
                        </a:rPr>
                        <a:t>3.50</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B9EA16"/>
                    </a:solidFill>
                  </a:tcPr>
                </a:tc>
                <a:tc>
                  <a:txBody>
                    <a:bodyPr/>
                    <a:lstStyle/>
                    <a:p>
                      <a:pPr algn="ctr" fontAlgn="b"/>
                      <a:r>
                        <a:rPr lang="en-GB" sz="1400" b="0" i="0" u="none" strike="noStrike">
                          <a:solidFill>
                            <a:srgbClr val="000000"/>
                          </a:solidFill>
                          <a:effectLst/>
                          <a:latin typeface="Calibri" panose="020F0502020204030204" pitchFamily="34" charset="0"/>
                        </a:rPr>
                        <a:t>3.36</a:t>
                      </a:r>
                    </a:p>
                  </a:txBody>
                  <a:tcPr marL="9525" marR="9525" marT="9525" marB="0" anchor="ctr">
                    <a:lnL w="12700" cap="flat" cmpd="sng" algn="ctr">
                      <a:solidFill>
                        <a:srgbClr val="C00000"/>
                      </a:solidFill>
                      <a:prstDash val="solid"/>
                      <a:round/>
                      <a:headEnd type="none" w="med" len="med"/>
                      <a:tailEnd type="none" w="med" len="med"/>
                    </a:lnL>
                    <a:lnR>
                      <a:noFill/>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BDEB14"/>
                    </a:solidFill>
                  </a:tcPr>
                </a:tc>
                <a:extLst>
                  <a:ext uri="{0D108BD9-81ED-4DB2-BD59-A6C34878D82A}">
                    <a16:rowId xmlns:a16="http://schemas.microsoft.com/office/drawing/2014/main" val="4266031032"/>
                  </a:ext>
                </a:extLst>
              </a:tr>
              <a:tr h="373886">
                <a:tc>
                  <a:txBody>
                    <a:bodyPr/>
                    <a:lstStyle/>
                    <a:p>
                      <a:pPr algn="l" fontAlgn="b"/>
                      <a:r>
                        <a:rPr lang="en-GB" sz="1400" b="0" i="0" u="none" strike="noStrike" dirty="0">
                          <a:solidFill>
                            <a:srgbClr val="000000"/>
                          </a:solidFill>
                          <a:effectLst/>
                          <a:latin typeface="Calibri" panose="020F0502020204030204" pitchFamily="34" charset="0"/>
                        </a:rPr>
                        <a:t>House of Reps</a:t>
                      </a:r>
                    </a:p>
                  </a:txBody>
                  <a:tcPr marL="9525" marR="9525" marT="9525" marB="0" anchor="ctr">
                    <a:lnL>
                      <a:noFill/>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3.31</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BEEB14"/>
                    </a:solidFill>
                  </a:tcPr>
                </a:tc>
                <a:tc>
                  <a:txBody>
                    <a:bodyPr/>
                    <a:lstStyle/>
                    <a:p>
                      <a:pPr algn="ctr" fontAlgn="b"/>
                      <a:r>
                        <a:rPr lang="en-GB" sz="1400" b="0" i="0" u="none" strike="noStrike">
                          <a:solidFill>
                            <a:srgbClr val="000000"/>
                          </a:solidFill>
                          <a:effectLst/>
                          <a:latin typeface="Calibri" panose="020F0502020204030204" pitchFamily="34" charset="0"/>
                        </a:rPr>
                        <a:t>3.44</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BAEA15"/>
                    </a:solidFill>
                  </a:tcPr>
                </a:tc>
                <a:tc>
                  <a:txBody>
                    <a:bodyPr/>
                    <a:lstStyle/>
                    <a:p>
                      <a:pPr algn="ctr" fontAlgn="b"/>
                      <a:r>
                        <a:rPr lang="en-GB" sz="1400" b="0" i="0" u="none" strike="noStrike">
                          <a:solidFill>
                            <a:srgbClr val="000000"/>
                          </a:solidFill>
                          <a:effectLst/>
                          <a:latin typeface="Calibri" panose="020F0502020204030204" pitchFamily="34" charset="0"/>
                        </a:rPr>
                        <a:t>3.20</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C1EC13"/>
                    </a:solidFill>
                  </a:tcPr>
                </a:tc>
                <a:tc>
                  <a:txBody>
                    <a:bodyPr/>
                    <a:lstStyle/>
                    <a:p>
                      <a:pPr algn="ctr" fontAlgn="b"/>
                      <a:r>
                        <a:rPr lang="en-GB" sz="1400" b="0" i="0" u="none" strike="noStrike">
                          <a:solidFill>
                            <a:srgbClr val="000000"/>
                          </a:solidFill>
                          <a:effectLst/>
                          <a:latin typeface="Calibri" panose="020F0502020204030204" pitchFamily="34" charset="0"/>
                        </a:rPr>
                        <a:t>2.70</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CFF10F"/>
                    </a:solidFill>
                  </a:tcPr>
                </a:tc>
                <a:tc>
                  <a:txBody>
                    <a:bodyPr/>
                    <a:lstStyle/>
                    <a:p>
                      <a:pPr algn="ctr" fontAlgn="b"/>
                      <a:r>
                        <a:rPr lang="en-GB" sz="1400" b="0" i="0" u="none" strike="noStrike" dirty="0">
                          <a:solidFill>
                            <a:srgbClr val="000000"/>
                          </a:solidFill>
                          <a:effectLst/>
                          <a:latin typeface="Calibri" panose="020F0502020204030204" pitchFamily="34" charset="0"/>
                        </a:rPr>
                        <a:t>2.73</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CEF00F"/>
                    </a:solidFill>
                  </a:tcPr>
                </a:tc>
                <a:tc>
                  <a:txBody>
                    <a:bodyPr/>
                    <a:lstStyle/>
                    <a:p>
                      <a:pPr algn="ctr" fontAlgn="b"/>
                      <a:r>
                        <a:rPr lang="en-GB" sz="1400" b="0" i="0" u="none" strike="noStrike" dirty="0">
                          <a:solidFill>
                            <a:srgbClr val="000000"/>
                          </a:solidFill>
                          <a:effectLst/>
                          <a:latin typeface="Calibri" panose="020F0502020204030204" pitchFamily="34" charset="0"/>
                        </a:rPr>
                        <a:t>4.83</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93DE22"/>
                    </a:solidFill>
                  </a:tcPr>
                </a:tc>
                <a:tc>
                  <a:txBody>
                    <a:bodyPr/>
                    <a:lstStyle/>
                    <a:p>
                      <a:pPr algn="ctr" fontAlgn="b"/>
                      <a:r>
                        <a:rPr lang="en-GB" sz="1400" b="0" i="0" u="none" strike="noStrike" dirty="0">
                          <a:solidFill>
                            <a:srgbClr val="000000"/>
                          </a:solidFill>
                          <a:effectLst/>
                          <a:latin typeface="Calibri" panose="020F0502020204030204" pitchFamily="34" charset="0"/>
                        </a:rPr>
                        <a:t>2.97</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C8EE11"/>
                    </a:solidFill>
                  </a:tcPr>
                </a:tc>
                <a:tc>
                  <a:txBody>
                    <a:bodyPr/>
                    <a:lstStyle/>
                    <a:p>
                      <a:pPr algn="ctr" fontAlgn="b"/>
                      <a:r>
                        <a:rPr lang="en-GB" sz="1400" b="0" i="0" u="none" strike="noStrike" dirty="0">
                          <a:solidFill>
                            <a:srgbClr val="000000"/>
                          </a:solidFill>
                          <a:effectLst/>
                          <a:latin typeface="Calibri" panose="020F0502020204030204" pitchFamily="34" charset="0"/>
                        </a:rPr>
                        <a:t>1.78</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E9F906"/>
                    </a:solidFill>
                  </a:tcPr>
                </a:tc>
                <a:tc>
                  <a:txBody>
                    <a:bodyPr/>
                    <a:lstStyle/>
                    <a:p>
                      <a:pPr algn="ctr" fontAlgn="b"/>
                      <a:r>
                        <a:rPr lang="en-GB" sz="1400" b="0" i="0" u="none" strike="noStrike" dirty="0">
                          <a:solidFill>
                            <a:srgbClr val="000000"/>
                          </a:solidFill>
                          <a:effectLst/>
                          <a:latin typeface="Calibri" panose="020F0502020204030204" pitchFamily="34" charset="0"/>
                        </a:rPr>
                        <a:t>3.77</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B1E718"/>
                    </a:solidFill>
                  </a:tcPr>
                </a:tc>
                <a:tc>
                  <a:txBody>
                    <a:bodyPr/>
                    <a:lstStyle/>
                    <a:p>
                      <a:pPr algn="ctr" fontAlgn="b"/>
                      <a:r>
                        <a:rPr lang="en-GB" sz="1400" b="0" i="0" u="none" strike="noStrike">
                          <a:solidFill>
                            <a:srgbClr val="000000"/>
                          </a:solidFill>
                          <a:effectLst/>
                          <a:latin typeface="Calibri" panose="020F0502020204030204" pitchFamily="34" charset="0"/>
                        </a:rPr>
                        <a:t>3.41</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BBEA15"/>
                    </a:solidFill>
                  </a:tcPr>
                </a:tc>
                <a:tc>
                  <a:txBody>
                    <a:bodyPr/>
                    <a:lstStyle/>
                    <a:p>
                      <a:pPr algn="ctr" fontAlgn="b"/>
                      <a:r>
                        <a:rPr lang="en-GB" sz="1400" b="0" i="0" u="none" strike="noStrike">
                          <a:solidFill>
                            <a:srgbClr val="000000"/>
                          </a:solidFill>
                          <a:effectLst/>
                          <a:latin typeface="Calibri" panose="020F0502020204030204" pitchFamily="34" charset="0"/>
                        </a:rPr>
                        <a:t>3.13</a:t>
                      </a:r>
                    </a:p>
                  </a:txBody>
                  <a:tcPr marL="9525" marR="9525" marT="9525" marB="0" anchor="ctr">
                    <a:lnL w="12700" cap="flat" cmpd="sng" algn="ctr">
                      <a:solidFill>
                        <a:srgbClr val="C00000"/>
                      </a:solidFill>
                      <a:prstDash val="solid"/>
                      <a:round/>
                      <a:headEnd type="none" w="med" len="med"/>
                      <a:tailEnd type="none" w="med" len="med"/>
                    </a:lnL>
                    <a:lnR>
                      <a:noFill/>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C3ED12"/>
                    </a:solidFill>
                  </a:tcPr>
                </a:tc>
                <a:extLst>
                  <a:ext uri="{0D108BD9-81ED-4DB2-BD59-A6C34878D82A}">
                    <a16:rowId xmlns:a16="http://schemas.microsoft.com/office/drawing/2014/main" val="1719796033"/>
                  </a:ext>
                </a:extLst>
              </a:tr>
              <a:tr h="373886">
                <a:tc>
                  <a:txBody>
                    <a:bodyPr/>
                    <a:lstStyle/>
                    <a:p>
                      <a:pPr algn="l" fontAlgn="b"/>
                      <a:r>
                        <a:rPr lang="en-GB" sz="1400" b="0" i="0" u="none" strike="noStrike" dirty="0">
                          <a:solidFill>
                            <a:srgbClr val="000000"/>
                          </a:solidFill>
                          <a:effectLst/>
                          <a:latin typeface="Calibri" panose="020F0502020204030204" pitchFamily="34" charset="0"/>
                        </a:rPr>
                        <a:t>Local Governor Chairman</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3.53</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B8E916"/>
                    </a:solidFill>
                  </a:tcPr>
                </a:tc>
                <a:tc>
                  <a:txBody>
                    <a:bodyPr/>
                    <a:lstStyle/>
                    <a:p>
                      <a:pPr algn="ctr" fontAlgn="b"/>
                      <a:r>
                        <a:rPr lang="en-GB" sz="1400" b="0" i="0" u="none" strike="noStrike" dirty="0">
                          <a:solidFill>
                            <a:srgbClr val="000000"/>
                          </a:solidFill>
                          <a:effectLst/>
                          <a:latin typeface="Calibri" panose="020F0502020204030204" pitchFamily="34" charset="0"/>
                        </a:rPr>
                        <a:t>3.67</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B4E817"/>
                    </a:solidFill>
                  </a:tcPr>
                </a:tc>
                <a:tc>
                  <a:txBody>
                    <a:bodyPr/>
                    <a:lstStyle/>
                    <a:p>
                      <a:pPr algn="ctr" fontAlgn="b"/>
                      <a:r>
                        <a:rPr lang="en-GB" sz="1400" b="0" i="0" u="none" strike="noStrike" dirty="0">
                          <a:solidFill>
                            <a:srgbClr val="000000"/>
                          </a:solidFill>
                          <a:effectLst/>
                          <a:latin typeface="Calibri" panose="020F0502020204030204" pitchFamily="34" charset="0"/>
                        </a:rPr>
                        <a:t>3.40</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BBEA15"/>
                    </a:solidFill>
                  </a:tcPr>
                </a:tc>
                <a:tc>
                  <a:txBody>
                    <a:bodyPr/>
                    <a:lstStyle/>
                    <a:p>
                      <a:pPr algn="ctr" fontAlgn="b"/>
                      <a:r>
                        <a:rPr lang="en-GB" sz="1400" b="0" i="0" u="none" strike="noStrike" dirty="0">
                          <a:solidFill>
                            <a:srgbClr val="000000"/>
                          </a:solidFill>
                          <a:effectLst/>
                          <a:latin typeface="Calibri" panose="020F0502020204030204" pitchFamily="34" charset="0"/>
                        </a:rPr>
                        <a:t>3.29</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BFEB14"/>
                    </a:solidFill>
                  </a:tcPr>
                </a:tc>
                <a:tc>
                  <a:txBody>
                    <a:bodyPr/>
                    <a:lstStyle/>
                    <a:p>
                      <a:pPr algn="ctr" fontAlgn="b"/>
                      <a:r>
                        <a:rPr lang="en-GB" sz="1400" b="0" i="0" u="none" strike="noStrike" dirty="0">
                          <a:solidFill>
                            <a:srgbClr val="000000"/>
                          </a:solidFill>
                          <a:effectLst/>
                          <a:latin typeface="Calibri" panose="020F0502020204030204" pitchFamily="34" charset="0"/>
                        </a:rPr>
                        <a:t>2.98</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C7EE11"/>
                    </a:solidFill>
                  </a:tcPr>
                </a:tc>
                <a:tc>
                  <a:txBody>
                    <a:bodyPr/>
                    <a:lstStyle/>
                    <a:p>
                      <a:pPr algn="ctr" fontAlgn="b"/>
                      <a:r>
                        <a:rPr lang="en-GB" sz="1400" b="0" i="0" u="none" strike="noStrike" dirty="0">
                          <a:solidFill>
                            <a:srgbClr val="000000"/>
                          </a:solidFill>
                          <a:effectLst/>
                          <a:latin typeface="Calibri" panose="020F0502020204030204" pitchFamily="34" charset="0"/>
                        </a:rPr>
                        <a:t>4.61</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99E020"/>
                    </a:solidFill>
                  </a:tcPr>
                </a:tc>
                <a:tc>
                  <a:txBody>
                    <a:bodyPr/>
                    <a:lstStyle/>
                    <a:p>
                      <a:pPr algn="ctr" fontAlgn="b"/>
                      <a:r>
                        <a:rPr lang="en-GB" sz="1400" b="0" i="0" u="none" strike="noStrike" dirty="0">
                          <a:solidFill>
                            <a:srgbClr val="000000"/>
                          </a:solidFill>
                          <a:effectLst/>
                          <a:latin typeface="Calibri" panose="020F0502020204030204" pitchFamily="34" charset="0"/>
                        </a:rPr>
                        <a:t>3.55</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B7E916"/>
                    </a:solidFill>
                  </a:tcPr>
                </a:tc>
                <a:tc>
                  <a:txBody>
                    <a:bodyPr/>
                    <a:lstStyle/>
                    <a:p>
                      <a:pPr algn="ctr" fontAlgn="b"/>
                      <a:r>
                        <a:rPr lang="en-GB" sz="1400" b="0" i="0" u="none" strike="noStrike" dirty="0">
                          <a:solidFill>
                            <a:srgbClr val="000000"/>
                          </a:solidFill>
                          <a:effectLst/>
                          <a:latin typeface="Calibri" panose="020F0502020204030204" pitchFamily="34" charset="0"/>
                        </a:rPr>
                        <a:t>2.04</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E2F609"/>
                    </a:solidFill>
                  </a:tcPr>
                </a:tc>
                <a:tc>
                  <a:txBody>
                    <a:bodyPr/>
                    <a:lstStyle/>
                    <a:p>
                      <a:pPr algn="ctr" fontAlgn="b"/>
                      <a:r>
                        <a:rPr lang="en-GB" sz="1400" b="0" i="0" u="none" strike="noStrike" dirty="0">
                          <a:solidFill>
                            <a:srgbClr val="000000"/>
                          </a:solidFill>
                          <a:effectLst/>
                          <a:latin typeface="Calibri" panose="020F0502020204030204" pitchFamily="34" charset="0"/>
                        </a:rPr>
                        <a:t>3.89</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AEE619"/>
                    </a:solidFill>
                  </a:tcPr>
                </a:tc>
                <a:tc>
                  <a:txBody>
                    <a:bodyPr/>
                    <a:lstStyle/>
                    <a:p>
                      <a:pPr algn="ctr" fontAlgn="b"/>
                      <a:r>
                        <a:rPr lang="en-GB" sz="1400" b="0" i="0" u="none" strike="noStrike" dirty="0">
                          <a:solidFill>
                            <a:srgbClr val="000000"/>
                          </a:solidFill>
                          <a:effectLst/>
                          <a:latin typeface="Calibri" panose="020F0502020204030204" pitchFamily="34" charset="0"/>
                        </a:rPr>
                        <a:t>3.60</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B6E917"/>
                    </a:solidFill>
                  </a:tcPr>
                </a:tc>
                <a:tc>
                  <a:txBody>
                    <a:bodyPr/>
                    <a:lstStyle/>
                    <a:p>
                      <a:pPr algn="ctr" fontAlgn="b"/>
                      <a:r>
                        <a:rPr lang="en-GB" sz="1400" b="0" i="0" u="none" strike="noStrike" dirty="0">
                          <a:solidFill>
                            <a:srgbClr val="000000"/>
                          </a:solidFill>
                          <a:effectLst/>
                          <a:latin typeface="Calibri" panose="020F0502020204030204" pitchFamily="34" charset="0"/>
                        </a:rPr>
                        <a:t>3.39</a:t>
                      </a:r>
                    </a:p>
                  </a:txBody>
                  <a:tcPr marL="9525" marR="9525"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BCEB15"/>
                    </a:solidFill>
                  </a:tcPr>
                </a:tc>
                <a:extLst>
                  <a:ext uri="{0D108BD9-81ED-4DB2-BD59-A6C34878D82A}">
                    <a16:rowId xmlns:a16="http://schemas.microsoft.com/office/drawing/2014/main" val="2581045916"/>
                  </a:ext>
                </a:extLst>
              </a:tr>
            </a:tbl>
          </a:graphicData>
        </a:graphic>
      </p:graphicFrame>
    </p:spTree>
    <p:extLst>
      <p:ext uri="{BB962C8B-B14F-4D97-AF65-F5344CB8AC3E}">
        <p14:creationId xmlns:p14="http://schemas.microsoft.com/office/powerpoint/2010/main" val="10843886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Q35. Overall performance where 1 is unsatisfied 10 Satisfied, how would you rate the overall performance of the current President of Nigeria?</a:t>
            </a:r>
            <a:endParaRPr lang="en-US" sz="1000" dirty="0">
              <a:latin typeface="Book Antiqua" panose="02040602050305030304" pitchFamily="18" charset="0"/>
            </a:endParaRPr>
          </a:p>
        </p:txBody>
      </p:sp>
      <p:sp>
        <p:nvSpPr>
          <p:cNvPr id="12" name="Rectangle 11">
            <a:extLst>
              <a:ext uri="{FF2B5EF4-FFF2-40B4-BE49-F238E27FC236}">
                <a16:creationId xmlns:a16="http://schemas.microsoft.com/office/drawing/2014/main" id="{B04CE8E3-6477-4704-A018-FD65D74B66D3}"/>
              </a:ext>
            </a:extLst>
          </p:cNvPr>
          <p:cNvSpPr/>
          <p:nvPr/>
        </p:nvSpPr>
        <p:spPr>
          <a:xfrm>
            <a:off x="1743075" y="5695950"/>
            <a:ext cx="421910" cy="369332"/>
          </a:xfrm>
          <a:prstGeom prst="rect">
            <a:avLst/>
          </a:prstGeom>
        </p:spPr>
        <p:txBody>
          <a:bodyPr wrap="none">
            <a:spAutoFit/>
          </a:bodyPr>
          <a:lstStyle/>
          <a:p>
            <a:r>
              <a:rPr lang="en-GB" dirty="0">
                <a:solidFill>
                  <a:srgbClr val="000000"/>
                </a:solidFill>
                <a:latin typeface="Calibri" panose="020F0502020204030204" pitchFamily="34" charset="0"/>
              </a:rPr>
              <a:t>n=</a:t>
            </a:r>
            <a:endParaRPr lang="en-GB" dirty="0"/>
          </a:p>
        </p:txBody>
      </p:sp>
      <p:graphicFrame>
        <p:nvGraphicFramePr>
          <p:cNvPr id="15" name="Chart 14">
            <a:extLst>
              <a:ext uri="{FF2B5EF4-FFF2-40B4-BE49-F238E27FC236}">
                <a16:creationId xmlns:a16="http://schemas.microsoft.com/office/drawing/2014/main" id="{10C7777E-67E6-4555-A948-F505DD2B8009}"/>
              </a:ext>
            </a:extLst>
          </p:cNvPr>
          <p:cNvGraphicFramePr/>
          <p:nvPr>
            <p:extLst/>
          </p:nvPr>
        </p:nvGraphicFramePr>
        <p:xfrm>
          <a:off x="379413" y="1884346"/>
          <a:ext cx="11666812" cy="383241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Table 5">
            <a:extLst>
              <a:ext uri="{FF2B5EF4-FFF2-40B4-BE49-F238E27FC236}">
                <a16:creationId xmlns:a16="http://schemas.microsoft.com/office/drawing/2014/main" id="{C87DFAAA-4423-4344-BBCD-FF8051CEE04D}"/>
              </a:ext>
            </a:extLst>
          </p:cNvPr>
          <p:cNvGraphicFramePr>
            <a:graphicFrameLocks noGrp="1"/>
          </p:cNvGraphicFramePr>
          <p:nvPr/>
        </p:nvGraphicFramePr>
        <p:xfrm>
          <a:off x="1565910" y="1508641"/>
          <a:ext cx="10252715" cy="253484"/>
        </p:xfrm>
        <a:graphic>
          <a:graphicData uri="http://schemas.openxmlformats.org/drawingml/2006/table">
            <a:tbl>
              <a:tblPr>
                <a:tableStyleId>{5C22544A-7EE6-4342-B048-85BDC9FD1C3A}</a:tableStyleId>
              </a:tblPr>
              <a:tblGrid>
                <a:gridCol w="1365485">
                  <a:extLst>
                    <a:ext uri="{9D8B030D-6E8A-4147-A177-3AD203B41FA5}">
                      <a16:colId xmlns:a16="http://schemas.microsoft.com/office/drawing/2014/main" val="1601231567"/>
                    </a:ext>
                  </a:extLst>
                </a:gridCol>
                <a:gridCol w="807930">
                  <a:extLst>
                    <a:ext uri="{9D8B030D-6E8A-4147-A177-3AD203B41FA5}">
                      <a16:colId xmlns:a16="http://schemas.microsoft.com/office/drawing/2014/main" val="2379250083"/>
                    </a:ext>
                  </a:extLst>
                </a:gridCol>
                <a:gridCol w="807930">
                  <a:extLst>
                    <a:ext uri="{9D8B030D-6E8A-4147-A177-3AD203B41FA5}">
                      <a16:colId xmlns:a16="http://schemas.microsoft.com/office/drawing/2014/main" val="3707767684"/>
                    </a:ext>
                  </a:extLst>
                </a:gridCol>
                <a:gridCol w="807930">
                  <a:extLst>
                    <a:ext uri="{9D8B030D-6E8A-4147-A177-3AD203B41FA5}">
                      <a16:colId xmlns:a16="http://schemas.microsoft.com/office/drawing/2014/main" val="2497172989"/>
                    </a:ext>
                  </a:extLst>
                </a:gridCol>
                <a:gridCol w="807930">
                  <a:extLst>
                    <a:ext uri="{9D8B030D-6E8A-4147-A177-3AD203B41FA5}">
                      <a16:colId xmlns:a16="http://schemas.microsoft.com/office/drawing/2014/main" val="848469032"/>
                    </a:ext>
                  </a:extLst>
                </a:gridCol>
                <a:gridCol w="807930">
                  <a:extLst>
                    <a:ext uri="{9D8B030D-6E8A-4147-A177-3AD203B41FA5}">
                      <a16:colId xmlns:a16="http://schemas.microsoft.com/office/drawing/2014/main" val="2303936815"/>
                    </a:ext>
                  </a:extLst>
                </a:gridCol>
                <a:gridCol w="807930">
                  <a:extLst>
                    <a:ext uri="{9D8B030D-6E8A-4147-A177-3AD203B41FA5}">
                      <a16:colId xmlns:a16="http://schemas.microsoft.com/office/drawing/2014/main" val="460349122"/>
                    </a:ext>
                  </a:extLst>
                </a:gridCol>
                <a:gridCol w="807930">
                  <a:extLst>
                    <a:ext uri="{9D8B030D-6E8A-4147-A177-3AD203B41FA5}">
                      <a16:colId xmlns:a16="http://schemas.microsoft.com/office/drawing/2014/main" val="704838673"/>
                    </a:ext>
                  </a:extLst>
                </a:gridCol>
                <a:gridCol w="807930">
                  <a:extLst>
                    <a:ext uri="{9D8B030D-6E8A-4147-A177-3AD203B41FA5}">
                      <a16:colId xmlns:a16="http://schemas.microsoft.com/office/drawing/2014/main" val="2575188808"/>
                    </a:ext>
                  </a:extLst>
                </a:gridCol>
                <a:gridCol w="807930">
                  <a:extLst>
                    <a:ext uri="{9D8B030D-6E8A-4147-A177-3AD203B41FA5}">
                      <a16:colId xmlns:a16="http://schemas.microsoft.com/office/drawing/2014/main" val="2501854814"/>
                    </a:ext>
                  </a:extLst>
                </a:gridCol>
                <a:gridCol w="807930">
                  <a:extLst>
                    <a:ext uri="{9D8B030D-6E8A-4147-A177-3AD203B41FA5}">
                      <a16:colId xmlns:a16="http://schemas.microsoft.com/office/drawing/2014/main" val="2179463999"/>
                    </a:ext>
                  </a:extLst>
                </a:gridCol>
                <a:gridCol w="807930">
                  <a:extLst>
                    <a:ext uri="{9D8B030D-6E8A-4147-A177-3AD203B41FA5}">
                      <a16:colId xmlns:a16="http://schemas.microsoft.com/office/drawing/2014/main" val="1997916844"/>
                    </a:ext>
                  </a:extLst>
                </a:gridCol>
              </a:tblGrid>
              <a:tr h="253484">
                <a:tc>
                  <a:txBody>
                    <a:bodyPr/>
                    <a:lstStyle/>
                    <a:p>
                      <a:pPr algn="l" fontAlgn="b"/>
                      <a:r>
                        <a:rPr lang="en-GB" sz="1400" b="1" u="none" strike="noStrike" dirty="0">
                          <a:solidFill>
                            <a:schemeClr val="accent4">
                              <a:lumMod val="75000"/>
                            </a:schemeClr>
                          </a:solidFill>
                          <a:effectLst/>
                        </a:rPr>
                        <a:t>Mean</a:t>
                      </a:r>
                      <a:endParaRPr lang="en-GB" sz="1400" b="1" i="0" u="none" strike="noStrike" dirty="0">
                        <a:solidFill>
                          <a:schemeClr val="accent4">
                            <a:lumMod val="75000"/>
                          </a:schemeClr>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u="none" strike="noStrike" dirty="0">
                          <a:solidFill>
                            <a:schemeClr val="accent4">
                              <a:lumMod val="75000"/>
                            </a:schemeClr>
                          </a:solidFill>
                          <a:effectLst/>
                        </a:rPr>
                        <a:t>2.87</a:t>
                      </a:r>
                      <a:endParaRPr lang="en-GB" sz="1400" b="1" i="0" u="none" strike="noStrike" dirty="0">
                        <a:solidFill>
                          <a:schemeClr val="accent4">
                            <a:lumMod val="75000"/>
                          </a:schemeClr>
                        </a:solidFill>
                        <a:effectLst/>
                        <a:latin typeface="Calibri" panose="020F0502020204030204" pitchFamily="34" charset="0"/>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u="none" strike="noStrike" dirty="0">
                          <a:solidFill>
                            <a:schemeClr val="accent4">
                              <a:lumMod val="75000"/>
                            </a:schemeClr>
                          </a:solidFill>
                          <a:effectLst/>
                        </a:rPr>
                        <a:t>3</a:t>
                      </a:r>
                      <a:endParaRPr lang="en-GB" sz="1400" b="1" i="0" u="none" strike="noStrike" dirty="0">
                        <a:solidFill>
                          <a:schemeClr val="accent4">
                            <a:lumMod val="75000"/>
                          </a:schemeClr>
                        </a:solidFill>
                        <a:effectLst/>
                        <a:latin typeface="Calibri" panose="020F0502020204030204" pitchFamily="34" charset="0"/>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u="none" strike="noStrike" dirty="0">
                          <a:solidFill>
                            <a:schemeClr val="accent4">
                              <a:lumMod val="75000"/>
                            </a:schemeClr>
                          </a:solidFill>
                          <a:effectLst/>
                        </a:rPr>
                        <a:t>2.76</a:t>
                      </a:r>
                      <a:endParaRPr lang="en-GB" sz="1400" b="1" i="0" u="none" strike="noStrike" dirty="0">
                        <a:solidFill>
                          <a:schemeClr val="accent4">
                            <a:lumMod val="75000"/>
                          </a:schemeClr>
                        </a:solidFill>
                        <a:effectLst/>
                        <a:latin typeface="Calibri" panose="020F0502020204030204" pitchFamily="34" charset="0"/>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u="none" strike="noStrike" dirty="0">
                          <a:solidFill>
                            <a:schemeClr val="accent4">
                              <a:lumMod val="75000"/>
                            </a:schemeClr>
                          </a:solidFill>
                          <a:effectLst/>
                        </a:rPr>
                        <a:t>2.13</a:t>
                      </a:r>
                      <a:endParaRPr lang="en-GB" sz="1400" b="1" i="0" u="none" strike="noStrike" dirty="0">
                        <a:solidFill>
                          <a:schemeClr val="accent4">
                            <a:lumMod val="75000"/>
                          </a:schemeClr>
                        </a:solidFill>
                        <a:effectLst/>
                        <a:latin typeface="Calibri" panose="020F0502020204030204" pitchFamily="34" charset="0"/>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u="none" strike="noStrike" dirty="0">
                          <a:solidFill>
                            <a:schemeClr val="accent4">
                              <a:lumMod val="75000"/>
                            </a:schemeClr>
                          </a:solidFill>
                          <a:effectLst/>
                        </a:rPr>
                        <a:t>2.96</a:t>
                      </a:r>
                      <a:endParaRPr lang="en-GB" sz="1400" b="1" i="0" u="none" strike="noStrike" dirty="0">
                        <a:solidFill>
                          <a:schemeClr val="accent4">
                            <a:lumMod val="75000"/>
                          </a:schemeClr>
                        </a:solidFill>
                        <a:effectLst/>
                        <a:latin typeface="Calibri" panose="020F0502020204030204" pitchFamily="34" charset="0"/>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u="none" strike="noStrike" dirty="0">
                          <a:solidFill>
                            <a:schemeClr val="accent4">
                              <a:lumMod val="75000"/>
                            </a:schemeClr>
                          </a:solidFill>
                          <a:effectLst/>
                        </a:rPr>
                        <a:t>2.98</a:t>
                      </a:r>
                      <a:endParaRPr lang="en-GB" sz="1400" b="1" i="0" u="none" strike="noStrike" dirty="0">
                        <a:solidFill>
                          <a:schemeClr val="accent4">
                            <a:lumMod val="75000"/>
                          </a:schemeClr>
                        </a:solidFill>
                        <a:effectLst/>
                        <a:latin typeface="Calibri" panose="020F0502020204030204" pitchFamily="34" charset="0"/>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u="none" strike="noStrike" dirty="0">
                          <a:solidFill>
                            <a:schemeClr val="accent4">
                              <a:lumMod val="75000"/>
                            </a:schemeClr>
                          </a:solidFill>
                          <a:effectLst/>
                        </a:rPr>
                        <a:t>2.92</a:t>
                      </a:r>
                      <a:endParaRPr lang="en-GB" sz="1400" b="1" i="0" u="none" strike="noStrike" dirty="0">
                        <a:solidFill>
                          <a:schemeClr val="accent4">
                            <a:lumMod val="75000"/>
                          </a:schemeClr>
                        </a:solidFill>
                        <a:effectLst/>
                        <a:latin typeface="Calibri" panose="020F0502020204030204" pitchFamily="34" charset="0"/>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u="none" strike="noStrike" dirty="0">
                          <a:solidFill>
                            <a:schemeClr val="accent4">
                              <a:lumMod val="75000"/>
                            </a:schemeClr>
                          </a:solidFill>
                          <a:effectLst/>
                        </a:rPr>
                        <a:t>1.3</a:t>
                      </a:r>
                      <a:endParaRPr lang="en-GB" sz="1400" b="1" i="0" u="none" strike="noStrike" dirty="0">
                        <a:solidFill>
                          <a:schemeClr val="accent4">
                            <a:lumMod val="75000"/>
                          </a:schemeClr>
                        </a:solidFill>
                        <a:effectLst/>
                        <a:latin typeface="Calibri" panose="020F0502020204030204" pitchFamily="34" charset="0"/>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u="none" strike="noStrike" dirty="0">
                          <a:solidFill>
                            <a:schemeClr val="accent4">
                              <a:lumMod val="75000"/>
                            </a:schemeClr>
                          </a:solidFill>
                          <a:effectLst/>
                        </a:rPr>
                        <a:t>3.76</a:t>
                      </a:r>
                      <a:endParaRPr lang="en-GB" sz="1400" b="1" i="0" u="none" strike="noStrike" dirty="0">
                        <a:solidFill>
                          <a:schemeClr val="accent4">
                            <a:lumMod val="75000"/>
                          </a:schemeClr>
                        </a:solidFill>
                        <a:effectLst/>
                        <a:latin typeface="Calibri" panose="020F0502020204030204" pitchFamily="34" charset="0"/>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u="none" strike="noStrike" dirty="0">
                          <a:solidFill>
                            <a:schemeClr val="accent4">
                              <a:lumMod val="75000"/>
                            </a:schemeClr>
                          </a:solidFill>
                          <a:effectLst/>
                        </a:rPr>
                        <a:t>2.97</a:t>
                      </a:r>
                      <a:endParaRPr lang="en-GB" sz="1400" b="1" i="0" u="none" strike="noStrike" dirty="0">
                        <a:solidFill>
                          <a:schemeClr val="accent4">
                            <a:lumMod val="75000"/>
                          </a:schemeClr>
                        </a:solidFill>
                        <a:effectLst/>
                        <a:latin typeface="Calibri" panose="020F0502020204030204" pitchFamily="34" charset="0"/>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u="none" strike="noStrike" dirty="0">
                          <a:solidFill>
                            <a:schemeClr val="accent4">
                              <a:lumMod val="75000"/>
                            </a:schemeClr>
                          </a:solidFill>
                          <a:effectLst/>
                        </a:rPr>
                        <a:t>2.69</a:t>
                      </a:r>
                      <a:endParaRPr lang="en-GB" sz="1400" b="1" i="0" u="none" strike="noStrike" dirty="0">
                        <a:solidFill>
                          <a:schemeClr val="accent4">
                            <a:lumMod val="75000"/>
                          </a:schemeClr>
                        </a:solidFill>
                        <a:effectLst/>
                        <a:latin typeface="Calibri" panose="020F0502020204030204" pitchFamily="34" charset="0"/>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09280864"/>
                  </a:ext>
                </a:extLst>
              </a:tr>
            </a:tbl>
          </a:graphicData>
        </a:graphic>
      </p:graphicFrame>
      <p:graphicFrame>
        <p:nvGraphicFramePr>
          <p:cNvPr id="17" name="Table 16">
            <a:extLst>
              <a:ext uri="{FF2B5EF4-FFF2-40B4-BE49-F238E27FC236}">
                <a16:creationId xmlns:a16="http://schemas.microsoft.com/office/drawing/2014/main" id="{C60F3B62-80D0-4C26-AFC9-8E69CF4023B0}"/>
              </a:ext>
            </a:extLst>
          </p:cNvPr>
          <p:cNvGraphicFramePr>
            <a:graphicFrameLocks noGrp="1"/>
          </p:cNvGraphicFramePr>
          <p:nvPr/>
        </p:nvGraphicFramePr>
        <p:xfrm>
          <a:off x="2941320" y="5741551"/>
          <a:ext cx="8887230" cy="253484"/>
        </p:xfrm>
        <a:graphic>
          <a:graphicData uri="http://schemas.openxmlformats.org/drawingml/2006/table">
            <a:tbl>
              <a:tblPr>
                <a:tableStyleId>{5C22544A-7EE6-4342-B048-85BDC9FD1C3A}</a:tableStyleId>
              </a:tblPr>
              <a:tblGrid>
                <a:gridCol w="807930">
                  <a:extLst>
                    <a:ext uri="{9D8B030D-6E8A-4147-A177-3AD203B41FA5}">
                      <a16:colId xmlns:a16="http://schemas.microsoft.com/office/drawing/2014/main" val="2379250083"/>
                    </a:ext>
                  </a:extLst>
                </a:gridCol>
                <a:gridCol w="807930">
                  <a:extLst>
                    <a:ext uri="{9D8B030D-6E8A-4147-A177-3AD203B41FA5}">
                      <a16:colId xmlns:a16="http://schemas.microsoft.com/office/drawing/2014/main" val="3707767684"/>
                    </a:ext>
                  </a:extLst>
                </a:gridCol>
                <a:gridCol w="807930">
                  <a:extLst>
                    <a:ext uri="{9D8B030D-6E8A-4147-A177-3AD203B41FA5}">
                      <a16:colId xmlns:a16="http://schemas.microsoft.com/office/drawing/2014/main" val="2497172989"/>
                    </a:ext>
                  </a:extLst>
                </a:gridCol>
                <a:gridCol w="807930">
                  <a:extLst>
                    <a:ext uri="{9D8B030D-6E8A-4147-A177-3AD203B41FA5}">
                      <a16:colId xmlns:a16="http://schemas.microsoft.com/office/drawing/2014/main" val="848469032"/>
                    </a:ext>
                  </a:extLst>
                </a:gridCol>
                <a:gridCol w="807930">
                  <a:extLst>
                    <a:ext uri="{9D8B030D-6E8A-4147-A177-3AD203B41FA5}">
                      <a16:colId xmlns:a16="http://schemas.microsoft.com/office/drawing/2014/main" val="2303936815"/>
                    </a:ext>
                  </a:extLst>
                </a:gridCol>
                <a:gridCol w="807930">
                  <a:extLst>
                    <a:ext uri="{9D8B030D-6E8A-4147-A177-3AD203B41FA5}">
                      <a16:colId xmlns:a16="http://schemas.microsoft.com/office/drawing/2014/main" val="460349122"/>
                    </a:ext>
                  </a:extLst>
                </a:gridCol>
                <a:gridCol w="807930">
                  <a:extLst>
                    <a:ext uri="{9D8B030D-6E8A-4147-A177-3AD203B41FA5}">
                      <a16:colId xmlns:a16="http://schemas.microsoft.com/office/drawing/2014/main" val="704838673"/>
                    </a:ext>
                  </a:extLst>
                </a:gridCol>
                <a:gridCol w="807930">
                  <a:extLst>
                    <a:ext uri="{9D8B030D-6E8A-4147-A177-3AD203B41FA5}">
                      <a16:colId xmlns:a16="http://schemas.microsoft.com/office/drawing/2014/main" val="2575188808"/>
                    </a:ext>
                  </a:extLst>
                </a:gridCol>
                <a:gridCol w="807930">
                  <a:extLst>
                    <a:ext uri="{9D8B030D-6E8A-4147-A177-3AD203B41FA5}">
                      <a16:colId xmlns:a16="http://schemas.microsoft.com/office/drawing/2014/main" val="2501854814"/>
                    </a:ext>
                  </a:extLst>
                </a:gridCol>
                <a:gridCol w="807930">
                  <a:extLst>
                    <a:ext uri="{9D8B030D-6E8A-4147-A177-3AD203B41FA5}">
                      <a16:colId xmlns:a16="http://schemas.microsoft.com/office/drawing/2014/main" val="2179463999"/>
                    </a:ext>
                  </a:extLst>
                </a:gridCol>
                <a:gridCol w="807930">
                  <a:extLst>
                    <a:ext uri="{9D8B030D-6E8A-4147-A177-3AD203B41FA5}">
                      <a16:colId xmlns:a16="http://schemas.microsoft.com/office/drawing/2014/main" val="1997916844"/>
                    </a:ext>
                  </a:extLst>
                </a:gridCol>
              </a:tblGrid>
              <a:tr h="253484">
                <a:tc>
                  <a:txBody>
                    <a:bodyPr/>
                    <a:lstStyle/>
                    <a:p>
                      <a:pPr algn="ctr" fontAlgn="b"/>
                      <a:r>
                        <a:rPr lang="en-GB" sz="1400" b="0" i="0" u="none" strike="noStrike" dirty="0">
                          <a:solidFill>
                            <a:schemeClr val="bg1">
                              <a:lumMod val="65000"/>
                            </a:schemeClr>
                          </a:solidFill>
                          <a:effectLst/>
                          <a:latin typeface="Calibri" panose="020F0502020204030204" pitchFamily="34" charset="0"/>
                        </a:rPr>
                        <a:t>1456</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681</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775</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170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290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284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210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158</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344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937</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dirty="0">
                          <a:solidFill>
                            <a:schemeClr val="bg1">
                              <a:lumMod val="65000"/>
                            </a:schemeClr>
                          </a:solidFill>
                          <a:effectLst/>
                          <a:latin typeface="Calibri" panose="020F0502020204030204" pitchFamily="34" charset="0"/>
                        </a:rPr>
                        <a:t>519</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09280864"/>
                  </a:ext>
                </a:extLst>
              </a:tr>
            </a:tbl>
          </a:graphicData>
        </a:graphic>
      </p:graphicFrame>
      <p:sp>
        <p:nvSpPr>
          <p:cNvPr id="18" name="TextBox 17">
            <a:extLst>
              <a:ext uri="{FF2B5EF4-FFF2-40B4-BE49-F238E27FC236}">
                <a16:creationId xmlns:a16="http://schemas.microsoft.com/office/drawing/2014/main" id="{0FB716A4-E888-4728-94EF-38124EC5139D}"/>
              </a:ext>
            </a:extLst>
          </p:cNvPr>
          <p:cNvSpPr txBox="1"/>
          <p:nvPr/>
        </p:nvSpPr>
        <p:spPr>
          <a:xfrm>
            <a:off x="312991" y="119838"/>
            <a:ext cx="560567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prstClr val="black"/>
                </a:solidFill>
                <a:latin typeface="Book Antiqua" panose="02040602050305030304" pitchFamily="18" charset="0"/>
                <a:ea typeface="Arial Unicode MS"/>
              </a:rPr>
              <a:t>President</a:t>
            </a:r>
            <a:r>
              <a:rPr kumimoji="0" lang="en-US"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rPr>
              <a:t>’s Performance Rating</a:t>
            </a:r>
          </a:p>
        </p:txBody>
      </p:sp>
    </p:spTree>
    <p:extLst>
      <p:ext uri="{BB962C8B-B14F-4D97-AF65-F5344CB8AC3E}">
        <p14:creationId xmlns:p14="http://schemas.microsoft.com/office/powerpoint/2010/main" val="22876000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Q36. Overall performance where 1 is unsatisfied, 10 is Satisfied, how would you rate the overall performance of the present State Governor of this state?</a:t>
            </a:r>
            <a:endParaRPr lang="en-US" sz="1000" dirty="0">
              <a:latin typeface="Book Antiqua" panose="02040602050305030304" pitchFamily="18" charset="0"/>
            </a:endParaRPr>
          </a:p>
        </p:txBody>
      </p:sp>
      <p:sp>
        <p:nvSpPr>
          <p:cNvPr id="12" name="Rectangle 11">
            <a:extLst>
              <a:ext uri="{FF2B5EF4-FFF2-40B4-BE49-F238E27FC236}">
                <a16:creationId xmlns:a16="http://schemas.microsoft.com/office/drawing/2014/main" id="{B04CE8E3-6477-4704-A018-FD65D74B66D3}"/>
              </a:ext>
            </a:extLst>
          </p:cNvPr>
          <p:cNvSpPr/>
          <p:nvPr/>
        </p:nvSpPr>
        <p:spPr>
          <a:xfrm>
            <a:off x="1743075" y="5695950"/>
            <a:ext cx="421910" cy="369332"/>
          </a:xfrm>
          <a:prstGeom prst="rect">
            <a:avLst/>
          </a:prstGeom>
        </p:spPr>
        <p:txBody>
          <a:bodyPr wrap="none">
            <a:spAutoFit/>
          </a:bodyPr>
          <a:lstStyle/>
          <a:p>
            <a:r>
              <a:rPr lang="en-GB" dirty="0">
                <a:solidFill>
                  <a:srgbClr val="000000"/>
                </a:solidFill>
                <a:latin typeface="Calibri" panose="020F0502020204030204" pitchFamily="34" charset="0"/>
              </a:rPr>
              <a:t>n=</a:t>
            </a:r>
            <a:endParaRPr lang="en-GB" dirty="0"/>
          </a:p>
        </p:txBody>
      </p:sp>
      <p:graphicFrame>
        <p:nvGraphicFramePr>
          <p:cNvPr id="15" name="Chart 14">
            <a:extLst>
              <a:ext uri="{FF2B5EF4-FFF2-40B4-BE49-F238E27FC236}">
                <a16:creationId xmlns:a16="http://schemas.microsoft.com/office/drawing/2014/main" id="{10C7777E-67E6-4555-A948-F505DD2B8009}"/>
              </a:ext>
            </a:extLst>
          </p:cNvPr>
          <p:cNvGraphicFramePr/>
          <p:nvPr>
            <p:extLst>
              <p:ext uri="{D42A27DB-BD31-4B8C-83A1-F6EECF244321}">
                <p14:modId xmlns:p14="http://schemas.microsoft.com/office/powerpoint/2010/main" val="2538247173"/>
              </p:ext>
            </p:extLst>
          </p:nvPr>
        </p:nvGraphicFramePr>
        <p:xfrm>
          <a:off x="379413" y="1884346"/>
          <a:ext cx="11666812" cy="383241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Table 5">
            <a:extLst>
              <a:ext uri="{FF2B5EF4-FFF2-40B4-BE49-F238E27FC236}">
                <a16:creationId xmlns:a16="http://schemas.microsoft.com/office/drawing/2014/main" id="{C87DFAAA-4423-4344-BBCD-FF8051CEE04D}"/>
              </a:ext>
            </a:extLst>
          </p:cNvPr>
          <p:cNvGraphicFramePr>
            <a:graphicFrameLocks noGrp="1"/>
          </p:cNvGraphicFramePr>
          <p:nvPr>
            <p:extLst>
              <p:ext uri="{D42A27DB-BD31-4B8C-83A1-F6EECF244321}">
                <p14:modId xmlns:p14="http://schemas.microsoft.com/office/powerpoint/2010/main" val="1783995018"/>
              </p:ext>
            </p:extLst>
          </p:nvPr>
        </p:nvGraphicFramePr>
        <p:xfrm>
          <a:off x="1565910" y="1508641"/>
          <a:ext cx="10252715" cy="253484"/>
        </p:xfrm>
        <a:graphic>
          <a:graphicData uri="http://schemas.openxmlformats.org/drawingml/2006/table">
            <a:tbl>
              <a:tblPr>
                <a:tableStyleId>{5C22544A-7EE6-4342-B048-85BDC9FD1C3A}</a:tableStyleId>
              </a:tblPr>
              <a:tblGrid>
                <a:gridCol w="1365485">
                  <a:extLst>
                    <a:ext uri="{9D8B030D-6E8A-4147-A177-3AD203B41FA5}">
                      <a16:colId xmlns:a16="http://schemas.microsoft.com/office/drawing/2014/main" val="1601231567"/>
                    </a:ext>
                  </a:extLst>
                </a:gridCol>
                <a:gridCol w="807930">
                  <a:extLst>
                    <a:ext uri="{9D8B030D-6E8A-4147-A177-3AD203B41FA5}">
                      <a16:colId xmlns:a16="http://schemas.microsoft.com/office/drawing/2014/main" val="2379250083"/>
                    </a:ext>
                  </a:extLst>
                </a:gridCol>
                <a:gridCol w="807930">
                  <a:extLst>
                    <a:ext uri="{9D8B030D-6E8A-4147-A177-3AD203B41FA5}">
                      <a16:colId xmlns:a16="http://schemas.microsoft.com/office/drawing/2014/main" val="3707767684"/>
                    </a:ext>
                  </a:extLst>
                </a:gridCol>
                <a:gridCol w="807930">
                  <a:extLst>
                    <a:ext uri="{9D8B030D-6E8A-4147-A177-3AD203B41FA5}">
                      <a16:colId xmlns:a16="http://schemas.microsoft.com/office/drawing/2014/main" val="2497172989"/>
                    </a:ext>
                  </a:extLst>
                </a:gridCol>
                <a:gridCol w="807930">
                  <a:extLst>
                    <a:ext uri="{9D8B030D-6E8A-4147-A177-3AD203B41FA5}">
                      <a16:colId xmlns:a16="http://schemas.microsoft.com/office/drawing/2014/main" val="848469032"/>
                    </a:ext>
                  </a:extLst>
                </a:gridCol>
                <a:gridCol w="807930">
                  <a:extLst>
                    <a:ext uri="{9D8B030D-6E8A-4147-A177-3AD203B41FA5}">
                      <a16:colId xmlns:a16="http://schemas.microsoft.com/office/drawing/2014/main" val="2303936815"/>
                    </a:ext>
                  </a:extLst>
                </a:gridCol>
                <a:gridCol w="807930">
                  <a:extLst>
                    <a:ext uri="{9D8B030D-6E8A-4147-A177-3AD203B41FA5}">
                      <a16:colId xmlns:a16="http://schemas.microsoft.com/office/drawing/2014/main" val="460349122"/>
                    </a:ext>
                  </a:extLst>
                </a:gridCol>
                <a:gridCol w="807930">
                  <a:extLst>
                    <a:ext uri="{9D8B030D-6E8A-4147-A177-3AD203B41FA5}">
                      <a16:colId xmlns:a16="http://schemas.microsoft.com/office/drawing/2014/main" val="704838673"/>
                    </a:ext>
                  </a:extLst>
                </a:gridCol>
                <a:gridCol w="807930">
                  <a:extLst>
                    <a:ext uri="{9D8B030D-6E8A-4147-A177-3AD203B41FA5}">
                      <a16:colId xmlns:a16="http://schemas.microsoft.com/office/drawing/2014/main" val="2575188808"/>
                    </a:ext>
                  </a:extLst>
                </a:gridCol>
                <a:gridCol w="807930">
                  <a:extLst>
                    <a:ext uri="{9D8B030D-6E8A-4147-A177-3AD203B41FA5}">
                      <a16:colId xmlns:a16="http://schemas.microsoft.com/office/drawing/2014/main" val="2501854814"/>
                    </a:ext>
                  </a:extLst>
                </a:gridCol>
                <a:gridCol w="807930">
                  <a:extLst>
                    <a:ext uri="{9D8B030D-6E8A-4147-A177-3AD203B41FA5}">
                      <a16:colId xmlns:a16="http://schemas.microsoft.com/office/drawing/2014/main" val="2179463999"/>
                    </a:ext>
                  </a:extLst>
                </a:gridCol>
                <a:gridCol w="807930">
                  <a:extLst>
                    <a:ext uri="{9D8B030D-6E8A-4147-A177-3AD203B41FA5}">
                      <a16:colId xmlns:a16="http://schemas.microsoft.com/office/drawing/2014/main" val="1997916844"/>
                    </a:ext>
                  </a:extLst>
                </a:gridCol>
              </a:tblGrid>
              <a:tr h="253484">
                <a:tc>
                  <a:txBody>
                    <a:bodyPr/>
                    <a:lstStyle/>
                    <a:p>
                      <a:pPr algn="l" fontAlgn="b"/>
                      <a:r>
                        <a:rPr lang="en-GB" sz="1400" b="1" u="none" strike="noStrike" dirty="0">
                          <a:solidFill>
                            <a:schemeClr val="accent4">
                              <a:lumMod val="75000"/>
                            </a:schemeClr>
                          </a:solidFill>
                          <a:effectLst/>
                        </a:rPr>
                        <a:t>Mean</a:t>
                      </a:r>
                      <a:endParaRPr lang="en-GB" sz="1400" b="1" i="0" u="none" strike="noStrike" dirty="0">
                        <a:solidFill>
                          <a:schemeClr val="accent4">
                            <a:lumMod val="75000"/>
                          </a:schemeClr>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a:solidFill>
                            <a:schemeClr val="accent4">
                              <a:lumMod val="75000"/>
                            </a:schemeClr>
                          </a:solidFill>
                          <a:effectLst/>
                          <a:latin typeface="Calibri" panose="020F0502020204030204" pitchFamily="34" charset="0"/>
                        </a:rPr>
                        <a:t>5.46</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a:solidFill>
                            <a:schemeClr val="accent4">
                              <a:lumMod val="75000"/>
                            </a:schemeClr>
                          </a:solidFill>
                          <a:effectLst/>
                          <a:latin typeface="Calibri" panose="020F0502020204030204" pitchFamily="34" charset="0"/>
                        </a:rPr>
                        <a:t>5.59</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a:solidFill>
                            <a:schemeClr val="accent4">
                              <a:lumMod val="75000"/>
                            </a:schemeClr>
                          </a:solidFill>
                          <a:effectLst/>
                          <a:latin typeface="Calibri" panose="020F0502020204030204" pitchFamily="34" charset="0"/>
                        </a:rPr>
                        <a:t>5.34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a:solidFill>
                            <a:schemeClr val="accent4">
                              <a:lumMod val="75000"/>
                            </a:schemeClr>
                          </a:solidFill>
                          <a:effectLst/>
                          <a:latin typeface="Calibri" panose="020F0502020204030204" pitchFamily="34" charset="0"/>
                        </a:rPr>
                        <a:t>3.19</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a:solidFill>
                            <a:schemeClr val="accent4">
                              <a:lumMod val="75000"/>
                            </a:schemeClr>
                          </a:solidFill>
                          <a:effectLst/>
                          <a:latin typeface="Calibri" panose="020F0502020204030204" pitchFamily="34" charset="0"/>
                        </a:rPr>
                        <a:t>7.52</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a:solidFill>
                            <a:schemeClr val="accent4">
                              <a:lumMod val="75000"/>
                            </a:schemeClr>
                          </a:solidFill>
                          <a:effectLst/>
                          <a:latin typeface="Calibri" panose="020F0502020204030204" pitchFamily="34" charset="0"/>
                        </a:rPr>
                        <a:t>8.39</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a:solidFill>
                            <a:schemeClr val="accent4">
                              <a:lumMod val="75000"/>
                            </a:schemeClr>
                          </a:solidFill>
                          <a:effectLst/>
                          <a:latin typeface="Calibri" panose="020F0502020204030204" pitchFamily="34" charset="0"/>
                        </a:rPr>
                        <a:t>4.3</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a:solidFill>
                            <a:schemeClr val="accent4">
                              <a:lumMod val="75000"/>
                            </a:schemeClr>
                          </a:solidFill>
                          <a:effectLst/>
                          <a:latin typeface="Calibri" panose="020F0502020204030204" pitchFamily="34" charset="0"/>
                        </a:rPr>
                        <a:t>1.74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a:solidFill>
                            <a:schemeClr val="accent4">
                              <a:lumMod val="75000"/>
                            </a:schemeClr>
                          </a:solidFill>
                          <a:effectLst/>
                          <a:latin typeface="Calibri" panose="020F0502020204030204" pitchFamily="34" charset="0"/>
                        </a:rPr>
                        <a:t>4.83</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a:solidFill>
                            <a:schemeClr val="accent4">
                              <a:lumMod val="75000"/>
                            </a:schemeClr>
                          </a:solidFill>
                          <a:effectLst/>
                          <a:latin typeface="Calibri" panose="020F0502020204030204" pitchFamily="34" charset="0"/>
                        </a:rPr>
                        <a:t>5.57</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dirty="0">
                          <a:solidFill>
                            <a:schemeClr val="accent4">
                              <a:lumMod val="75000"/>
                            </a:schemeClr>
                          </a:solidFill>
                          <a:effectLst/>
                          <a:latin typeface="Calibri" panose="020F0502020204030204" pitchFamily="34" charset="0"/>
                        </a:rPr>
                        <a:t>5.26</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09280864"/>
                  </a:ext>
                </a:extLst>
              </a:tr>
            </a:tbl>
          </a:graphicData>
        </a:graphic>
      </p:graphicFrame>
      <p:graphicFrame>
        <p:nvGraphicFramePr>
          <p:cNvPr id="17" name="Table 16">
            <a:extLst>
              <a:ext uri="{FF2B5EF4-FFF2-40B4-BE49-F238E27FC236}">
                <a16:creationId xmlns:a16="http://schemas.microsoft.com/office/drawing/2014/main" id="{C60F3B62-80D0-4C26-AFC9-8E69CF4023B0}"/>
              </a:ext>
            </a:extLst>
          </p:cNvPr>
          <p:cNvGraphicFramePr>
            <a:graphicFrameLocks noGrp="1"/>
          </p:cNvGraphicFramePr>
          <p:nvPr/>
        </p:nvGraphicFramePr>
        <p:xfrm>
          <a:off x="2941320" y="5741551"/>
          <a:ext cx="8887230" cy="253484"/>
        </p:xfrm>
        <a:graphic>
          <a:graphicData uri="http://schemas.openxmlformats.org/drawingml/2006/table">
            <a:tbl>
              <a:tblPr>
                <a:tableStyleId>{5C22544A-7EE6-4342-B048-85BDC9FD1C3A}</a:tableStyleId>
              </a:tblPr>
              <a:tblGrid>
                <a:gridCol w="807930">
                  <a:extLst>
                    <a:ext uri="{9D8B030D-6E8A-4147-A177-3AD203B41FA5}">
                      <a16:colId xmlns:a16="http://schemas.microsoft.com/office/drawing/2014/main" val="2379250083"/>
                    </a:ext>
                  </a:extLst>
                </a:gridCol>
                <a:gridCol w="807930">
                  <a:extLst>
                    <a:ext uri="{9D8B030D-6E8A-4147-A177-3AD203B41FA5}">
                      <a16:colId xmlns:a16="http://schemas.microsoft.com/office/drawing/2014/main" val="3707767684"/>
                    </a:ext>
                  </a:extLst>
                </a:gridCol>
                <a:gridCol w="807930">
                  <a:extLst>
                    <a:ext uri="{9D8B030D-6E8A-4147-A177-3AD203B41FA5}">
                      <a16:colId xmlns:a16="http://schemas.microsoft.com/office/drawing/2014/main" val="2497172989"/>
                    </a:ext>
                  </a:extLst>
                </a:gridCol>
                <a:gridCol w="807930">
                  <a:extLst>
                    <a:ext uri="{9D8B030D-6E8A-4147-A177-3AD203B41FA5}">
                      <a16:colId xmlns:a16="http://schemas.microsoft.com/office/drawing/2014/main" val="848469032"/>
                    </a:ext>
                  </a:extLst>
                </a:gridCol>
                <a:gridCol w="807930">
                  <a:extLst>
                    <a:ext uri="{9D8B030D-6E8A-4147-A177-3AD203B41FA5}">
                      <a16:colId xmlns:a16="http://schemas.microsoft.com/office/drawing/2014/main" val="2303936815"/>
                    </a:ext>
                  </a:extLst>
                </a:gridCol>
                <a:gridCol w="807930">
                  <a:extLst>
                    <a:ext uri="{9D8B030D-6E8A-4147-A177-3AD203B41FA5}">
                      <a16:colId xmlns:a16="http://schemas.microsoft.com/office/drawing/2014/main" val="460349122"/>
                    </a:ext>
                  </a:extLst>
                </a:gridCol>
                <a:gridCol w="807930">
                  <a:extLst>
                    <a:ext uri="{9D8B030D-6E8A-4147-A177-3AD203B41FA5}">
                      <a16:colId xmlns:a16="http://schemas.microsoft.com/office/drawing/2014/main" val="704838673"/>
                    </a:ext>
                  </a:extLst>
                </a:gridCol>
                <a:gridCol w="807930">
                  <a:extLst>
                    <a:ext uri="{9D8B030D-6E8A-4147-A177-3AD203B41FA5}">
                      <a16:colId xmlns:a16="http://schemas.microsoft.com/office/drawing/2014/main" val="2575188808"/>
                    </a:ext>
                  </a:extLst>
                </a:gridCol>
                <a:gridCol w="807930">
                  <a:extLst>
                    <a:ext uri="{9D8B030D-6E8A-4147-A177-3AD203B41FA5}">
                      <a16:colId xmlns:a16="http://schemas.microsoft.com/office/drawing/2014/main" val="2501854814"/>
                    </a:ext>
                  </a:extLst>
                </a:gridCol>
                <a:gridCol w="807930">
                  <a:extLst>
                    <a:ext uri="{9D8B030D-6E8A-4147-A177-3AD203B41FA5}">
                      <a16:colId xmlns:a16="http://schemas.microsoft.com/office/drawing/2014/main" val="2179463999"/>
                    </a:ext>
                  </a:extLst>
                </a:gridCol>
                <a:gridCol w="807930">
                  <a:extLst>
                    <a:ext uri="{9D8B030D-6E8A-4147-A177-3AD203B41FA5}">
                      <a16:colId xmlns:a16="http://schemas.microsoft.com/office/drawing/2014/main" val="1997916844"/>
                    </a:ext>
                  </a:extLst>
                </a:gridCol>
              </a:tblGrid>
              <a:tr h="253484">
                <a:tc>
                  <a:txBody>
                    <a:bodyPr/>
                    <a:lstStyle/>
                    <a:p>
                      <a:pPr algn="ctr" fontAlgn="b"/>
                      <a:r>
                        <a:rPr lang="en-GB" sz="1400" b="0" i="0" u="none" strike="noStrike" dirty="0">
                          <a:solidFill>
                            <a:schemeClr val="bg1">
                              <a:lumMod val="65000"/>
                            </a:schemeClr>
                          </a:solidFill>
                          <a:effectLst/>
                          <a:latin typeface="Calibri" panose="020F0502020204030204" pitchFamily="34" charset="0"/>
                        </a:rPr>
                        <a:t>1456</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681</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775</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170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290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284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210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158</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344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937</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dirty="0">
                          <a:solidFill>
                            <a:schemeClr val="bg1">
                              <a:lumMod val="65000"/>
                            </a:schemeClr>
                          </a:solidFill>
                          <a:effectLst/>
                          <a:latin typeface="Calibri" panose="020F0502020204030204" pitchFamily="34" charset="0"/>
                        </a:rPr>
                        <a:t>519</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09280864"/>
                  </a:ext>
                </a:extLst>
              </a:tr>
            </a:tbl>
          </a:graphicData>
        </a:graphic>
      </p:graphicFrame>
      <p:sp>
        <p:nvSpPr>
          <p:cNvPr id="9" name="TextBox 8">
            <a:extLst>
              <a:ext uri="{FF2B5EF4-FFF2-40B4-BE49-F238E27FC236}">
                <a16:creationId xmlns:a16="http://schemas.microsoft.com/office/drawing/2014/main" id="{27AF4090-94AF-43F7-8E38-E0FA6515B2B4}"/>
              </a:ext>
            </a:extLst>
          </p:cNvPr>
          <p:cNvSpPr txBox="1"/>
          <p:nvPr/>
        </p:nvSpPr>
        <p:spPr>
          <a:xfrm>
            <a:off x="312991" y="119838"/>
            <a:ext cx="560567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rPr>
              <a:t>Governor’s Performance Rating</a:t>
            </a:r>
          </a:p>
        </p:txBody>
      </p:sp>
    </p:spTree>
    <p:extLst>
      <p:ext uri="{BB962C8B-B14F-4D97-AF65-F5344CB8AC3E}">
        <p14:creationId xmlns:p14="http://schemas.microsoft.com/office/powerpoint/2010/main" val="5855961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Q37. Overall performance where 1 is unsatisfied, 10 is Satisfied, how would you rate the overall performance of the Senator of the senatorial district where you live?</a:t>
            </a:r>
            <a:endParaRPr lang="en-US" sz="1000" dirty="0">
              <a:latin typeface="Book Antiqua" panose="02040602050305030304" pitchFamily="18" charset="0"/>
            </a:endParaRPr>
          </a:p>
        </p:txBody>
      </p:sp>
      <p:sp>
        <p:nvSpPr>
          <p:cNvPr id="5" name="TextBox 4">
            <a:extLst>
              <a:ext uri="{FF2B5EF4-FFF2-40B4-BE49-F238E27FC236}">
                <a16:creationId xmlns:a16="http://schemas.microsoft.com/office/drawing/2014/main" id="{55F5642B-83A0-CD7B-E2BA-8E492D002397}"/>
              </a:ext>
            </a:extLst>
          </p:cNvPr>
          <p:cNvSpPr txBox="1"/>
          <p:nvPr/>
        </p:nvSpPr>
        <p:spPr>
          <a:xfrm>
            <a:off x="312991" y="119838"/>
            <a:ext cx="560567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rPr>
              <a:t>Senator’s Performance Rating</a:t>
            </a:r>
          </a:p>
        </p:txBody>
      </p:sp>
      <p:sp>
        <p:nvSpPr>
          <p:cNvPr id="12" name="Rectangle 11">
            <a:extLst>
              <a:ext uri="{FF2B5EF4-FFF2-40B4-BE49-F238E27FC236}">
                <a16:creationId xmlns:a16="http://schemas.microsoft.com/office/drawing/2014/main" id="{B04CE8E3-6477-4704-A018-FD65D74B66D3}"/>
              </a:ext>
            </a:extLst>
          </p:cNvPr>
          <p:cNvSpPr/>
          <p:nvPr/>
        </p:nvSpPr>
        <p:spPr>
          <a:xfrm>
            <a:off x="1743075" y="5695950"/>
            <a:ext cx="421910" cy="369332"/>
          </a:xfrm>
          <a:prstGeom prst="rect">
            <a:avLst/>
          </a:prstGeom>
        </p:spPr>
        <p:txBody>
          <a:bodyPr wrap="none">
            <a:spAutoFit/>
          </a:bodyPr>
          <a:lstStyle/>
          <a:p>
            <a:r>
              <a:rPr lang="en-GB" dirty="0">
                <a:solidFill>
                  <a:srgbClr val="000000"/>
                </a:solidFill>
                <a:latin typeface="Calibri" panose="020F0502020204030204" pitchFamily="34" charset="0"/>
              </a:rPr>
              <a:t>n=</a:t>
            </a:r>
            <a:endParaRPr lang="en-GB" dirty="0"/>
          </a:p>
        </p:txBody>
      </p:sp>
      <p:graphicFrame>
        <p:nvGraphicFramePr>
          <p:cNvPr id="15" name="Chart 14">
            <a:extLst>
              <a:ext uri="{FF2B5EF4-FFF2-40B4-BE49-F238E27FC236}">
                <a16:creationId xmlns:a16="http://schemas.microsoft.com/office/drawing/2014/main" id="{10C7777E-67E6-4555-A948-F505DD2B8009}"/>
              </a:ext>
            </a:extLst>
          </p:cNvPr>
          <p:cNvGraphicFramePr/>
          <p:nvPr>
            <p:extLst>
              <p:ext uri="{D42A27DB-BD31-4B8C-83A1-F6EECF244321}">
                <p14:modId xmlns:p14="http://schemas.microsoft.com/office/powerpoint/2010/main" val="1099913549"/>
              </p:ext>
            </p:extLst>
          </p:nvPr>
        </p:nvGraphicFramePr>
        <p:xfrm>
          <a:off x="379413" y="1884346"/>
          <a:ext cx="11666812" cy="383241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Table 5">
            <a:extLst>
              <a:ext uri="{FF2B5EF4-FFF2-40B4-BE49-F238E27FC236}">
                <a16:creationId xmlns:a16="http://schemas.microsoft.com/office/drawing/2014/main" id="{C87DFAAA-4423-4344-BBCD-FF8051CEE04D}"/>
              </a:ext>
            </a:extLst>
          </p:cNvPr>
          <p:cNvGraphicFramePr>
            <a:graphicFrameLocks noGrp="1"/>
          </p:cNvGraphicFramePr>
          <p:nvPr>
            <p:extLst>
              <p:ext uri="{D42A27DB-BD31-4B8C-83A1-F6EECF244321}">
                <p14:modId xmlns:p14="http://schemas.microsoft.com/office/powerpoint/2010/main" val="4293013614"/>
              </p:ext>
            </p:extLst>
          </p:nvPr>
        </p:nvGraphicFramePr>
        <p:xfrm>
          <a:off x="1565910" y="1508641"/>
          <a:ext cx="10252715" cy="253484"/>
        </p:xfrm>
        <a:graphic>
          <a:graphicData uri="http://schemas.openxmlformats.org/drawingml/2006/table">
            <a:tbl>
              <a:tblPr>
                <a:tableStyleId>{5C22544A-7EE6-4342-B048-85BDC9FD1C3A}</a:tableStyleId>
              </a:tblPr>
              <a:tblGrid>
                <a:gridCol w="1365485">
                  <a:extLst>
                    <a:ext uri="{9D8B030D-6E8A-4147-A177-3AD203B41FA5}">
                      <a16:colId xmlns:a16="http://schemas.microsoft.com/office/drawing/2014/main" val="1601231567"/>
                    </a:ext>
                  </a:extLst>
                </a:gridCol>
                <a:gridCol w="807930">
                  <a:extLst>
                    <a:ext uri="{9D8B030D-6E8A-4147-A177-3AD203B41FA5}">
                      <a16:colId xmlns:a16="http://schemas.microsoft.com/office/drawing/2014/main" val="2379250083"/>
                    </a:ext>
                  </a:extLst>
                </a:gridCol>
                <a:gridCol w="807930">
                  <a:extLst>
                    <a:ext uri="{9D8B030D-6E8A-4147-A177-3AD203B41FA5}">
                      <a16:colId xmlns:a16="http://schemas.microsoft.com/office/drawing/2014/main" val="3707767684"/>
                    </a:ext>
                  </a:extLst>
                </a:gridCol>
                <a:gridCol w="807930">
                  <a:extLst>
                    <a:ext uri="{9D8B030D-6E8A-4147-A177-3AD203B41FA5}">
                      <a16:colId xmlns:a16="http://schemas.microsoft.com/office/drawing/2014/main" val="2497172989"/>
                    </a:ext>
                  </a:extLst>
                </a:gridCol>
                <a:gridCol w="807930">
                  <a:extLst>
                    <a:ext uri="{9D8B030D-6E8A-4147-A177-3AD203B41FA5}">
                      <a16:colId xmlns:a16="http://schemas.microsoft.com/office/drawing/2014/main" val="848469032"/>
                    </a:ext>
                  </a:extLst>
                </a:gridCol>
                <a:gridCol w="807930">
                  <a:extLst>
                    <a:ext uri="{9D8B030D-6E8A-4147-A177-3AD203B41FA5}">
                      <a16:colId xmlns:a16="http://schemas.microsoft.com/office/drawing/2014/main" val="2303936815"/>
                    </a:ext>
                  </a:extLst>
                </a:gridCol>
                <a:gridCol w="807930">
                  <a:extLst>
                    <a:ext uri="{9D8B030D-6E8A-4147-A177-3AD203B41FA5}">
                      <a16:colId xmlns:a16="http://schemas.microsoft.com/office/drawing/2014/main" val="460349122"/>
                    </a:ext>
                  </a:extLst>
                </a:gridCol>
                <a:gridCol w="807930">
                  <a:extLst>
                    <a:ext uri="{9D8B030D-6E8A-4147-A177-3AD203B41FA5}">
                      <a16:colId xmlns:a16="http://schemas.microsoft.com/office/drawing/2014/main" val="704838673"/>
                    </a:ext>
                  </a:extLst>
                </a:gridCol>
                <a:gridCol w="807930">
                  <a:extLst>
                    <a:ext uri="{9D8B030D-6E8A-4147-A177-3AD203B41FA5}">
                      <a16:colId xmlns:a16="http://schemas.microsoft.com/office/drawing/2014/main" val="2575188808"/>
                    </a:ext>
                  </a:extLst>
                </a:gridCol>
                <a:gridCol w="807930">
                  <a:extLst>
                    <a:ext uri="{9D8B030D-6E8A-4147-A177-3AD203B41FA5}">
                      <a16:colId xmlns:a16="http://schemas.microsoft.com/office/drawing/2014/main" val="2501854814"/>
                    </a:ext>
                  </a:extLst>
                </a:gridCol>
                <a:gridCol w="807930">
                  <a:extLst>
                    <a:ext uri="{9D8B030D-6E8A-4147-A177-3AD203B41FA5}">
                      <a16:colId xmlns:a16="http://schemas.microsoft.com/office/drawing/2014/main" val="2179463999"/>
                    </a:ext>
                  </a:extLst>
                </a:gridCol>
                <a:gridCol w="807930">
                  <a:extLst>
                    <a:ext uri="{9D8B030D-6E8A-4147-A177-3AD203B41FA5}">
                      <a16:colId xmlns:a16="http://schemas.microsoft.com/office/drawing/2014/main" val="1997916844"/>
                    </a:ext>
                  </a:extLst>
                </a:gridCol>
              </a:tblGrid>
              <a:tr h="253484">
                <a:tc>
                  <a:txBody>
                    <a:bodyPr/>
                    <a:lstStyle/>
                    <a:p>
                      <a:pPr algn="l" fontAlgn="b"/>
                      <a:r>
                        <a:rPr lang="en-GB" sz="1400" b="1" u="none" strike="noStrike" dirty="0">
                          <a:solidFill>
                            <a:schemeClr val="accent4">
                              <a:lumMod val="75000"/>
                            </a:schemeClr>
                          </a:solidFill>
                          <a:effectLst/>
                        </a:rPr>
                        <a:t>Mean</a:t>
                      </a:r>
                      <a:endParaRPr lang="en-GB" sz="1400" b="1" i="0" u="none" strike="noStrike" dirty="0">
                        <a:solidFill>
                          <a:schemeClr val="accent4">
                            <a:lumMod val="75000"/>
                          </a:schemeClr>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dirty="0">
                          <a:solidFill>
                            <a:schemeClr val="accent4">
                              <a:lumMod val="75000"/>
                            </a:schemeClr>
                          </a:solidFill>
                          <a:effectLst/>
                          <a:latin typeface="Calibri" panose="020F0502020204030204" pitchFamily="34" charset="0"/>
                        </a:rPr>
                        <a:t>3.45</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dirty="0">
                          <a:solidFill>
                            <a:schemeClr val="accent4">
                              <a:lumMod val="75000"/>
                            </a:schemeClr>
                          </a:solidFill>
                          <a:effectLst/>
                          <a:latin typeface="Calibri" panose="020F0502020204030204" pitchFamily="34" charset="0"/>
                        </a:rPr>
                        <a:t>3.54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dirty="0">
                          <a:solidFill>
                            <a:schemeClr val="accent4">
                              <a:lumMod val="75000"/>
                            </a:schemeClr>
                          </a:solidFill>
                          <a:effectLst/>
                          <a:latin typeface="Calibri" panose="020F0502020204030204" pitchFamily="34" charset="0"/>
                        </a:rPr>
                        <a:t>3.37</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dirty="0">
                          <a:solidFill>
                            <a:schemeClr val="accent4">
                              <a:lumMod val="75000"/>
                            </a:schemeClr>
                          </a:solidFill>
                          <a:effectLst/>
                          <a:latin typeface="Calibri" panose="020F0502020204030204" pitchFamily="34" charset="0"/>
                        </a:rPr>
                        <a:t>2.99</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dirty="0">
                          <a:solidFill>
                            <a:schemeClr val="accent4">
                              <a:lumMod val="75000"/>
                            </a:schemeClr>
                          </a:solidFill>
                          <a:effectLst/>
                          <a:latin typeface="Calibri" panose="020F0502020204030204" pitchFamily="34" charset="0"/>
                        </a:rPr>
                        <a:t>2.96</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dirty="0">
                          <a:solidFill>
                            <a:schemeClr val="accent4">
                              <a:lumMod val="75000"/>
                            </a:schemeClr>
                          </a:solidFill>
                          <a:effectLst/>
                          <a:latin typeface="Calibri" panose="020F0502020204030204" pitchFamily="34" charset="0"/>
                        </a:rPr>
                        <a:t>4.86</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dirty="0">
                          <a:solidFill>
                            <a:schemeClr val="accent4">
                              <a:lumMod val="75000"/>
                            </a:schemeClr>
                          </a:solidFill>
                          <a:effectLst/>
                          <a:latin typeface="Calibri" panose="020F0502020204030204" pitchFamily="34" charset="0"/>
                        </a:rPr>
                        <a:t>2.98</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dirty="0">
                          <a:solidFill>
                            <a:schemeClr val="accent4">
                              <a:lumMod val="75000"/>
                            </a:schemeClr>
                          </a:solidFill>
                          <a:effectLst/>
                          <a:latin typeface="Calibri" panose="020F0502020204030204" pitchFamily="34" charset="0"/>
                        </a:rPr>
                        <a:t>1.82</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dirty="0">
                          <a:solidFill>
                            <a:schemeClr val="accent4">
                              <a:lumMod val="75000"/>
                            </a:schemeClr>
                          </a:solidFill>
                          <a:effectLst/>
                          <a:latin typeface="Calibri" panose="020F0502020204030204" pitchFamily="34" charset="0"/>
                        </a:rPr>
                        <a:t>4.02</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dirty="0">
                          <a:solidFill>
                            <a:schemeClr val="accent4">
                              <a:lumMod val="75000"/>
                            </a:schemeClr>
                          </a:solidFill>
                          <a:effectLst/>
                          <a:latin typeface="Calibri" panose="020F0502020204030204" pitchFamily="34" charset="0"/>
                        </a:rPr>
                        <a:t>3.5</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dirty="0">
                          <a:solidFill>
                            <a:schemeClr val="accent4">
                              <a:lumMod val="75000"/>
                            </a:schemeClr>
                          </a:solidFill>
                          <a:effectLst/>
                          <a:latin typeface="Calibri" panose="020F0502020204030204" pitchFamily="34" charset="0"/>
                        </a:rPr>
                        <a:t>3.36</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09280864"/>
                  </a:ext>
                </a:extLst>
              </a:tr>
            </a:tbl>
          </a:graphicData>
        </a:graphic>
      </p:graphicFrame>
      <p:graphicFrame>
        <p:nvGraphicFramePr>
          <p:cNvPr id="17" name="Table 16">
            <a:extLst>
              <a:ext uri="{FF2B5EF4-FFF2-40B4-BE49-F238E27FC236}">
                <a16:creationId xmlns:a16="http://schemas.microsoft.com/office/drawing/2014/main" id="{C60F3B62-80D0-4C26-AFC9-8E69CF4023B0}"/>
              </a:ext>
            </a:extLst>
          </p:cNvPr>
          <p:cNvGraphicFramePr>
            <a:graphicFrameLocks noGrp="1"/>
          </p:cNvGraphicFramePr>
          <p:nvPr/>
        </p:nvGraphicFramePr>
        <p:xfrm>
          <a:off x="2941320" y="5741551"/>
          <a:ext cx="8887230" cy="253484"/>
        </p:xfrm>
        <a:graphic>
          <a:graphicData uri="http://schemas.openxmlformats.org/drawingml/2006/table">
            <a:tbl>
              <a:tblPr>
                <a:tableStyleId>{5C22544A-7EE6-4342-B048-85BDC9FD1C3A}</a:tableStyleId>
              </a:tblPr>
              <a:tblGrid>
                <a:gridCol w="807930">
                  <a:extLst>
                    <a:ext uri="{9D8B030D-6E8A-4147-A177-3AD203B41FA5}">
                      <a16:colId xmlns:a16="http://schemas.microsoft.com/office/drawing/2014/main" val="2379250083"/>
                    </a:ext>
                  </a:extLst>
                </a:gridCol>
                <a:gridCol w="807930">
                  <a:extLst>
                    <a:ext uri="{9D8B030D-6E8A-4147-A177-3AD203B41FA5}">
                      <a16:colId xmlns:a16="http://schemas.microsoft.com/office/drawing/2014/main" val="3707767684"/>
                    </a:ext>
                  </a:extLst>
                </a:gridCol>
                <a:gridCol w="807930">
                  <a:extLst>
                    <a:ext uri="{9D8B030D-6E8A-4147-A177-3AD203B41FA5}">
                      <a16:colId xmlns:a16="http://schemas.microsoft.com/office/drawing/2014/main" val="2497172989"/>
                    </a:ext>
                  </a:extLst>
                </a:gridCol>
                <a:gridCol w="807930">
                  <a:extLst>
                    <a:ext uri="{9D8B030D-6E8A-4147-A177-3AD203B41FA5}">
                      <a16:colId xmlns:a16="http://schemas.microsoft.com/office/drawing/2014/main" val="848469032"/>
                    </a:ext>
                  </a:extLst>
                </a:gridCol>
                <a:gridCol w="807930">
                  <a:extLst>
                    <a:ext uri="{9D8B030D-6E8A-4147-A177-3AD203B41FA5}">
                      <a16:colId xmlns:a16="http://schemas.microsoft.com/office/drawing/2014/main" val="2303936815"/>
                    </a:ext>
                  </a:extLst>
                </a:gridCol>
                <a:gridCol w="807930">
                  <a:extLst>
                    <a:ext uri="{9D8B030D-6E8A-4147-A177-3AD203B41FA5}">
                      <a16:colId xmlns:a16="http://schemas.microsoft.com/office/drawing/2014/main" val="460349122"/>
                    </a:ext>
                  </a:extLst>
                </a:gridCol>
                <a:gridCol w="807930">
                  <a:extLst>
                    <a:ext uri="{9D8B030D-6E8A-4147-A177-3AD203B41FA5}">
                      <a16:colId xmlns:a16="http://schemas.microsoft.com/office/drawing/2014/main" val="704838673"/>
                    </a:ext>
                  </a:extLst>
                </a:gridCol>
                <a:gridCol w="807930">
                  <a:extLst>
                    <a:ext uri="{9D8B030D-6E8A-4147-A177-3AD203B41FA5}">
                      <a16:colId xmlns:a16="http://schemas.microsoft.com/office/drawing/2014/main" val="2575188808"/>
                    </a:ext>
                  </a:extLst>
                </a:gridCol>
                <a:gridCol w="807930">
                  <a:extLst>
                    <a:ext uri="{9D8B030D-6E8A-4147-A177-3AD203B41FA5}">
                      <a16:colId xmlns:a16="http://schemas.microsoft.com/office/drawing/2014/main" val="2501854814"/>
                    </a:ext>
                  </a:extLst>
                </a:gridCol>
                <a:gridCol w="807930">
                  <a:extLst>
                    <a:ext uri="{9D8B030D-6E8A-4147-A177-3AD203B41FA5}">
                      <a16:colId xmlns:a16="http://schemas.microsoft.com/office/drawing/2014/main" val="2179463999"/>
                    </a:ext>
                  </a:extLst>
                </a:gridCol>
                <a:gridCol w="807930">
                  <a:extLst>
                    <a:ext uri="{9D8B030D-6E8A-4147-A177-3AD203B41FA5}">
                      <a16:colId xmlns:a16="http://schemas.microsoft.com/office/drawing/2014/main" val="1997916844"/>
                    </a:ext>
                  </a:extLst>
                </a:gridCol>
              </a:tblGrid>
              <a:tr h="253484">
                <a:tc>
                  <a:txBody>
                    <a:bodyPr/>
                    <a:lstStyle/>
                    <a:p>
                      <a:pPr algn="ctr" fontAlgn="b"/>
                      <a:r>
                        <a:rPr lang="en-GB" sz="1400" b="0" i="0" u="none" strike="noStrike" dirty="0">
                          <a:solidFill>
                            <a:schemeClr val="bg1">
                              <a:lumMod val="65000"/>
                            </a:schemeClr>
                          </a:solidFill>
                          <a:effectLst/>
                          <a:latin typeface="Calibri" panose="020F0502020204030204" pitchFamily="34" charset="0"/>
                        </a:rPr>
                        <a:t>1456</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681</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775</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170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290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284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210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158</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344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937</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dirty="0">
                          <a:solidFill>
                            <a:schemeClr val="bg1">
                              <a:lumMod val="65000"/>
                            </a:schemeClr>
                          </a:solidFill>
                          <a:effectLst/>
                          <a:latin typeface="Calibri" panose="020F0502020204030204" pitchFamily="34" charset="0"/>
                        </a:rPr>
                        <a:t>519</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09280864"/>
                  </a:ext>
                </a:extLst>
              </a:tr>
            </a:tbl>
          </a:graphicData>
        </a:graphic>
      </p:graphicFrame>
    </p:spTree>
    <p:extLst>
      <p:ext uri="{BB962C8B-B14F-4D97-AF65-F5344CB8AC3E}">
        <p14:creationId xmlns:p14="http://schemas.microsoft.com/office/powerpoint/2010/main" val="13364323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Q38. Overall performance where 1 is unsatisfied 10 Satisfied, how would you rate the overall performance of the House of Representatives member of the constituency where you live in?</a:t>
            </a:r>
            <a:endParaRPr lang="en-US" sz="1000" dirty="0">
              <a:latin typeface="Book Antiqua" panose="02040602050305030304" pitchFamily="18" charset="0"/>
            </a:endParaRPr>
          </a:p>
        </p:txBody>
      </p:sp>
      <p:sp>
        <p:nvSpPr>
          <p:cNvPr id="5" name="TextBox 4">
            <a:extLst>
              <a:ext uri="{FF2B5EF4-FFF2-40B4-BE49-F238E27FC236}">
                <a16:creationId xmlns:a16="http://schemas.microsoft.com/office/drawing/2014/main" id="{55F5642B-83A0-CD7B-E2BA-8E492D002397}"/>
              </a:ext>
            </a:extLst>
          </p:cNvPr>
          <p:cNvSpPr txBox="1"/>
          <p:nvPr/>
        </p:nvSpPr>
        <p:spPr>
          <a:xfrm>
            <a:off x="312990" y="119838"/>
            <a:ext cx="6310833" cy="369332"/>
          </a:xfrm>
          <a:prstGeom prst="rect">
            <a:avLst/>
          </a:prstGeom>
          <a:noFill/>
        </p:spPr>
        <p:txBody>
          <a:bodyPr wrap="square" rtlCol="0">
            <a:spAutoFit/>
          </a:bodyPr>
          <a:lstStyle/>
          <a:p>
            <a:pPr lvl="0">
              <a:defRPr/>
            </a:pPr>
            <a:r>
              <a:rPr lang="en-US" b="1" dirty="0">
                <a:solidFill>
                  <a:prstClr val="black"/>
                </a:solidFill>
                <a:latin typeface="Book Antiqua" panose="02040602050305030304" pitchFamily="18" charset="0"/>
                <a:ea typeface="Arial Unicode MS"/>
              </a:rPr>
              <a:t>House of Representatives Member’s </a:t>
            </a:r>
            <a:r>
              <a:rPr kumimoji="0" lang="en-US"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rPr>
              <a:t>Performance Rating</a:t>
            </a:r>
          </a:p>
        </p:txBody>
      </p:sp>
      <p:sp>
        <p:nvSpPr>
          <p:cNvPr id="12" name="Rectangle 11">
            <a:extLst>
              <a:ext uri="{FF2B5EF4-FFF2-40B4-BE49-F238E27FC236}">
                <a16:creationId xmlns:a16="http://schemas.microsoft.com/office/drawing/2014/main" id="{B04CE8E3-6477-4704-A018-FD65D74B66D3}"/>
              </a:ext>
            </a:extLst>
          </p:cNvPr>
          <p:cNvSpPr/>
          <p:nvPr/>
        </p:nvSpPr>
        <p:spPr>
          <a:xfrm>
            <a:off x="1743075" y="5695950"/>
            <a:ext cx="421910" cy="369332"/>
          </a:xfrm>
          <a:prstGeom prst="rect">
            <a:avLst/>
          </a:prstGeom>
        </p:spPr>
        <p:txBody>
          <a:bodyPr wrap="none">
            <a:spAutoFit/>
          </a:bodyPr>
          <a:lstStyle/>
          <a:p>
            <a:r>
              <a:rPr lang="en-GB" dirty="0">
                <a:solidFill>
                  <a:srgbClr val="000000"/>
                </a:solidFill>
                <a:latin typeface="Calibri" panose="020F0502020204030204" pitchFamily="34" charset="0"/>
              </a:rPr>
              <a:t>n=</a:t>
            </a:r>
            <a:endParaRPr lang="en-GB" dirty="0"/>
          </a:p>
        </p:txBody>
      </p:sp>
      <p:graphicFrame>
        <p:nvGraphicFramePr>
          <p:cNvPr id="15" name="Chart 14">
            <a:extLst>
              <a:ext uri="{FF2B5EF4-FFF2-40B4-BE49-F238E27FC236}">
                <a16:creationId xmlns:a16="http://schemas.microsoft.com/office/drawing/2014/main" id="{10C7777E-67E6-4555-A948-F505DD2B8009}"/>
              </a:ext>
            </a:extLst>
          </p:cNvPr>
          <p:cNvGraphicFramePr/>
          <p:nvPr>
            <p:extLst>
              <p:ext uri="{D42A27DB-BD31-4B8C-83A1-F6EECF244321}">
                <p14:modId xmlns:p14="http://schemas.microsoft.com/office/powerpoint/2010/main" val="1904748310"/>
              </p:ext>
            </p:extLst>
          </p:nvPr>
        </p:nvGraphicFramePr>
        <p:xfrm>
          <a:off x="379413" y="1884346"/>
          <a:ext cx="11666812" cy="383241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Table 5">
            <a:extLst>
              <a:ext uri="{FF2B5EF4-FFF2-40B4-BE49-F238E27FC236}">
                <a16:creationId xmlns:a16="http://schemas.microsoft.com/office/drawing/2014/main" id="{C87DFAAA-4423-4344-BBCD-FF8051CEE04D}"/>
              </a:ext>
            </a:extLst>
          </p:cNvPr>
          <p:cNvGraphicFramePr>
            <a:graphicFrameLocks noGrp="1"/>
          </p:cNvGraphicFramePr>
          <p:nvPr>
            <p:extLst>
              <p:ext uri="{D42A27DB-BD31-4B8C-83A1-F6EECF244321}">
                <p14:modId xmlns:p14="http://schemas.microsoft.com/office/powerpoint/2010/main" val="654114080"/>
              </p:ext>
            </p:extLst>
          </p:nvPr>
        </p:nvGraphicFramePr>
        <p:xfrm>
          <a:off x="1565910" y="1508641"/>
          <a:ext cx="10252715" cy="253484"/>
        </p:xfrm>
        <a:graphic>
          <a:graphicData uri="http://schemas.openxmlformats.org/drawingml/2006/table">
            <a:tbl>
              <a:tblPr>
                <a:tableStyleId>{5C22544A-7EE6-4342-B048-85BDC9FD1C3A}</a:tableStyleId>
              </a:tblPr>
              <a:tblGrid>
                <a:gridCol w="1365485">
                  <a:extLst>
                    <a:ext uri="{9D8B030D-6E8A-4147-A177-3AD203B41FA5}">
                      <a16:colId xmlns:a16="http://schemas.microsoft.com/office/drawing/2014/main" val="1601231567"/>
                    </a:ext>
                  </a:extLst>
                </a:gridCol>
                <a:gridCol w="807930">
                  <a:extLst>
                    <a:ext uri="{9D8B030D-6E8A-4147-A177-3AD203B41FA5}">
                      <a16:colId xmlns:a16="http://schemas.microsoft.com/office/drawing/2014/main" val="2379250083"/>
                    </a:ext>
                  </a:extLst>
                </a:gridCol>
                <a:gridCol w="807930">
                  <a:extLst>
                    <a:ext uri="{9D8B030D-6E8A-4147-A177-3AD203B41FA5}">
                      <a16:colId xmlns:a16="http://schemas.microsoft.com/office/drawing/2014/main" val="3707767684"/>
                    </a:ext>
                  </a:extLst>
                </a:gridCol>
                <a:gridCol w="807930">
                  <a:extLst>
                    <a:ext uri="{9D8B030D-6E8A-4147-A177-3AD203B41FA5}">
                      <a16:colId xmlns:a16="http://schemas.microsoft.com/office/drawing/2014/main" val="2497172989"/>
                    </a:ext>
                  </a:extLst>
                </a:gridCol>
                <a:gridCol w="807930">
                  <a:extLst>
                    <a:ext uri="{9D8B030D-6E8A-4147-A177-3AD203B41FA5}">
                      <a16:colId xmlns:a16="http://schemas.microsoft.com/office/drawing/2014/main" val="848469032"/>
                    </a:ext>
                  </a:extLst>
                </a:gridCol>
                <a:gridCol w="807930">
                  <a:extLst>
                    <a:ext uri="{9D8B030D-6E8A-4147-A177-3AD203B41FA5}">
                      <a16:colId xmlns:a16="http://schemas.microsoft.com/office/drawing/2014/main" val="2303936815"/>
                    </a:ext>
                  </a:extLst>
                </a:gridCol>
                <a:gridCol w="807930">
                  <a:extLst>
                    <a:ext uri="{9D8B030D-6E8A-4147-A177-3AD203B41FA5}">
                      <a16:colId xmlns:a16="http://schemas.microsoft.com/office/drawing/2014/main" val="460349122"/>
                    </a:ext>
                  </a:extLst>
                </a:gridCol>
                <a:gridCol w="807930">
                  <a:extLst>
                    <a:ext uri="{9D8B030D-6E8A-4147-A177-3AD203B41FA5}">
                      <a16:colId xmlns:a16="http://schemas.microsoft.com/office/drawing/2014/main" val="704838673"/>
                    </a:ext>
                  </a:extLst>
                </a:gridCol>
                <a:gridCol w="807930">
                  <a:extLst>
                    <a:ext uri="{9D8B030D-6E8A-4147-A177-3AD203B41FA5}">
                      <a16:colId xmlns:a16="http://schemas.microsoft.com/office/drawing/2014/main" val="2575188808"/>
                    </a:ext>
                  </a:extLst>
                </a:gridCol>
                <a:gridCol w="807930">
                  <a:extLst>
                    <a:ext uri="{9D8B030D-6E8A-4147-A177-3AD203B41FA5}">
                      <a16:colId xmlns:a16="http://schemas.microsoft.com/office/drawing/2014/main" val="2501854814"/>
                    </a:ext>
                  </a:extLst>
                </a:gridCol>
                <a:gridCol w="807930">
                  <a:extLst>
                    <a:ext uri="{9D8B030D-6E8A-4147-A177-3AD203B41FA5}">
                      <a16:colId xmlns:a16="http://schemas.microsoft.com/office/drawing/2014/main" val="2179463999"/>
                    </a:ext>
                  </a:extLst>
                </a:gridCol>
                <a:gridCol w="807930">
                  <a:extLst>
                    <a:ext uri="{9D8B030D-6E8A-4147-A177-3AD203B41FA5}">
                      <a16:colId xmlns:a16="http://schemas.microsoft.com/office/drawing/2014/main" val="1997916844"/>
                    </a:ext>
                  </a:extLst>
                </a:gridCol>
              </a:tblGrid>
              <a:tr h="253484">
                <a:tc>
                  <a:txBody>
                    <a:bodyPr/>
                    <a:lstStyle/>
                    <a:p>
                      <a:pPr algn="l" fontAlgn="b"/>
                      <a:r>
                        <a:rPr lang="en-GB" sz="1400" b="1" u="none" strike="noStrike" dirty="0">
                          <a:solidFill>
                            <a:schemeClr val="accent4">
                              <a:lumMod val="75000"/>
                            </a:schemeClr>
                          </a:solidFill>
                          <a:effectLst/>
                        </a:rPr>
                        <a:t>Mean</a:t>
                      </a:r>
                      <a:endParaRPr lang="en-GB" sz="1400" b="1" i="0" u="none" strike="noStrike" dirty="0">
                        <a:solidFill>
                          <a:schemeClr val="accent4">
                            <a:lumMod val="75000"/>
                          </a:schemeClr>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dirty="0">
                          <a:solidFill>
                            <a:schemeClr val="accent4">
                              <a:lumMod val="75000"/>
                            </a:schemeClr>
                          </a:solidFill>
                          <a:effectLst/>
                          <a:latin typeface="Calibri" panose="020F0502020204030204" pitchFamily="34" charset="0"/>
                        </a:rPr>
                        <a:t>3.31</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a:solidFill>
                            <a:schemeClr val="accent4">
                              <a:lumMod val="75000"/>
                            </a:schemeClr>
                          </a:solidFill>
                          <a:effectLst/>
                          <a:latin typeface="Calibri" panose="020F0502020204030204" pitchFamily="34" charset="0"/>
                        </a:rPr>
                        <a:t>3.44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a:solidFill>
                            <a:schemeClr val="accent4">
                              <a:lumMod val="75000"/>
                            </a:schemeClr>
                          </a:solidFill>
                          <a:effectLst/>
                          <a:latin typeface="Calibri" panose="020F0502020204030204" pitchFamily="34" charset="0"/>
                        </a:rPr>
                        <a:t>3.2</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a:solidFill>
                            <a:schemeClr val="accent4">
                              <a:lumMod val="75000"/>
                            </a:schemeClr>
                          </a:solidFill>
                          <a:effectLst/>
                          <a:latin typeface="Calibri" panose="020F0502020204030204" pitchFamily="34" charset="0"/>
                        </a:rPr>
                        <a:t>2.7</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a:solidFill>
                            <a:schemeClr val="accent4">
                              <a:lumMod val="75000"/>
                            </a:schemeClr>
                          </a:solidFill>
                          <a:effectLst/>
                          <a:latin typeface="Calibri" panose="020F0502020204030204" pitchFamily="34" charset="0"/>
                        </a:rPr>
                        <a:t>2.73</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a:solidFill>
                            <a:schemeClr val="accent4">
                              <a:lumMod val="75000"/>
                            </a:schemeClr>
                          </a:solidFill>
                          <a:effectLst/>
                          <a:latin typeface="Calibri" panose="020F0502020204030204" pitchFamily="34" charset="0"/>
                        </a:rPr>
                        <a:t>4.83</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a:solidFill>
                            <a:schemeClr val="accent4">
                              <a:lumMod val="75000"/>
                            </a:schemeClr>
                          </a:solidFill>
                          <a:effectLst/>
                          <a:latin typeface="Calibri" panose="020F0502020204030204" pitchFamily="34" charset="0"/>
                        </a:rPr>
                        <a:t>2.97</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a:solidFill>
                            <a:schemeClr val="accent4">
                              <a:lumMod val="75000"/>
                            </a:schemeClr>
                          </a:solidFill>
                          <a:effectLst/>
                          <a:latin typeface="Calibri" panose="020F0502020204030204" pitchFamily="34" charset="0"/>
                        </a:rPr>
                        <a:t>1.78</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a:solidFill>
                            <a:schemeClr val="accent4">
                              <a:lumMod val="75000"/>
                            </a:schemeClr>
                          </a:solidFill>
                          <a:effectLst/>
                          <a:latin typeface="Calibri" panose="020F0502020204030204" pitchFamily="34" charset="0"/>
                        </a:rPr>
                        <a:t>3.77</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a:solidFill>
                            <a:schemeClr val="accent4">
                              <a:lumMod val="75000"/>
                            </a:schemeClr>
                          </a:solidFill>
                          <a:effectLst/>
                          <a:latin typeface="Calibri" panose="020F0502020204030204" pitchFamily="34" charset="0"/>
                        </a:rPr>
                        <a:t>3.41</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dirty="0">
                          <a:solidFill>
                            <a:schemeClr val="accent4">
                              <a:lumMod val="75000"/>
                            </a:schemeClr>
                          </a:solidFill>
                          <a:effectLst/>
                          <a:latin typeface="Calibri" panose="020F0502020204030204" pitchFamily="34" charset="0"/>
                        </a:rPr>
                        <a:t>3.13</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09280864"/>
                  </a:ext>
                </a:extLst>
              </a:tr>
            </a:tbl>
          </a:graphicData>
        </a:graphic>
      </p:graphicFrame>
      <p:graphicFrame>
        <p:nvGraphicFramePr>
          <p:cNvPr id="17" name="Table 16">
            <a:extLst>
              <a:ext uri="{FF2B5EF4-FFF2-40B4-BE49-F238E27FC236}">
                <a16:creationId xmlns:a16="http://schemas.microsoft.com/office/drawing/2014/main" id="{C60F3B62-80D0-4C26-AFC9-8E69CF4023B0}"/>
              </a:ext>
            </a:extLst>
          </p:cNvPr>
          <p:cNvGraphicFramePr>
            <a:graphicFrameLocks noGrp="1"/>
          </p:cNvGraphicFramePr>
          <p:nvPr/>
        </p:nvGraphicFramePr>
        <p:xfrm>
          <a:off x="2941320" y="5741551"/>
          <a:ext cx="8887230" cy="253484"/>
        </p:xfrm>
        <a:graphic>
          <a:graphicData uri="http://schemas.openxmlformats.org/drawingml/2006/table">
            <a:tbl>
              <a:tblPr>
                <a:tableStyleId>{5C22544A-7EE6-4342-B048-85BDC9FD1C3A}</a:tableStyleId>
              </a:tblPr>
              <a:tblGrid>
                <a:gridCol w="807930">
                  <a:extLst>
                    <a:ext uri="{9D8B030D-6E8A-4147-A177-3AD203B41FA5}">
                      <a16:colId xmlns:a16="http://schemas.microsoft.com/office/drawing/2014/main" val="2379250083"/>
                    </a:ext>
                  </a:extLst>
                </a:gridCol>
                <a:gridCol w="807930">
                  <a:extLst>
                    <a:ext uri="{9D8B030D-6E8A-4147-A177-3AD203B41FA5}">
                      <a16:colId xmlns:a16="http://schemas.microsoft.com/office/drawing/2014/main" val="3707767684"/>
                    </a:ext>
                  </a:extLst>
                </a:gridCol>
                <a:gridCol w="807930">
                  <a:extLst>
                    <a:ext uri="{9D8B030D-6E8A-4147-A177-3AD203B41FA5}">
                      <a16:colId xmlns:a16="http://schemas.microsoft.com/office/drawing/2014/main" val="2497172989"/>
                    </a:ext>
                  </a:extLst>
                </a:gridCol>
                <a:gridCol w="807930">
                  <a:extLst>
                    <a:ext uri="{9D8B030D-6E8A-4147-A177-3AD203B41FA5}">
                      <a16:colId xmlns:a16="http://schemas.microsoft.com/office/drawing/2014/main" val="848469032"/>
                    </a:ext>
                  </a:extLst>
                </a:gridCol>
                <a:gridCol w="807930">
                  <a:extLst>
                    <a:ext uri="{9D8B030D-6E8A-4147-A177-3AD203B41FA5}">
                      <a16:colId xmlns:a16="http://schemas.microsoft.com/office/drawing/2014/main" val="2303936815"/>
                    </a:ext>
                  </a:extLst>
                </a:gridCol>
                <a:gridCol w="807930">
                  <a:extLst>
                    <a:ext uri="{9D8B030D-6E8A-4147-A177-3AD203B41FA5}">
                      <a16:colId xmlns:a16="http://schemas.microsoft.com/office/drawing/2014/main" val="460349122"/>
                    </a:ext>
                  </a:extLst>
                </a:gridCol>
                <a:gridCol w="807930">
                  <a:extLst>
                    <a:ext uri="{9D8B030D-6E8A-4147-A177-3AD203B41FA5}">
                      <a16:colId xmlns:a16="http://schemas.microsoft.com/office/drawing/2014/main" val="704838673"/>
                    </a:ext>
                  </a:extLst>
                </a:gridCol>
                <a:gridCol w="807930">
                  <a:extLst>
                    <a:ext uri="{9D8B030D-6E8A-4147-A177-3AD203B41FA5}">
                      <a16:colId xmlns:a16="http://schemas.microsoft.com/office/drawing/2014/main" val="2575188808"/>
                    </a:ext>
                  </a:extLst>
                </a:gridCol>
                <a:gridCol w="807930">
                  <a:extLst>
                    <a:ext uri="{9D8B030D-6E8A-4147-A177-3AD203B41FA5}">
                      <a16:colId xmlns:a16="http://schemas.microsoft.com/office/drawing/2014/main" val="2501854814"/>
                    </a:ext>
                  </a:extLst>
                </a:gridCol>
                <a:gridCol w="807930">
                  <a:extLst>
                    <a:ext uri="{9D8B030D-6E8A-4147-A177-3AD203B41FA5}">
                      <a16:colId xmlns:a16="http://schemas.microsoft.com/office/drawing/2014/main" val="2179463999"/>
                    </a:ext>
                  </a:extLst>
                </a:gridCol>
                <a:gridCol w="807930">
                  <a:extLst>
                    <a:ext uri="{9D8B030D-6E8A-4147-A177-3AD203B41FA5}">
                      <a16:colId xmlns:a16="http://schemas.microsoft.com/office/drawing/2014/main" val="1997916844"/>
                    </a:ext>
                  </a:extLst>
                </a:gridCol>
              </a:tblGrid>
              <a:tr h="253484">
                <a:tc>
                  <a:txBody>
                    <a:bodyPr/>
                    <a:lstStyle/>
                    <a:p>
                      <a:pPr algn="ctr" fontAlgn="b"/>
                      <a:r>
                        <a:rPr lang="en-GB" sz="1400" b="0" i="0" u="none" strike="noStrike" dirty="0">
                          <a:solidFill>
                            <a:schemeClr val="bg1">
                              <a:lumMod val="65000"/>
                            </a:schemeClr>
                          </a:solidFill>
                          <a:effectLst/>
                          <a:latin typeface="Calibri" panose="020F0502020204030204" pitchFamily="34" charset="0"/>
                        </a:rPr>
                        <a:t>1456</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681</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775</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170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290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284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210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158</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344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937</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dirty="0">
                          <a:solidFill>
                            <a:schemeClr val="bg1">
                              <a:lumMod val="65000"/>
                            </a:schemeClr>
                          </a:solidFill>
                          <a:effectLst/>
                          <a:latin typeface="Calibri" panose="020F0502020204030204" pitchFamily="34" charset="0"/>
                        </a:rPr>
                        <a:t>519</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09280864"/>
                  </a:ext>
                </a:extLst>
              </a:tr>
            </a:tbl>
          </a:graphicData>
        </a:graphic>
      </p:graphicFrame>
    </p:spTree>
    <p:extLst>
      <p:ext uri="{BB962C8B-B14F-4D97-AF65-F5344CB8AC3E}">
        <p14:creationId xmlns:p14="http://schemas.microsoft.com/office/powerpoint/2010/main" val="2381447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Q39. Overall performance where 1 is unsatisfied, 10 is Satisfied, how would you rate the overall performance of the Local Government Chairman where you live?</a:t>
            </a:r>
            <a:endParaRPr lang="en-US" sz="1000" dirty="0">
              <a:latin typeface="Book Antiqua" panose="02040602050305030304" pitchFamily="18" charset="0"/>
            </a:endParaRPr>
          </a:p>
        </p:txBody>
      </p:sp>
      <p:sp>
        <p:nvSpPr>
          <p:cNvPr id="5" name="TextBox 4">
            <a:extLst>
              <a:ext uri="{FF2B5EF4-FFF2-40B4-BE49-F238E27FC236}">
                <a16:creationId xmlns:a16="http://schemas.microsoft.com/office/drawing/2014/main" id="{55F5642B-83A0-CD7B-E2BA-8E492D002397}"/>
              </a:ext>
            </a:extLst>
          </p:cNvPr>
          <p:cNvSpPr txBox="1"/>
          <p:nvPr/>
        </p:nvSpPr>
        <p:spPr>
          <a:xfrm>
            <a:off x="312990" y="119838"/>
            <a:ext cx="6310833" cy="369332"/>
          </a:xfrm>
          <a:prstGeom prst="rect">
            <a:avLst/>
          </a:prstGeom>
          <a:noFill/>
        </p:spPr>
        <p:txBody>
          <a:bodyPr wrap="square" rtlCol="0">
            <a:spAutoFit/>
          </a:bodyPr>
          <a:lstStyle/>
          <a:p>
            <a:pPr lvl="0">
              <a:defRPr/>
            </a:pPr>
            <a:r>
              <a:rPr lang="en-US" b="1" dirty="0">
                <a:solidFill>
                  <a:prstClr val="black"/>
                </a:solidFill>
                <a:latin typeface="Book Antiqua" panose="02040602050305030304" pitchFamily="18" charset="0"/>
                <a:ea typeface="Arial Unicode MS"/>
              </a:rPr>
              <a:t>Local Government Chairman’s </a:t>
            </a:r>
            <a:r>
              <a:rPr kumimoji="0" lang="en-US"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rPr>
              <a:t>Performance Rating</a:t>
            </a:r>
          </a:p>
        </p:txBody>
      </p:sp>
      <p:sp>
        <p:nvSpPr>
          <p:cNvPr id="12" name="Rectangle 11">
            <a:extLst>
              <a:ext uri="{FF2B5EF4-FFF2-40B4-BE49-F238E27FC236}">
                <a16:creationId xmlns:a16="http://schemas.microsoft.com/office/drawing/2014/main" id="{B04CE8E3-6477-4704-A018-FD65D74B66D3}"/>
              </a:ext>
            </a:extLst>
          </p:cNvPr>
          <p:cNvSpPr/>
          <p:nvPr/>
        </p:nvSpPr>
        <p:spPr>
          <a:xfrm>
            <a:off x="1743075" y="5695950"/>
            <a:ext cx="421910" cy="369332"/>
          </a:xfrm>
          <a:prstGeom prst="rect">
            <a:avLst/>
          </a:prstGeom>
        </p:spPr>
        <p:txBody>
          <a:bodyPr wrap="none">
            <a:spAutoFit/>
          </a:bodyPr>
          <a:lstStyle/>
          <a:p>
            <a:r>
              <a:rPr lang="en-GB" dirty="0">
                <a:solidFill>
                  <a:srgbClr val="000000"/>
                </a:solidFill>
                <a:latin typeface="Calibri" panose="020F0502020204030204" pitchFamily="34" charset="0"/>
              </a:rPr>
              <a:t>n=</a:t>
            </a:r>
            <a:endParaRPr lang="en-GB" dirty="0"/>
          </a:p>
        </p:txBody>
      </p:sp>
      <p:graphicFrame>
        <p:nvGraphicFramePr>
          <p:cNvPr id="15" name="Chart 14">
            <a:extLst>
              <a:ext uri="{FF2B5EF4-FFF2-40B4-BE49-F238E27FC236}">
                <a16:creationId xmlns:a16="http://schemas.microsoft.com/office/drawing/2014/main" id="{10C7777E-67E6-4555-A948-F505DD2B8009}"/>
              </a:ext>
            </a:extLst>
          </p:cNvPr>
          <p:cNvGraphicFramePr/>
          <p:nvPr>
            <p:extLst>
              <p:ext uri="{D42A27DB-BD31-4B8C-83A1-F6EECF244321}">
                <p14:modId xmlns:p14="http://schemas.microsoft.com/office/powerpoint/2010/main" val="1387454555"/>
              </p:ext>
            </p:extLst>
          </p:nvPr>
        </p:nvGraphicFramePr>
        <p:xfrm>
          <a:off x="379413" y="1884346"/>
          <a:ext cx="11666812" cy="383241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Table 5">
            <a:extLst>
              <a:ext uri="{FF2B5EF4-FFF2-40B4-BE49-F238E27FC236}">
                <a16:creationId xmlns:a16="http://schemas.microsoft.com/office/drawing/2014/main" id="{C87DFAAA-4423-4344-BBCD-FF8051CEE04D}"/>
              </a:ext>
            </a:extLst>
          </p:cNvPr>
          <p:cNvGraphicFramePr>
            <a:graphicFrameLocks noGrp="1"/>
          </p:cNvGraphicFramePr>
          <p:nvPr>
            <p:extLst>
              <p:ext uri="{D42A27DB-BD31-4B8C-83A1-F6EECF244321}">
                <p14:modId xmlns:p14="http://schemas.microsoft.com/office/powerpoint/2010/main" val="951873272"/>
              </p:ext>
            </p:extLst>
          </p:nvPr>
        </p:nvGraphicFramePr>
        <p:xfrm>
          <a:off x="1565910" y="1508641"/>
          <a:ext cx="10252715" cy="253484"/>
        </p:xfrm>
        <a:graphic>
          <a:graphicData uri="http://schemas.openxmlformats.org/drawingml/2006/table">
            <a:tbl>
              <a:tblPr>
                <a:tableStyleId>{5C22544A-7EE6-4342-B048-85BDC9FD1C3A}</a:tableStyleId>
              </a:tblPr>
              <a:tblGrid>
                <a:gridCol w="1365485">
                  <a:extLst>
                    <a:ext uri="{9D8B030D-6E8A-4147-A177-3AD203B41FA5}">
                      <a16:colId xmlns:a16="http://schemas.microsoft.com/office/drawing/2014/main" val="1601231567"/>
                    </a:ext>
                  </a:extLst>
                </a:gridCol>
                <a:gridCol w="807930">
                  <a:extLst>
                    <a:ext uri="{9D8B030D-6E8A-4147-A177-3AD203B41FA5}">
                      <a16:colId xmlns:a16="http://schemas.microsoft.com/office/drawing/2014/main" val="2379250083"/>
                    </a:ext>
                  </a:extLst>
                </a:gridCol>
                <a:gridCol w="807930">
                  <a:extLst>
                    <a:ext uri="{9D8B030D-6E8A-4147-A177-3AD203B41FA5}">
                      <a16:colId xmlns:a16="http://schemas.microsoft.com/office/drawing/2014/main" val="3707767684"/>
                    </a:ext>
                  </a:extLst>
                </a:gridCol>
                <a:gridCol w="807930">
                  <a:extLst>
                    <a:ext uri="{9D8B030D-6E8A-4147-A177-3AD203B41FA5}">
                      <a16:colId xmlns:a16="http://schemas.microsoft.com/office/drawing/2014/main" val="2497172989"/>
                    </a:ext>
                  </a:extLst>
                </a:gridCol>
                <a:gridCol w="807930">
                  <a:extLst>
                    <a:ext uri="{9D8B030D-6E8A-4147-A177-3AD203B41FA5}">
                      <a16:colId xmlns:a16="http://schemas.microsoft.com/office/drawing/2014/main" val="848469032"/>
                    </a:ext>
                  </a:extLst>
                </a:gridCol>
                <a:gridCol w="807930">
                  <a:extLst>
                    <a:ext uri="{9D8B030D-6E8A-4147-A177-3AD203B41FA5}">
                      <a16:colId xmlns:a16="http://schemas.microsoft.com/office/drawing/2014/main" val="2303936815"/>
                    </a:ext>
                  </a:extLst>
                </a:gridCol>
                <a:gridCol w="807930">
                  <a:extLst>
                    <a:ext uri="{9D8B030D-6E8A-4147-A177-3AD203B41FA5}">
                      <a16:colId xmlns:a16="http://schemas.microsoft.com/office/drawing/2014/main" val="460349122"/>
                    </a:ext>
                  </a:extLst>
                </a:gridCol>
                <a:gridCol w="807930">
                  <a:extLst>
                    <a:ext uri="{9D8B030D-6E8A-4147-A177-3AD203B41FA5}">
                      <a16:colId xmlns:a16="http://schemas.microsoft.com/office/drawing/2014/main" val="704838673"/>
                    </a:ext>
                  </a:extLst>
                </a:gridCol>
                <a:gridCol w="807930">
                  <a:extLst>
                    <a:ext uri="{9D8B030D-6E8A-4147-A177-3AD203B41FA5}">
                      <a16:colId xmlns:a16="http://schemas.microsoft.com/office/drawing/2014/main" val="2575188808"/>
                    </a:ext>
                  </a:extLst>
                </a:gridCol>
                <a:gridCol w="807930">
                  <a:extLst>
                    <a:ext uri="{9D8B030D-6E8A-4147-A177-3AD203B41FA5}">
                      <a16:colId xmlns:a16="http://schemas.microsoft.com/office/drawing/2014/main" val="2501854814"/>
                    </a:ext>
                  </a:extLst>
                </a:gridCol>
                <a:gridCol w="807930">
                  <a:extLst>
                    <a:ext uri="{9D8B030D-6E8A-4147-A177-3AD203B41FA5}">
                      <a16:colId xmlns:a16="http://schemas.microsoft.com/office/drawing/2014/main" val="2179463999"/>
                    </a:ext>
                  </a:extLst>
                </a:gridCol>
                <a:gridCol w="807930">
                  <a:extLst>
                    <a:ext uri="{9D8B030D-6E8A-4147-A177-3AD203B41FA5}">
                      <a16:colId xmlns:a16="http://schemas.microsoft.com/office/drawing/2014/main" val="1997916844"/>
                    </a:ext>
                  </a:extLst>
                </a:gridCol>
              </a:tblGrid>
              <a:tr h="253484">
                <a:tc>
                  <a:txBody>
                    <a:bodyPr/>
                    <a:lstStyle/>
                    <a:p>
                      <a:pPr algn="l" fontAlgn="b"/>
                      <a:r>
                        <a:rPr lang="en-GB" sz="1400" b="1" u="none" strike="noStrike" dirty="0">
                          <a:solidFill>
                            <a:schemeClr val="accent4">
                              <a:lumMod val="75000"/>
                            </a:schemeClr>
                          </a:solidFill>
                          <a:effectLst/>
                        </a:rPr>
                        <a:t>Mean</a:t>
                      </a:r>
                      <a:endParaRPr lang="en-GB" sz="1400" b="1" i="0" u="none" strike="noStrike" dirty="0">
                        <a:solidFill>
                          <a:schemeClr val="accent4">
                            <a:lumMod val="75000"/>
                          </a:schemeClr>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a:solidFill>
                            <a:schemeClr val="accent4">
                              <a:lumMod val="75000"/>
                            </a:schemeClr>
                          </a:solidFill>
                          <a:effectLst/>
                          <a:latin typeface="Calibri" panose="020F0502020204030204" pitchFamily="34" charset="0"/>
                        </a:rPr>
                        <a:t>3.53</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a:solidFill>
                            <a:schemeClr val="accent4">
                              <a:lumMod val="75000"/>
                            </a:schemeClr>
                          </a:solidFill>
                          <a:effectLst/>
                          <a:latin typeface="Calibri" panose="020F0502020204030204" pitchFamily="34" charset="0"/>
                        </a:rPr>
                        <a:t>3.67</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a:solidFill>
                            <a:schemeClr val="accent4">
                              <a:lumMod val="75000"/>
                            </a:schemeClr>
                          </a:solidFill>
                          <a:effectLst/>
                          <a:latin typeface="Calibri" panose="020F0502020204030204" pitchFamily="34" charset="0"/>
                        </a:rPr>
                        <a:t>3.4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a:solidFill>
                            <a:schemeClr val="accent4">
                              <a:lumMod val="75000"/>
                            </a:schemeClr>
                          </a:solidFill>
                          <a:effectLst/>
                          <a:latin typeface="Calibri" panose="020F0502020204030204" pitchFamily="34" charset="0"/>
                        </a:rPr>
                        <a:t>3.29</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a:solidFill>
                            <a:schemeClr val="accent4">
                              <a:lumMod val="75000"/>
                            </a:schemeClr>
                          </a:solidFill>
                          <a:effectLst/>
                          <a:latin typeface="Calibri" panose="020F0502020204030204" pitchFamily="34" charset="0"/>
                        </a:rPr>
                        <a:t>2.98</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a:solidFill>
                            <a:schemeClr val="accent4">
                              <a:lumMod val="75000"/>
                            </a:schemeClr>
                          </a:solidFill>
                          <a:effectLst/>
                          <a:latin typeface="Calibri" panose="020F0502020204030204" pitchFamily="34" charset="0"/>
                        </a:rPr>
                        <a:t>4.61</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a:solidFill>
                            <a:schemeClr val="accent4">
                              <a:lumMod val="75000"/>
                            </a:schemeClr>
                          </a:solidFill>
                          <a:effectLst/>
                          <a:latin typeface="Calibri" panose="020F0502020204030204" pitchFamily="34" charset="0"/>
                        </a:rPr>
                        <a:t>3.55</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a:solidFill>
                            <a:schemeClr val="accent4">
                              <a:lumMod val="75000"/>
                            </a:schemeClr>
                          </a:solidFill>
                          <a:effectLst/>
                          <a:latin typeface="Calibri" panose="020F0502020204030204" pitchFamily="34" charset="0"/>
                        </a:rPr>
                        <a:t>2.04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a:solidFill>
                            <a:schemeClr val="accent4">
                              <a:lumMod val="75000"/>
                            </a:schemeClr>
                          </a:solidFill>
                          <a:effectLst/>
                          <a:latin typeface="Calibri" panose="020F0502020204030204" pitchFamily="34" charset="0"/>
                        </a:rPr>
                        <a:t>3.89</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a:solidFill>
                            <a:schemeClr val="accent4">
                              <a:lumMod val="75000"/>
                            </a:schemeClr>
                          </a:solidFill>
                          <a:effectLst/>
                          <a:latin typeface="Calibri" panose="020F0502020204030204" pitchFamily="34" charset="0"/>
                        </a:rPr>
                        <a:t>3.6</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dirty="0">
                          <a:solidFill>
                            <a:schemeClr val="accent4">
                              <a:lumMod val="75000"/>
                            </a:schemeClr>
                          </a:solidFill>
                          <a:effectLst/>
                          <a:latin typeface="Calibri" panose="020F0502020204030204" pitchFamily="34" charset="0"/>
                        </a:rPr>
                        <a:t>3.39</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09280864"/>
                  </a:ext>
                </a:extLst>
              </a:tr>
            </a:tbl>
          </a:graphicData>
        </a:graphic>
      </p:graphicFrame>
      <p:graphicFrame>
        <p:nvGraphicFramePr>
          <p:cNvPr id="17" name="Table 16">
            <a:extLst>
              <a:ext uri="{FF2B5EF4-FFF2-40B4-BE49-F238E27FC236}">
                <a16:creationId xmlns:a16="http://schemas.microsoft.com/office/drawing/2014/main" id="{C60F3B62-80D0-4C26-AFC9-8E69CF4023B0}"/>
              </a:ext>
            </a:extLst>
          </p:cNvPr>
          <p:cNvGraphicFramePr>
            <a:graphicFrameLocks noGrp="1"/>
          </p:cNvGraphicFramePr>
          <p:nvPr/>
        </p:nvGraphicFramePr>
        <p:xfrm>
          <a:off x="2941320" y="5741551"/>
          <a:ext cx="8887230" cy="253484"/>
        </p:xfrm>
        <a:graphic>
          <a:graphicData uri="http://schemas.openxmlformats.org/drawingml/2006/table">
            <a:tbl>
              <a:tblPr>
                <a:tableStyleId>{5C22544A-7EE6-4342-B048-85BDC9FD1C3A}</a:tableStyleId>
              </a:tblPr>
              <a:tblGrid>
                <a:gridCol w="807930">
                  <a:extLst>
                    <a:ext uri="{9D8B030D-6E8A-4147-A177-3AD203B41FA5}">
                      <a16:colId xmlns:a16="http://schemas.microsoft.com/office/drawing/2014/main" val="2379250083"/>
                    </a:ext>
                  </a:extLst>
                </a:gridCol>
                <a:gridCol w="807930">
                  <a:extLst>
                    <a:ext uri="{9D8B030D-6E8A-4147-A177-3AD203B41FA5}">
                      <a16:colId xmlns:a16="http://schemas.microsoft.com/office/drawing/2014/main" val="3707767684"/>
                    </a:ext>
                  </a:extLst>
                </a:gridCol>
                <a:gridCol w="807930">
                  <a:extLst>
                    <a:ext uri="{9D8B030D-6E8A-4147-A177-3AD203B41FA5}">
                      <a16:colId xmlns:a16="http://schemas.microsoft.com/office/drawing/2014/main" val="2497172989"/>
                    </a:ext>
                  </a:extLst>
                </a:gridCol>
                <a:gridCol w="807930">
                  <a:extLst>
                    <a:ext uri="{9D8B030D-6E8A-4147-A177-3AD203B41FA5}">
                      <a16:colId xmlns:a16="http://schemas.microsoft.com/office/drawing/2014/main" val="848469032"/>
                    </a:ext>
                  </a:extLst>
                </a:gridCol>
                <a:gridCol w="807930">
                  <a:extLst>
                    <a:ext uri="{9D8B030D-6E8A-4147-A177-3AD203B41FA5}">
                      <a16:colId xmlns:a16="http://schemas.microsoft.com/office/drawing/2014/main" val="2303936815"/>
                    </a:ext>
                  </a:extLst>
                </a:gridCol>
                <a:gridCol w="807930">
                  <a:extLst>
                    <a:ext uri="{9D8B030D-6E8A-4147-A177-3AD203B41FA5}">
                      <a16:colId xmlns:a16="http://schemas.microsoft.com/office/drawing/2014/main" val="460349122"/>
                    </a:ext>
                  </a:extLst>
                </a:gridCol>
                <a:gridCol w="807930">
                  <a:extLst>
                    <a:ext uri="{9D8B030D-6E8A-4147-A177-3AD203B41FA5}">
                      <a16:colId xmlns:a16="http://schemas.microsoft.com/office/drawing/2014/main" val="704838673"/>
                    </a:ext>
                  </a:extLst>
                </a:gridCol>
                <a:gridCol w="807930">
                  <a:extLst>
                    <a:ext uri="{9D8B030D-6E8A-4147-A177-3AD203B41FA5}">
                      <a16:colId xmlns:a16="http://schemas.microsoft.com/office/drawing/2014/main" val="2575188808"/>
                    </a:ext>
                  </a:extLst>
                </a:gridCol>
                <a:gridCol w="807930">
                  <a:extLst>
                    <a:ext uri="{9D8B030D-6E8A-4147-A177-3AD203B41FA5}">
                      <a16:colId xmlns:a16="http://schemas.microsoft.com/office/drawing/2014/main" val="2501854814"/>
                    </a:ext>
                  </a:extLst>
                </a:gridCol>
                <a:gridCol w="807930">
                  <a:extLst>
                    <a:ext uri="{9D8B030D-6E8A-4147-A177-3AD203B41FA5}">
                      <a16:colId xmlns:a16="http://schemas.microsoft.com/office/drawing/2014/main" val="2179463999"/>
                    </a:ext>
                  </a:extLst>
                </a:gridCol>
                <a:gridCol w="807930">
                  <a:extLst>
                    <a:ext uri="{9D8B030D-6E8A-4147-A177-3AD203B41FA5}">
                      <a16:colId xmlns:a16="http://schemas.microsoft.com/office/drawing/2014/main" val="1997916844"/>
                    </a:ext>
                  </a:extLst>
                </a:gridCol>
              </a:tblGrid>
              <a:tr h="253484">
                <a:tc>
                  <a:txBody>
                    <a:bodyPr/>
                    <a:lstStyle/>
                    <a:p>
                      <a:pPr algn="ctr" fontAlgn="b"/>
                      <a:r>
                        <a:rPr lang="en-GB" sz="1400" b="0" i="0" u="none" strike="noStrike" dirty="0">
                          <a:solidFill>
                            <a:schemeClr val="bg1">
                              <a:lumMod val="65000"/>
                            </a:schemeClr>
                          </a:solidFill>
                          <a:effectLst/>
                          <a:latin typeface="Calibri" panose="020F0502020204030204" pitchFamily="34" charset="0"/>
                        </a:rPr>
                        <a:t>1456</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681</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775</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170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290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284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210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158</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344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937</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dirty="0">
                          <a:solidFill>
                            <a:schemeClr val="bg1">
                              <a:lumMod val="65000"/>
                            </a:schemeClr>
                          </a:solidFill>
                          <a:effectLst/>
                          <a:latin typeface="Calibri" panose="020F0502020204030204" pitchFamily="34" charset="0"/>
                        </a:rPr>
                        <a:t>519</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09280864"/>
                  </a:ext>
                </a:extLst>
              </a:tr>
            </a:tbl>
          </a:graphicData>
        </a:graphic>
      </p:graphicFrame>
    </p:spTree>
    <p:extLst>
      <p:ext uri="{BB962C8B-B14F-4D97-AF65-F5344CB8AC3E}">
        <p14:creationId xmlns:p14="http://schemas.microsoft.com/office/powerpoint/2010/main" val="22103225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Q40. What reforms would you like to see in Nigerian leadership selection?</a:t>
            </a:r>
            <a:endParaRPr lang="en-US" sz="1000" dirty="0">
              <a:latin typeface="Book Antiqua" panose="02040602050305030304" pitchFamily="18" charset="0"/>
            </a:endParaRPr>
          </a:p>
        </p:txBody>
      </p:sp>
      <p:sp>
        <p:nvSpPr>
          <p:cNvPr id="5" name="TextBox 4">
            <a:extLst>
              <a:ext uri="{FF2B5EF4-FFF2-40B4-BE49-F238E27FC236}">
                <a16:creationId xmlns:a16="http://schemas.microsoft.com/office/drawing/2014/main" id="{55F5642B-83A0-CD7B-E2BA-8E492D002397}"/>
              </a:ext>
            </a:extLst>
          </p:cNvPr>
          <p:cNvSpPr txBox="1"/>
          <p:nvPr/>
        </p:nvSpPr>
        <p:spPr>
          <a:xfrm>
            <a:off x="312991" y="119838"/>
            <a:ext cx="560567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rPr>
              <a:t>Reforms in Leadership</a:t>
            </a:r>
          </a:p>
        </p:txBody>
      </p:sp>
      <p:graphicFrame>
        <p:nvGraphicFramePr>
          <p:cNvPr id="2" name="Table 1">
            <a:extLst>
              <a:ext uri="{FF2B5EF4-FFF2-40B4-BE49-F238E27FC236}">
                <a16:creationId xmlns:a16="http://schemas.microsoft.com/office/drawing/2014/main" id="{CD61BC18-310F-2C12-2964-9D55F9ED2876}"/>
              </a:ext>
            </a:extLst>
          </p:cNvPr>
          <p:cNvGraphicFramePr>
            <a:graphicFrameLocks noGrp="1"/>
          </p:cNvGraphicFramePr>
          <p:nvPr>
            <p:extLst>
              <p:ext uri="{D42A27DB-BD31-4B8C-83A1-F6EECF244321}">
                <p14:modId xmlns:p14="http://schemas.microsoft.com/office/powerpoint/2010/main" val="1435340705"/>
              </p:ext>
            </p:extLst>
          </p:nvPr>
        </p:nvGraphicFramePr>
        <p:xfrm>
          <a:off x="434898" y="1486936"/>
          <a:ext cx="11273877" cy="4289390"/>
        </p:xfrm>
        <a:graphic>
          <a:graphicData uri="http://schemas.openxmlformats.org/drawingml/2006/table">
            <a:tbl>
              <a:tblPr>
                <a:tableStyleId>{5A111915-BE36-4E01-A7E5-04B1672EAD32}</a:tableStyleId>
              </a:tblPr>
              <a:tblGrid>
                <a:gridCol w="2374173">
                  <a:extLst>
                    <a:ext uri="{9D8B030D-6E8A-4147-A177-3AD203B41FA5}">
                      <a16:colId xmlns:a16="http://schemas.microsoft.com/office/drawing/2014/main" val="2939921072"/>
                    </a:ext>
                  </a:extLst>
                </a:gridCol>
                <a:gridCol w="809064">
                  <a:extLst>
                    <a:ext uri="{9D8B030D-6E8A-4147-A177-3AD203B41FA5}">
                      <a16:colId xmlns:a16="http://schemas.microsoft.com/office/drawing/2014/main" val="240042294"/>
                    </a:ext>
                  </a:extLst>
                </a:gridCol>
                <a:gridCol w="809064">
                  <a:extLst>
                    <a:ext uri="{9D8B030D-6E8A-4147-A177-3AD203B41FA5}">
                      <a16:colId xmlns:a16="http://schemas.microsoft.com/office/drawing/2014/main" val="1471018050"/>
                    </a:ext>
                  </a:extLst>
                </a:gridCol>
                <a:gridCol w="809064">
                  <a:extLst>
                    <a:ext uri="{9D8B030D-6E8A-4147-A177-3AD203B41FA5}">
                      <a16:colId xmlns:a16="http://schemas.microsoft.com/office/drawing/2014/main" val="2631900519"/>
                    </a:ext>
                  </a:extLst>
                </a:gridCol>
                <a:gridCol w="809064">
                  <a:extLst>
                    <a:ext uri="{9D8B030D-6E8A-4147-A177-3AD203B41FA5}">
                      <a16:colId xmlns:a16="http://schemas.microsoft.com/office/drawing/2014/main" val="3445961416"/>
                    </a:ext>
                  </a:extLst>
                </a:gridCol>
                <a:gridCol w="809064">
                  <a:extLst>
                    <a:ext uri="{9D8B030D-6E8A-4147-A177-3AD203B41FA5}">
                      <a16:colId xmlns:a16="http://schemas.microsoft.com/office/drawing/2014/main" val="1157888105"/>
                    </a:ext>
                  </a:extLst>
                </a:gridCol>
                <a:gridCol w="809064">
                  <a:extLst>
                    <a:ext uri="{9D8B030D-6E8A-4147-A177-3AD203B41FA5}">
                      <a16:colId xmlns:a16="http://schemas.microsoft.com/office/drawing/2014/main" val="542496135"/>
                    </a:ext>
                  </a:extLst>
                </a:gridCol>
                <a:gridCol w="809064">
                  <a:extLst>
                    <a:ext uri="{9D8B030D-6E8A-4147-A177-3AD203B41FA5}">
                      <a16:colId xmlns:a16="http://schemas.microsoft.com/office/drawing/2014/main" val="2908582105"/>
                    </a:ext>
                  </a:extLst>
                </a:gridCol>
                <a:gridCol w="809064">
                  <a:extLst>
                    <a:ext uri="{9D8B030D-6E8A-4147-A177-3AD203B41FA5}">
                      <a16:colId xmlns:a16="http://schemas.microsoft.com/office/drawing/2014/main" val="1141895410"/>
                    </a:ext>
                  </a:extLst>
                </a:gridCol>
                <a:gridCol w="809064">
                  <a:extLst>
                    <a:ext uri="{9D8B030D-6E8A-4147-A177-3AD203B41FA5}">
                      <a16:colId xmlns:a16="http://schemas.microsoft.com/office/drawing/2014/main" val="2088834717"/>
                    </a:ext>
                  </a:extLst>
                </a:gridCol>
                <a:gridCol w="809064">
                  <a:extLst>
                    <a:ext uri="{9D8B030D-6E8A-4147-A177-3AD203B41FA5}">
                      <a16:colId xmlns:a16="http://schemas.microsoft.com/office/drawing/2014/main" val="2450593191"/>
                    </a:ext>
                  </a:extLst>
                </a:gridCol>
                <a:gridCol w="809064">
                  <a:extLst>
                    <a:ext uri="{9D8B030D-6E8A-4147-A177-3AD203B41FA5}">
                      <a16:colId xmlns:a16="http://schemas.microsoft.com/office/drawing/2014/main" val="1571396105"/>
                    </a:ext>
                  </a:extLst>
                </a:gridCol>
              </a:tblGrid>
              <a:tr h="612770">
                <a:tc>
                  <a:txBody>
                    <a:bodyPr/>
                    <a:lstStyle/>
                    <a:p>
                      <a:pPr algn="ctr" fontAlgn="b"/>
                      <a:endParaRPr lang="en-GB" sz="14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chemeClr val="bg1"/>
                      </a:solidFill>
                      <a:prstDash val="solid"/>
                      <a:round/>
                      <a:headEnd type="none" w="med" len="med"/>
                      <a:tailEnd type="none" w="med" len="med"/>
                    </a:lnL>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Total</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Male</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Female</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FCT</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Bauchi</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Kano</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Enugu</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Edo</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Lagos</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Urban</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Rural</a:t>
                      </a:r>
                    </a:p>
                  </a:txBody>
                  <a:tcPr marL="9525" marR="9525" marT="9525" marB="0" anchor="ctr">
                    <a:lnR w="127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extLst>
                  <a:ext uri="{0D108BD9-81ED-4DB2-BD59-A6C34878D82A}">
                    <a16:rowId xmlns:a16="http://schemas.microsoft.com/office/drawing/2014/main" val="1524205756"/>
                  </a:ext>
                </a:extLst>
              </a:tr>
              <a:tr h="612770">
                <a:tc>
                  <a:txBody>
                    <a:bodyPr/>
                    <a:lstStyle/>
                    <a:p>
                      <a:pPr algn="ctr" fontAlgn="b"/>
                      <a:r>
                        <a:rPr lang="en-GB" sz="1400" b="1" i="0" u="none" strike="noStrike" dirty="0">
                          <a:solidFill>
                            <a:srgbClr val="000000"/>
                          </a:solidFill>
                          <a:effectLst/>
                          <a:latin typeface="Calibri" panose="020F0502020204030204" pitchFamily="34" charset="0"/>
                        </a:rPr>
                        <a:t>Total</a:t>
                      </a:r>
                    </a:p>
                  </a:txBody>
                  <a:tcPr marL="9525" marR="9525" marT="9525" marB="0" anchor="ctr">
                    <a:lnL w="38100" cap="flat" cmpd="sng" algn="ctr">
                      <a:solidFill>
                        <a:schemeClr val="bg1"/>
                      </a:solidFill>
                      <a:prstDash val="solid"/>
                      <a:round/>
                      <a:headEnd type="none" w="med" len="med"/>
                      <a:tailEnd type="none" w="med" len="med"/>
                    </a:lnL>
                    <a:lnT w="12700" cap="flat" cmpd="sng" algn="ctr">
                      <a:solidFill>
                        <a:schemeClr val="accent2">
                          <a:lumMod val="75000"/>
                        </a:schemeClr>
                      </a:solidFill>
                      <a:prstDash val="solid"/>
                      <a:round/>
                      <a:headEnd type="none" w="med" len="med"/>
                      <a:tailEnd type="none" w="med" len="med"/>
                    </a:lnT>
                  </a:tcPr>
                </a:tc>
                <a:tc>
                  <a:txBody>
                    <a:bodyPr/>
                    <a:lstStyle/>
                    <a:p>
                      <a:pPr algn="ctr" fontAlgn="b"/>
                      <a:r>
                        <a:rPr lang="en-GB" sz="1400" b="1" i="0" u="none" strike="noStrike" dirty="0">
                          <a:solidFill>
                            <a:srgbClr val="000000"/>
                          </a:solidFill>
                          <a:effectLst/>
                          <a:latin typeface="Calibri" panose="020F0502020204030204" pitchFamily="34" charset="0"/>
                        </a:rPr>
                        <a:t>1456</a:t>
                      </a:r>
                    </a:p>
                  </a:txBody>
                  <a:tcPr marL="9525" marR="9525" marT="9525" marB="0" anchor="ctr">
                    <a:lnT w="12700" cap="flat" cmpd="sng" algn="ctr">
                      <a:solidFill>
                        <a:schemeClr val="accent2">
                          <a:lumMod val="75000"/>
                        </a:schemeClr>
                      </a:solidFill>
                      <a:prstDash val="solid"/>
                      <a:round/>
                      <a:headEnd type="none" w="med" len="med"/>
                      <a:tailEnd type="none" w="med" len="med"/>
                    </a:lnT>
                  </a:tcPr>
                </a:tc>
                <a:tc>
                  <a:txBody>
                    <a:bodyPr/>
                    <a:lstStyle/>
                    <a:p>
                      <a:pPr algn="ctr" fontAlgn="b"/>
                      <a:r>
                        <a:rPr lang="en-GB" sz="1400" b="1" i="0" u="none" strike="noStrike">
                          <a:solidFill>
                            <a:srgbClr val="000000"/>
                          </a:solidFill>
                          <a:effectLst/>
                          <a:latin typeface="Calibri" panose="020F0502020204030204" pitchFamily="34" charset="0"/>
                        </a:rPr>
                        <a:t>681</a:t>
                      </a:r>
                    </a:p>
                  </a:txBody>
                  <a:tcPr marL="9525" marR="9525" marT="9525" marB="0" anchor="ctr">
                    <a:lnT w="12700" cap="flat" cmpd="sng" algn="ctr">
                      <a:solidFill>
                        <a:schemeClr val="accent2">
                          <a:lumMod val="75000"/>
                        </a:schemeClr>
                      </a:solidFill>
                      <a:prstDash val="solid"/>
                      <a:round/>
                      <a:headEnd type="none" w="med" len="med"/>
                      <a:tailEnd type="none" w="med" len="med"/>
                    </a:lnT>
                  </a:tcPr>
                </a:tc>
                <a:tc>
                  <a:txBody>
                    <a:bodyPr/>
                    <a:lstStyle/>
                    <a:p>
                      <a:pPr algn="ctr" fontAlgn="b"/>
                      <a:r>
                        <a:rPr lang="en-GB" sz="1400" b="1" i="0" u="none" strike="noStrike">
                          <a:solidFill>
                            <a:srgbClr val="000000"/>
                          </a:solidFill>
                          <a:effectLst/>
                          <a:latin typeface="Calibri" panose="020F0502020204030204" pitchFamily="34" charset="0"/>
                        </a:rPr>
                        <a:t>775</a:t>
                      </a:r>
                    </a:p>
                  </a:txBody>
                  <a:tcPr marL="9525" marR="9525" marT="9525" marB="0" anchor="ctr">
                    <a:lnT w="12700" cap="flat" cmpd="sng" algn="ctr">
                      <a:solidFill>
                        <a:schemeClr val="accent2">
                          <a:lumMod val="75000"/>
                        </a:schemeClr>
                      </a:solidFill>
                      <a:prstDash val="solid"/>
                      <a:round/>
                      <a:headEnd type="none" w="med" len="med"/>
                      <a:tailEnd type="none" w="med" len="med"/>
                    </a:lnT>
                  </a:tcPr>
                </a:tc>
                <a:tc>
                  <a:txBody>
                    <a:bodyPr/>
                    <a:lstStyle/>
                    <a:p>
                      <a:pPr algn="ctr" fontAlgn="b"/>
                      <a:r>
                        <a:rPr lang="en-GB" sz="1400" b="1" i="0" u="none" strike="noStrike">
                          <a:solidFill>
                            <a:srgbClr val="000000"/>
                          </a:solidFill>
                          <a:effectLst/>
                          <a:latin typeface="Calibri" panose="020F0502020204030204" pitchFamily="34" charset="0"/>
                        </a:rPr>
                        <a:t>170</a:t>
                      </a:r>
                    </a:p>
                  </a:txBody>
                  <a:tcPr marL="9525" marR="9525" marT="9525" marB="0" anchor="ctr">
                    <a:lnT w="12700" cap="flat" cmpd="sng" algn="ctr">
                      <a:solidFill>
                        <a:schemeClr val="accent2">
                          <a:lumMod val="75000"/>
                        </a:schemeClr>
                      </a:solidFill>
                      <a:prstDash val="solid"/>
                      <a:round/>
                      <a:headEnd type="none" w="med" len="med"/>
                      <a:tailEnd type="none" w="med" len="med"/>
                    </a:lnT>
                  </a:tcPr>
                </a:tc>
                <a:tc>
                  <a:txBody>
                    <a:bodyPr/>
                    <a:lstStyle/>
                    <a:p>
                      <a:pPr algn="ctr" fontAlgn="b"/>
                      <a:r>
                        <a:rPr lang="en-GB" sz="1400" b="1" i="0" u="none" strike="noStrike">
                          <a:solidFill>
                            <a:srgbClr val="000000"/>
                          </a:solidFill>
                          <a:effectLst/>
                          <a:latin typeface="Calibri" panose="020F0502020204030204" pitchFamily="34" charset="0"/>
                        </a:rPr>
                        <a:t>290</a:t>
                      </a:r>
                    </a:p>
                  </a:txBody>
                  <a:tcPr marL="9525" marR="9525" marT="9525" marB="0" anchor="ctr">
                    <a:lnT w="12700" cap="flat" cmpd="sng" algn="ctr">
                      <a:solidFill>
                        <a:schemeClr val="accent2">
                          <a:lumMod val="75000"/>
                        </a:schemeClr>
                      </a:solidFill>
                      <a:prstDash val="solid"/>
                      <a:round/>
                      <a:headEnd type="none" w="med" len="med"/>
                      <a:tailEnd type="none" w="med" len="med"/>
                    </a:lnT>
                  </a:tcPr>
                </a:tc>
                <a:tc>
                  <a:txBody>
                    <a:bodyPr/>
                    <a:lstStyle/>
                    <a:p>
                      <a:pPr algn="ctr" fontAlgn="b"/>
                      <a:r>
                        <a:rPr lang="en-GB" sz="1400" b="1" i="0" u="none" strike="noStrike">
                          <a:solidFill>
                            <a:srgbClr val="000000"/>
                          </a:solidFill>
                          <a:effectLst/>
                          <a:latin typeface="Calibri" panose="020F0502020204030204" pitchFamily="34" charset="0"/>
                        </a:rPr>
                        <a:t>284</a:t>
                      </a:r>
                    </a:p>
                  </a:txBody>
                  <a:tcPr marL="9525" marR="9525" marT="9525" marB="0" anchor="ctr">
                    <a:lnT w="12700" cap="flat" cmpd="sng" algn="ctr">
                      <a:solidFill>
                        <a:schemeClr val="accent2">
                          <a:lumMod val="75000"/>
                        </a:schemeClr>
                      </a:solidFill>
                      <a:prstDash val="solid"/>
                      <a:round/>
                      <a:headEnd type="none" w="med" len="med"/>
                      <a:tailEnd type="none" w="med" len="med"/>
                    </a:lnT>
                  </a:tcPr>
                </a:tc>
                <a:tc>
                  <a:txBody>
                    <a:bodyPr/>
                    <a:lstStyle/>
                    <a:p>
                      <a:pPr algn="ctr" fontAlgn="b"/>
                      <a:r>
                        <a:rPr lang="en-GB" sz="1400" b="1" i="0" u="none" strike="noStrike">
                          <a:solidFill>
                            <a:srgbClr val="000000"/>
                          </a:solidFill>
                          <a:effectLst/>
                          <a:latin typeface="Calibri" panose="020F0502020204030204" pitchFamily="34" charset="0"/>
                        </a:rPr>
                        <a:t>210</a:t>
                      </a:r>
                    </a:p>
                  </a:txBody>
                  <a:tcPr marL="9525" marR="9525" marT="9525" marB="0" anchor="ctr">
                    <a:lnT w="12700" cap="flat" cmpd="sng" algn="ctr">
                      <a:solidFill>
                        <a:schemeClr val="accent2">
                          <a:lumMod val="75000"/>
                        </a:schemeClr>
                      </a:solidFill>
                      <a:prstDash val="solid"/>
                      <a:round/>
                      <a:headEnd type="none" w="med" len="med"/>
                      <a:tailEnd type="none" w="med" len="med"/>
                    </a:lnT>
                  </a:tcPr>
                </a:tc>
                <a:tc>
                  <a:txBody>
                    <a:bodyPr/>
                    <a:lstStyle/>
                    <a:p>
                      <a:pPr algn="ctr" fontAlgn="b"/>
                      <a:r>
                        <a:rPr lang="en-GB" sz="1400" b="1" i="0" u="none" strike="noStrike">
                          <a:solidFill>
                            <a:srgbClr val="000000"/>
                          </a:solidFill>
                          <a:effectLst/>
                          <a:latin typeface="Calibri" panose="020F0502020204030204" pitchFamily="34" charset="0"/>
                        </a:rPr>
                        <a:t>158</a:t>
                      </a:r>
                    </a:p>
                  </a:txBody>
                  <a:tcPr marL="9525" marR="9525" marT="9525" marB="0" anchor="ctr">
                    <a:lnT w="12700" cap="flat" cmpd="sng" algn="ctr">
                      <a:solidFill>
                        <a:schemeClr val="accent2">
                          <a:lumMod val="75000"/>
                        </a:schemeClr>
                      </a:solidFill>
                      <a:prstDash val="solid"/>
                      <a:round/>
                      <a:headEnd type="none" w="med" len="med"/>
                      <a:tailEnd type="none" w="med" len="med"/>
                    </a:lnT>
                  </a:tcPr>
                </a:tc>
                <a:tc>
                  <a:txBody>
                    <a:bodyPr/>
                    <a:lstStyle/>
                    <a:p>
                      <a:pPr algn="ctr" fontAlgn="b"/>
                      <a:r>
                        <a:rPr lang="en-GB" sz="1400" b="1" i="0" u="none" strike="noStrike">
                          <a:solidFill>
                            <a:srgbClr val="000000"/>
                          </a:solidFill>
                          <a:effectLst/>
                          <a:latin typeface="Calibri" panose="020F0502020204030204" pitchFamily="34" charset="0"/>
                        </a:rPr>
                        <a:t>344</a:t>
                      </a:r>
                    </a:p>
                  </a:txBody>
                  <a:tcPr marL="9525" marR="9525" marT="9525" marB="0" anchor="ctr">
                    <a:lnT w="12700" cap="flat" cmpd="sng" algn="ctr">
                      <a:solidFill>
                        <a:schemeClr val="accent2">
                          <a:lumMod val="75000"/>
                        </a:schemeClr>
                      </a:solidFill>
                      <a:prstDash val="solid"/>
                      <a:round/>
                      <a:headEnd type="none" w="med" len="med"/>
                      <a:tailEnd type="none" w="med" len="med"/>
                    </a:lnT>
                  </a:tcPr>
                </a:tc>
                <a:tc>
                  <a:txBody>
                    <a:bodyPr/>
                    <a:lstStyle/>
                    <a:p>
                      <a:pPr algn="ctr" fontAlgn="b"/>
                      <a:r>
                        <a:rPr lang="en-GB" sz="1400" b="1" i="0" u="none" strike="noStrike" dirty="0">
                          <a:solidFill>
                            <a:srgbClr val="000000"/>
                          </a:solidFill>
                          <a:effectLst/>
                          <a:latin typeface="Calibri" panose="020F0502020204030204" pitchFamily="34" charset="0"/>
                        </a:rPr>
                        <a:t>937</a:t>
                      </a:r>
                    </a:p>
                  </a:txBody>
                  <a:tcPr marL="9525" marR="9525" marT="9525" marB="0" anchor="ctr">
                    <a:lnT w="12700" cap="flat" cmpd="sng" algn="ctr">
                      <a:solidFill>
                        <a:schemeClr val="accent2">
                          <a:lumMod val="75000"/>
                        </a:schemeClr>
                      </a:solidFill>
                      <a:prstDash val="solid"/>
                      <a:round/>
                      <a:headEnd type="none" w="med" len="med"/>
                      <a:tailEnd type="none" w="med" len="med"/>
                    </a:lnT>
                  </a:tcPr>
                </a:tc>
                <a:tc>
                  <a:txBody>
                    <a:bodyPr/>
                    <a:lstStyle/>
                    <a:p>
                      <a:pPr algn="ctr" fontAlgn="b"/>
                      <a:r>
                        <a:rPr lang="en-GB" sz="1400" b="1" i="0" u="none" strike="noStrike" dirty="0">
                          <a:solidFill>
                            <a:srgbClr val="000000"/>
                          </a:solidFill>
                          <a:effectLst/>
                          <a:latin typeface="Calibri" panose="020F0502020204030204" pitchFamily="34" charset="0"/>
                        </a:rPr>
                        <a:t>519</a:t>
                      </a:r>
                    </a:p>
                  </a:txBody>
                  <a:tcPr marL="9525" marR="9525" marT="9525" marB="0" anchor="ctr">
                    <a:lnR w="127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tcPr>
                </a:tc>
                <a:extLst>
                  <a:ext uri="{0D108BD9-81ED-4DB2-BD59-A6C34878D82A}">
                    <a16:rowId xmlns:a16="http://schemas.microsoft.com/office/drawing/2014/main" val="3795218639"/>
                  </a:ext>
                </a:extLst>
              </a:tr>
              <a:tr h="612770">
                <a:tc>
                  <a:txBody>
                    <a:bodyPr/>
                    <a:lstStyle/>
                    <a:p>
                      <a:pPr algn="ctr" fontAlgn="b"/>
                      <a:r>
                        <a:rPr lang="en-GB" sz="1400" b="0" i="0" u="none" strike="noStrike" dirty="0">
                          <a:solidFill>
                            <a:srgbClr val="000000"/>
                          </a:solidFill>
                          <a:effectLst/>
                          <a:latin typeface="Calibri" panose="020F0502020204030204" pitchFamily="34" charset="0"/>
                        </a:rPr>
                        <a:t>More transparency in elections</a:t>
                      </a:r>
                    </a:p>
                  </a:txBody>
                  <a:tcPr marL="9525" marR="9525" marT="9525" marB="0" anchor="ctr">
                    <a:lnL w="38100" cap="flat" cmpd="sng" algn="ctr">
                      <a:solidFill>
                        <a:schemeClr val="bg1"/>
                      </a:solidFill>
                      <a:prstDash val="solid"/>
                      <a:round/>
                      <a:headEnd type="none" w="med" len="med"/>
                      <a:tailEnd type="none" w="med" len="med"/>
                    </a:lnL>
                  </a:tcPr>
                </a:tc>
                <a:tc>
                  <a:txBody>
                    <a:bodyPr/>
                    <a:lstStyle/>
                    <a:p>
                      <a:pPr algn="ctr" fontAlgn="b"/>
                      <a:r>
                        <a:rPr lang="en-GB" sz="1400" b="0" i="0" u="none" strike="noStrike" dirty="0">
                          <a:solidFill>
                            <a:srgbClr val="000000"/>
                          </a:solidFill>
                          <a:effectLst/>
                          <a:latin typeface="Calibri" panose="020F0502020204030204" pitchFamily="34" charset="0"/>
                        </a:rPr>
                        <a:t>68%</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71%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74%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89%</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81%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48%</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56%</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73%</a:t>
                      </a:r>
                    </a:p>
                  </a:txBody>
                  <a:tcPr marL="9525" marR="9525" marT="9525" marB="0" anchor="ctr">
                    <a:lnR w="12700" cap="flat" cmpd="sng" algn="ctr">
                      <a:noFill/>
                      <a:prstDash val="solid"/>
                      <a:round/>
                      <a:headEnd type="none" w="med" len="med"/>
                      <a:tailEnd type="none" w="med" len="med"/>
                    </a:lnR>
                  </a:tcPr>
                </a:tc>
                <a:extLst>
                  <a:ext uri="{0D108BD9-81ED-4DB2-BD59-A6C34878D82A}">
                    <a16:rowId xmlns:a16="http://schemas.microsoft.com/office/drawing/2014/main" val="3795074112"/>
                  </a:ext>
                </a:extLst>
              </a:tr>
              <a:tr h="612770">
                <a:tc>
                  <a:txBody>
                    <a:bodyPr/>
                    <a:lstStyle/>
                    <a:p>
                      <a:pPr algn="ctr" fontAlgn="b"/>
                      <a:r>
                        <a:rPr lang="en-GB" sz="1400" b="0" i="0" u="none" strike="noStrike">
                          <a:solidFill>
                            <a:srgbClr val="000000"/>
                          </a:solidFill>
                          <a:effectLst/>
                          <a:latin typeface="Calibri" panose="020F0502020204030204" pitchFamily="34" charset="0"/>
                        </a:rPr>
                        <a:t>Better candidate screening</a:t>
                      </a:r>
                    </a:p>
                  </a:txBody>
                  <a:tcPr marL="9525" marR="9525" marT="9525" marB="0" anchor="ctr">
                    <a:lnL w="38100" cap="flat" cmpd="sng" algn="ctr">
                      <a:solidFill>
                        <a:schemeClr val="bg1"/>
                      </a:solidFill>
                      <a:prstDash val="solid"/>
                      <a:round/>
                      <a:headEnd type="none" w="med" len="med"/>
                      <a:tailEnd type="none" w="med" len="med"/>
                    </a:lnL>
                  </a:tcPr>
                </a:tc>
                <a:tc>
                  <a:txBody>
                    <a:bodyPr/>
                    <a:lstStyle/>
                    <a:p>
                      <a:pPr algn="ctr" fontAlgn="b"/>
                      <a:r>
                        <a:rPr lang="en-GB" sz="1400" b="0" i="0" u="none" strike="noStrike">
                          <a:solidFill>
                            <a:srgbClr val="000000"/>
                          </a:solidFill>
                          <a:effectLst/>
                          <a:latin typeface="Calibri" panose="020F0502020204030204" pitchFamily="34" charset="0"/>
                        </a:rPr>
                        <a:t>55%</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53%</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56%</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61%</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58%</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39%</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62%</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73%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49%</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56%</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53%</a:t>
                      </a:r>
                    </a:p>
                  </a:txBody>
                  <a:tcPr marL="9525" marR="9525" marT="9525" marB="0" anchor="ctr">
                    <a:lnR w="12700" cap="flat" cmpd="sng" algn="ctr">
                      <a:noFill/>
                      <a:prstDash val="solid"/>
                      <a:round/>
                      <a:headEnd type="none" w="med" len="med"/>
                      <a:tailEnd type="none" w="med" len="med"/>
                    </a:lnR>
                  </a:tcPr>
                </a:tc>
                <a:extLst>
                  <a:ext uri="{0D108BD9-81ED-4DB2-BD59-A6C34878D82A}">
                    <a16:rowId xmlns:a16="http://schemas.microsoft.com/office/drawing/2014/main" val="226683108"/>
                  </a:ext>
                </a:extLst>
              </a:tr>
              <a:tr h="612770">
                <a:tc>
                  <a:txBody>
                    <a:bodyPr/>
                    <a:lstStyle/>
                    <a:p>
                      <a:pPr algn="ctr" fontAlgn="b"/>
                      <a:r>
                        <a:rPr lang="en-GB" sz="1400" b="0" i="0" u="none" strike="noStrike">
                          <a:solidFill>
                            <a:srgbClr val="000000"/>
                          </a:solidFill>
                          <a:effectLst/>
                          <a:latin typeface="Calibri" panose="020F0502020204030204" pitchFamily="34" charset="0"/>
                        </a:rPr>
                        <a:t>Improved public engagement</a:t>
                      </a:r>
                    </a:p>
                  </a:txBody>
                  <a:tcPr marL="9525" marR="9525" marT="9525" marB="0" anchor="ctr">
                    <a:lnL w="38100" cap="flat" cmpd="sng" algn="ctr">
                      <a:solidFill>
                        <a:schemeClr val="bg1"/>
                      </a:solidFill>
                      <a:prstDash val="solid"/>
                      <a:round/>
                      <a:headEnd type="none" w="med" len="med"/>
                      <a:tailEnd type="none" w="med" len="med"/>
                    </a:lnL>
                  </a:tcPr>
                </a:tc>
                <a:tc>
                  <a:txBody>
                    <a:bodyPr/>
                    <a:lstStyle/>
                    <a:p>
                      <a:pPr algn="ctr" fontAlgn="b"/>
                      <a:r>
                        <a:rPr lang="en-GB" sz="1400" b="0" i="0" u="none" strike="noStrike">
                          <a:solidFill>
                            <a:srgbClr val="000000"/>
                          </a:solidFill>
                          <a:effectLst/>
                          <a:latin typeface="Calibri" panose="020F0502020204030204" pitchFamily="34" charset="0"/>
                        </a:rPr>
                        <a:t>38%</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40%</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36%</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50%</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11%</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62%</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46%</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37%</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38%</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39%</a:t>
                      </a:r>
                    </a:p>
                  </a:txBody>
                  <a:tcPr marL="9525" marR="9525" marT="9525" marB="0" anchor="ctr">
                    <a:lnR w="12700" cap="flat" cmpd="sng" algn="ctr">
                      <a:noFill/>
                      <a:prstDash val="solid"/>
                      <a:round/>
                      <a:headEnd type="none" w="med" len="med"/>
                      <a:tailEnd type="none" w="med" len="med"/>
                    </a:lnR>
                  </a:tcPr>
                </a:tc>
                <a:extLst>
                  <a:ext uri="{0D108BD9-81ED-4DB2-BD59-A6C34878D82A}">
                    <a16:rowId xmlns:a16="http://schemas.microsoft.com/office/drawing/2014/main" val="107245604"/>
                  </a:ext>
                </a:extLst>
              </a:tr>
              <a:tr h="612770">
                <a:tc>
                  <a:txBody>
                    <a:bodyPr/>
                    <a:lstStyle/>
                    <a:p>
                      <a:pPr algn="ctr" fontAlgn="b"/>
                      <a:r>
                        <a:rPr lang="en-US" sz="1400" b="0" i="0" u="none" strike="noStrike">
                          <a:solidFill>
                            <a:srgbClr val="000000"/>
                          </a:solidFill>
                          <a:effectLst/>
                          <a:latin typeface="Calibri" panose="020F0502020204030204" pitchFamily="34" charset="0"/>
                        </a:rPr>
                        <a:t>INEC chairmanship should be based on public votes</a:t>
                      </a:r>
                    </a:p>
                  </a:txBody>
                  <a:tcPr marL="9525" marR="9525" marT="9525" marB="0" anchor="ctr">
                    <a:lnL w="38100" cap="flat" cmpd="sng" algn="ctr">
                      <a:solidFill>
                        <a:schemeClr val="bg1"/>
                      </a:solidFill>
                      <a:prstDash val="solid"/>
                      <a:round/>
                      <a:headEnd type="none" w="med" len="med"/>
                      <a:tailEnd type="none" w="med" len="med"/>
                    </a:lnL>
                  </a:tcPr>
                </a:tc>
                <a:tc>
                  <a:txBody>
                    <a:bodyPr/>
                    <a:lstStyle/>
                    <a:p>
                      <a:pPr algn="ctr" fontAlgn="b"/>
                      <a:r>
                        <a:rPr lang="en-GB" sz="1400" b="0" i="0" u="none" strike="noStrike">
                          <a:solidFill>
                            <a:srgbClr val="000000"/>
                          </a:solidFill>
                          <a:effectLst/>
                          <a:latin typeface="Calibri" panose="020F0502020204030204" pitchFamily="34" charset="0"/>
                        </a:rPr>
                        <a:t>38%</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41%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36%</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60%</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49%</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36%</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26%</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34%</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31%</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33%</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47%</a:t>
                      </a:r>
                    </a:p>
                  </a:txBody>
                  <a:tcPr marL="9525" marR="9525" marT="9525" marB="0" anchor="ctr">
                    <a:lnR w="12700" cap="flat" cmpd="sng" algn="ctr">
                      <a:noFill/>
                      <a:prstDash val="solid"/>
                      <a:round/>
                      <a:headEnd type="none" w="med" len="med"/>
                      <a:tailEnd type="none" w="med" len="med"/>
                    </a:lnR>
                  </a:tcPr>
                </a:tc>
                <a:extLst>
                  <a:ext uri="{0D108BD9-81ED-4DB2-BD59-A6C34878D82A}">
                    <a16:rowId xmlns:a16="http://schemas.microsoft.com/office/drawing/2014/main" val="2582069644"/>
                  </a:ext>
                </a:extLst>
              </a:tr>
              <a:tr h="612770">
                <a:tc>
                  <a:txBody>
                    <a:bodyPr/>
                    <a:lstStyle/>
                    <a:p>
                      <a:pPr algn="ctr" fontAlgn="b"/>
                      <a:r>
                        <a:rPr lang="en-GB" sz="1400" b="0" i="0" u="none" strike="noStrike">
                          <a:solidFill>
                            <a:srgbClr val="000000"/>
                          </a:solidFill>
                          <a:effectLst/>
                          <a:latin typeface="Calibri" panose="020F0502020204030204" pitchFamily="34" charset="0"/>
                        </a:rPr>
                        <a:t>Stricter accountability laws</a:t>
                      </a:r>
                    </a:p>
                  </a:txBody>
                  <a:tcPr marL="9525" marR="9525" marT="9525" marB="0" anchor="ctr">
                    <a:lnL w="38100" cap="flat" cmpd="sng" algn="ctr">
                      <a:solidFill>
                        <a:schemeClr val="bg1"/>
                      </a:solidFill>
                      <a:prstDash val="solid"/>
                      <a:round/>
                      <a:headEnd type="none" w="med" len="med"/>
                      <a:tailEnd type="none" w="med" len="med"/>
                    </a:lnL>
                  </a:tcPr>
                </a:tc>
                <a:tc>
                  <a:txBody>
                    <a:bodyPr/>
                    <a:lstStyle/>
                    <a:p>
                      <a:pPr algn="ctr" fontAlgn="b"/>
                      <a:r>
                        <a:rPr lang="en-GB" sz="1400" b="0" i="0" u="none" strike="noStrike">
                          <a:solidFill>
                            <a:srgbClr val="000000"/>
                          </a:solidFill>
                          <a:effectLst/>
                          <a:latin typeface="Calibri" panose="020F0502020204030204" pitchFamily="34" charset="0"/>
                        </a:rPr>
                        <a:t>36%</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37%</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35%</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51%</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4%</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49%</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58%</a:t>
                      </a:r>
                    </a:p>
                  </a:txBody>
                  <a:tcPr marL="9525" marR="9525" marT="9525" marB="0" anchor="ctr"/>
                </a:tc>
                <a:tc>
                  <a:txBody>
                    <a:bodyPr/>
                    <a:lstStyle/>
                    <a:p>
                      <a:pPr algn="ctr" fontAlgn="b"/>
                      <a:r>
                        <a:rPr lang="en-GB" sz="1400" b="0" i="0" u="none" strike="noStrike">
                          <a:solidFill>
                            <a:srgbClr val="000000"/>
                          </a:solidFill>
                          <a:effectLst/>
                          <a:latin typeface="Calibri" panose="020F0502020204030204" pitchFamily="34" charset="0"/>
                        </a:rPr>
                        <a:t>35%</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31%</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36%</a:t>
                      </a:r>
                    </a:p>
                  </a:txBody>
                  <a:tcPr marL="9525" marR="9525" marT="9525" marB="0" anchor="ctr"/>
                </a:tc>
                <a:tc>
                  <a:txBody>
                    <a:bodyPr/>
                    <a:lstStyle/>
                    <a:p>
                      <a:pPr algn="ctr" fontAlgn="b"/>
                      <a:r>
                        <a:rPr lang="en-GB" sz="1400" b="0" i="0" u="none" strike="noStrike" dirty="0">
                          <a:solidFill>
                            <a:srgbClr val="000000"/>
                          </a:solidFill>
                          <a:effectLst/>
                          <a:latin typeface="Calibri" panose="020F0502020204030204" pitchFamily="34" charset="0"/>
                        </a:rPr>
                        <a:t>36%</a:t>
                      </a:r>
                    </a:p>
                  </a:txBody>
                  <a:tcPr marL="9525" marR="9525" marT="9525" marB="0" anchor="ctr">
                    <a:lnR w="12700" cap="flat" cmpd="sng" algn="ctr">
                      <a:noFill/>
                      <a:prstDash val="solid"/>
                      <a:round/>
                      <a:headEnd type="none" w="med" len="med"/>
                      <a:tailEnd type="none" w="med" len="med"/>
                    </a:lnR>
                  </a:tcPr>
                </a:tc>
                <a:extLst>
                  <a:ext uri="{0D108BD9-81ED-4DB2-BD59-A6C34878D82A}">
                    <a16:rowId xmlns:a16="http://schemas.microsoft.com/office/drawing/2014/main" val="2772997391"/>
                  </a:ext>
                </a:extLst>
              </a:tr>
            </a:tbl>
          </a:graphicData>
        </a:graphic>
      </p:graphicFrame>
      <p:sp>
        <p:nvSpPr>
          <p:cNvPr id="7" name="TextBox 6">
            <a:extLst>
              <a:ext uri="{FF2B5EF4-FFF2-40B4-BE49-F238E27FC236}">
                <a16:creationId xmlns:a16="http://schemas.microsoft.com/office/drawing/2014/main" id="{0AAF01C8-F445-42ED-8AB9-B600F569D7E4}"/>
              </a:ext>
            </a:extLst>
          </p:cNvPr>
          <p:cNvSpPr txBox="1"/>
          <p:nvPr/>
        </p:nvSpPr>
        <p:spPr>
          <a:xfrm>
            <a:off x="331302" y="675740"/>
            <a:ext cx="11714923" cy="523220"/>
          </a:xfrm>
          <a:prstGeom prst="rect">
            <a:avLst/>
          </a:prstGeom>
          <a:noFill/>
        </p:spPr>
        <p:txBody>
          <a:bodyPr wrap="square">
            <a:spAutoFit/>
          </a:bodyPr>
          <a:lstStyle/>
          <a:p>
            <a:pPr lvl="0">
              <a:defRPr/>
            </a:pPr>
            <a:r>
              <a:rPr lang="en-US" sz="1400" b="1" dirty="0">
                <a:solidFill>
                  <a:srgbClr val="0070C0"/>
                </a:solidFill>
                <a:latin typeface="Book Antiqua" panose="02040602050305030304" pitchFamily="18" charset="0"/>
                <a:ea typeface="Arial Unicode MS"/>
              </a:rPr>
              <a:t>More transparency in elections (68%), Better candidate screening (55%), Improved public engagement (38%), INEC chairmanship should be based on public votes (38%),and Stricter accountability laws (36%) are reforms people would you like to see in Nigerian leadership selection.</a:t>
            </a:r>
          </a:p>
        </p:txBody>
      </p:sp>
    </p:spTree>
    <p:extLst>
      <p:ext uri="{BB962C8B-B14F-4D97-AF65-F5344CB8AC3E}">
        <p14:creationId xmlns:p14="http://schemas.microsoft.com/office/powerpoint/2010/main" val="27872714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Q41. Which level of leadership in Nigeria needs the most improvement?</a:t>
            </a:r>
            <a:endParaRPr lang="en-US" sz="1000" dirty="0">
              <a:latin typeface="Book Antiqua" panose="02040602050305030304" pitchFamily="18" charset="0"/>
            </a:endParaRPr>
          </a:p>
        </p:txBody>
      </p:sp>
      <p:sp>
        <p:nvSpPr>
          <p:cNvPr id="5" name="TextBox 4">
            <a:extLst>
              <a:ext uri="{FF2B5EF4-FFF2-40B4-BE49-F238E27FC236}">
                <a16:creationId xmlns:a16="http://schemas.microsoft.com/office/drawing/2014/main" id="{55F5642B-83A0-CD7B-E2BA-8E492D002397}"/>
              </a:ext>
            </a:extLst>
          </p:cNvPr>
          <p:cNvSpPr txBox="1"/>
          <p:nvPr/>
        </p:nvSpPr>
        <p:spPr>
          <a:xfrm>
            <a:off x="312991" y="119838"/>
            <a:ext cx="560567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rPr>
              <a:t>Leaderships Improvements</a:t>
            </a:r>
          </a:p>
        </p:txBody>
      </p:sp>
      <p:sp>
        <p:nvSpPr>
          <p:cNvPr id="7" name="TextBox 6">
            <a:extLst>
              <a:ext uri="{FF2B5EF4-FFF2-40B4-BE49-F238E27FC236}">
                <a16:creationId xmlns:a16="http://schemas.microsoft.com/office/drawing/2014/main" id="{0AAF01C8-F445-42ED-8AB9-B600F569D7E4}"/>
              </a:ext>
            </a:extLst>
          </p:cNvPr>
          <p:cNvSpPr txBox="1"/>
          <p:nvPr/>
        </p:nvSpPr>
        <p:spPr>
          <a:xfrm>
            <a:off x="331302" y="675740"/>
            <a:ext cx="11714923"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rPr>
              <a:t>The majority (68%) see the pre</a:t>
            </a:r>
            <a:r>
              <a:rPr lang="en-US" sz="1400" b="1" dirty="0" err="1">
                <a:solidFill>
                  <a:srgbClr val="0070C0"/>
                </a:solidFill>
                <a:latin typeface="Book Antiqua" panose="02040602050305030304" pitchFamily="18" charset="0"/>
                <a:ea typeface="Arial Unicode MS"/>
              </a:rPr>
              <a:t>sidency</a:t>
            </a:r>
            <a:r>
              <a:rPr lang="en-US" sz="1400" b="1" dirty="0">
                <a:solidFill>
                  <a:srgbClr val="0070C0"/>
                </a:solidFill>
                <a:latin typeface="Book Antiqua" panose="02040602050305030304" pitchFamily="18" charset="0"/>
                <a:ea typeface="Arial Unicode MS"/>
              </a:rPr>
              <a:t> as the level of leadership in Nigeria that needs the most improvement. While 99% focused on the presidency in Edo, only 42% focused on the presidency in Lagos.</a:t>
            </a:r>
            <a:endPar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endParaRPr>
          </a:p>
        </p:txBody>
      </p:sp>
      <p:graphicFrame>
        <p:nvGraphicFramePr>
          <p:cNvPr id="8" name="Chart 7">
            <a:extLst>
              <a:ext uri="{FF2B5EF4-FFF2-40B4-BE49-F238E27FC236}">
                <a16:creationId xmlns:a16="http://schemas.microsoft.com/office/drawing/2014/main" id="{3CF0F27C-E34B-40F6-ABC7-519A611BD326}"/>
              </a:ext>
            </a:extLst>
          </p:cNvPr>
          <p:cNvGraphicFramePr/>
          <p:nvPr>
            <p:extLst>
              <p:ext uri="{D42A27DB-BD31-4B8C-83A1-F6EECF244321}">
                <p14:modId xmlns:p14="http://schemas.microsoft.com/office/powerpoint/2010/main" val="732364609"/>
              </p:ext>
            </p:extLst>
          </p:nvPr>
        </p:nvGraphicFramePr>
        <p:xfrm>
          <a:off x="379413" y="1951252"/>
          <a:ext cx="11435200" cy="383241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Table 8">
            <a:extLst>
              <a:ext uri="{FF2B5EF4-FFF2-40B4-BE49-F238E27FC236}">
                <a16:creationId xmlns:a16="http://schemas.microsoft.com/office/drawing/2014/main" id="{0CD994FB-684F-40B9-86E3-B8A5D0E68648}"/>
              </a:ext>
            </a:extLst>
          </p:cNvPr>
          <p:cNvGraphicFramePr>
            <a:graphicFrameLocks noGrp="1"/>
          </p:cNvGraphicFramePr>
          <p:nvPr>
            <p:extLst>
              <p:ext uri="{D42A27DB-BD31-4B8C-83A1-F6EECF244321}">
                <p14:modId xmlns:p14="http://schemas.microsoft.com/office/powerpoint/2010/main" val="3381351657"/>
              </p:ext>
            </p:extLst>
          </p:nvPr>
        </p:nvGraphicFramePr>
        <p:xfrm>
          <a:off x="2272250" y="5830759"/>
          <a:ext cx="9439980" cy="253484"/>
        </p:xfrm>
        <a:graphic>
          <a:graphicData uri="http://schemas.openxmlformats.org/drawingml/2006/table">
            <a:tbl>
              <a:tblPr>
                <a:tableStyleId>{5C22544A-7EE6-4342-B048-85BDC9FD1C3A}</a:tableStyleId>
              </a:tblPr>
              <a:tblGrid>
                <a:gridCol w="858180">
                  <a:extLst>
                    <a:ext uri="{9D8B030D-6E8A-4147-A177-3AD203B41FA5}">
                      <a16:colId xmlns:a16="http://schemas.microsoft.com/office/drawing/2014/main" val="2379250083"/>
                    </a:ext>
                  </a:extLst>
                </a:gridCol>
                <a:gridCol w="858180">
                  <a:extLst>
                    <a:ext uri="{9D8B030D-6E8A-4147-A177-3AD203B41FA5}">
                      <a16:colId xmlns:a16="http://schemas.microsoft.com/office/drawing/2014/main" val="3707767684"/>
                    </a:ext>
                  </a:extLst>
                </a:gridCol>
                <a:gridCol w="858180">
                  <a:extLst>
                    <a:ext uri="{9D8B030D-6E8A-4147-A177-3AD203B41FA5}">
                      <a16:colId xmlns:a16="http://schemas.microsoft.com/office/drawing/2014/main" val="2497172989"/>
                    </a:ext>
                  </a:extLst>
                </a:gridCol>
                <a:gridCol w="858180">
                  <a:extLst>
                    <a:ext uri="{9D8B030D-6E8A-4147-A177-3AD203B41FA5}">
                      <a16:colId xmlns:a16="http://schemas.microsoft.com/office/drawing/2014/main" val="848469032"/>
                    </a:ext>
                  </a:extLst>
                </a:gridCol>
                <a:gridCol w="858180">
                  <a:extLst>
                    <a:ext uri="{9D8B030D-6E8A-4147-A177-3AD203B41FA5}">
                      <a16:colId xmlns:a16="http://schemas.microsoft.com/office/drawing/2014/main" val="2303936815"/>
                    </a:ext>
                  </a:extLst>
                </a:gridCol>
                <a:gridCol w="858180">
                  <a:extLst>
                    <a:ext uri="{9D8B030D-6E8A-4147-A177-3AD203B41FA5}">
                      <a16:colId xmlns:a16="http://schemas.microsoft.com/office/drawing/2014/main" val="460349122"/>
                    </a:ext>
                  </a:extLst>
                </a:gridCol>
                <a:gridCol w="858180">
                  <a:extLst>
                    <a:ext uri="{9D8B030D-6E8A-4147-A177-3AD203B41FA5}">
                      <a16:colId xmlns:a16="http://schemas.microsoft.com/office/drawing/2014/main" val="704838673"/>
                    </a:ext>
                  </a:extLst>
                </a:gridCol>
                <a:gridCol w="858180">
                  <a:extLst>
                    <a:ext uri="{9D8B030D-6E8A-4147-A177-3AD203B41FA5}">
                      <a16:colId xmlns:a16="http://schemas.microsoft.com/office/drawing/2014/main" val="2575188808"/>
                    </a:ext>
                  </a:extLst>
                </a:gridCol>
                <a:gridCol w="858180">
                  <a:extLst>
                    <a:ext uri="{9D8B030D-6E8A-4147-A177-3AD203B41FA5}">
                      <a16:colId xmlns:a16="http://schemas.microsoft.com/office/drawing/2014/main" val="2501854814"/>
                    </a:ext>
                  </a:extLst>
                </a:gridCol>
                <a:gridCol w="858180">
                  <a:extLst>
                    <a:ext uri="{9D8B030D-6E8A-4147-A177-3AD203B41FA5}">
                      <a16:colId xmlns:a16="http://schemas.microsoft.com/office/drawing/2014/main" val="2179463999"/>
                    </a:ext>
                  </a:extLst>
                </a:gridCol>
                <a:gridCol w="858180">
                  <a:extLst>
                    <a:ext uri="{9D8B030D-6E8A-4147-A177-3AD203B41FA5}">
                      <a16:colId xmlns:a16="http://schemas.microsoft.com/office/drawing/2014/main" val="1997916844"/>
                    </a:ext>
                  </a:extLst>
                </a:gridCol>
              </a:tblGrid>
              <a:tr h="253484">
                <a:tc>
                  <a:txBody>
                    <a:bodyPr/>
                    <a:lstStyle/>
                    <a:p>
                      <a:pPr algn="ctr" fontAlgn="b"/>
                      <a:r>
                        <a:rPr lang="en-GB" sz="1400" b="0" i="0" u="none" strike="noStrike" dirty="0">
                          <a:solidFill>
                            <a:schemeClr val="bg1">
                              <a:lumMod val="65000"/>
                            </a:schemeClr>
                          </a:solidFill>
                          <a:effectLst/>
                          <a:latin typeface="Calibri" panose="020F0502020204030204" pitchFamily="34" charset="0"/>
                        </a:rPr>
                        <a:t>1456</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dirty="0">
                          <a:solidFill>
                            <a:schemeClr val="bg1">
                              <a:lumMod val="65000"/>
                            </a:schemeClr>
                          </a:solidFill>
                          <a:effectLst/>
                          <a:latin typeface="Calibri" panose="020F0502020204030204" pitchFamily="34" charset="0"/>
                        </a:rPr>
                        <a:t>681</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775</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170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290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284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dirty="0">
                          <a:solidFill>
                            <a:schemeClr val="bg1">
                              <a:lumMod val="65000"/>
                            </a:schemeClr>
                          </a:solidFill>
                          <a:effectLst/>
                          <a:latin typeface="Calibri" panose="020F0502020204030204" pitchFamily="34" charset="0"/>
                        </a:rPr>
                        <a:t>210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158</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344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937</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dirty="0">
                          <a:solidFill>
                            <a:schemeClr val="bg1">
                              <a:lumMod val="65000"/>
                            </a:schemeClr>
                          </a:solidFill>
                          <a:effectLst/>
                          <a:latin typeface="Calibri" panose="020F0502020204030204" pitchFamily="34" charset="0"/>
                        </a:rPr>
                        <a:t>519</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09280864"/>
                  </a:ext>
                </a:extLst>
              </a:tr>
            </a:tbl>
          </a:graphicData>
        </a:graphic>
      </p:graphicFrame>
    </p:spTree>
    <p:extLst>
      <p:ext uri="{BB962C8B-B14F-4D97-AF65-F5344CB8AC3E}">
        <p14:creationId xmlns:p14="http://schemas.microsoft.com/office/powerpoint/2010/main" val="13976631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Q42. Are you personally interested in leadership or governance roles?</a:t>
            </a:r>
            <a:endParaRPr lang="en-US" sz="1000" dirty="0">
              <a:latin typeface="Book Antiqua" panose="02040602050305030304" pitchFamily="18" charset="0"/>
            </a:endParaRPr>
          </a:p>
        </p:txBody>
      </p:sp>
      <p:sp>
        <p:nvSpPr>
          <p:cNvPr id="5" name="TextBox 4">
            <a:extLst>
              <a:ext uri="{FF2B5EF4-FFF2-40B4-BE49-F238E27FC236}">
                <a16:creationId xmlns:a16="http://schemas.microsoft.com/office/drawing/2014/main" id="{55F5642B-83A0-CD7B-E2BA-8E492D002397}"/>
              </a:ext>
            </a:extLst>
          </p:cNvPr>
          <p:cNvSpPr txBox="1"/>
          <p:nvPr/>
        </p:nvSpPr>
        <p:spPr>
          <a:xfrm>
            <a:off x="312990" y="119838"/>
            <a:ext cx="7752487"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Personal Interested in Leadership or Governance Roles</a:t>
            </a:r>
            <a:endParaRPr kumimoji="0" lang="en-US" sz="2000"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endParaRPr>
          </a:p>
        </p:txBody>
      </p:sp>
      <p:sp>
        <p:nvSpPr>
          <p:cNvPr id="8" name="TextBox 7"/>
          <p:cNvSpPr txBox="1"/>
          <p:nvPr/>
        </p:nvSpPr>
        <p:spPr>
          <a:xfrm>
            <a:off x="143691" y="3592286"/>
            <a:ext cx="535578" cy="369332"/>
          </a:xfrm>
          <a:prstGeom prst="rect">
            <a:avLst/>
          </a:prstGeom>
          <a:noFill/>
        </p:spPr>
        <p:txBody>
          <a:bodyPr wrap="square" rtlCol="0">
            <a:spAutoFit/>
          </a:bodyPr>
          <a:lstStyle/>
          <a:p>
            <a:r>
              <a:rPr lang="en-US" dirty="0"/>
              <a:t>%</a:t>
            </a:r>
          </a:p>
        </p:txBody>
      </p:sp>
      <p:graphicFrame>
        <p:nvGraphicFramePr>
          <p:cNvPr id="10" name="Chart 9">
            <a:extLst>
              <a:ext uri="{FF2B5EF4-FFF2-40B4-BE49-F238E27FC236}">
                <a16:creationId xmlns:a16="http://schemas.microsoft.com/office/drawing/2014/main" id="{8FE322D5-99B6-487C-B2DD-8D56D25FF0AD}"/>
              </a:ext>
            </a:extLst>
          </p:cNvPr>
          <p:cNvGraphicFramePr/>
          <p:nvPr>
            <p:extLst>
              <p:ext uri="{D42A27DB-BD31-4B8C-83A1-F6EECF244321}">
                <p14:modId xmlns:p14="http://schemas.microsoft.com/office/powerpoint/2010/main" val="2546249079"/>
              </p:ext>
            </p:extLst>
          </p:nvPr>
        </p:nvGraphicFramePr>
        <p:xfrm>
          <a:off x="679269" y="1514700"/>
          <a:ext cx="11051813" cy="360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Table 10">
            <a:extLst>
              <a:ext uri="{FF2B5EF4-FFF2-40B4-BE49-F238E27FC236}">
                <a16:creationId xmlns:a16="http://schemas.microsoft.com/office/drawing/2014/main" id="{3B5952BC-F41C-4C8B-A23A-F35B806AB2CE}"/>
              </a:ext>
            </a:extLst>
          </p:cNvPr>
          <p:cNvGraphicFramePr>
            <a:graphicFrameLocks noGrp="1"/>
          </p:cNvGraphicFramePr>
          <p:nvPr>
            <p:extLst>
              <p:ext uri="{D42A27DB-BD31-4B8C-83A1-F6EECF244321}">
                <p14:modId xmlns:p14="http://schemas.microsoft.com/office/powerpoint/2010/main" val="1421522830"/>
              </p:ext>
            </p:extLst>
          </p:nvPr>
        </p:nvGraphicFramePr>
        <p:xfrm>
          <a:off x="2339156" y="5685796"/>
          <a:ext cx="9302722" cy="253484"/>
        </p:xfrm>
        <a:graphic>
          <a:graphicData uri="http://schemas.openxmlformats.org/drawingml/2006/table">
            <a:tbl>
              <a:tblPr>
                <a:tableStyleId>{5C22544A-7EE6-4342-B048-85BDC9FD1C3A}</a:tableStyleId>
              </a:tblPr>
              <a:tblGrid>
                <a:gridCol w="845702">
                  <a:extLst>
                    <a:ext uri="{9D8B030D-6E8A-4147-A177-3AD203B41FA5}">
                      <a16:colId xmlns:a16="http://schemas.microsoft.com/office/drawing/2014/main" val="2379250083"/>
                    </a:ext>
                  </a:extLst>
                </a:gridCol>
                <a:gridCol w="845702">
                  <a:extLst>
                    <a:ext uri="{9D8B030D-6E8A-4147-A177-3AD203B41FA5}">
                      <a16:colId xmlns:a16="http://schemas.microsoft.com/office/drawing/2014/main" val="3707767684"/>
                    </a:ext>
                  </a:extLst>
                </a:gridCol>
                <a:gridCol w="845702">
                  <a:extLst>
                    <a:ext uri="{9D8B030D-6E8A-4147-A177-3AD203B41FA5}">
                      <a16:colId xmlns:a16="http://schemas.microsoft.com/office/drawing/2014/main" val="2497172989"/>
                    </a:ext>
                  </a:extLst>
                </a:gridCol>
                <a:gridCol w="845702">
                  <a:extLst>
                    <a:ext uri="{9D8B030D-6E8A-4147-A177-3AD203B41FA5}">
                      <a16:colId xmlns:a16="http://schemas.microsoft.com/office/drawing/2014/main" val="848469032"/>
                    </a:ext>
                  </a:extLst>
                </a:gridCol>
                <a:gridCol w="845702">
                  <a:extLst>
                    <a:ext uri="{9D8B030D-6E8A-4147-A177-3AD203B41FA5}">
                      <a16:colId xmlns:a16="http://schemas.microsoft.com/office/drawing/2014/main" val="2303936815"/>
                    </a:ext>
                  </a:extLst>
                </a:gridCol>
                <a:gridCol w="845702">
                  <a:extLst>
                    <a:ext uri="{9D8B030D-6E8A-4147-A177-3AD203B41FA5}">
                      <a16:colId xmlns:a16="http://schemas.microsoft.com/office/drawing/2014/main" val="460349122"/>
                    </a:ext>
                  </a:extLst>
                </a:gridCol>
                <a:gridCol w="845702">
                  <a:extLst>
                    <a:ext uri="{9D8B030D-6E8A-4147-A177-3AD203B41FA5}">
                      <a16:colId xmlns:a16="http://schemas.microsoft.com/office/drawing/2014/main" val="704838673"/>
                    </a:ext>
                  </a:extLst>
                </a:gridCol>
                <a:gridCol w="845702">
                  <a:extLst>
                    <a:ext uri="{9D8B030D-6E8A-4147-A177-3AD203B41FA5}">
                      <a16:colId xmlns:a16="http://schemas.microsoft.com/office/drawing/2014/main" val="2575188808"/>
                    </a:ext>
                  </a:extLst>
                </a:gridCol>
                <a:gridCol w="845702">
                  <a:extLst>
                    <a:ext uri="{9D8B030D-6E8A-4147-A177-3AD203B41FA5}">
                      <a16:colId xmlns:a16="http://schemas.microsoft.com/office/drawing/2014/main" val="2501854814"/>
                    </a:ext>
                  </a:extLst>
                </a:gridCol>
                <a:gridCol w="845702">
                  <a:extLst>
                    <a:ext uri="{9D8B030D-6E8A-4147-A177-3AD203B41FA5}">
                      <a16:colId xmlns:a16="http://schemas.microsoft.com/office/drawing/2014/main" val="2179463999"/>
                    </a:ext>
                  </a:extLst>
                </a:gridCol>
                <a:gridCol w="845702">
                  <a:extLst>
                    <a:ext uri="{9D8B030D-6E8A-4147-A177-3AD203B41FA5}">
                      <a16:colId xmlns:a16="http://schemas.microsoft.com/office/drawing/2014/main" val="1997916844"/>
                    </a:ext>
                  </a:extLst>
                </a:gridCol>
              </a:tblGrid>
              <a:tr h="253484">
                <a:tc>
                  <a:txBody>
                    <a:bodyPr/>
                    <a:lstStyle/>
                    <a:p>
                      <a:pPr algn="ctr" fontAlgn="b"/>
                      <a:r>
                        <a:rPr lang="en-GB" sz="1400" b="0" i="0" u="none" strike="noStrike" dirty="0">
                          <a:solidFill>
                            <a:schemeClr val="bg1">
                              <a:lumMod val="65000"/>
                            </a:schemeClr>
                          </a:solidFill>
                          <a:effectLst/>
                          <a:latin typeface="Calibri" panose="020F0502020204030204" pitchFamily="34" charset="0"/>
                        </a:rPr>
                        <a:t>1456</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681</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775</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170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290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284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210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158</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344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937</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dirty="0">
                          <a:solidFill>
                            <a:schemeClr val="bg1">
                              <a:lumMod val="65000"/>
                            </a:schemeClr>
                          </a:solidFill>
                          <a:effectLst/>
                          <a:latin typeface="Calibri" panose="020F0502020204030204" pitchFamily="34" charset="0"/>
                        </a:rPr>
                        <a:t>519</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09280864"/>
                  </a:ext>
                </a:extLst>
              </a:tr>
            </a:tbl>
          </a:graphicData>
        </a:graphic>
      </p:graphicFrame>
      <p:sp>
        <p:nvSpPr>
          <p:cNvPr id="9" name="TextBox 8">
            <a:extLst>
              <a:ext uri="{FF2B5EF4-FFF2-40B4-BE49-F238E27FC236}">
                <a16:creationId xmlns:a16="http://schemas.microsoft.com/office/drawing/2014/main" id="{D2435B7F-71DF-4274-B928-1A83A39B2C01}"/>
              </a:ext>
            </a:extLst>
          </p:cNvPr>
          <p:cNvSpPr txBox="1"/>
          <p:nvPr/>
        </p:nvSpPr>
        <p:spPr>
          <a:xfrm>
            <a:off x="331302" y="675740"/>
            <a:ext cx="11714923" cy="307777"/>
          </a:xfrm>
          <a:prstGeom prst="rect">
            <a:avLst/>
          </a:prstGeom>
          <a:noFill/>
        </p:spPr>
        <p:txBody>
          <a:bodyPr wrap="square">
            <a:spAutoFit/>
          </a:bodyPr>
          <a:lstStyle/>
          <a:p>
            <a:pPr lvl="0">
              <a:defRPr/>
            </a:pPr>
            <a:r>
              <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rPr>
              <a:t>Most people (74%) </a:t>
            </a:r>
            <a:r>
              <a:rPr lang="en-US" sz="1400" b="1" dirty="0">
                <a:solidFill>
                  <a:srgbClr val="0070C0"/>
                </a:solidFill>
                <a:latin typeface="Book Antiqua" panose="02040602050305030304" pitchFamily="18" charset="0"/>
                <a:ea typeface="Arial Unicode MS"/>
              </a:rPr>
              <a:t>are not personally interested in leadership or governance roles. Interest is higher in Kano (23%), and among males (22%).</a:t>
            </a:r>
            <a:endPar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endParaRPr>
          </a:p>
        </p:txBody>
      </p:sp>
    </p:spTree>
    <p:extLst>
      <p:ext uri="{BB962C8B-B14F-4D97-AF65-F5344CB8AC3E}">
        <p14:creationId xmlns:p14="http://schemas.microsoft.com/office/powerpoint/2010/main" val="41679154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Q43. What is the biggest obstacle preventing young people from assuming leadership roles?</a:t>
            </a:r>
            <a:endParaRPr lang="en-US" sz="1000" dirty="0">
              <a:latin typeface="Book Antiqua" panose="02040602050305030304" pitchFamily="18" charset="0"/>
            </a:endParaRPr>
          </a:p>
        </p:txBody>
      </p:sp>
      <p:sp>
        <p:nvSpPr>
          <p:cNvPr id="5" name="TextBox 4">
            <a:extLst>
              <a:ext uri="{FF2B5EF4-FFF2-40B4-BE49-F238E27FC236}">
                <a16:creationId xmlns:a16="http://schemas.microsoft.com/office/drawing/2014/main" id="{55F5642B-83A0-CD7B-E2BA-8E492D002397}"/>
              </a:ext>
            </a:extLst>
          </p:cNvPr>
          <p:cNvSpPr txBox="1"/>
          <p:nvPr/>
        </p:nvSpPr>
        <p:spPr>
          <a:xfrm>
            <a:off x="312990" y="119838"/>
            <a:ext cx="8619137"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Obstacles militating  young people from assuming leadership roles</a:t>
            </a:r>
            <a:endParaRPr kumimoji="0" lang="en-US" sz="2000"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endParaRPr>
          </a:p>
        </p:txBody>
      </p:sp>
      <p:sp>
        <p:nvSpPr>
          <p:cNvPr id="7" name="TextBox 6">
            <a:extLst>
              <a:ext uri="{FF2B5EF4-FFF2-40B4-BE49-F238E27FC236}">
                <a16:creationId xmlns:a16="http://schemas.microsoft.com/office/drawing/2014/main" id="{24EE3164-36BE-1169-158F-AC5F91216B94}"/>
              </a:ext>
            </a:extLst>
          </p:cNvPr>
          <p:cNvSpPr txBox="1"/>
          <p:nvPr/>
        </p:nvSpPr>
        <p:spPr>
          <a:xfrm>
            <a:off x="331302" y="675740"/>
            <a:ext cx="11714923" cy="523220"/>
          </a:xfrm>
          <a:prstGeom prst="rect">
            <a:avLst/>
          </a:prstGeom>
          <a:noFill/>
        </p:spPr>
        <p:txBody>
          <a:bodyPr wrap="square">
            <a:spAutoFit/>
          </a:bodyPr>
          <a:lstStyle/>
          <a:p>
            <a:pPr lvl="0">
              <a:defRPr/>
            </a:pPr>
            <a:r>
              <a:rPr lang="en-US" sz="1400" b="1" dirty="0">
                <a:solidFill>
                  <a:srgbClr val="0070C0"/>
                </a:solidFill>
                <a:latin typeface="Book Antiqua" panose="02040602050305030304" pitchFamily="18" charset="0"/>
                <a:ea typeface="Arial Unicode MS"/>
              </a:rPr>
              <a:t>Lack of preparation today, or maybe in the future (38%) is the major obstacle militating  young people from assuming leadership roles. Others are Financial barriers (16%), Public skepticism about young leadership (15%), and Political exclusion (13%) are other obstacles.</a:t>
            </a:r>
            <a:endPar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endParaRPr>
          </a:p>
        </p:txBody>
      </p:sp>
      <p:graphicFrame>
        <p:nvGraphicFramePr>
          <p:cNvPr id="9" name="Table 8">
            <a:extLst>
              <a:ext uri="{FF2B5EF4-FFF2-40B4-BE49-F238E27FC236}">
                <a16:creationId xmlns:a16="http://schemas.microsoft.com/office/drawing/2014/main" id="{3E390FF0-39FC-4DA4-B151-BD1CE7D5240C}"/>
              </a:ext>
            </a:extLst>
          </p:cNvPr>
          <p:cNvGraphicFramePr>
            <a:graphicFrameLocks noGrp="1"/>
          </p:cNvGraphicFramePr>
          <p:nvPr>
            <p:extLst>
              <p:ext uri="{D42A27DB-BD31-4B8C-83A1-F6EECF244321}">
                <p14:modId xmlns:p14="http://schemas.microsoft.com/office/powerpoint/2010/main" val="1805370618"/>
              </p:ext>
            </p:extLst>
          </p:nvPr>
        </p:nvGraphicFramePr>
        <p:xfrm>
          <a:off x="434898" y="1587295"/>
          <a:ext cx="11273880" cy="3564570"/>
        </p:xfrm>
        <a:graphic>
          <a:graphicData uri="http://schemas.openxmlformats.org/drawingml/2006/table">
            <a:tbl>
              <a:tblPr>
                <a:tableStyleId>{5A111915-BE36-4E01-A7E5-04B1672EAD32}</a:tableStyleId>
              </a:tblPr>
              <a:tblGrid>
                <a:gridCol w="3256156">
                  <a:extLst>
                    <a:ext uri="{9D8B030D-6E8A-4147-A177-3AD203B41FA5}">
                      <a16:colId xmlns:a16="http://schemas.microsoft.com/office/drawing/2014/main" val="2939921072"/>
                    </a:ext>
                  </a:extLst>
                </a:gridCol>
                <a:gridCol w="728884">
                  <a:extLst>
                    <a:ext uri="{9D8B030D-6E8A-4147-A177-3AD203B41FA5}">
                      <a16:colId xmlns:a16="http://schemas.microsoft.com/office/drawing/2014/main" val="240042294"/>
                    </a:ext>
                  </a:extLst>
                </a:gridCol>
                <a:gridCol w="728884">
                  <a:extLst>
                    <a:ext uri="{9D8B030D-6E8A-4147-A177-3AD203B41FA5}">
                      <a16:colId xmlns:a16="http://schemas.microsoft.com/office/drawing/2014/main" val="1471018050"/>
                    </a:ext>
                  </a:extLst>
                </a:gridCol>
                <a:gridCol w="728884">
                  <a:extLst>
                    <a:ext uri="{9D8B030D-6E8A-4147-A177-3AD203B41FA5}">
                      <a16:colId xmlns:a16="http://schemas.microsoft.com/office/drawing/2014/main" val="2631900519"/>
                    </a:ext>
                  </a:extLst>
                </a:gridCol>
                <a:gridCol w="728884">
                  <a:extLst>
                    <a:ext uri="{9D8B030D-6E8A-4147-A177-3AD203B41FA5}">
                      <a16:colId xmlns:a16="http://schemas.microsoft.com/office/drawing/2014/main" val="3445961416"/>
                    </a:ext>
                  </a:extLst>
                </a:gridCol>
                <a:gridCol w="728884">
                  <a:extLst>
                    <a:ext uri="{9D8B030D-6E8A-4147-A177-3AD203B41FA5}">
                      <a16:colId xmlns:a16="http://schemas.microsoft.com/office/drawing/2014/main" val="1157888105"/>
                    </a:ext>
                  </a:extLst>
                </a:gridCol>
                <a:gridCol w="728884">
                  <a:extLst>
                    <a:ext uri="{9D8B030D-6E8A-4147-A177-3AD203B41FA5}">
                      <a16:colId xmlns:a16="http://schemas.microsoft.com/office/drawing/2014/main" val="542496135"/>
                    </a:ext>
                  </a:extLst>
                </a:gridCol>
                <a:gridCol w="728884">
                  <a:extLst>
                    <a:ext uri="{9D8B030D-6E8A-4147-A177-3AD203B41FA5}">
                      <a16:colId xmlns:a16="http://schemas.microsoft.com/office/drawing/2014/main" val="2908582105"/>
                    </a:ext>
                  </a:extLst>
                </a:gridCol>
                <a:gridCol w="728884">
                  <a:extLst>
                    <a:ext uri="{9D8B030D-6E8A-4147-A177-3AD203B41FA5}">
                      <a16:colId xmlns:a16="http://schemas.microsoft.com/office/drawing/2014/main" val="1141895410"/>
                    </a:ext>
                  </a:extLst>
                </a:gridCol>
                <a:gridCol w="728884">
                  <a:extLst>
                    <a:ext uri="{9D8B030D-6E8A-4147-A177-3AD203B41FA5}">
                      <a16:colId xmlns:a16="http://schemas.microsoft.com/office/drawing/2014/main" val="2088834717"/>
                    </a:ext>
                  </a:extLst>
                </a:gridCol>
                <a:gridCol w="728884">
                  <a:extLst>
                    <a:ext uri="{9D8B030D-6E8A-4147-A177-3AD203B41FA5}">
                      <a16:colId xmlns:a16="http://schemas.microsoft.com/office/drawing/2014/main" val="2450593191"/>
                    </a:ext>
                  </a:extLst>
                </a:gridCol>
                <a:gridCol w="728884">
                  <a:extLst>
                    <a:ext uri="{9D8B030D-6E8A-4147-A177-3AD203B41FA5}">
                      <a16:colId xmlns:a16="http://schemas.microsoft.com/office/drawing/2014/main" val="1571396105"/>
                    </a:ext>
                  </a:extLst>
                </a:gridCol>
              </a:tblGrid>
              <a:tr h="246475">
                <a:tc>
                  <a:txBody>
                    <a:bodyPr/>
                    <a:lstStyle/>
                    <a:p>
                      <a:pPr algn="ctr" fontAlgn="b"/>
                      <a:endParaRPr lang="en-GB" sz="14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chemeClr val="bg1"/>
                      </a:solidFill>
                      <a:prstDash val="solid"/>
                      <a:round/>
                      <a:headEnd type="none" w="med" len="med"/>
                      <a:tailEnd type="none" w="med" len="med"/>
                    </a:lnL>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Total</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Male</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Female</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FCT</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Bauchi</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Kano</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Enugu</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Edo</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Lagos</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Urban</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Rural</a:t>
                      </a:r>
                    </a:p>
                  </a:txBody>
                  <a:tcPr marL="9525" marR="9525" marT="9525" marB="0" anchor="ctr">
                    <a:lnR w="127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extLst>
                  <a:ext uri="{0D108BD9-81ED-4DB2-BD59-A6C34878D82A}">
                    <a16:rowId xmlns:a16="http://schemas.microsoft.com/office/drawing/2014/main" val="1524205756"/>
                  </a:ext>
                </a:extLst>
              </a:tr>
              <a:tr h="246475">
                <a:tc>
                  <a:txBody>
                    <a:bodyPr/>
                    <a:lstStyle/>
                    <a:p>
                      <a:pPr algn="ctr" fontAlgn="b"/>
                      <a:r>
                        <a:rPr lang="en-GB" sz="1400" b="1" i="0" u="none" strike="noStrike" dirty="0">
                          <a:solidFill>
                            <a:srgbClr val="000000"/>
                          </a:solidFill>
                          <a:effectLst/>
                          <a:latin typeface="Calibri" panose="020F0502020204030204" pitchFamily="34" charset="0"/>
                        </a:rPr>
                        <a:t>Total</a:t>
                      </a:r>
                    </a:p>
                  </a:txBody>
                  <a:tcPr marL="9525" marR="9525" marT="9525" marB="0" anchor="ctr">
                    <a:lnL w="38100" cap="flat" cmpd="sng" algn="ctr">
                      <a:solidFill>
                        <a:schemeClr val="bg1"/>
                      </a:solidFill>
                      <a:prstDash val="solid"/>
                      <a:round/>
                      <a:headEnd type="none" w="med" len="med"/>
                      <a:tailEnd type="none" w="med" len="med"/>
                    </a:lnL>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1456</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681</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775</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170</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290</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284</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210</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158</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344</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937</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519</a:t>
                      </a:r>
                    </a:p>
                  </a:txBody>
                  <a:tcPr marL="9525" marR="9525" marT="9525" marB="0" anchor="ctr">
                    <a:lnR w="127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3795218639"/>
                  </a:ext>
                </a:extLst>
              </a:tr>
              <a:tr h="246475">
                <a:tc>
                  <a:txBody>
                    <a:bodyPr/>
                    <a:lstStyle/>
                    <a:p>
                      <a:pPr algn="l" fontAlgn="b"/>
                      <a:r>
                        <a:rPr lang="en-GB" sz="1400" b="0" i="0" u="none" strike="noStrike" dirty="0">
                          <a:solidFill>
                            <a:srgbClr val="000000"/>
                          </a:solidFill>
                          <a:effectLst/>
                          <a:latin typeface="Calibri" panose="020F0502020204030204" pitchFamily="34" charset="0"/>
                        </a:rPr>
                        <a:t>Maybe in the future</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38%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39%</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37%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30%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55%</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43%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39%</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48%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36%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41%</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363113347"/>
                  </a:ext>
                </a:extLst>
              </a:tr>
              <a:tr h="515734">
                <a:tc>
                  <a:txBody>
                    <a:bodyPr/>
                    <a:lstStyle/>
                    <a:p>
                      <a:pPr algn="l" fontAlgn="b"/>
                      <a:r>
                        <a:rPr lang="en-US" sz="1400" b="0" i="0" u="none" strike="noStrike" dirty="0">
                          <a:solidFill>
                            <a:srgbClr val="000000"/>
                          </a:solidFill>
                          <a:effectLst/>
                          <a:latin typeface="Calibri" panose="020F0502020204030204" pitchFamily="34" charset="0"/>
                        </a:rPr>
                        <a:t>Financial barriers (e.g., cost of political campaigns, lack of resources)</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16%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14%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15%</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34%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9%</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22%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15%</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3480748542"/>
                  </a:ext>
                </a:extLst>
              </a:tr>
              <a:tr h="515734">
                <a:tc>
                  <a:txBody>
                    <a:bodyPr/>
                    <a:lstStyle/>
                    <a:p>
                      <a:pPr algn="l" fontAlgn="b"/>
                      <a:r>
                        <a:rPr lang="en-US" sz="1400" b="0" i="0" u="none" strike="noStrike" dirty="0">
                          <a:solidFill>
                            <a:srgbClr val="000000"/>
                          </a:solidFill>
                          <a:effectLst/>
                          <a:latin typeface="Calibri" panose="020F0502020204030204" pitchFamily="34" charset="0"/>
                        </a:rPr>
                        <a:t>Public skepticism about young leadership (e.g., lack of trust in youth-led governance)</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15%</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15%</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16%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22%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26%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19%</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13%</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621086869"/>
                  </a:ext>
                </a:extLst>
              </a:tr>
              <a:tr h="515734">
                <a:tc>
                  <a:txBody>
                    <a:bodyPr/>
                    <a:lstStyle/>
                    <a:p>
                      <a:pPr algn="l" fontAlgn="b"/>
                      <a:r>
                        <a:rPr lang="en-US" sz="1400" b="0" i="0" u="none" strike="noStrike">
                          <a:solidFill>
                            <a:srgbClr val="000000"/>
                          </a:solidFill>
                          <a:effectLst/>
                          <a:latin typeface="Calibri" panose="020F0502020204030204" pitchFamily="34" charset="0"/>
                        </a:rPr>
                        <a:t>Political exclusion (e.g., age restrictions, lack of access to decision-making spaces)</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13%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13%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13%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19%</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13%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14%</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226683108"/>
                  </a:ext>
                </a:extLst>
              </a:tr>
              <a:tr h="515734">
                <a:tc>
                  <a:txBody>
                    <a:bodyPr/>
                    <a:lstStyle/>
                    <a:p>
                      <a:pPr algn="l" fontAlgn="b"/>
                      <a:r>
                        <a:rPr lang="en-US" sz="1400" b="0" i="0" u="none" strike="noStrike" dirty="0">
                          <a:solidFill>
                            <a:srgbClr val="000000"/>
                          </a:solidFill>
                          <a:effectLst/>
                          <a:latin typeface="Calibri" panose="020F0502020204030204" pitchFamily="34" charset="0"/>
                        </a:rPr>
                        <a:t>Limited experience (e.g., inadequate exposure to governance structures)</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10%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10%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18%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9%</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107245604"/>
                  </a:ext>
                </a:extLst>
              </a:tr>
              <a:tr h="515734">
                <a:tc>
                  <a:txBody>
                    <a:bodyPr/>
                    <a:lstStyle/>
                    <a:p>
                      <a:pPr algn="l" fontAlgn="b"/>
                      <a:r>
                        <a:rPr lang="en-US" sz="1400" b="0" i="0" u="none" strike="noStrike" dirty="0">
                          <a:solidFill>
                            <a:srgbClr val="000000"/>
                          </a:solidFill>
                          <a:effectLst/>
                          <a:latin typeface="Calibri" panose="020F0502020204030204" pitchFamily="34" charset="0"/>
                        </a:rPr>
                        <a:t>Lack of role models (e.g., absence of visible, successful young leaders)</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16%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11%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7%</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2582069644"/>
                  </a:ext>
                </a:extLst>
              </a:tr>
              <a:tr h="246475">
                <a:tc>
                  <a:txBody>
                    <a:bodyPr/>
                    <a:lstStyle/>
                    <a:p>
                      <a:pPr algn="l" fontAlgn="b"/>
                      <a:r>
                        <a:rPr lang="en-GB" sz="1400" b="0" i="0" u="none" strike="noStrike" dirty="0">
                          <a:solidFill>
                            <a:srgbClr val="000000"/>
                          </a:solidFill>
                          <a:effectLst/>
                          <a:latin typeface="Calibri" panose="020F0502020204030204" pitchFamily="34" charset="0"/>
                        </a:rPr>
                        <a:t>Godfatherism</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1%</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2772997391"/>
                  </a:ext>
                </a:extLst>
              </a:tr>
            </a:tbl>
          </a:graphicData>
        </a:graphic>
      </p:graphicFrame>
    </p:spTree>
    <p:extLst>
      <p:ext uri="{BB962C8B-B14F-4D97-AF65-F5344CB8AC3E}">
        <p14:creationId xmlns:p14="http://schemas.microsoft.com/office/powerpoint/2010/main" val="19353483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Q44. Do you believe young leaders can improve governance in Nigeria?</a:t>
            </a:r>
            <a:endParaRPr lang="en-US" sz="1000" dirty="0">
              <a:latin typeface="Book Antiqua" panose="02040602050305030304" pitchFamily="18" charset="0"/>
            </a:endParaRPr>
          </a:p>
        </p:txBody>
      </p:sp>
      <p:sp>
        <p:nvSpPr>
          <p:cNvPr id="5" name="TextBox 4">
            <a:extLst>
              <a:ext uri="{FF2B5EF4-FFF2-40B4-BE49-F238E27FC236}">
                <a16:creationId xmlns:a16="http://schemas.microsoft.com/office/drawing/2014/main" id="{55F5642B-83A0-CD7B-E2BA-8E492D002397}"/>
              </a:ext>
            </a:extLst>
          </p:cNvPr>
          <p:cNvSpPr txBox="1"/>
          <p:nvPr/>
        </p:nvSpPr>
        <p:spPr>
          <a:xfrm>
            <a:off x="312990" y="119838"/>
            <a:ext cx="8139634"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Belief in young leaders’ abilities to improve governance in Nigeria</a:t>
            </a:r>
            <a:endParaRPr kumimoji="0" lang="en-US" sz="2000"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endParaRPr>
          </a:p>
        </p:txBody>
      </p:sp>
      <p:sp>
        <p:nvSpPr>
          <p:cNvPr id="8" name="TextBox 7"/>
          <p:cNvSpPr txBox="1"/>
          <p:nvPr/>
        </p:nvSpPr>
        <p:spPr>
          <a:xfrm>
            <a:off x="143691" y="3592286"/>
            <a:ext cx="535578" cy="369332"/>
          </a:xfrm>
          <a:prstGeom prst="rect">
            <a:avLst/>
          </a:prstGeom>
          <a:noFill/>
        </p:spPr>
        <p:txBody>
          <a:bodyPr wrap="square" rtlCol="0">
            <a:spAutoFit/>
          </a:bodyPr>
          <a:lstStyle/>
          <a:p>
            <a:r>
              <a:rPr lang="en-US" dirty="0"/>
              <a:t>%</a:t>
            </a:r>
          </a:p>
        </p:txBody>
      </p:sp>
      <p:sp>
        <p:nvSpPr>
          <p:cNvPr id="7" name="TextBox 6">
            <a:extLst>
              <a:ext uri="{FF2B5EF4-FFF2-40B4-BE49-F238E27FC236}">
                <a16:creationId xmlns:a16="http://schemas.microsoft.com/office/drawing/2014/main" id="{24EE3164-36BE-1169-158F-AC5F91216B94}"/>
              </a:ext>
            </a:extLst>
          </p:cNvPr>
          <p:cNvSpPr txBox="1"/>
          <p:nvPr/>
        </p:nvSpPr>
        <p:spPr>
          <a:xfrm>
            <a:off x="331302" y="675740"/>
            <a:ext cx="11714923" cy="523220"/>
          </a:xfrm>
          <a:prstGeom prst="rect">
            <a:avLst/>
          </a:prstGeom>
          <a:noFill/>
        </p:spPr>
        <p:txBody>
          <a:bodyPr wrap="square">
            <a:spAutoFit/>
          </a:bodyPr>
          <a:lstStyle/>
          <a:p>
            <a:pPr lvl="0">
              <a:defRPr/>
            </a:pPr>
            <a:r>
              <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rPr>
              <a:t>Most people (72</a:t>
            </a:r>
            <a:r>
              <a:rPr lang="en-US" sz="1400" b="1" dirty="0">
                <a:solidFill>
                  <a:srgbClr val="0070C0"/>
                </a:solidFill>
                <a:latin typeface="Book Antiqua" panose="02040602050305030304" pitchFamily="18" charset="0"/>
                <a:ea typeface="Arial Unicode MS"/>
              </a:rPr>
              <a:t>%) believed in young leaders’ abilities to improve governance in Nigeria. Most people in Enugu believed that governance requires experience and expertise. </a:t>
            </a:r>
            <a:endPar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endParaRPr>
          </a:p>
        </p:txBody>
      </p:sp>
      <p:graphicFrame>
        <p:nvGraphicFramePr>
          <p:cNvPr id="10" name="Chart 9">
            <a:extLst>
              <a:ext uri="{FF2B5EF4-FFF2-40B4-BE49-F238E27FC236}">
                <a16:creationId xmlns:a16="http://schemas.microsoft.com/office/drawing/2014/main" id="{8FE322D5-99B6-487C-B2DD-8D56D25FF0AD}"/>
              </a:ext>
            </a:extLst>
          </p:cNvPr>
          <p:cNvGraphicFramePr/>
          <p:nvPr>
            <p:extLst>
              <p:ext uri="{D42A27DB-BD31-4B8C-83A1-F6EECF244321}">
                <p14:modId xmlns:p14="http://schemas.microsoft.com/office/powerpoint/2010/main" val="1929561969"/>
              </p:ext>
            </p:extLst>
          </p:nvPr>
        </p:nvGraphicFramePr>
        <p:xfrm>
          <a:off x="679269" y="1514700"/>
          <a:ext cx="11051813" cy="360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Table 8">
            <a:extLst>
              <a:ext uri="{FF2B5EF4-FFF2-40B4-BE49-F238E27FC236}">
                <a16:creationId xmlns:a16="http://schemas.microsoft.com/office/drawing/2014/main" id="{452544F1-8E00-474D-A528-2EBD7D2F9035}"/>
              </a:ext>
            </a:extLst>
          </p:cNvPr>
          <p:cNvGraphicFramePr>
            <a:graphicFrameLocks noGrp="1"/>
          </p:cNvGraphicFramePr>
          <p:nvPr>
            <p:extLst>
              <p:ext uri="{D42A27DB-BD31-4B8C-83A1-F6EECF244321}">
                <p14:modId xmlns:p14="http://schemas.microsoft.com/office/powerpoint/2010/main" val="1420836204"/>
              </p:ext>
            </p:extLst>
          </p:nvPr>
        </p:nvGraphicFramePr>
        <p:xfrm>
          <a:off x="2261099" y="5652343"/>
          <a:ext cx="9302722" cy="253484"/>
        </p:xfrm>
        <a:graphic>
          <a:graphicData uri="http://schemas.openxmlformats.org/drawingml/2006/table">
            <a:tbl>
              <a:tblPr>
                <a:tableStyleId>{5C22544A-7EE6-4342-B048-85BDC9FD1C3A}</a:tableStyleId>
              </a:tblPr>
              <a:tblGrid>
                <a:gridCol w="845702">
                  <a:extLst>
                    <a:ext uri="{9D8B030D-6E8A-4147-A177-3AD203B41FA5}">
                      <a16:colId xmlns:a16="http://schemas.microsoft.com/office/drawing/2014/main" val="2379250083"/>
                    </a:ext>
                  </a:extLst>
                </a:gridCol>
                <a:gridCol w="845702">
                  <a:extLst>
                    <a:ext uri="{9D8B030D-6E8A-4147-A177-3AD203B41FA5}">
                      <a16:colId xmlns:a16="http://schemas.microsoft.com/office/drawing/2014/main" val="3707767684"/>
                    </a:ext>
                  </a:extLst>
                </a:gridCol>
                <a:gridCol w="845702">
                  <a:extLst>
                    <a:ext uri="{9D8B030D-6E8A-4147-A177-3AD203B41FA5}">
                      <a16:colId xmlns:a16="http://schemas.microsoft.com/office/drawing/2014/main" val="2497172989"/>
                    </a:ext>
                  </a:extLst>
                </a:gridCol>
                <a:gridCol w="845702">
                  <a:extLst>
                    <a:ext uri="{9D8B030D-6E8A-4147-A177-3AD203B41FA5}">
                      <a16:colId xmlns:a16="http://schemas.microsoft.com/office/drawing/2014/main" val="848469032"/>
                    </a:ext>
                  </a:extLst>
                </a:gridCol>
                <a:gridCol w="845702">
                  <a:extLst>
                    <a:ext uri="{9D8B030D-6E8A-4147-A177-3AD203B41FA5}">
                      <a16:colId xmlns:a16="http://schemas.microsoft.com/office/drawing/2014/main" val="2303936815"/>
                    </a:ext>
                  </a:extLst>
                </a:gridCol>
                <a:gridCol w="845702">
                  <a:extLst>
                    <a:ext uri="{9D8B030D-6E8A-4147-A177-3AD203B41FA5}">
                      <a16:colId xmlns:a16="http://schemas.microsoft.com/office/drawing/2014/main" val="460349122"/>
                    </a:ext>
                  </a:extLst>
                </a:gridCol>
                <a:gridCol w="845702">
                  <a:extLst>
                    <a:ext uri="{9D8B030D-6E8A-4147-A177-3AD203B41FA5}">
                      <a16:colId xmlns:a16="http://schemas.microsoft.com/office/drawing/2014/main" val="704838673"/>
                    </a:ext>
                  </a:extLst>
                </a:gridCol>
                <a:gridCol w="845702">
                  <a:extLst>
                    <a:ext uri="{9D8B030D-6E8A-4147-A177-3AD203B41FA5}">
                      <a16:colId xmlns:a16="http://schemas.microsoft.com/office/drawing/2014/main" val="2575188808"/>
                    </a:ext>
                  </a:extLst>
                </a:gridCol>
                <a:gridCol w="845702">
                  <a:extLst>
                    <a:ext uri="{9D8B030D-6E8A-4147-A177-3AD203B41FA5}">
                      <a16:colId xmlns:a16="http://schemas.microsoft.com/office/drawing/2014/main" val="2501854814"/>
                    </a:ext>
                  </a:extLst>
                </a:gridCol>
                <a:gridCol w="845702">
                  <a:extLst>
                    <a:ext uri="{9D8B030D-6E8A-4147-A177-3AD203B41FA5}">
                      <a16:colId xmlns:a16="http://schemas.microsoft.com/office/drawing/2014/main" val="2179463999"/>
                    </a:ext>
                  </a:extLst>
                </a:gridCol>
                <a:gridCol w="845702">
                  <a:extLst>
                    <a:ext uri="{9D8B030D-6E8A-4147-A177-3AD203B41FA5}">
                      <a16:colId xmlns:a16="http://schemas.microsoft.com/office/drawing/2014/main" val="1997916844"/>
                    </a:ext>
                  </a:extLst>
                </a:gridCol>
              </a:tblGrid>
              <a:tr h="253484">
                <a:tc>
                  <a:txBody>
                    <a:bodyPr/>
                    <a:lstStyle/>
                    <a:p>
                      <a:pPr algn="ctr" fontAlgn="b"/>
                      <a:r>
                        <a:rPr lang="en-GB" sz="1400" b="0" i="0" u="none" strike="noStrike" dirty="0">
                          <a:solidFill>
                            <a:schemeClr val="bg1">
                              <a:lumMod val="65000"/>
                            </a:schemeClr>
                          </a:solidFill>
                          <a:effectLst/>
                          <a:latin typeface="Calibri" panose="020F0502020204030204" pitchFamily="34" charset="0"/>
                        </a:rPr>
                        <a:t>1456</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681</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775</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170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290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284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210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158</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344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937</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dirty="0">
                          <a:solidFill>
                            <a:schemeClr val="bg1">
                              <a:lumMod val="65000"/>
                            </a:schemeClr>
                          </a:solidFill>
                          <a:effectLst/>
                          <a:latin typeface="Calibri" panose="020F0502020204030204" pitchFamily="34" charset="0"/>
                        </a:rPr>
                        <a:t>519</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09280864"/>
                  </a:ext>
                </a:extLst>
              </a:tr>
            </a:tbl>
          </a:graphicData>
        </a:graphic>
      </p:graphicFrame>
    </p:spTree>
    <p:extLst>
      <p:ext uri="{BB962C8B-B14F-4D97-AF65-F5344CB8AC3E}">
        <p14:creationId xmlns:p14="http://schemas.microsoft.com/office/powerpoint/2010/main" val="179653884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Q45. What kind of support would be most effective in increasing youth leadership participation?</a:t>
            </a:r>
            <a:endParaRPr lang="en-US" sz="1000" dirty="0">
              <a:latin typeface="Book Antiqua" panose="02040602050305030304" pitchFamily="18" charset="0"/>
            </a:endParaRPr>
          </a:p>
        </p:txBody>
      </p:sp>
      <p:sp>
        <p:nvSpPr>
          <p:cNvPr id="5" name="TextBox 4">
            <a:extLst>
              <a:ext uri="{FF2B5EF4-FFF2-40B4-BE49-F238E27FC236}">
                <a16:creationId xmlns:a16="http://schemas.microsoft.com/office/drawing/2014/main" id="{55F5642B-83A0-CD7B-E2BA-8E492D002397}"/>
              </a:ext>
            </a:extLst>
          </p:cNvPr>
          <p:cNvSpPr txBox="1"/>
          <p:nvPr/>
        </p:nvSpPr>
        <p:spPr>
          <a:xfrm>
            <a:off x="312990" y="119838"/>
            <a:ext cx="8619137"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Effective supports that would increase youth leadership participation</a:t>
            </a:r>
            <a:endParaRPr kumimoji="0" lang="en-US" sz="2000"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endParaRPr>
          </a:p>
        </p:txBody>
      </p:sp>
      <p:sp>
        <p:nvSpPr>
          <p:cNvPr id="7" name="TextBox 6">
            <a:extLst>
              <a:ext uri="{FF2B5EF4-FFF2-40B4-BE49-F238E27FC236}">
                <a16:creationId xmlns:a16="http://schemas.microsoft.com/office/drawing/2014/main" id="{24EE3164-36BE-1169-158F-AC5F91216B94}"/>
              </a:ext>
            </a:extLst>
          </p:cNvPr>
          <p:cNvSpPr txBox="1"/>
          <p:nvPr/>
        </p:nvSpPr>
        <p:spPr>
          <a:xfrm>
            <a:off x="331302" y="675740"/>
            <a:ext cx="11714923" cy="523220"/>
          </a:xfrm>
          <a:prstGeom prst="rect">
            <a:avLst/>
          </a:prstGeom>
          <a:noFill/>
        </p:spPr>
        <p:txBody>
          <a:bodyPr wrap="square">
            <a:spAutoFit/>
          </a:bodyPr>
          <a:lstStyle/>
          <a:p>
            <a:pPr lvl="0">
              <a:defRPr/>
            </a:pPr>
            <a:r>
              <a:rPr lang="en-US" sz="1400" b="1" dirty="0">
                <a:solidFill>
                  <a:srgbClr val="0070C0"/>
                </a:solidFill>
                <a:latin typeface="Book Antiqua" panose="02040602050305030304" pitchFamily="18" charset="0"/>
                <a:ea typeface="Arial Unicode MS"/>
              </a:rPr>
              <a:t>Financial assistance and funding for youth political engagement (30%), Leadership training and capacity-building programs (24%), and Public recognition and advocacy for youth leaders (18%) are some of the effective supports that would increase youth leadership participation.</a:t>
            </a:r>
            <a:endPar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endParaRPr>
          </a:p>
        </p:txBody>
      </p:sp>
      <p:graphicFrame>
        <p:nvGraphicFramePr>
          <p:cNvPr id="9" name="Table 8">
            <a:extLst>
              <a:ext uri="{FF2B5EF4-FFF2-40B4-BE49-F238E27FC236}">
                <a16:creationId xmlns:a16="http://schemas.microsoft.com/office/drawing/2014/main" id="{3E390FF0-39FC-4DA4-B151-BD1CE7D5240C}"/>
              </a:ext>
            </a:extLst>
          </p:cNvPr>
          <p:cNvGraphicFramePr>
            <a:graphicFrameLocks noGrp="1"/>
          </p:cNvGraphicFramePr>
          <p:nvPr>
            <p:extLst>
              <p:ext uri="{D42A27DB-BD31-4B8C-83A1-F6EECF244321}">
                <p14:modId xmlns:p14="http://schemas.microsoft.com/office/powerpoint/2010/main" val="1121913362"/>
              </p:ext>
            </p:extLst>
          </p:nvPr>
        </p:nvGraphicFramePr>
        <p:xfrm>
          <a:off x="434898" y="1587295"/>
          <a:ext cx="11273880" cy="2992131"/>
        </p:xfrm>
        <a:graphic>
          <a:graphicData uri="http://schemas.openxmlformats.org/drawingml/2006/table">
            <a:tbl>
              <a:tblPr>
                <a:tableStyleId>{5A111915-BE36-4E01-A7E5-04B1672EAD32}</a:tableStyleId>
              </a:tblPr>
              <a:tblGrid>
                <a:gridCol w="3256156">
                  <a:extLst>
                    <a:ext uri="{9D8B030D-6E8A-4147-A177-3AD203B41FA5}">
                      <a16:colId xmlns:a16="http://schemas.microsoft.com/office/drawing/2014/main" val="2939921072"/>
                    </a:ext>
                  </a:extLst>
                </a:gridCol>
                <a:gridCol w="728884">
                  <a:extLst>
                    <a:ext uri="{9D8B030D-6E8A-4147-A177-3AD203B41FA5}">
                      <a16:colId xmlns:a16="http://schemas.microsoft.com/office/drawing/2014/main" val="240042294"/>
                    </a:ext>
                  </a:extLst>
                </a:gridCol>
                <a:gridCol w="728884">
                  <a:extLst>
                    <a:ext uri="{9D8B030D-6E8A-4147-A177-3AD203B41FA5}">
                      <a16:colId xmlns:a16="http://schemas.microsoft.com/office/drawing/2014/main" val="1471018050"/>
                    </a:ext>
                  </a:extLst>
                </a:gridCol>
                <a:gridCol w="728884">
                  <a:extLst>
                    <a:ext uri="{9D8B030D-6E8A-4147-A177-3AD203B41FA5}">
                      <a16:colId xmlns:a16="http://schemas.microsoft.com/office/drawing/2014/main" val="2631900519"/>
                    </a:ext>
                  </a:extLst>
                </a:gridCol>
                <a:gridCol w="728884">
                  <a:extLst>
                    <a:ext uri="{9D8B030D-6E8A-4147-A177-3AD203B41FA5}">
                      <a16:colId xmlns:a16="http://schemas.microsoft.com/office/drawing/2014/main" val="3445961416"/>
                    </a:ext>
                  </a:extLst>
                </a:gridCol>
                <a:gridCol w="728884">
                  <a:extLst>
                    <a:ext uri="{9D8B030D-6E8A-4147-A177-3AD203B41FA5}">
                      <a16:colId xmlns:a16="http://schemas.microsoft.com/office/drawing/2014/main" val="1157888105"/>
                    </a:ext>
                  </a:extLst>
                </a:gridCol>
                <a:gridCol w="728884">
                  <a:extLst>
                    <a:ext uri="{9D8B030D-6E8A-4147-A177-3AD203B41FA5}">
                      <a16:colId xmlns:a16="http://schemas.microsoft.com/office/drawing/2014/main" val="542496135"/>
                    </a:ext>
                  </a:extLst>
                </a:gridCol>
                <a:gridCol w="728884">
                  <a:extLst>
                    <a:ext uri="{9D8B030D-6E8A-4147-A177-3AD203B41FA5}">
                      <a16:colId xmlns:a16="http://schemas.microsoft.com/office/drawing/2014/main" val="2908582105"/>
                    </a:ext>
                  </a:extLst>
                </a:gridCol>
                <a:gridCol w="728884">
                  <a:extLst>
                    <a:ext uri="{9D8B030D-6E8A-4147-A177-3AD203B41FA5}">
                      <a16:colId xmlns:a16="http://schemas.microsoft.com/office/drawing/2014/main" val="1141895410"/>
                    </a:ext>
                  </a:extLst>
                </a:gridCol>
                <a:gridCol w="728884">
                  <a:extLst>
                    <a:ext uri="{9D8B030D-6E8A-4147-A177-3AD203B41FA5}">
                      <a16:colId xmlns:a16="http://schemas.microsoft.com/office/drawing/2014/main" val="2088834717"/>
                    </a:ext>
                  </a:extLst>
                </a:gridCol>
                <a:gridCol w="728884">
                  <a:extLst>
                    <a:ext uri="{9D8B030D-6E8A-4147-A177-3AD203B41FA5}">
                      <a16:colId xmlns:a16="http://schemas.microsoft.com/office/drawing/2014/main" val="2450593191"/>
                    </a:ext>
                  </a:extLst>
                </a:gridCol>
                <a:gridCol w="728884">
                  <a:extLst>
                    <a:ext uri="{9D8B030D-6E8A-4147-A177-3AD203B41FA5}">
                      <a16:colId xmlns:a16="http://schemas.microsoft.com/office/drawing/2014/main" val="1571396105"/>
                    </a:ext>
                  </a:extLst>
                </a:gridCol>
              </a:tblGrid>
              <a:tr h="246475">
                <a:tc>
                  <a:txBody>
                    <a:bodyPr/>
                    <a:lstStyle/>
                    <a:p>
                      <a:pPr algn="ctr" fontAlgn="b"/>
                      <a:endParaRPr lang="en-GB" sz="14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chemeClr val="bg1"/>
                      </a:solidFill>
                      <a:prstDash val="solid"/>
                      <a:round/>
                      <a:headEnd type="none" w="med" len="med"/>
                      <a:tailEnd type="none" w="med" len="med"/>
                    </a:lnL>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Total</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Male</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Female</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FCT</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Bauchi</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Kano</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Enugu</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Edo</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Lagos</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Urban</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Rural</a:t>
                      </a:r>
                    </a:p>
                  </a:txBody>
                  <a:tcPr marL="9525" marR="9525" marT="9525" marB="0" anchor="ctr">
                    <a:lnR w="127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extLst>
                  <a:ext uri="{0D108BD9-81ED-4DB2-BD59-A6C34878D82A}">
                    <a16:rowId xmlns:a16="http://schemas.microsoft.com/office/drawing/2014/main" val="1524205756"/>
                  </a:ext>
                </a:extLst>
              </a:tr>
              <a:tr h="246475">
                <a:tc>
                  <a:txBody>
                    <a:bodyPr/>
                    <a:lstStyle/>
                    <a:p>
                      <a:pPr algn="ctr" fontAlgn="b"/>
                      <a:r>
                        <a:rPr lang="en-GB" sz="1400" b="1" i="0" u="none" strike="noStrike" dirty="0">
                          <a:solidFill>
                            <a:srgbClr val="000000"/>
                          </a:solidFill>
                          <a:effectLst/>
                          <a:latin typeface="Calibri" panose="020F0502020204030204" pitchFamily="34" charset="0"/>
                        </a:rPr>
                        <a:t>Total</a:t>
                      </a:r>
                    </a:p>
                  </a:txBody>
                  <a:tcPr marL="9525" marR="9525" marT="9525" marB="0" anchor="ctr">
                    <a:lnL w="38100" cap="flat" cmpd="sng" algn="ctr">
                      <a:solidFill>
                        <a:schemeClr val="bg1"/>
                      </a:solidFill>
                      <a:prstDash val="solid"/>
                      <a:round/>
                      <a:headEnd type="none" w="med" len="med"/>
                      <a:tailEnd type="none" w="med" len="med"/>
                    </a:lnL>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1456</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681</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775</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170</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290</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284</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210</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158</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344</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937</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519</a:t>
                      </a:r>
                    </a:p>
                  </a:txBody>
                  <a:tcPr marL="9525" marR="9525" marT="9525" marB="0" anchor="ctr">
                    <a:lnR w="127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3795218639"/>
                  </a:ext>
                </a:extLst>
              </a:tr>
              <a:tr h="246475">
                <a:tc>
                  <a:txBody>
                    <a:bodyPr/>
                    <a:lstStyle/>
                    <a:p>
                      <a:pPr algn="l" fontAlgn="b"/>
                      <a:r>
                        <a:rPr lang="en-US" sz="1400" b="0" i="0" u="none" strike="noStrike" dirty="0">
                          <a:solidFill>
                            <a:srgbClr val="000000"/>
                          </a:solidFill>
                          <a:effectLst/>
                          <a:latin typeface="Calibri" panose="020F0502020204030204" pitchFamily="34" charset="0"/>
                        </a:rPr>
                        <a:t>Financial assistance and funding for youth political engagement</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30%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32%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29%</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12%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60%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30%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20%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20%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25%</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30%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30%</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363113347"/>
                  </a:ext>
                </a:extLst>
              </a:tr>
              <a:tr h="515734">
                <a:tc>
                  <a:txBody>
                    <a:bodyPr/>
                    <a:lstStyle/>
                    <a:p>
                      <a:pPr algn="l" fontAlgn="b"/>
                      <a:r>
                        <a:rPr lang="en-US" sz="1400" b="0" i="0" u="none" strike="noStrike" dirty="0">
                          <a:solidFill>
                            <a:srgbClr val="000000"/>
                          </a:solidFill>
                          <a:effectLst/>
                          <a:latin typeface="Calibri" panose="020F0502020204030204" pitchFamily="34" charset="0"/>
                        </a:rPr>
                        <a:t>Leadership training and capacity-building programs</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24%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22%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25%</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28%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32%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21%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40%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22%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26%</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3480748542"/>
                  </a:ext>
                </a:extLst>
              </a:tr>
              <a:tr h="515734">
                <a:tc>
                  <a:txBody>
                    <a:bodyPr/>
                    <a:lstStyle/>
                    <a:p>
                      <a:pPr algn="l" fontAlgn="b"/>
                      <a:r>
                        <a:rPr lang="en-US" sz="1400" b="0" i="0" u="none" strike="noStrike" dirty="0">
                          <a:solidFill>
                            <a:srgbClr val="000000"/>
                          </a:solidFill>
                          <a:effectLst/>
                          <a:latin typeface="Calibri" panose="020F0502020204030204" pitchFamily="34" charset="0"/>
                        </a:rPr>
                        <a:t>Public recognition and advocacy for youth leaders</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35%</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16%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20%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9%</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29%</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18%</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621086869"/>
                  </a:ext>
                </a:extLst>
              </a:tr>
              <a:tr h="515734">
                <a:tc>
                  <a:txBody>
                    <a:bodyPr/>
                    <a:lstStyle/>
                    <a:p>
                      <a:pPr algn="l" fontAlgn="b"/>
                      <a:r>
                        <a:rPr lang="en-US" sz="1400" b="0" i="0" u="none" strike="noStrike">
                          <a:solidFill>
                            <a:srgbClr val="000000"/>
                          </a:solidFill>
                          <a:effectLst/>
                          <a:latin typeface="Calibri" panose="020F0502020204030204" pitchFamily="34" charset="0"/>
                        </a:rPr>
                        <a:t>Political mentorship from experienced leaders</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15%</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36%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15%</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16%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11%</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226683108"/>
                  </a:ext>
                </a:extLst>
              </a:tr>
              <a:tr h="515734">
                <a:tc>
                  <a:txBody>
                    <a:bodyPr/>
                    <a:lstStyle/>
                    <a:p>
                      <a:pPr algn="l" fontAlgn="b"/>
                      <a:r>
                        <a:rPr lang="en-US" sz="1400" b="0" i="0" u="none" strike="noStrike">
                          <a:solidFill>
                            <a:srgbClr val="000000"/>
                          </a:solidFill>
                          <a:effectLst/>
                          <a:latin typeface="Calibri" panose="020F0502020204030204" pitchFamily="34" charset="0"/>
                        </a:rPr>
                        <a:t>Youth representation quotas in political parties and governance structures</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26%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15%</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15%</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12%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14%</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107245604"/>
                  </a:ext>
                </a:extLst>
              </a:tr>
            </a:tbl>
          </a:graphicData>
        </a:graphic>
      </p:graphicFrame>
    </p:spTree>
    <p:extLst>
      <p:ext uri="{BB962C8B-B14F-4D97-AF65-F5344CB8AC3E}">
        <p14:creationId xmlns:p14="http://schemas.microsoft.com/office/powerpoint/2010/main" val="36743826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Q46. How often do you engage in civic or political activities?</a:t>
            </a:r>
            <a:endParaRPr lang="en-US" sz="1000" dirty="0">
              <a:latin typeface="Book Antiqua" panose="02040602050305030304" pitchFamily="18" charset="0"/>
            </a:endParaRPr>
          </a:p>
        </p:txBody>
      </p:sp>
      <p:sp>
        <p:nvSpPr>
          <p:cNvPr id="5" name="TextBox 4">
            <a:extLst>
              <a:ext uri="{FF2B5EF4-FFF2-40B4-BE49-F238E27FC236}">
                <a16:creationId xmlns:a16="http://schemas.microsoft.com/office/drawing/2014/main" id="{55F5642B-83A0-CD7B-E2BA-8E492D002397}"/>
              </a:ext>
            </a:extLst>
          </p:cNvPr>
          <p:cNvSpPr txBox="1"/>
          <p:nvPr/>
        </p:nvSpPr>
        <p:spPr>
          <a:xfrm>
            <a:off x="312990" y="119838"/>
            <a:ext cx="8619137"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Frequency of engagement in civic or political activities</a:t>
            </a:r>
            <a:endParaRPr kumimoji="0" lang="en-US" sz="2000"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endParaRPr>
          </a:p>
        </p:txBody>
      </p:sp>
      <p:sp>
        <p:nvSpPr>
          <p:cNvPr id="7" name="TextBox 6">
            <a:extLst>
              <a:ext uri="{FF2B5EF4-FFF2-40B4-BE49-F238E27FC236}">
                <a16:creationId xmlns:a16="http://schemas.microsoft.com/office/drawing/2014/main" id="{24EE3164-36BE-1169-158F-AC5F91216B94}"/>
              </a:ext>
            </a:extLst>
          </p:cNvPr>
          <p:cNvSpPr txBox="1"/>
          <p:nvPr/>
        </p:nvSpPr>
        <p:spPr>
          <a:xfrm>
            <a:off x="331302" y="675740"/>
            <a:ext cx="11714923" cy="523220"/>
          </a:xfrm>
          <a:prstGeom prst="rect">
            <a:avLst/>
          </a:prstGeom>
          <a:noFill/>
        </p:spPr>
        <p:txBody>
          <a:bodyPr wrap="square">
            <a:spAutoFit/>
          </a:bodyPr>
          <a:lstStyle/>
          <a:p>
            <a:pPr lvl="0">
              <a:defRPr/>
            </a:pPr>
            <a:r>
              <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rPr>
              <a:t>The overall </a:t>
            </a:r>
            <a:r>
              <a:rPr lang="en-US" sz="1400" b="1" dirty="0">
                <a:solidFill>
                  <a:srgbClr val="0070C0"/>
                </a:solidFill>
                <a:latin typeface="Book Antiqua" panose="02040602050305030304" pitchFamily="18" charset="0"/>
                <a:ea typeface="Arial Unicode MS"/>
              </a:rPr>
              <a:t>engagement in civic or political activities is low at 38%, especially in Bauchi (19%). The engagement is, however, high in Kano (69%). </a:t>
            </a:r>
            <a:endPar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endParaRPr>
          </a:p>
        </p:txBody>
      </p:sp>
      <p:graphicFrame>
        <p:nvGraphicFramePr>
          <p:cNvPr id="8" name="Chart 7">
            <a:extLst>
              <a:ext uri="{FF2B5EF4-FFF2-40B4-BE49-F238E27FC236}">
                <a16:creationId xmlns:a16="http://schemas.microsoft.com/office/drawing/2014/main" id="{37185882-AD21-4D95-BD3C-7EAEACA184AD}"/>
              </a:ext>
            </a:extLst>
          </p:cNvPr>
          <p:cNvGraphicFramePr/>
          <p:nvPr>
            <p:extLst>
              <p:ext uri="{D42A27DB-BD31-4B8C-83A1-F6EECF244321}">
                <p14:modId xmlns:p14="http://schemas.microsoft.com/office/powerpoint/2010/main" val="126942085"/>
              </p:ext>
            </p:extLst>
          </p:nvPr>
        </p:nvGraphicFramePr>
        <p:xfrm>
          <a:off x="379413" y="2073913"/>
          <a:ext cx="11435200" cy="383241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Table 9">
            <a:extLst>
              <a:ext uri="{FF2B5EF4-FFF2-40B4-BE49-F238E27FC236}">
                <a16:creationId xmlns:a16="http://schemas.microsoft.com/office/drawing/2014/main" id="{53E70F58-B976-452A-A4D3-3AA36168425F}"/>
              </a:ext>
            </a:extLst>
          </p:cNvPr>
          <p:cNvGraphicFramePr>
            <a:graphicFrameLocks noGrp="1"/>
          </p:cNvGraphicFramePr>
          <p:nvPr>
            <p:extLst>
              <p:ext uri="{D42A27DB-BD31-4B8C-83A1-F6EECF244321}">
                <p14:modId xmlns:p14="http://schemas.microsoft.com/office/powerpoint/2010/main" val="4154529684"/>
              </p:ext>
            </p:extLst>
          </p:nvPr>
        </p:nvGraphicFramePr>
        <p:xfrm>
          <a:off x="2966223" y="5819608"/>
          <a:ext cx="8709107" cy="253484"/>
        </p:xfrm>
        <a:graphic>
          <a:graphicData uri="http://schemas.openxmlformats.org/drawingml/2006/table">
            <a:tbl>
              <a:tblPr>
                <a:tableStyleId>{5C22544A-7EE6-4342-B048-85BDC9FD1C3A}</a:tableStyleId>
              </a:tblPr>
              <a:tblGrid>
                <a:gridCol w="791737">
                  <a:extLst>
                    <a:ext uri="{9D8B030D-6E8A-4147-A177-3AD203B41FA5}">
                      <a16:colId xmlns:a16="http://schemas.microsoft.com/office/drawing/2014/main" val="2379250083"/>
                    </a:ext>
                  </a:extLst>
                </a:gridCol>
                <a:gridCol w="791737">
                  <a:extLst>
                    <a:ext uri="{9D8B030D-6E8A-4147-A177-3AD203B41FA5}">
                      <a16:colId xmlns:a16="http://schemas.microsoft.com/office/drawing/2014/main" val="3707767684"/>
                    </a:ext>
                  </a:extLst>
                </a:gridCol>
                <a:gridCol w="791737">
                  <a:extLst>
                    <a:ext uri="{9D8B030D-6E8A-4147-A177-3AD203B41FA5}">
                      <a16:colId xmlns:a16="http://schemas.microsoft.com/office/drawing/2014/main" val="2497172989"/>
                    </a:ext>
                  </a:extLst>
                </a:gridCol>
                <a:gridCol w="791737">
                  <a:extLst>
                    <a:ext uri="{9D8B030D-6E8A-4147-A177-3AD203B41FA5}">
                      <a16:colId xmlns:a16="http://schemas.microsoft.com/office/drawing/2014/main" val="848469032"/>
                    </a:ext>
                  </a:extLst>
                </a:gridCol>
                <a:gridCol w="791737">
                  <a:extLst>
                    <a:ext uri="{9D8B030D-6E8A-4147-A177-3AD203B41FA5}">
                      <a16:colId xmlns:a16="http://schemas.microsoft.com/office/drawing/2014/main" val="2303936815"/>
                    </a:ext>
                  </a:extLst>
                </a:gridCol>
                <a:gridCol w="791737">
                  <a:extLst>
                    <a:ext uri="{9D8B030D-6E8A-4147-A177-3AD203B41FA5}">
                      <a16:colId xmlns:a16="http://schemas.microsoft.com/office/drawing/2014/main" val="460349122"/>
                    </a:ext>
                  </a:extLst>
                </a:gridCol>
                <a:gridCol w="791737">
                  <a:extLst>
                    <a:ext uri="{9D8B030D-6E8A-4147-A177-3AD203B41FA5}">
                      <a16:colId xmlns:a16="http://schemas.microsoft.com/office/drawing/2014/main" val="704838673"/>
                    </a:ext>
                  </a:extLst>
                </a:gridCol>
                <a:gridCol w="791737">
                  <a:extLst>
                    <a:ext uri="{9D8B030D-6E8A-4147-A177-3AD203B41FA5}">
                      <a16:colId xmlns:a16="http://schemas.microsoft.com/office/drawing/2014/main" val="2575188808"/>
                    </a:ext>
                  </a:extLst>
                </a:gridCol>
                <a:gridCol w="791737">
                  <a:extLst>
                    <a:ext uri="{9D8B030D-6E8A-4147-A177-3AD203B41FA5}">
                      <a16:colId xmlns:a16="http://schemas.microsoft.com/office/drawing/2014/main" val="2501854814"/>
                    </a:ext>
                  </a:extLst>
                </a:gridCol>
                <a:gridCol w="791737">
                  <a:extLst>
                    <a:ext uri="{9D8B030D-6E8A-4147-A177-3AD203B41FA5}">
                      <a16:colId xmlns:a16="http://schemas.microsoft.com/office/drawing/2014/main" val="2179463999"/>
                    </a:ext>
                  </a:extLst>
                </a:gridCol>
                <a:gridCol w="791737">
                  <a:extLst>
                    <a:ext uri="{9D8B030D-6E8A-4147-A177-3AD203B41FA5}">
                      <a16:colId xmlns:a16="http://schemas.microsoft.com/office/drawing/2014/main" val="1997916844"/>
                    </a:ext>
                  </a:extLst>
                </a:gridCol>
              </a:tblGrid>
              <a:tr h="253484">
                <a:tc>
                  <a:txBody>
                    <a:bodyPr/>
                    <a:lstStyle/>
                    <a:p>
                      <a:pPr algn="ctr" fontAlgn="b"/>
                      <a:r>
                        <a:rPr lang="en-GB" sz="1400" b="0" i="0" u="none" strike="noStrike" dirty="0">
                          <a:solidFill>
                            <a:schemeClr val="bg1">
                              <a:lumMod val="65000"/>
                            </a:schemeClr>
                          </a:solidFill>
                          <a:effectLst/>
                          <a:latin typeface="Calibri" panose="020F0502020204030204" pitchFamily="34" charset="0"/>
                        </a:rPr>
                        <a:t>1456</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681</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775</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170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290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284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210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158</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344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937</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dirty="0">
                          <a:solidFill>
                            <a:schemeClr val="bg1">
                              <a:lumMod val="65000"/>
                            </a:schemeClr>
                          </a:solidFill>
                          <a:effectLst/>
                          <a:latin typeface="Calibri" panose="020F0502020204030204" pitchFamily="34" charset="0"/>
                        </a:rPr>
                        <a:t>519</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09280864"/>
                  </a:ext>
                </a:extLst>
              </a:tr>
            </a:tbl>
          </a:graphicData>
        </a:graphic>
      </p:graphicFrame>
    </p:spTree>
    <p:extLst>
      <p:ext uri="{BB962C8B-B14F-4D97-AF65-F5344CB8AC3E}">
        <p14:creationId xmlns:p14="http://schemas.microsoft.com/office/powerpoint/2010/main" val="262176890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Q47. What factors influence your trust in young leaders?</a:t>
            </a:r>
            <a:endParaRPr lang="en-US" sz="1000" dirty="0">
              <a:latin typeface="Book Antiqua" panose="02040602050305030304" pitchFamily="18" charset="0"/>
            </a:endParaRPr>
          </a:p>
        </p:txBody>
      </p:sp>
      <p:sp>
        <p:nvSpPr>
          <p:cNvPr id="5" name="TextBox 4">
            <a:extLst>
              <a:ext uri="{FF2B5EF4-FFF2-40B4-BE49-F238E27FC236}">
                <a16:creationId xmlns:a16="http://schemas.microsoft.com/office/drawing/2014/main" id="{55F5642B-83A0-CD7B-E2BA-8E492D002397}"/>
              </a:ext>
            </a:extLst>
          </p:cNvPr>
          <p:cNvSpPr txBox="1"/>
          <p:nvPr/>
        </p:nvSpPr>
        <p:spPr>
          <a:xfrm>
            <a:off x="312990" y="119838"/>
            <a:ext cx="8619137"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Factors that influence trust in young leaders</a:t>
            </a:r>
            <a:endParaRPr kumimoji="0" lang="en-US" sz="2000"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endParaRPr>
          </a:p>
        </p:txBody>
      </p:sp>
      <p:sp>
        <p:nvSpPr>
          <p:cNvPr id="7" name="TextBox 6">
            <a:extLst>
              <a:ext uri="{FF2B5EF4-FFF2-40B4-BE49-F238E27FC236}">
                <a16:creationId xmlns:a16="http://schemas.microsoft.com/office/drawing/2014/main" id="{24EE3164-36BE-1169-158F-AC5F91216B94}"/>
              </a:ext>
            </a:extLst>
          </p:cNvPr>
          <p:cNvSpPr txBox="1"/>
          <p:nvPr/>
        </p:nvSpPr>
        <p:spPr>
          <a:xfrm>
            <a:off x="331302" y="675740"/>
            <a:ext cx="11714923" cy="738664"/>
          </a:xfrm>
          <a:prstGeom prst="rect">
            <a:avLst/>
          </a:prstGeom>
          <a:noFill/>
        </p:spPr>
        <p:txBody>
          <a:bodyPr wrap="square">
            <a:spAutoFit/>
          </a:bodyPr>
          <a:lstStyle/>
          <a:p>
            <a:pPr lvl="0">
              <a:defRPr/>
            </a:pPr>
            <a:r>
              <a:rPr lang="en-US" sz="1400" b="1" dirty="0">
                <a:solidFill>
                  <a:srgbClr val="0070C0"/>
                </a:solidFill>
                <a:latin typeface="Book Antiqua" panose="02040602050305030304" pitchFamily="18" charset="0"/>
                <a:ea typeface="Arial Unicode MS"/>
              </a:rPr>
              <a:t>Track record in community or professional leadership (59%), ability to present clear policies and governance strategies (50%), educational background and expertise (52%), alignment with personal values and beliefs (43%), and financial independence and lack of corruption scandals (39%) are the main factors that influence trust in young leaders.</a:t>
            </a:r>
          </a:p>
        </p:txBody>
      </p:sp>
      <p:graphicFrame>
        <p:nvGraphicFramePr>
          <p:cNvPr id="9" name="Chart 8">
            <a:extLst>
              <a:ext uri="{FF2B5EF4-FFF2-40B4-BE49-F238E27FC236}">
                <a16:creationId xmlns:a16="http://schemas.microsoft.com/office/drawing/2014/main" id="{F90D2156-8571-44C8-9EC7-938FF15D699E}"/>
              </a:ext>
            </a:extLst>
          </p:cNvPr>
          <p:cNvGraphicFramePr/>
          <p:nvPr>
            <p:custDataLst>
              <p:tags r:id="rId1"/>
            </p:custDataLst>
            <p:extLst>
              <p:ext uri="{D42A27DB-BD31-4B8C-83A1-F6EECF244321}">
                <p14:modId xmlns:p14="http://schemas.microsoft.com/office/powerpoint/2010/main" val="2406280823"/>
              </p:ext>
            </p:extLst>
          </p:nvPr>
        </p:nvGraphicFramePr>
        <p:xfrm>
          <a:off x="391161" y="1592982"/>
          <a:ext cx="11414032" cy="403691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Table 9">
            <a:extLst>
              <a:ext uri="{FF2B5EF4-FFF2-40B4-BE49-F238E27FC236}">
                <a16:creationId xmlns:a16="http://schemas.microsoft.com/office/drawing/2014/main" id="{BE20651D-F259-4994-BE92-52F9E51B10EE}"/>
              </a:ext>
            </a:extLst>
          </p:cNvPr>
          <p:cNvGraphicFramePr>
            <a:graphicFrameLocks noGrp="1"/>
          </p:cNvGraphicFramePr>
          <p:nvPr>
            <p:extLst>
              <p:ext uri="{D42A27DB-BD31-4B8C-83A1-F6EECF244321}">
                <p14:modId xmlns:p14="http://schemas.microsoft.com/office/powerpoint/2010/main" val="907941530"/>
              </p:ext>
            </p:extLst>
          </p:nvPr>
        </p:nvGraphicFramePr>
        <p:xfrm>
          <a:off x="391160" y="5786155"/>
          <a:ext cx="11414029" cy="253484"/>
        </p:xfrm>
        <a:graphic>
          <a:graphicData uri="http://schemas.openxmlformats.org/drawingml/2006/table">
            <a:tbl>
              <a:tblPr>
                <a:tableStyleId>{5C22544A-7EE6-4342-B048-85BDC9FD1C3A}</a:tableStyleId>
              </a:tblPr>
              <a:tblGrid>
                <a:gridCol w="1037639">
                  <a:extLst>
                    <a:ext uri="{9D8B030D-6E8A-4147-A177-3AD203B41FA5}">
                      <a16:colId xmlns:a16="http://schemas.microsoft.com/office/drawing/2014/main" val="2379250083"/>
                    </a:ext>
                  </a:extLst>
                </a:gridCol>
                <a:gridCol w="1037639">
                  <a:extLst>
                    <a:ext uri="{9D8B030D-6E8A-4147-A177-3AD203B41FA5}">
                      <a16:colId xmlns:a16="http://schemas.microsoft.com/office/drawing/2014/main" val="3707767684"/>
                    </a:ext>
                  </a:extLst>
                </a:gridCol>
                <a:gridCol w="1037639">
                  <a:extLst>
                    <a:ext uri="{9D8B030D-6E8A-4147-A177-3AD203B41FA5}">
                      <a16:colId xmlns:a16="http://schemas.microsoft.com/office/drawing/2014/main" val="2497172989"/>
                    </a:ext>
                  </a:extLst>
                </a:gridCol>
                <a:gridCol w="1037639">
                  <a:extLst>
                    <a:ext uri="{9D8B030D-6E8A-4147-A177-3AD203B41FA5}">
                      <a16:colId xmlns:a16="http://schemas.microsoft.com/office/drawing/2014/main" val="848469032"/>
                    </a:ext>
                  </a:extLst>
                </a:gridCol>
                <a:gridCol w="1037639">
                  <a:extLst>
                    <a:ext uri="{9D8B030D-6E8A-4147-A177-3AD203B41FA5}">
                      <a16:colId xmlns:a16="http://schemas.microsoft.com/office/drawing/2014/main" val="2303936815"/>
                    </a:ext>
                  </a:extLst>
                </a:gridCol>
                <a:gridCol w="1037639">
                  <a:extLst>
                    <a:ext uri="{9D8B030D-6E8A-4147-A177-3AD203B41FA5}">
                      <a16:colId xmlns:a16="http://schemas.microsoft.com/office/drawing/2014/main" val="460349122"/>
                    </a:ext>
                  </a:extLst>
                </a:gridCol>
                <a:gridCol w="1037639">
                  <a:extLst>
                    <a:ext uri="{9D8B030D-6E8A-4147-A177-3AD203B41FA5}">
                      <a16:colId xmlns:a16="http://schemas.microsoft.com/office/drawing/2014/main" val="704838673"/>
                    </a:ext>
                  </a:extLst>
                </a:gridCol>
                <a:gridCol w="1037639">
                  <a:extLst>
                    <a:ext uri="{9D8B030D-6E8A-4147-A177-3AD203B41FA5}">
                      <a16:colId xmlns:a16="http://schemas.microsoft.com/office/drawing/2014/main" val="2575188808"/>
                    </a:ext>
                  </a:extLst>
                </a:gridCol>
                <a:gridCol w="1037639">
                  <a:extLst>
                    <a:ext uri="{9D8B030D-6E8A-4147-A177-3AD203B41FA5}">
                      <a16:colId xmlns:a16="http://schemas.microsoft.com/office/drawing/2014/main" val="2501854814"/>
                    </a:ext>
                  </a:extLst>
                </a:gridCol>
                <a:gridCol w="1037639">
                  <a:extLst>
                    <a:ext uri="{9D8B030D-6E8A-4147-A177-3AD203B41FA5}">
                      <a16:colId xmlns:a16="http://schemas.microsoft.com/office/drawing/2014/main" val="2179463999"/>
                    </a:ext>
                  </a:extLst>
                </a:gridCol>
                <a:gridCol w="1037639">
                  <a:extLst>
                    <a:ext uri="{9D8B030D-6E8A-4147-A177-3AD203B41FA5}">
                      <a16:colId xmlns:a16="http://schemas.microsoft.com/office/drawing/2014/main" val="1997916844"/>
                    </a:ext>
                  </a:extLst>
                </a:gridCol>
              </a:tblGrid>
              <a:tr h="253484">
                <a:tc>
                  <a:txBody>
                    <a:bodyPr/>
                    <a:lstStyle/>
                    <a:p>
                      <a:pPr algn="ctr" fontAlgn="b"/>
                      <a:r>
                        <a:rPr lang="en-GB" sz="1400" b="0" i="0" u="none" strike="noStrike" dirty="0">
                          <a:solidFill>
                            <a:schemeClr val="bg1">
                              <a:lumMod val="65000"/>
                            </a:schemeClr>
                          </a:solidFill>
                          <a:effectLst/>
                          <a:latin typeface="Calibri" panose="020F0502020204030204" pitchFamily="34" charset="0"/>
                        </a:rPr>
                        <a:t>1456</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681</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775</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170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290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284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210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158</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344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937</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dirty="0">
                          <a:solidFill>
                            <a:schemeClr val="bg1">
                              <a:lumMod val="65000"/>
                            </a:schemeClr>
                          </a:solidFill>
                          <a:effectLst/>
                          <a:latin typeface="Calibri" panose="020F0502020204030204" pitchFamily="34" charset="0"/>
                        </a:rPr>
                        <a:t>519</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09280864"/>
                  </a:ext>
                </a:extLst>
              </a:tr>
            </a:tbl>
          </a:graphicData>
        </a:graphic>
      </p:graphicFrame>
    </p:spTree>
    <p:extLst>
      <p:ext uri="{BB962C8B-B14F-4D97-AF65-F5344CB8AC3E}">
        <p14:creationId xmlns:p14="http://schemas.microsoft.com/office/powerpoint/2010/main" val="38509001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Q48. What specific sectors should young leaders focus on to gain credibility?</a:t>
            </a:r>
            <a:endParaRPr lang="en-US" sz="1000" dirty="0">
              <a:latin typeface="Book Antiqua" panose="02040602050305030304" pitchFamily="18" charset="0"/>
            </a:endParaRPr>
          </a:p>
        </p:txBody>
      </p:sp>
      <p:sp>
        <p:nvSpPr>
          <p:cNvPr id="5" name="TextBox 4">
            <a:extLst>
              <a:ext uri="{FF2B5EF4-FFF2-40B4-BE49-F238E27FC236}">
                <a16:creationId xmlns:a16="http://schemas.microsoft.com/office/drawing/2014/main" id="{55F5642B-83A0-CD7B-E2BA-8E492D002397}"/>
              </a:ext>
            </a:extLst>
          </p:cNvPr>
          <p:cNvSpPr txBox="1"/>
          <p:nvPr/>
        </p:nvSpPr>
        <p:spPr>
          <a:xfrm>
            <a:off x="312990" y="119838"/>
            <a:ext cx="8619137"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Young leaders focus to gain credibility</a:t>
            </a:r>
            <a:endParaRPr kumimoji="0" lang="en-US" sz="2000"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endParaRPr>
          </a:p>
        </p:txBody>
      </p:sp>
      <p:sp>
        <p:nvSpPr>
          <p:cNvPr id="7" name="TextBox 6">
            <a:extLst>
              <a:ext uri="{FF2B5EF4-FFF2-40B4-BE49-F238E27FC236}">
                <a16:creationId xmlns:a16="http://schemas.microsoft.com/office/drawing/2014/main" id="{24EE3164-36BE-1169-158F-AC5F91216B94}"/>
              </a:ext>
            </a:extLst>
          </p:cNvPr>
          <p:cNvSpPr txBox="1"/>
          <p:nvPr/>
        </p:nvSpPr>
        <p:spPr>
          <a:xfrm>
            <a:off x="331302" y="675740"/>
            <a:ext cx="11714923" cy="738664"/>
          </a:xfrm>
          <a:prstGeom prst="rect">
            <a:avLst/>
          </a:prstGeom>
          <a:noFill/>
        </p:spPr>
        <p:txBody>
          <a:bodyPr wrap="square">
            <a:spAutoFit/>
          </a:bodyPr>
          <a:lstStyle/>
          <a:p>
            <a:pPr lvl="0">
              <a:defRPr/>
            </a:pPr>
            <a:r>
              <a:rPr lang="en-US" sz="1400" b="1" dirty="0">
                <a:solidFill>
                  <a:srgbClr val="0070C0"/>
                </a:solidFill>
                <a:latin typeface="Book Antiqua" panose="02040602050305030304" pitchFamily="18" charset="0"/>
                <a:ea typeface="Arial Unicode MS"/>
              </a:rPr>
              <a:t>Economic development and job creation (76%) and Education and youth empowerment (67%) are the major things that young leaders should focus on to gain credibility. Others are: Governance and anti-corruption policies (41%), Technology and innovation (41%), and Human rights and social justice (39%).</a:t>
            </a:r>
          </a:p>
        </p:txBody>
      </p:sp>
      <p:graphicFrame>
        <p:nvGraphicFramePr>
          <p:cNvPr id="9" name="Table 8">
            <a:extLst>
              <a:ext uri="{FF2B5EF4-FFF2-40B4-BE49-F238E27FC236}">
                <a16:creationId xmlns:a16="http://schemas.microsoft.com/office/drawing/2014/main" id="{3E390FF0-39FC-4DA4-B151-BD1CE7D5240C}"/>
              </a:ext>
            </a:extLst>
          </p:cNvPr>
          <p:cNvGraphicFramePr>
            <a:graphicFrameLocks noGrp="1"/>
          </p:cNvGraphicFramePr>
          <p:nvPr>
            <p:extLst>
              <p:ext uri="{D42A27DB-BD31-4B8C-83A1-F6EECF244321}">
                <p14:modId xmlns:p14="http://schemas.microsoft.com/office/powerpoint/2010/main" val="1175773981"/>
              </p:ext>
            </p:extLst>
          </p:nvPr>
        </p:nvGraphicFramePr>
        <p:xfrm>
          <a:off x="434898" y="1587295"/>
          <a:ext cx="11273880" cy="3163123"/>
        </p:xfrm>
        <a:graphic>
          <a:graphicData uri="http://schemas.openxmlformats.org/drawingml/2006/table">
            <a:tbl>
              <a:tblPr>
                <a:tableStyleId>{5A111915-BE36-4E01-A7E5-04B1672EAD32}</a:tableStyleId>
              </a:tblPr>
              <a:tblGrid>
                <a:gridCol w="3256156">
                  <a:extLst>
                    <a:ext uri="{9D8B030D-6E8A-4147-A177-3AD203B41FA5}">
                      <a16:colId xmlns:a16="http://schemas.microsoft.com/office/drawing/2014/main" val="2939921072"/>
                    </a:ext>
                  </a:extLst>
                </a:gridCol>
                <a:gridCol w="728884">
                  <a:extLst>
                    <a:ext uri="{9D8B030D-6E8A-4147-A177-3AD203B41FA5}">
                      <a16:colId xmlns:a16="http://schemas.microsoft.com/office/drawing/2014/main" val="240042294"/>
                    </a:ext>
                  </a:extLst>
                </a:gridCol>
                <a:gridCol w="728884">
                  <a:extLst>
                    <a:ext uri="{9D8B030D-6E8A-4147-A177-3AD203B41FA5}">
                      <a16:colId xmlns:a16="http://schemas.microsoft.com/office/drawing/2014/main" val="1471018050"/>
                    </a:ext>
                  </a:extLst>
                </a:gridCol>
                <a:gridCol w="728884">
                  <a:extLst>
                    <a:ext uri="{9D8B030D-6E8A-4147-A177-3AD203B41FA5}">
                      <a16:colId xmlns:a16="http://schemas.microsoft.com/office/drawing/2014/main" val="2631900519"/>
                    </a:ext>
                  </a:extLst>
                </a:gridCol>
                <a:gridCol w="728884">
                  <a:extLst>
                    <a:ext uri="{9D8B030D-6E8A-4147-A177-3AD203B41FA5}">
                      <a16:colId xmlns:a16="http://schemas.microsoft.com/office/drawing/2014/main" val="3445961416"/>
                    </a:ext>
                  </a:extLst>
                </a:gridCol>
                <a:gridCol w="728884">
                  <a:extLst>
                    <a:ext uri="{9D8B030D-6E8A-4147-A177-3AD203B41FA5}">
                      <a16:colId xmlns:a16="http://schemas.microsoft.com/office/drawing/2014/main" val="1157888105"/>
                    </a:ext>
                  </a:extLst>
                </a:gridCol>
                <a:gridCol w="728884">
                  <a:extLst>
                    <a:ext uri="{9D8B030D-6E8A-4147-A177-3AD203B41FA5}">
                      <a16:colId xmlns:a16="http://schemas.microsoft.com/office/drawing/2014/main" val="542496135"/>
                    </a:ext>
                  </a:extLst>
                </a:gridCol>
                <a:gridCol w="728884">
                  <a:extLst>
                    <a:ext uri="{9D8B030D-6E8A-4147-A177-3AD203B41FA5}">
                      <a16:colId xmlns:a16="http://schemas.microsoft.com/office/drawing/2014/main" val="2908582105"/>
                    </a:ext>
                  </a:extLst>
                </a:gridCol>
                <a:gridCol w="728884">
                  <a:extLst>
                    <a:ext uri="{9D8B030D-6E8A-4147-A177-3AD203B41FA5}">
                      <a16:colId xmlns:a16="http://schemas.microsoft.com/office/drawing/2014/main" val="1141895410"/>
                    </a:ext>
                  </a:extLst>
                </a:gridCol>
                <a:gridCol w="728884">
                  <a:extLst>
                    <a:ext uri="{9D8B030D-6E8A-4147-A177-3AD203B41FA5}">
                      <a16:colId xmlns:a16="http://schemas.microsoft.com/office/drawing/2014/main" val="2088834717"/>
                    </a:ext>
                  </a:extLst>
                </a:gridCol>
                <a:gridCol w="728884">
                  <a:extLst>
                    <a:ext uri="{9D8B030D-6E8A-4147-A177-3AD203B41FA5}">
                      <a16:colId xmlns:a16="http://schemas.microsoft.com/office/drawing/2014/main" val="2450593191"/>
                    </a:ext>
                  </a:extLst>
                </a:gridCol>
                <a:gridCol w="728884">
                  <a:extLst>
                    <a:ext uri="{9D8B030D-6E8A-4147-A177-3AD203B41FA5}">
                      <a16:colId xmlns:a16="http://schemas.microsoft.com/office/drawing/2014/main" val="1571396105"/>
                    </a:ext>
                  </a:extLst>
                </a:gridCol>
              </a:tblGrid>
              <a:tr h="278205">
                <a:tc>
                  <a:txBody>
                    <a:bodyPr/>
                    <a:lstStyle/>
                    <a:p>
                      <a:pPr algn="ctr" fontAlgn="b"/>
                      <a:endParaRPr lang="en-GB" sz="14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chemeClr val="bg1"/>
                      </a:solidFill>
                      <a:prstDash val="solid"/>
                      <a:round/>
                      <a:headEnd type="none" w="med" len="med"/>
                      <a:tailEnd type="none" w="med" len="med"/>
                    </a:lnL>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dirty="0">
                          <a:solidFill>
                            <a:schemeClr val="bg1"/>
                          </a:solidFill>
                          <a:effectLst/>
                          <a:latin typeface="Calibri" panose="020F0502020204030204" pitchFamily="34" charset="0"/>
                        </a:rPr>
                        <a:t>Total</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Male</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Female</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FCT</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Bauchi</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Kano</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Enugu</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Edo</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Lagos</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Urban</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Rural</a:t>
                      </a:r>
                    </a:p>
                  </a:txBody>
                  <a:tcPr marL="9525" marR="9525" marT="9525" marB="0" anchor="ctr">
                    <a:lnR w="127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1524205756"/>
                  </a:ext>
                </a:extLst>
              </a:tr>
              <a:tr h="278205">
                <a:tc>
                  <a:txBody>
                    <a:bodyPr/>
                    <a:lstStyle/>
                    <a:p>
                      <a:pPr algn="ctr" fontAlgn="b"/>
                      <a:r>
                        <a:rPr lang="en-GB" sz="1400" b="1" i="0" u="none" strike="noStrike" dirty="0">
                          <a:solidFill>
                            <a:srgbClr val="000000"/>
                          </a:solidFill>
                          <a:effectLst/>
                          <a:latin typeface="Calibri" panose="020F0502020204030204" pitchFamily="34" charset="0"/>
                        </a:rPr>
                        <a:t>Total</a:t>
                      </a:r>
                    </a:p>
                  </a:txBody>
                  <a:tcPr marL="9525" marR="9525" marT="9525" marB="0" anchor="ctr">
                    <a:lnL w="38100" cap="flat" cmpd="sng" algn="ctr">
                      <a:solidFill>
                        <a:schemeClr val="bg1"/>
                      </a:solidFill>
                      <a:prstDash val="solid"/>
                      <a:round/>
                      <a:headEnd type="none" w="med" len="med"/>
                      <a:tailEnd type="none" w="med" len="med"/>
                    </a:lnL>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dirty="0">
                          <a:solidFill>
                            <a:schemeClr val="bg1"/>
                          </a:solidFill>
                          <a:effectLst/>
                          <a:latin typeface="Calibri" panose="020F0502020204030204" pitchFamily="34" charset="0"/>
                        </a:rPr>
                        <a:t>1456</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681</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775</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170</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290</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284</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210</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158</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344</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937</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519</a:t>
                      </a:r>
                    </a:p>
                  </a:txBody>
                  <a:tcPr marL="9525" marR="9525" marT="9525" marB="0" anchor="ctr">
                    <a:lnR w="127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3795218639"/>
                  </a:ext>
                </a:extLst>
              </a:tr>
              <a:tr h="278205">
                <a:tc>
                  <a:txBody>
                    <a:bodyPr/>
                    <a:lstStyle/>
                    <a:p>
                      <a:pPr algn="l" fontAlgn="b"/>
                      <a:r>
                        <a:rPr lang="en-US" sz="1400" b="0" i="0" u="none" strike="noStrike" dirty="0">
                          <a:solidFill>
                            <a:srgbClr val="000000"/>
                          </a:solidFill>
                          <a:effectLst/>
                          <a:latin typeface="Calibri" panose="020F0502020204030204" pitchFamily="34" charset="0"/>
                        </a:rPr>
                        <a:t>Economic development and job creation</a:t>
                      </a:r>
                    </a:p>
                  </a:txBody>
                  <a:tcPr marL="9525" marR="9525" marT="9525" marB="0" anchor="ctr">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chemeClr val="bg1"/>
                          </a:solidFill>
                          <a:effectLst/>
                          <a:latin typeface="Calibri" panose="020F0502020204030204" pitchFamily="34" charset="0"/>
                        </a:rPr>
                        <a:t>76%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76%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77%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59%</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94%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88%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67%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73%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66%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74%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80%</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363113347"/>
                  </a:ext>
                </a:extLst>
              </a:tr>
              <a:tr h="582127">
                <a:tc>
                  <a:txBody>
                    <a:bodyPr/>
                    <a:lstStyle/>
                    <a:p>
                      <a:pPr algn="l" fontAlgn="b"/>
                      <a:r>
                        <a:rPr lang="en-GB" sz="1400" b="0" i="0" u="none" strike="noStrike" dirty="0">
                          <a:solidFill>
                            <a:srgbClr val="000000"/>
                          </a:solidFill>
                          <a:effectLst/>
                          <a:latin typeface="Calibri" panose="020F0502020204030204" pitchFamily="34" charset="0"/>
                        </a:rPr>
                        <a:t>Education and youth empowerment</a:t>
                      </a:r>
                    </a:p>
                  </a:txBody>
                  <a:tcPr marL="9525" marR="9525" marT="9525" marB="0" anchor="ctr">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chemeClr val="bg1"/>
                          </a:solidFill>
                          <a:effectLst/>
                          <a:latin typeface="Calibri" panose="020F0502020204030204" pitchFamily="34" charset="0"/>
                        </a:rPr>
                        <a:t>67%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68%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66%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61%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85%</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94%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70%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62%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76%</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3480748542"/>
                  </a:ext>
                </a:extLst>
              </a:tr>
              <a:tr h="582127">
                <a:tc>
                  <a:txBody>
                    <a:bodyPr/>
                    <a:lstStyle/>
                    <a:p>
                      <a:pPr algn="l" fontAlgn="b"/>
                      <a:r>
                        <a:rPr lang="en-GB" sz="1400" b="0" i="0" u="none" strike="noStrike">
                          <a:solidFill>
                            <a:srgbClr val="000000"/>
                          </a:solidFill>
                          <a:effectLst/>
                          <a:latin typeface="Calibri" panose="020F0502020204030204" pitchFamily="34" charset="0"/>
                        </a:rPr>
                        <a:t>Governance and anti-corruption policies</a:t>
                      </a:r>
                    </a:p>
                  </a:txBody>
                  <a:tcPr marL="9525" marR="9525" marT="9525" marB="0" anchor="ctr">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41%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41%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56%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55%</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55%</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39%</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621086869"/>
                  </a:ext>
                </a:extLst>
              </a:tr>
              <a:tr h="582127">
                <a:tc>
                  <a:txBody>
                    <a:bodyPr/>
                    <a:lstStyle/>
                    <a:p>
                      <a:pPr algn="l" fontAlgn="b"/>
                      <a:r>
                        <a:rPr lang="en-GB" sz="1400" b="0" i="0" u="none" strike="noStrike" dirty="0">
                          <a:solidFill>
                            <a:srgbClr val="000000"/>
                          </a:solidFill>
                          <a:effectLst/>
                          <a:latin typeface="Calibri" panose="020F0502020204030204" pitchFamily="34" charset="0"/>
                        </a:rPr>
                        <a:t>Technology and innovation</a:t>
                      </a:r>
                    </a:p>
                  </a:txBody>
                  <a:tcPr marL="9525" marR="9525" marT="9525" marB="0" anchor="ctr">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41%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49%</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31%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67%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16%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58%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49%</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226683108"/>
                  </a:ext>
                </a:extLst>
              </a:tr>
              <a:tr h="582127">
                <a:tc>
                  <a:txBody>
                    <a:bodyPr/>
                    <a:lstStyle/>
                    <a:p>
                      <a:pPr algn="l" fontAlgn="b"/>
                      <a:r>
                        <a:rPr lang="en-US" sz="1400" b="0" i="0" u="none" strike="noStrike">
                          <a:solidFill>
                            <a:srgbClr val="000000"/>
                          </a:solidFill>
                          <a:effectLst/>
                          <a:latin typeface="Calibri" panose="020F0502020204030204" pitchFamily="34" charset="0"/>
                        </a:rPr>
                        <a:t>Human rights and social justice</a:t>
                      </a:r>
                    </a:p>
                  </a:txBody>
                  <a:tcPr marL="9525" marR="9525" marT="9525" marB="0" anchor="ctr">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39%</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39%</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39%</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49%</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9%</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74%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44%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41%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36%</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107245604"/>
                  </a:ext>
                </a:extLst>
              </a:tr>
            </a:tbl>
          </a:graphicData>
        </a:graphic>
      </p:graphicFrame>
    </p:spTree>
    <p:extLst>
      <p:ext uri="{BB962C8B-B14F-4D97-AF65-F5344CB8AC3E}">
        <p14:creationId xmlns:p14="http://schemas.microsoft.com/office/powerpoint/2010/main" val="80303349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Q49. Do you believe women face more challenges in leadership compared to men?</a:t>
            </a:r>
            <a:endParaRPr lang="en-US" sz="1000" dirty="0">
              <a:latin typeface="Book Antiqua" panose="02040602050305030304" pitchFamily="18" charset="0"/>
            </a:endParaRPr>
          </a:p>
        </p:txBody>
      </p:sp>
      <p:sp>
        <p:nvSpPr>
          <p:cNvPr id="5" name="TextBox 4">
            <a:extLst>
              <a:ext uri="{FF2B5EF4-FFF2-40B4-BE49-F238E27FC236}">
                <a16:creationId xmlns:a16="http://schemas.microsoft.com/office/drawing/2014/main" id="{55F5642B-83A0-CD7B-E2BA-8E492D002397}"/>
              </a:ext>
            </a:extLst>
          </p:cNvPr>
          <p:cNvSpPr txBox="1"/>
          <p:nvPr/>
        </p:nvSpPr>
        <p:spPr>
          <a:xfrm>
            <a:off x="312990" y="119838"/>
            <a:ext cx="8619137"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Comparing Women and Men challenges in leadership</a:t>
            </a:r>
            <a:endParaRPr kumimoji="0" lang="en-US" sz="2000"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endParaRPr>
          </a:p>
        </p:txBody>
      </p:sp>
      <p:sp>
        <p:nvSpPr>
          <p:cNvPr id="7" name="TextBox 6">
            <a:extLst>
              <a:ext uri="{FF2B5EF4-FFF2-40B4-BE49-F238E27FC236}">
                <a16:creationId xmlns:a16="http://schemas.microsoft.com/office/drawing/2014/main" id="{24EE3164-36BE-1169-158F-AC5F91216B94}"/>
              </a:ext>
            </a:extLst>
          </p:cNvPr>
          <p:cNvSpPr txBox="1"/>
          <p:nvPr/>
        </p:nvSpPr>
        <p:spPr>
          <a:xfrm>
            <a:off x="331302" y="675740"/>
            <a:ext cx="11714923"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rPr>
              <a:t>Most of the people (55%), especially in Bauchi (71%) believed that women face significantly more challenges in leadership more than men. A significant proportion in Enugu (31%) believed that men and women face similar challenges in leadership.</a:t>
            </a:r>
          </a:p>
        </p:txBody>
      </p:sp>
      <p:graphicFrame>
        <p:nvGraphicFramePr>
          <p:cNvPr id="8" name="Chart 7">
            <a:extLst>
              <a:ext uri="{FF2B5EF4-FFF2-40B4-BE49-F238E27FC236}">
                <a16:creationId xmlns:a16="http://schemas.microsoft.com/office/drawing/2014/main" id="{37185882-AD21-4D95-BD3C-7EAEACA184AD}"/>
              </a:ext>
            </a:extLst>
          </p:cNvPr>
          <p:cNvGraphicFramePr/>
          <p:nvPr>
            <p:extLst>
              <p:ext uri="{D42A27DB-BD31-4B8C-83A1-F6EECF244321}">
                <p14:modId xmlns:p14="http://schemas.microsoft.com/office/powerpoint/2010/main" val="4166466576"/>
              </p:ext>
            </p:extLst>
          </p:nvPr>
        </p:nvGraphicFramePr>
        <p:xfrm>
          <a:off x="379413" y="2073913"/>
          <a:ext cx="11435200" cy="383241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Table 5">
            <a:extLst>
              <a:ext uri="{FF2B5EF4-FFF2-40B4-BE49-F238E27FC236}">
                <a16:creationId xmlns:a16="http://schemas.microsoft.com/office/drawing/2014/main" id="{6984E0B6-13BB-4F21-9374-0EBD0BED7F11}"/>
              </a:ext>
            </a:extLst>
          </p:cNvPr>
          <p:cNvGraphicFramePr>
            <a:graphicFrameLocks noGrp="1"/>
          </p:cNvGraphicFramePr>
          <p:nvPr>
            <p:extLst>
              <p:ext uri="{D42A27DB-BD31-4B8C-83A1-F6EECF244321}">
                <p14:modId xmlns:p14="http://schemas.microsoft.com/office/powerpoint/2010/main" val="1810090262"/>
              </p:ext>
            </p:extLst>
          </p:nvPr>
        </p:nvGraphicFramePr>
        <p:xfrm>
          <a:off x="2921621" y="5830759"/>
          <a:ext cx="8776009" cy="253484"/>
        </p:xfrm>
        <a:graphic>
          <a:graphicData uri="http://schemas.openxmlformats.org/drawingml/2006/table">
            <a:tbl>
              <a:tblPr>
                <a:tableStyleId>{5C22544A-7EE6-4342-B048-85BDC9FD1C3A}</a:tableStyleId>
              </a:tblPr>
              <a:tblGrid>
                <a:gridCol w="797819">
                  <a:extLst>
                    <a:ext uri="{9D8B030D-6E8A-4147-A177-3AD203B41FA5}">
                      <a16:colId xmlns:a16="http://schemas.microsoft.com/office/drawing/2014/main" val="2379250083"/>
                    </a:ext>
                  </a:extLst>
                </a:gridCol>
                <a:gridCol w="797819">
                  <a:extLst>
                    <a:ext uri="{9D8B030D-6E8A-4147-A177-3AD203B41FA5}">
                      <a16:colId xmlns:a16="http://schemas.microsoft.com/office/drawing/2014/main" val="3707767684"/>
                    </a:ext>
                  </a:extLst>
                </a:gridCol>
                <a:gridCol w="797819">
                  <a:extLst>
                    <a:ext uri="{9D8B030D-6E8A-4147-A177-3AD203B41FA5}">
                      <a16:colId xmlns:a16="http://schemas.microsoft.com/office/drawing/2014/main" val="2497172989"/>
                    </a:ext>
                  </a:extLst>
                </a:gridCol>
                <a:gridCol w="797819">
                  <a:extLst>
                    <a:ext uri="{9D8B030D-6E8A-4147-A177-3AD203B41FA5}">
                      <a16:colId xmlns:a16="http://schemas.microsoft.com/office/drawing/2014/main" val="848469032"/>
                    </a:ext>
                  </a:extLst>
                </a:gridCol>
                <a:gridCol w="797819">
                  <a:extLst>
                    <a:ext uri="{9D8B030D-6E8A-4147-A177-3AD203B41FA5}">
                      <a16:colId xmlns:a16="http://schemas.microsoft.com/office/drawing/2014/main" val="2303936815"/>
                    </a:ext>
                  </a:extLst>
                </a:gridCol>
                <a:gridCol w="797819">
                  <a:extLst>
                    <a:ext uri="{9D8B030D-6E8A-4147-A177-3AD203B41FA5}">
                      <a16:colId xmlns:a16="http://schemas.microsoft.com/office/drawing/2014/main" val="460349122"/>
                    </a:ext>
                  </a:extLst>
                </a:gridCol>
                <a:gridCol w="797819">
                  <a:extLst>
                    <a:ext uri="{9D8B030D-6E8A-4147-A177-3AD203B41FA5}">
                      <a16:colId xmlns:a16="http://schemas.microsoft.com/office/drawing/2014/main" val="704838673"/>
                    </a:ext>
                  </a:extLst>
                </a:gridCol>
                <a:gridCol w="797819">
                  <a:extLst>
                    <a:ext uri="{9D8B030D-6E8A-4147-A177-3AD203B41FA5}">
                      <a16:colId xmlns:a16="http://schemas.microsoft.com/office/drawing/2014/main" val="2575188808"/>
                    </a:ext>
                  </a:extLst>
                </a:gridCol>
                <a:gridCol w="797819">
                  <a:extLst>
                    <a:ext uri="{9D8B030D-6E8A-4147-A177-3AD203B41FA5}">
                      <a16:colId xmlns:a16="http://schemas.microsoft.com/office/drawing/2014/main" val="2501854814"/>
                    </a:ext>
                  </a:extLst>
                </a:gridCol>
                <a:gridCol w="797819">
                  <a:extLst>
                    <a:ext uri="{9D8B030D-6E8A-4147-A177-3AD203B41FA5}">
                      <a16:colId xmlns:a16="http://schemas.microsoft.com/office/drawing/2014/main" val="2179463999"/>
                    </a:ext>
                  </a:extLst>
                </a:gridCol>
                <a:gridCol w="797819">
                  <a:extLst>
                    <a:ext uri="{9D8B030D-6E8A-4147-A177-3AD203B41FA5}">
                      <a16:colId xmlns:a16="http://schemas.microsoft.com/office/drawing/2014/main" val="1997916844"/>
                    </a:ext>
                  </a:extLst>
                </a:gridCol>
              </a:tblGrid>
              <a:tr h="253484">
                <a:tc>
                  <a:txBody>
                    <a:bodyPr/>
                    <a:lstStyle/>
                    <a:p>
                      <a:pPr algn="ctr" fontAlgn="b"/>
                      <a:r>
                        <a:rPr lang="en-GB" sz="1400" b="0" i="0" u="none" strike="noStrike" dirty="0">
                          <a:solidFill>
                            <a:schemeClr val="bg1">
                              <a:lumMod val="65000"/>
                            </a:schemeClr>
                          </a:solidFill>
                          <a:effectLst/>
                          <a:latin typeface="Calibri" panose="020F0502020204030204" pitchFamily="34" charset="0"/>
                        </a:rPr>
                        <a:t>1456</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681</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775</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170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290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284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210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158</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344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937</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dirty="0">
                          <a:solidFill>
                            <a:schemeClr val="bg1">
                              <a:lumMod val="65000"/>
                            </a:schemeClr>
                          </a:solidFill>
                          <a:effectLst/>
                          <a:latin typeface="Calibri" panose="020F0502020204030204" pitchFamily="34" charset="0"/>
                        </a:rPr>
                        <a:t>519</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09280864"/>
                  </a:ext>
                </a:extLst>
              </a:tr>
            </a:tbl>
          </a:graphicData>
        </a:graphic>
      </p:graphicFrame>
    </p:spTree>
    <p:extLst>
      <p:ext uri="{BB962C8B-B14F-4D97-AF65-F5344CB8AC3E}">
        <p14:creationId xmlns:p14="http://schemas.microsoft.com/office/powerpoint/2010/main" val="379100822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Q50. What is the biggest barrier preventing women from advancing into leadership roles?</a:t>
            </a:r>
            <a:endParaRPr lang="en-US" sz="1000" dirty="0">
              <a:latin typeface="Book Antiqua" panose="02040602050305030304" pitchFamily="18" charset="0"/>
            </a:endParaRPr>
          </a:p>
        </p:txBody>
      </p:sp>
      <p:sp>
        <p:nvSpPr>
          <p:cNvPr id="5" name="TextBox 4">
            <a:extLst>
              <a:ext uri="{FF2B5EF4-FFF2-40B4-BE49-F238E27FC236}">
                <a16:creationId xmlns:a16="http://schemas.microsoft.com/office/drawing/2014/main" id="{55F5642B-83A0-CD7B-E2BA-8E492D002397}"/>
              </a:ext>
            </a:extLst>
          </p:cNvPr>
          <p:cNvSpPr txBox="1"/>
          <p:nvPr/>
        </p:nvSpPr>
        <p:spPr>
          <a:xfrm>
            <a:off x="312990" y="119838"/>
            <a:ext cx="8619137"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Barriers preventing women from advancing into leadership roles</a:t>
            </a:r>
            <a:endParaRPr kumimoji="0" lang="en-US" sz="2000"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endParaRPr>
          </a:p>
        </p:txBody>
      </p:sp>
      <p:sp>
        <p:nvSpPr>
          <p:cNvPr id="7" name="TextBox 6">
            <a:extLst>
              <a:ext uri="{FF2B5EF4-FFF2-40B4-BE49-F238E27FC236}">
                <a16:creationId xmlns:a16="http://schemas.microsoft.com/office/drawing/2014/main" id="{24EE3164-36BE-1169-158F-AC5F91216B94}"/>
              </a:ext>
            </a:extLst>
          </p:cNvPr>
          <p:cNvSpPr txBox="1"/>
          <p:nvPr/>
        </p:nvSpPr>
        <p:spPr>
          <a:xfrm>
            <a:off x="331302" y="675740"/>
            <a:ext cx="11714923" cy="738664"/>
          </a:xfrm>
          <a:prstGeom prst="rect">
            <a:avLst/>
          </a:prstGeom>
          <a:noFill/>
        </p:spPr>
        <p:txBody>
          <a:bodyPr wrap="square">
            <a:spAutoFit/>
          </a:bodyPr>
          <a:lstStyle/>
          <a:p>
            <a:pPr lvl="0">
              <a:defRPr/>
            </a:pPr>
            <a:r>
              <a:rPr lang="en-US" sz="1400" b="1" dirty="0">
                <a:solidFill>
                  <a:srgbClr val="0070C0"/>
                </a:solidFill>
                <a:latin typeface="Book Antiqua" panose="02040602050305030304" pitchFamily="18" charset="0"/>
                <a:ea typeface="Arial Unicode MS"/>
              </a:rPr>
              <a:t>Perceived barriers preventing women from advancing into leadership roles are cultural and societal norms limiting women's political engagement (34%) and gender bias and discrimination in leadership selection (28%). Others include lack of political and financial support for female candidates (14%) and gender Abuse, such as harassment (13%).</a:t>
            </a:r>
          </a:p>
        </p:txBody>
      </p:sp>
      <p:graphicFrame>
        <p:nvGraphicFramePr>
          <p:cNvPr id="9" name="Chart 8">
            <a:extLst>
              <a:ext uri="{FF2B5EF4-FFF2-40B4-BE49-F238E27FC236}">
                <a16:creationId xmlns:a16="http://schemas.microsoft.com/office/drawing/2014/main" id="{F90D2156-8571-44C8-9EC7-938FF15D699E}"/>
              </a:ext>
            </a:extLst>
          </p:cNvPr>
          <p:cNvGraphicFramePr/>
          <p:nvPr>
            <p:custDataLst>
              <p:tags r:id="rId1"/>
            </p:custDataLst>
            <p:extLst/>
          </p:nvPr>
        </p:nvGraphicFramePr>
        <p:xfrm>
          <a:off x="391161" y="1592982"/>
          <a:ext cx="11414032" cy="403691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Table 9">
            <a:extLst>
              <a:ext uri="{FF2B5EF4-FFF2-40B4-BE49-F238E27FC236}">
                <a16:creationId xmlns:a16="http://schemas.microsoft.com/office/drawing/2014/main" id="{BE20651D-F259-4994-BE92-52F9E51B10EE}"/>
              </a:ext>
            </a:extLst>
          </p:cNvPr>
          <p:cNvGraphicFramePr>
            <a:graphicFrameLocks noGrp="1"/>
          </p:cNvGraphicFramePr>
          <p:nvPr/>
        </p:nvGraphicFramePr>
        <p:xfrm>
          <a:off x="391160" y="5786155"/>
          <a:ext cx="11414029" cy="253484"/>
        </p:xfrm>
        <a:graphic>
          <a:graphicData uri="http://schemas.openxmlformats.org/drawingml/2006/table">
            <a:tbl>
              <a:tblPr>
                <a:tableStyleId>{5C22544A-7EE6-4342-B048-85BDC9FD1C3A}</a:tableStyleId>
              </a:tblPr>
              <a:tblGrid>
                <a:gridCol w="1037639">
                  <a:extLst>
                    <a:ext uri="{9D8B030D-6E8A-4147-A177-3AD203B41FA5}">
                      <a16:colId xmlns:a16="http://schemas.microsoft.com/office/drawing/2014/main" val="2379250083"/>
                    </a:ext>
                  </a:extLst>
                </a:gridCol>
                <a:gridCol w="1037639">
                  <a:extLst>
                    <a:ext uri="{9D8B030D-6E8A-4147-A177-3AD203B41FA5}">
                      <a16:colId xmlns:a16="http://schemas.microsoft.com/office/drawing/2014/main" val="3707767684"/>
                    </a:ext>
                  </a:extLst>
                </a:gridCol>
                <a:gridCol w="1037639">
                  <a:extLst>
                    <a:ext uri="{9D8B030D-6E8A-4147-A177-3AD203B41FA5}">
                      <a16:colId xmlns:a16="http://schemas.microsoft.com/office/drawing/2014/main" val="2497172989"/>
                    </a:ext>
                  </a:extLst>
                </a:gridCol>
                <a:gridCol w="1037639">
                  <a:extLst>
                    <a:ext uri="{9D8B030D-6E8A-4147-A177-3AD203B41FA5}">
                      <a16:colId xmlns:a16="http://schemas.microsoft.com/office/drawing/2014/main" val="848469032"/>
                    </a:ext>
                  </a:extLst>
                </a:gridCol>
                <a:gridCol w="1037639">
                  <a:extLst>
                    <a:ext uri="{9D8B030D-6E8A-4147-A177-3AD203B41FA5}">
                      <a16:colId xmlns:a16="http://schemas.microsoft.com/office/drawing/2014/main" val="2303936815"/>
                    </a:ext>
                  </a:extLst>
                </a:gridCol>
                <a:gridCol w="1037639">
                  <a:extLst>
                    <a:ext uri="{9D8B030D-6E8A-4147-A177-3AD203B41FA5}">
                      <a16:colId xmlns:a16="http://schemas.microsoft.com/office/drawing/2014/main" val="460349122"/>
                    </a:ext>
                  </a:extLst>
                </a:gridCol>
                <a:gridCol w="1037639">
                  <a:extLst>
                    <a:ext uri="{9D8B030D-6E8A-4147-A177-3AD203B41FA5}">
                      <a16:colId xmlns:a16="http://schemas.microsoft.com/office/drawing/2014/main" val="704838673"/>
                    </a:ext>
                  </a:extLst>
                </a:gridCol>
                <a:gridCol w="1037639">
                  <a:extLst>
                    <a:ext uri="{9D8B030D-6E8A-4147-A177-3AD203B41FA5}">
                      <a16:colId xmlns:a16="http://schemas.microsoft.com/office/drawing/2014/main" val="2575188808"/>
                    </a:ext>
                  </a:extLst>
                </a:gridCol>
                <a:gridCol w="1037639">
                  <a:extLst>
                    <a:ext uri="{9D8B030D-6E8A-4147-A177-3AD203B41FA5}">
                      <a16:colId xmlns:a16="http://schemas.microsoft.com/office/drawing/2014/main" val="2501854814"/>
                    </a:ext>
                  </a:extLst>
                </a:gridCol>
                <a:gridCol w="1037639">
                  <a:extLst>
                    <a:ext uri="{9D8B030D-6E8A-4147-A177-3AD203B41FA5}">
                      <a16:colId xmlns:a16="http://schemas.microsoft.com/office/drawing/2014/main" val="2179463999"/>
                    </a:ext>
                  </a:extLst>
                </a:gridCol>
                <a:gridCol w="1037639">
                  <a:extLst>
                    <a:ext uri="{9D8B030D-6E8A-4147-A177-3AD203B41FA5}">
                      <a16:colId xmlns:a16="http://schemas.microsoft.com/office/drawing/2014/main" val="1997916844"/>
                    </a:ext>
                  </a:extLst>
                </a:gridCol>
              </a:tblGrid>
              <a:tr h="253484">
                <a:tc>
                  <a:txBody>
                    <a:bodyPr/>
                    <a:lstStyle/>
                    <a:p>
                      <a:pPr algn="ctr" fontAlgn="b"/>
                      <a:r>
                        <a:rPr lang="en-GB" sz="1400" b="0" i="0" u="none" strike="noStrike" dirty="0">
                          <a:solidFill>
                            <a:schemeClr val="bg1">
                              <a:lumMod val="65000"/>
                            </a:schemeClr>
                          </a:solidFill>
                          <a:effectLst/>
                          <a:latin typeface="Calibri" panose="020F0502020204030204" pitchFamily="34" charset="0"/>
                        </a:rPr>
                        <a:t>1456</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681</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775</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170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290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284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210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158</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344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937</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dirty="0">
                          <a:solidFill>
                            <a:schemeClr val="bg1">
                              <a:lumMod val="65000"/>
                            </a:schemeClr>
                          </a:solidFill>
                          <a:effectLst/>
                          <a:latin typeface="Calibri" panose="020F0502020204030204" pitchFamily="34" charset="0"/>
                        </a:rPr>
                        <a:t>519</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09280864"/>
                  </a:ext>
                </a:extLst>
              </a:tr>
            </a:tbl>
          </a:graphicData>
        </a:graphic>
      </p:graphicFrame>
    </p:spTree>
    <p:extLst>
      <p:ext uri="{BB962C8B-B14F-4D97-AF65-F5344CB8AC3E}">
        <p14:creationId xmlns:p14="http://schemas.microsoft.com/office/powerpoint/2010/main" val="91101267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Q51. Would you support policies that actively promote women’s leadership?</a:t>
            </a:r>
            <a:endParaRPr lang="en-US" sz="1000" dirty="0">
              <a:latin typeface="Book Antiqua" panose="02040602050305030304" pitchFamily="18" charset="0"/>
            </a:endParaRPr>
          </a:p>
        </p:txBody>
      </p:sp>
      <p:sp>
        <p:nvSpPr>
          <p:cNvPr id="5" name="TextBox 4">
            <a:extLst>
              <a:ext uri="{FF2B5EF4-FFF2-40B4-BE49-F238E27FC236}">
                <a16:creationId xmlns:a16="http://schemas.microsoft.com/office/drawing/2014/main" id="{55F5642B-83A0-CD7B-E2BA-8E492D002397}"/>
              </a:ext>
            </a:extLst>
          </p:cNvPr>
          <p:cNvSpPr txBox="1"/>
          <p:nvPr/>
        </p:nvSpPr>
        <p:spPr>
          <a:xfrm>
            <a:off x="312990" y="119838"/>
            <a:ext cx="8139634" cy="400110"/>
          </a:xfrm>
          <a:prstGeom prst="rect">
            <a:avLst/>
          </a:prstGeom>
          <a:noFill/>
        </p:spPr>
        <p:txBody>
          <a:bodyPr wrap="square" rtlCol="0">
            <a:spAutoFit/>
          </a:bodyPr>
          <a:lstStyle/>
          <a:p>
            <a:pPr lvl="0">
              <a:defRPr/>
            </a:pPr>
            <a:r>
              <a:rPr lang="en-US" sz="2000" b="1" dirty="0">
                <a:solidFill>
                  <a:srgbClr val="000000"/>
                </a:solidFill>
                <a:latin typeface="Book Antiqua" panose="02040602050305030304" pitchFamily="18" charset="0"/>
              </a:rPr>
              <a:t>Support for policies that actively promote women’s leadership</a:t>
            </a:r>
            <a:endParaRPr kumimoji="0" lang="en-US" sz="2000"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endParaRPr>
          </a:p>
        </p:txBody>
      </p:sp>
      <p:sp>
        <p:nvSpPr>
          <p:cNvPr id="7" name="TextBox 6">
            <a:extLst>
              <a:ext uri="{FF2B5EF4-FFF2-40B4-BE49-F238E27FC236}">
                <a16:creationId xmlns:a16="http://schemas.microsoft.com/office/drawing/2014/main" id="{24EE3164-36BE-1169-158F-AC5F91216B94}"/>
              </a:ext>
            </a:extLst>
          </p:cNvPr>
          <p:cNvSpPr txBox="1"/>
          <p:nvPr/>
        </p:nvSpPr>
        <p:spPr>
          <a:xfrm>
            <a:off x="331302" y="675740"/>
            <a:ext cx="11714923" cy="523220"/>
          </a:xfrm>
          <a:prstGeom prst="rect">
            <a:avLst/>
          </a:prstGeom>
          <a:noFill/>
        </p:spPr>
        <p:txBody>
          <a:bodyPr wrap="square">
            <a:spAutoFit/>
          </a:bodyPr>
          <a:lstStyle/>
          <a:p>
            <a:pPr lvl="0">
              <a:defRPr/>
            </a:pPr>
            <a:r>
              <a:rPr lang="en-US" sz="1400" b="1" dirty="0">
                <a:solidFill>
                  <a:srgbClr val="0070C0"/>
                </a:solidFill>
                <a:latin typeface="Book Antiqua" panose="02040602050305030304" pitchFamily="18" charset="0"/>
                <a:ea typeface="Arial Unicode MS"/>
              </a:rPr>
              <a:t>Overall, 70% would support policies that actively promote women’s leadership. However, 45% said no in Enugu, suggesting that leadership should be based solely on merit without gender-based policies.</a:t>
            </a:r>
          </a:p>
        </p:txBody>
      </p:sp>
      <p:graphicFrame>
        <p:nvGraphicFramePr>
          <p:cNvPr id="10" name="Chart 9">
            <a:extLst>
              <a:ext uri="{FF2B5EF4-FFF2-40B4-BE49-F238E27FC236}">
                <a16:creationId xmlns:a16="http://schemas.microsoft.com/office/drawing/2014/main" id="{8FE322D5-99B6-487C-B2DD-8D56D25FF0AD}"/>
              </a:ext>
            </a:extLst>
          </p:cNvPr>
          <p:cNvGraphicFramePr/>
          <p:nvPr>
            <p:extLst>
              <p:ext uri="{D42A27DB-BD31-4B8C-83A1-F6EECF244321}">
                <p14:modId xmlns:p14="http://schemas.microsoft.com/office/powerpoint/2010/main" val="1161765341"/>
              </p:ext>
            </p:extLst>
          </p:nvPr>
        </p:nvGraphicFramePr>
        <p:xfrm>
          <a:off x="679269" y="1514700"/>
          <a:ext cx="11051813" cy="360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Table 8">
            <a:extLst>
              <a:ext uri="{FF2B5EF4-FFF2-40B4-BE49-F238E27FC236}">
                <a16:creationId xmlns:a16="http://schemas.microsoft.com/office/drawing/2014/main" id="{452544F1-8E00-474D-A528-2EBD7D2F9035}"/>
              </a:ext>
            </a:extLst>
          </p:cNvPr>
          <p:cNvGraphicFramePr>
            <a:graphicFrameLocks noGrp="1"/>
          </p:cNvGraphicFramePr>
          <p:nvPr>
            <p:extLst>
              <p:ext uri="{D42A27DB-BD31-4B8C-83A1-F6EECF244321}">
                <p14:modId xmlns:p14="http://schemas.microsoft.com/office/powerpoint/2010/main" val="2831387710"/>
              </p:ext>
            </p:extLst>
          </p:nvPr>
        </p:nvGraphicFramePr>
        <p:xfrm>
          <a:off x="2564779" y="5652343"/>
          <a:ext cx="8999034" cy="253484"/>
        </p:xfrm>
        <a:graphic>
          <a:graphicData uri="http://schemas.openxmlformats.org/drawingml/2006/table">
            <a:tbl>
              <a:tblPr>
                <a:tableStyleId>{5C22544A-7EE6-4342-B048-85BDC9FD1C3A}</a:tableStyleId>
              </a:tblPr>
              <a:tblGrid>
                <a:gridCol w="818094">
                  <a:extLst>
                    <a:ext uri="{9D8B030D-6E8A-4147-A177-3AD203B41FA5}">
                      <a16:colId xmlns:a16="http://schemas.microsoft.com/office/drawing/2014/main" val="2379250083"/>
                    </a:ext>
                  </a:extLst>
                </a:gridCol>
                <a:gridCol w="818094">
                  <a:extLst>
                    <a:ext uri="{9D8B030D-6E8A-4147-A177-3AD203B41FA5}">
                      <a16:colId xmlns:a16="http://schemas.microsoft.com/office/drawing/2014/main" val="3707767684"/>
                    </a:ext>
                  </a:extLst>
                </a:gridCol>
                <a:gridCol w="818094">
                  <a:extLst>
                    <a:ext uri="{9D8B030D-6E8A-4147-A177-3AD203B41FA5}">
                      <a16:colId xmlns:a16="http://schemas.microsoft.com/office/drawing/2014/main" val="2497172989"/>
                    </a:ext>
                  </a:extLst>
                </a:gridCol>
                <a:gridCol w="818094">
                  <a:extLst>
                    <a:ext uri="{9D8B030D-6E8A-4147-A177-3AD203B41FA5}">
                      <a16:colId xmlns:a16="http://schemas.microsoft.com/office/drawing/2014/main" val="848469032"/>
                    </a:ext>
                  </a:extLst>
                </a:gridCol>
                <a:gridCol w="818094">
                  <a:extLst>
                    <a:ext uri="{9D8B030D-6E8A-4147-A177-3AD203B41FA5}">
                      <a16:colId xmlns:a16="http://schemas.microsoft.com/office/drawing/2014/main" val="2303936815"/>
                    </a:ext>
                  </a:extLst>
                </a:gridCol>
                <a:gridCol w="818094">
                  <a:extLst>
                    <a:ext uri="{9D8B030D-6E8A-4147-A177-3AD203B41FA5}">
                      <a16:colId xmlns:a16="http://schemas.microsoft.com/office/drawing/2014/main" val="460349122"/>
                    </a:ext>
                  </a:extLst>
                </a:gridCol>
                <a:gridCol w="818094">
                  <a:extLst>
                    <a:ext uri="{9D8B030D-6E8A-4147-A177-3AD203B41FA5}">
                      <a16:colId xmlns:a16="http://schemas.microsoft.com/office/drawing/2014/main" val="704838673"/>
                    </a:ext>
                  </a:extLst>
                </a:gridCol>
                <a:gridCol w="818094">
                  <a:extLst>
                    <a:ext uri="{9D8B030D-6E8A-4147-A177-3AD203B41FA5}">
                      <a16:colId xmlns:a16="http://schemas.microsoft.com/office/drawing/2014/main" val="2575188808"/>
                    </a:ext>
                  </a:extLst>
                </a:gridCol>
                <a:gridCol w="818094">
                  <a:extLst>
                    <a:ext uri="{9D8B030D-6E8A-4147-A177-3AD203B41FA5}">
                      <a16:colId xmlns:a16="http://schemas.microsoft.com/office/drawing/2014/main" val="2501854814"/>
                    </a:ext>
                  </a:extLst>
                </a:gridCol>
                <a:gridCol w="818094">
                  <a:extLst>
                    <a:ext uri="{9D8B030D-6E8A-4147-A177-3AD203B41FA5}">
                      <a16:colId xmlns:a16="http://schemas.microsoft.com/office/drawing/2014/main" val="2179463999"/>
                    </a:ext>
                  </a:extLst>
                </a:gridCol>
                <a:gridCol w="818094">
                  <a:extLst>
                    <a:ext uri="{9D8B030D-6E8A-4147-A177-3AD203B41FA5}">
                      <a16:colId xmlns:a16="http://schemas.microsoft.com/office/drawing/2014/main" val="1997916844"/>
                    </a:ext>
                  </a:extLst>
                </a:gridCol>
              </a:tblGrid>
              <a:tr h="253484">
                <a:tc>
                  <a:txBody>
                    <a:bodyPr/>
                    <a:lstStyle/>
                    <a:p>
                      <a:pPr algn="ctr" fontAlgn="b"/>
                      <a:r>
                        <a:rPr lang="en-GB" sz="1400" b="0" i="0" u="none" strike="noStrike" dirty="0">
                          <a:solidFill>
                            <a:schemeClr val="bg1">
                              <a:lumMod val="65000"/>
                            </a:schemeClr>
                          </a:solidFill>
                          <a:effectLst/>
                          <a:latin typeface="Calibri" panose="020F0502020204030204" pitchFamily="34" charset="0"/>
                        </a:rPr>
                        <a:t>1456</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681</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775</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170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290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284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210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158</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344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937</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dirty="0">
                          <a:solidFill>
                            <a:schemeClr val="bg1">
                              <a:lumMod val="65000"/>
                            </a:schemeClr>
                          </a:solidFill>
                          <a:effectLst/>
                          <a:latin typeface="Calibri" panose="020F0502020204030204" pitchFamily="34" charset="0"/>
                        </a:rPr>
                        <a:t>519</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09280864"/>
                  </a:ext>
                </a:extLst>
              </a:tr>
            </a:tbl>
          </a:graphicData>
        </a:graphic>
      </p:graphicFrame>
    </p:spTree>
    <p:extLst>
      <p:ext uri="{BB962C8B-B14F-4D97-AF65-F5344CB8AC3E}">
        <p14:creationId xmlns:p14="http://schemas.microsoft.com/office/powerpoint/2010/main" val="397020576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Q52. In your opinion, how does having more women in leadership impact governance?</a:t>
            </a:r>
            <a:endParaRPr lang="en-US" sz="1000" dirty="0">
              <a:latin typeface="Book Antiqua" panose="02040602050305030304" pitchFamily="18" charset="0"/>
            </a:endParaRPr>
          </a:p>
        </p:txBody>
      </p:sp>
      <p:sp>
        <p:nvSpPr>
          <p:cNvPr id="5" name="TextBox 4">
            <a:extLst>
              <a:ext uri="{FF2B5EF4-FFF2-40B4-BE49-F238E27FC236}">
                <a16:creationId xmlns:a16="http://schemas.microsoft.com/office/drawing/2014/main" id="{55F5642B-83A0-CD7B-E2BA-8E492D002397}"/>
              </a:ext>
            </a:extLst>
          </p:cNvPr>
          <p:cNvSpPr txBox="1"/>
          <p:nvPr/>
        </p:nvSpPr>
        <p:spPr>
          <a:xfrm>
            <a:off x="312990" y="119838"/>
            <a:ext cx="8619137"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Impact of more women in leadership in governance</a:t>
            </a:r>
            <a:endParaRPr kumimoji="0" lang="en-US" sz="2000"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endParaRPr>
          </a:p>
        </p:txBody>
      </p:sp>
      <p:sp>
        <p:nvSpPr>
          <p:cNvPr id="7" name="TextBox 6">
            <a:extLst>
              <a:ext uri="{FF2B5EF4-FFF2-40B4-BE49-F238E27FC236}">
                <a16:creationId xmlns:a16="http://schemas.microsoft.com/office/drawing/2014/main" id="{24EE3164-36BE-1169-158F-AC5F91216B94}"/>
              </a:ext>
            </a:extLst>
          </p:cNvPr>
          <p:cNvSpPr txBox="1"/>
          <p:nvPr/>
        </p:nvSpPr>
        <p:spPr>
          <a:xfrm>
            <a:off x="331302" y="675740"/>
            <a:ext cx="11714923" cy="523220"/>
          </a:xfrm>
          <a:prstGeom prst="rect">
            <a:avLst/>
          </a:prstGeom>
          <a:noFill/>
        </p:spPr>
        <p:txBody>
          <a:bodyPr wrap="square">
            <a:spAutoFit/>
          </a:bodyPr>
          <a:lstStyle/>
          <a:p>
            <a:pPr lvl="0">
              <a:defRPr/>
            </a:pPr>
            <a:r>
              <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rPr>
              <a:t>Overall, 55% believed that having more women in leadership in governance would </a:t>
            </a:r>
            <a:r>
              <a:rPr lang="en-US" sz="1400" b="1" dirty="0">
                <a:solidFill>
                  <a:srgbClr val="0070C0"/>
                </a:solidFill>
                <a:latin typeface="Book Antiqua" panose="02040602050305030304" pitchFamily="18" charset="0"/>
                <a:ea typeface="Arial Unicode MS"/>
              </a:rPr>
              <a:t>improve governance by increasing diversity and inclusivity. However, 32% and 33% respectively in FCT and Kano believed that it could negatively impact governance if not based on merit.</a:t>
            </a:r>
          </a:p>
        </p:txBody>
      </p:sp>
      <p:graphicFrame>
        <p:nvGraphicFramePr>
          <p:cNvPr id="8" name="Chart 7">
            <a:extLst>
              <a:ext uri="{FF2B5EF4-FFF2-40B4-BE49-F238E27FC236}">
                <a16:creationId xmlns:a16="http://schemas.microsoft.com/office/drawing/2014/main" id="{37185882-AD21-4D95-BD3C-7EAEACA184AD}"/>
              </a:ext>
            </a:extLst>
          </p:cNvPr>
          <p:cNvGraphicFramePr/>
          <p:nvPr>
            <p:extLst>
              <p:ext uri="{D42A27DB-BD31-4B8C-83A1-F6EECF244321}">
                <p14:modId xmlns:p14="http://schemas.microsoft.com/office/powerpoint/2010/main" val="613074032"/>
              </p:ext>
            </p:extLst>
          </p:nvPr>
        </p:nvGraphicFramePr>
        <p:xfrm>
          <a:off x="379413" y="2073913"/>
          <a:ext cx="11435200" cy="383241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Table 5">
            <a:extLst>
              <a:ext uri="{FF2B5EF4-FFF2-40B4-BE49-F238E27FC236}">
                <a16:creationId xmlns:a16="http://schemas.microsoft.com/office/drawing/2014/main" id="{6984E0B6-13BB-4F21-9374-0EBD0BED7F11}"/>
              </a:ext>
            </a:extLst>
          </p:cNvPr>
          <p:cNvGraphicFramePr>
            <a:graphicFrameLocks noGrp="1"/>
          </p:cNvGraphicFramePr>
          <p:nvPr/>
        </p:nvGraphicFramePr>
        <p:xfrm>
          <a:off x="2921621" y="5830759"/>
          <a:ext cx="8776009" cy="253484"/>
        </p:xfrm>
        <a:graphic>
          <a:graphicData uri="http://schemas.openxmlformats.org/drawingml/2006/table">
            <a:tbl>
              <a:tblPr>
                <a:tableStyleId>{5C22544A-7EE6-4342-B048-85BDC9FD1C3A}</a:tableStyleId>
              </a:tblPr>
              <a:tblGrid>
                <a:gridCol w="797819">
                  <a:extLst>
                    <a:ext uri="{9D8B030D-6E8A-4147-A177-3AD203B41FA5}">
                      <a16:colId xmlns:a16="http://schemas.microsoft.com/office/drawing/2014/main" val="2379250083"/>
                    </a:ext>
                  </a:extLst>
                </a:gridCol>
                <a:gridCol w="797819">
                  <a:extLst>
                    <a:ext uri="{9D8B030D-6E8A-4147-A177-3AD203B41FA5}">
                      <a16:colId xmlns:a16="http://schemas.microsoft.com/office/drawing/2014/main" val="3707767684"/>
                    </a:ext>
                  </a:extLst>
                </a:gridCol>
                <a:gridCol w="797819">
                  <a:extLst>
                    <a:ext uri="{9D8B030D-6E8A-4147-A177-3AD203B41FA5}">
                      <a16:colId xmlns:a16="http://schemas.microsoft.com/office/drawing/2014/main" val="2497172989"/>
                    </a:ext>
                  </a:extLst>
                </a:gridCol>
                <a:gridCol w="797819">
                  <a:extLst>
                    <a:ext uri="{9D8B030D-6E8A-4147-A177-3AD203B41FA5}">
                      <a16:colId xmlns:a16="http://schemas.microsoft.com/office/drawing/2014/main" val="848469032"/>
                    </a:ext>
                  </a:extLst>
                </a:gridCol>
                <a:gridCol w="797819">
                  <a:extLst>
                    <a:ext uri="{9D8B030D-6E8A-4147-A177-3AD203B41FA5}">
                      <a16:colId xmlns:a16="http://schemas.microsoft.com/office/drawing/2014/main" val="2303936815"/>
                    </a:ext>
                  </a:extLst>
                </a:gridCol>
                <a:gridCol w="797819">
                  <a:extLst>
                    <a:ext uri="{9D8B030D-6E8A-4147-A177-3AD203B41FA5}">
                      <a16:colId xmlns:a16="http://schemas.microsoft.com/office/drawing/2014/main" val="460349122"/>
                    </a:ext>
                  </a:extLst>
                </a:gridCol>
                <a:gridCol w="797819">
                  <a:extLst>
                    <a:ext uri="{9D8B030D-6E8A-4147-A177-3AD203B41FA5}">
                      <a16:colId xmlns:a16="http://schemas.microsoft.com/office/drawing/2014/main" val="704838673"/>
                    </a:ext>
                  </a:extLst>
                </a:gridCol>
                <a:gridCol w="797819">
                  <a:extLst>
                    <a:ext uri="{9D8B030D-6E8A-4147-A177-3AD203B41FA5}">
                      <a16:colId xmlns:a16="http://schemas.microsoft.com/office/drawing/2014/main" val="2575188808"/>
                    </a:ext>
                  </a:extLst>
                </a:gridCol>
                <a:gridCol w="797819">
                  <a:extLst>
                    <a:ext uri="{9D8B030D-6E8A-4147-A177-3AD203B41FA5}">
                      <a16:colId xmlns:a16="http://schemas.microsoft.com/office/drawing/2014/main" val="2501854814"/>
                    </a:ext>
                  </a:extLst>
                </a:gridCol>
                <a:gridCol w="797819">
                  <a:extLst>
                    <a:ext uri="{9D8B030D-6E8A-4147-A177-3AD203B41FA5}">
                      <a16:colId xmlns:a16="http://schemas.microsoft.com/office/drawing/2014/main" val="2179463999"/>
                    </a:ext>
                  </a:extLst>
                </a:gridCol>
                <a:gridCol w="797819">
                  <a:extLst>
                    <a:ext uri="{9D8B030D-6E8A-4147-A177-3AD203B41FA5}">
                      <a16:colId xmlns:a16="http://schemas.microsoft.com/office/drawing/2014/main" val="1997916844"/>
                    </a:ext>
                  </a:extLst>
                </a:gridCol>
              </a:tblGrid>
              <a:tr h="253484">
                <a:tc>
                  <a:txBody>
                    <a:bodyPr/>
                    <a:lstStyle/>
                    <a:p>
                      <a:pPr algn="ctr" fontAlgn="b"/>
                      <a:r>
                        <a:rPr lang="en-GB" sz="1400" b="0" i="0" u="none" strike="noStrike" dirty="0">
                          <a:solidFill>
                            <a:schemeClr val="bg1">
                              <a:lumMod val="65000"/>
                            </a:schemeClr>
                          </a:solidFill>
                          <a:effectLst/>
                          <a:latin typeface="Calibri" panose="020F0502020204030204" pitchFamily="34" charset="0"/>
                        </a:rPr>
                        <a:t>1456</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681</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775</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170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290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284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210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158</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344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937</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dirty="0">
                          <a:solidFill>
                            <a:schemeClr val="bg1">
                              <a:lumMod val="65000"/>
                            </a:schemeClr>
                          </a:solidFill>
                          <a:effectLst/>
                          <a:latin typeface="Calibri" panose="020F0502020204030204" pitchFamily="34" charset="0"/>
                        </a:rPr>
                        <a:t>519</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09280864"/>
                  </a:ext>
                </a:extLst>
              </a:tr>
            </a:tbl>
          </a:graphicData>
        </a:graphic>
      </p:graphicFrame>
    </p:spTree>
    <p:extLst>
      <p:ext uri="{BB962C8B-B14F-4D97-AF65-F5344CB8AC3E}">
        <p14:creationId xmlns:p14="http://schemas.microsoft.com/office/powerpoint/2010/main" val="131882848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Q53. Do you think the media fairly represents women in leadership</a:t>
            </a:r>
            <a:endParaRPr lang="en-US" sz="1000" dirty="0">
              <a:latin typeface="Book Antiqua" panose="02040602050305030304" pitchFamily="18" charset="0"/>
            </a:endParaRPr>
          </a:p>
        </p:txBody>
      </p:sp>
      <p:sp>
        <p:nvSpPr>
          <p:cNvPr id="5" name="TextBox 4">
            <a:extLst>
              <a:ext uri="{FF2B5EF4-FFF2-40B4-BE49-F238E27FC236}">
                <a16:creationId xmlns:a16="http://schemas.microsoft.com/office/drawing/2014/main" id="{55F5642B-83A0-CD7B-E2BA-8E492D002397}"/>
              </a:ext>
            </a:extLst>
          </p:cNvPr>
          <p:cNvSpPr txBox="1"/>
          <p:nvPr/>
        </p:nvSpPr>
        <p:spPr>
          <a:xfrm>
            <a:off x="312990" y="119838"/>
            <a:ext cx="8139634" cy="400110"/>
          </a:xfrm>
          <a:prstGeom prst="rect">
            <a:avLst/>
          </a:prstGeom>
          <a:noFill/>
        </p:spPr>
        <p:txBody>
          <a:bodyPr wrap="square" rtlCol="0">
            <a:spAutoFit/>
          </a:bodyPr>
          <a:lstStyle/>
          <a:p>
            <a:pPr lvl="0">
              <a:defRPr/>
            </a:pPr>
            <a:r>
              <a:rPr lang="en-US" sz="2000" b="1" dirty="0">
                <a:solidFill>
                  <a:srgbClr val="000000"/>
                </a:solidFill>
                <a:latin typeface="Book Antiqua" panose="02040602050305030304" pitchFamily="18" charset="0"/>
              </a:rPr>
              <a:t>The media fairness of women’s representation in leadership</a:t>
            </a:r>
            <a:endParaRPr kumimoji="0" lang="en-US" sz="2000"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endParaRPr>
          </a:p>
        </p:txBody>
      </p:sp>
      <p:sp>
        <p:nvSpPr>
          <p:cNvPr id="8" name="TextBox 7"/>
          <p:cNvSpPr txBox="1"/>
          <p:nvPr/>
        </p:nvSpPr>
        <p:spPr>
          <a:xfrm>
            <a:off x="143691" y="3592286"/>
            <a:ext cx="535578" cy="369332"/>
          </a:xfrm>
          <a:prstGeom prst="rect">
            <a:avLst/>
          </a:prstGeom>
          <a:noFill/>
        </p:spPr>
        <p:txBody>
          <a:bodyPr wrap="square" rtlCol="0">
            <a:spAutoFit/>
          </a:bodyPr>
          <a:lstStyle/>
          <a:p>
            <a:r>
              <a:rPr lang="en-US" dirty="0"/>
              <a:t>%</a:t>
            </a:r>
          </a:p>
        </p:txBody>
      </p:sp>
      <p:sp>
        <p:nvSpPr>
          <p:cNvPr id="7" name="TextBox 6">
            <a:extLst>
              <a:ext uri="{FF2B5EF4-FFF2-40B4-BE49-F238E27FC236}">
                <a16:creationId xmlns:a16="http://schemas.microsoft.com/office/drawing/2014/main" id="{24EE3164-36BE-1169-158F-AC5F91216B94}"/>
              </a:ext>
            </a:extLst>
          </p:cNvPr>
          <p:cNvSpPr txBox="1"/>
          <p:nvPr/>
        </p:nvSpPr>
        <p:spPr>
          <a:xfrm>
            <a:off x="331302" y="675740"/>
            <a:ext cx="11714923" cy="523220"/>
          </a:xfrm>
          <a:prstGeom prst="rect">
            <a:avLst/>
          </a:prstGeom>
          <a:noFill/>
        </p:spPr>
        <p:txBody>
          <a:bodyPr wrap="square">
            <a:spAutoFit/>
          </a:bodyPr>
          <a:lstStyle/>
          <a:p>
            <a:pPr lvl="0">
              <a:defRPr/>
            </a:pPr>
            <a:r>
              <a:rPr lang="en-US" sz="1400" b="1" dirty="0">
                <a:solidFill>
                  <a:srgbClr val="0070C0"/>
                </a:solidFill>
                <a:latin typeface="Book Antiqua" panose="02040602050305030304" pitchFamily="18" charset="0"/>
                <a:ea typeface="Arial Unicode MS"/>
              </a:rPr>
              <a:t>Overall, 44% believed that women leaders receive equal and fair media coverage, while 44%, especially in Bauchi (68%) also believed that women leaders face more scrutiny and negative stereotypes.</a:t>
            </a:r>
          </a:p>
        </p:txBody>
      </p:sp>
      <p:graphicFrame>
        <p:nvGraphicFramePr>
          <p:cNvPr id="10" name="Chart 9">
            <a:extLst>
              <a:ext uri="{FF2B5EF4-FFF2-40B4-BE49-F238E27FC236}">
                <a16:creationId xmlns:a16="http://schemas.microsoft.com/office/drawing/2014/main" id="{8FE322D5-99B6-487C-B2DD-8D56D25FF0AD}"/>
              </a:ext>
            </a:extLst>
          </p:cNvPr>
          <p:cNvGraphicFramePr/>
          <p:nvPr>
            <p:extLst>
              <p:ext uri="{D42A27DB-BD31-4B8C-83A1-F6EECF244321}">
                <p14:modId xmlns:p14="http://schemas.microsoft.com/office/powerpoint/2010/main" val="3100143304"/>
              </p:ext>
            </p:extLst>
          </p:nvPr>
        </p:nvGraphicFramePr>
        <p:xfrm>
          <a:off x="679269" y="1514700"/>
          <a:ext cx="11051813" cy="360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Table 8">
            <a:extLst>
              <a:ext uri="{FF2B5EF4-FFF2-40B4-BE49-F238E27FC236}">
                <a16:creationId xmlns:a16="http://schemas.microsoft.com/office/drawing/2014/main" id="{452544F1-8E00-474D-A528-2EBD7D2F9035}"/>
              </a:ext>
            </a:extLst>
          </p:cNvPr>
          <p:cNvGraphicFramePr>
            <a:graphicFrameLocks noGrp="1"/>
          </p:cNvGraphicFramePr>
          <p:nvPr/>
        </p:nvGraphicFramePr>
        <p:xfrm>
          <a:off x="2261099" y="5652343"/>
          <a:ext cx="9302722" cy="253484"/>
        </p:xfrm>
        <a:graphic>
          <a:graphicData uri="http://schemas.openxmlformats.org/drawingml/2006/table">
            <a:tbl>
              <a:tblPr>
                <a:tableStyleId>{5C22544A-7EE6-4342-B048-85BDC9FD1C3A}</a:tableStyleId>
              </a:tblPr>
              <a:tblGrid>
                <a:gridCol w="845702">
                  <a:extLst>
                    <a:ext uri="{9D8B030D-6E8A-4147-A177-3AD203B41FA5}">
                      <a16:colId xmlns:a16="http://schemas.microsoft.com/office/drawing/2014/main" val="2379250083"/>
                    </a:ext>
                  </a:extLst>
                </a:gridCol>
                <a:gridCol w="845702">
                  <a:extLst>
                    <a:ext uri="{9D8B030D-6E8A-4147-A177-3AD203B41FA5}">
                      <a16:colId xmlns:a16="http://schemas.microsoft.com/office/drawing/2014/main" val="3707767684"/>
                    </a:ext>
                  </a:extLst>
                </a:gridCol>
                <a:gridCol w="845702">
                  <a:extLst>
                    <a:ext uri="{9D8B030D-6E8A-4147-A177-3AD203B41FA5}">
                      <a16:colId xmlns:a16="http://schemas.microsoft.com/office/drawing/2014/main" val="2497172989"/>
                    </a:ext>
                  </a:extLst>
                </a:gridCol>
                <a:gridCol w="845702">
                  <a:extLst>
                    <a:ext uri="{9D8B030D-6E8A-4147-A177-3AD203B41FA5}">
                      <a16:colId xmlns:a16="http://schemas.microsoft.com/office/drawing/2014/main" val="848469032"/>
                    </a:ext>
                  </a:extLst>
                </a:gridCol>
                <a:gridCol w="845702">
                  <a:extLst>
                    <a:ext uri="{9D8B030D-6E8A-4147-A177-3AD203B41FA5}">
                      <a16:colId xmlns:a16="http://schemas.microsoft.com/office/drawing/2014/main" val="2303936815"/>
                    </a:ext>
                  </a:extLst>
                </a:gridCol>
                <a:gridCol w="845702">
                  <a:extLst>
                    <a:ext uri="{9D8B030D-6E8A-4147-A177-3AD203B41FA5}">
                      <a16:colId xmlns:a16="http://schemas.microsoft.com/office/drawing/2014/main" val="460349122"/>
                    </a:ext>
                  </a:extLst>
                </a:gridCol>
                <a:gridCol w="845702">
                  <a:extLst>
                    <a:ext uri="{9D8B030D-6E8A-4147-A177-3AD203B41FA5}">
                      <a16:colId xmlns:a16="http://schemas.microsoft.com/office/drawing/2014/main" val="704838673"/>
                    </a:ext>
                  </a:extLst>
                </a:gridCol>
                <a:gridCol w="845702">
                  <a:extLst>
                    <a:ext uri="{9D8B030D-6E8A-4147-A177-3AD203B41FA5}">
                      <a16:colId xmlns:a16="http://schemas.microsoft.com/office/drawing/2014/main" val="2575188808"/>
                    </a:ext>
                  </a:extLst>
                </a:gridCol>
                <a:gridCol w="845702">
                  <a:extLst>
                    <a:ext uri="{9D8B030D-6E8A-4147-A177-3AD203B41FA5}">
                      <a16:colId xmlns:a16="http://schemas.microsoft.com/office/drawing/2014/main" val="2501854814"/>
                    </a:ext>
                  </a:extLst>
                </a:gridCol>
                <a:gridCol w="845702">
                  <a:extLst>
                    <a:ext uri="{9D8B030D-6E8A-4147-A177-3AD203B41FA5}">
                      <a16:colId xmlns:a16="http://schemas.microsoft.com/office/drawing/2014/main" val="2179463999"/>
                    </a:ext>
                  </a:extLst>
                </a:gridCol>
                <a:gridCol w="845702">
                  <a:extLst>
                    <a:ext uri="{9D8B030D-6E8A-4147-A177-3AD203B41FA5}">
                      <a16:colId xmlns:a16="http://schemas.microsoft.com/office/drawing/2014/main" val="1997916844"/>
                    </a:ext>
                  </a:extLst>
                </a:gridCol>
              </a:tblGrid>
              <a:tr h="253484">
                <a:tc>
                  <a:txBody>
                    <a:bodyPr/>
                    <a:lstStyle/>
                    <a:p>
                      <a:pPr algn="ctr" fontAlgn="b"/>
                      <a:r>
                        <a:rPr lang="en-GB" sz="1400" b="0" i="0" u="none" strike="noStrike" dirty="0">
                          <a:solidFill>
                            <a:schemeClr val="bg1">
                              <a:lumMod val="65000"/>
                            </a:schemeClr>
                          </a:solidFill>
                          <a:effectLst/>
                          <a:latin typeface="Calibri" panose="020F0502020204030204" pitchFamily="34" charset="0"/>
                        </a:rPr>
                        <a:t>1456</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681</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775</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170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290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284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210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158</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344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937</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dirty="0">
                          <a:solidFill>
                            <a:schemeClr val="bg1">
                              <a:lumMod val="65000"/>
                            </a:schemeClr>
                          </a:solidFill>
                          <a:effectLst/>
                          <a:latin typeface="Calibri" panose="020F0502020204030204" pitchFamily="34" charset="0"/>
                        </a:rPr>
                        <a:t>519</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09280864"/>
                  </a:ext>
                </a:extLst>
              </a:tr>
            </a:tbl>
          </a:graphicData>
        </a:graphic>
      </p:graphicFrame>
    </p:spTree>
    <p:extLst>
      <p:ext uri="{BB962C8B-B14F-4D97-AF65-F5344CB8AC3E}">
        <p14:creationId xmlns:p14="http://schemas.microsoft.com/office/powerpoint/2010/main" val="171244710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Q54. What strategies would be most effective in increasing women’s leadership participation?</a:t>
            </a:r>
            <a:endParaRPr lang="en-US" sz="1000" dirty="0">
              <a:latin typeface="Book Antiqua" panose="02040602050305030304" pitchFamily="18" charset="0"/>
            </a:endParaRPr>
          </a:p>
        </p:txBody>
      </p:sp>
      <p:sp>
        <p:nvSpPr>
          <p:cNvPr id="5" name="TextBox 4">
            <a:extLst>
              <a:ext uri="{FF2B5EF4-FFF2-40B4-BE49-F238E27FC236}">
                <a16:creationId xmlns:a16="http://schemas.microsoft.com/office/drawing/2014/main" id="{55F5642B-83A0-CD7B-E2BA-8E492D002397}"/>
              </a:ext>
            </a:extLst>
          </p:cNvPr>
          <p:cNvSpPr txBox="1"/>
          <p:nvPr/>
        </p:nvSpPr>
        <p:spPr>
          <a:xfrm>
            <a:off x="312990" y="119838"/>
            <a:ext cx="8619137"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Effective strategies to increase women’s leadership participation</a:t>
            </a:r>
            <a:endParaRPr kumimoji="0" lang="en-US" sz="2000"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endParaRPr>
          </a:p>
        </p:txBody>
      </p:sp>
      <p:sp>
        <p:nvSpPr>
          <p:cNvPr id="7" name="TextBox 6">
            <a:extLst>
              <a:ext uri="{FF2B5EF4-FFF2-40B4-BE49-F238E27FC236}">
                <a16:creationId xmlns:a16="http://schemas.microsoft.com/office/drawing/2014/main" id="{24EE3164-36BE-1169-158F-AC5F91216B94}"/>
              </a:ext>
            </a:extLst>
          </p:cNvPr>
          <p:cNvSpPr txBox="1"/>
          <p:nvPr/>
        </p:nvSpPr>
        <p:spPr>
          <a:xfrm>
            <a:off x="331302" y="675740"/>
            <a:ext cx="11714923" cy="738664"/>
          </a:xfrm>
          <a:prstGeom prst="rect">
            <a:avLst/>
          </a:prstGeom>
          <a:noFill/>
        </p:spPr>
        <p:txBody>
          <a:bodyPr wrap="square">
            <a:spAutoFit/>
          </a:bodyPr>
          <a:lstStyle/>
          <a:p>
            <a:pPr lvl="0" algn="just">
              <a:defRPr/>
            </a:pPr>
            <a:r>
              <a:rPr lang="en-US" sz="1400" b="1" dirty="0">
                <a:solidFill>
                  <a:srgbClr val="0070C0"/>
                </a:solidFill>
                <a:latin typeface="Book Antiqua" panose="02040602050305030304" pitchFamily="18" charset="0"/>
                <a:ea typeface="Arial Unicode MS"/>
              </a:rPr>
              <a:t>Suggested effective strategies to increase women’s leadership participation are public awareness campaigns to change gender perceptions (59%), leadership training and mentorship for women (52%), economic empowerment programs to support female candidates (51%), and Legal reforms to ensure equal political participation (35%).</a:t>
            </a:r>
          </a:p>
        </p:txBody>
      </p:sp>
      <p:graphicFrame>
        <p:nvGraphicFramePr>
          <p:cNvPr id="9" name="Chart 8">
            <a:extLst>
              <a:ext uri="{FF2B5EF4-FFF2-40B4-BE49-F238E27FC236}">
                <a16:creationId xmlns:a16="http://schemas.microsoft.com/office/drawing/2014/main" id="{F90D2156-8571-44C8-9EC7-938FF15D699E}"/>
              </a:ext>
            </a:extLst>
          </p:cNvPr>
          <p:cNvGraphicFramePr/>
          <p:nvPr>
            <p:custDataLst>
              <p:tags r:id="rId1"/>
            </p:custDataLst>
            <p:extLst>
              <p:ext uri="{D42A27DB-BD31-4B8C-83A1-F6EECF244321}">
                <p14:modId xmlns:p14="http://schemas.microsoft.com/office/powerpoint/2010/main" val="3697016724"/>
              </p:ext>
            </p:extLst>
          </p:nvPr>
        </p:nvGraphicFramePr>
        <p:xfrm>
          <a:off x="391161" y="1592982"/>
          <a:ext cx="11414032" cy="403691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Table 9">
            <a:extLst>
              <a:ext uri="{FF2B5EF4-FFF2-40B4-BE49-F238E27FC236}">
                <a16:creationId xmlns:a16="http://schemas.microsoft.com/office/drawing/2014/main" id="{BE20651D-F259-4994-BE92-52F9E51B10EE}"/>
              </a:ext>
            </a:extLst>
          </p:cNvPr>
          <p:cNvGraphicFramePr>
            <a:graphicFrameLocks noGrp="1"/>
          </p:cNvGraphicFramePr>
          <p:nvPr/>
        </p:nvGraphicFramePr>
        <p:xfrm>
          <a:off x="391160" y="5786155"/>
          <a:ext cx="11414029" cy="253484"/>
        </p:xfrm>
        <a:graphic>
          <a:graphicData uri="http://schemas.openxmlformats.org/drawingml/2006/table">
            <a:tbl>
              <a:tblPr>
                <a:tableStyleId>{5C22544A-7EE6-4342-B048-85BDC9FD1C3A}</a:tableStyleId>
              </a:tblPr>
              <a:tblGrid>
                <a:gridCol w="1037639">
                  <a:extLst>
                    <a:ext uri="{9D8B030D-6E8A-4147-A177-3AD203B41FA5}">
                      <a16:colId xmlns:a16="http://schemas.microsoft.com/office/drawing/2014/main" val="2379250083"/>
                    </a:ext>
                  </a:extLst>
                </a:gridCol>
                <a:gridCol w="1037639">
                  <a:extLst>
                    <a:ext uri="{9D8B030D-6E8A-4147-A177-3AD203B41FA5}">
                      <a16:colId xmlns:a16="http://schemas.microsoft.com/office/drawing/2014/main" val="3707767684"/>
                    </a:ext>
                  </a:extLst>
                </a:gridCol>
                <a:gridCol w="1037639">
                  <a:extLst>
                    <a:ext uri="{9D8B030D-6E8A-4147-A177-3AD203B41FA5}">
                      <a16:colId xmlns:a16="http://schemas.microsoft.com/office/drawing/2014/main" val="2497172989"/>
                    </a:ext>
                  </a:extLst>
                </a:gridCol>
                <a:gridCol w="1037639">
                  <a:extLst>
                    <a:ext uri="{9D8B030D-6E8A-4147-A177-3AD203B41FA5}">
                      <a16:colId xmlns:a16="http://schemas.microsoft.com/office/drawing/2014/main" val="848469032"/>
                    </a:ext>
                  </a:extLst>
                </a:gridCol>
                <a:gridCol w="1037639">
                  <a:extLst>
                    <a:ext uri="{9D8B030D-6E8A-4147-A177-3AD203B41FA5}">
                      <a16:colId xmlns:a16="http://schemas.microsoft.com/office/drawing/2014/main" val="2303936815"/>
                    </a:ext>
                  </a:extLst>
                </a:gridCol>
                <a:gridCol w="1037639">
                  <a:extLst>
                    <a:ext uri="{9D8B030D-6E8A-4147-A177-3AD203B41FA5}">
                      <a16:colId xmlns:a16="http://schemas.microsoft.com/office/drawing/2014/main" val="460349122"/>
                    </a:ext>
                  </a:extLst>
                </a:gridCol>
                <a:gridCol w="1037639">
                  <a:extLst>
                    <a:ext uri="{9D8B030D-6E8A-4147-A177-3AD203B41FA5}">
                      <a16:colId xmlns:a16="http://schemas.microsoft.com/office/drawing/2014/main" val="704838673"/>
                    </a:ext>
                  </a:extLst>
                </a:gridCol>
                <a:gridCol w="1037639">
                  <a:extLst>
                    <a:ext uri="{9D8B030D-6E8A-4147-A177-3AD203B41FA5}">
                      <a16:colId xmlns:a16="http://schemas.microsoft.com/office/drawing/2014/main" val="2575188808"/>
                    </a:ext>
                  </a:extLst>
                </a:gridCol>
                <a:gridCol w="1037639">
                  <a:extLst>
                    <a:ext uri="{9D8B030D-6E8A-4147-A177-3AD203B41FA5}">
                      <a16:colId xmlns:a16="http://schemas.microsoft.com/office/drawing/2014/main" val="2501854814"/>
                    </a:ext>
                  </a:extLst>
                </a:gridCol>
                <a:gridCol w="1037639">
                  <a:extLst>
                    <a:ext uri="{9D8B030D-6E8A-4147-A177-3AD203B41FA5}">
                      <a16:colId xmlns:a16="http://schemas.microsoft.com/office/drawing/2014/main" val="2179463999"/>
                    </a:ext>
                  </a:extLst>
                </a:gridCol>
                <a:gridCol w="1037639">
                  <a:extLst>
                    <a:ext uri="{9D8B030D-6E8A-4147-A177-3AD203B41FA5}">
                      <a16:colId xmlns:a16="http://schemas.microsoft.com/office/drawing/2014/main" val="1997916844"/>
                    </a:ext>
                  </a:extLst>
                </a:gridCol>
              </a:tblGrid>
              <a:tr h="253484">
                <a:tc>
                  <a:txBody>
                    <a:bodyPr/>
                    <a:lstStyle/>
                    <a:p>
                      <a:pPr algn="ctr" fontAlgn="b"/>
                      <a:r>
                        <a:rPr lang="en-GB" sz="1400" b="0" i="0" u="none" strike="noStrike" dirty="0">
                          <a:solidFill>
                            <a:schemeClr val="bg1">
                              <a:lumMod val="65000"/>
                            </a:schemeClr>
                          </a:solidFill>
                          <a:effectLst/>
                          <a:latin typeface="Calibri" panose="020F0502020204030204" pitchFamily="34" charset="0"/>
                        </a:rPr>
                        <a:t>1456</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681</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775</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170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290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284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210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158</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344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937</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dirty="0">
                          <a:solidFill>
                            <a:schemeClr val="bg1">
                              <a:lumMod val="65000"/>
                            </a:schemeClr>
                          </a:solidFill>
                          <a:effectLst/>
                          <a:latin typeface="Calibri" panose="020F0502020204030204" pitchFamily="34" charset="0"/>
                        </a:rPr>
                        <a:t>519</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09280864"/>
                  </a:ext>
                </a:extLst>
              </a:tr>
            </a:tbl>
          </a:graphicData>
        </a:graphic>
      </p:graphicFrame>
    </p:spTree>
    <p:extLst>
      <p:ext uri="{BB962C8B-B14F-4D97-AF65-F5344CB8AC3E}">
        <p14:creationId xmlns:p14="http://schemas.microsoft.com/office/powerpoint/2010/main" val="316211220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Q55. How would you rate your country’s progress toward gender-inclusive leadership?</a:t>
            </a:r>
            <a:endParaRPr lang="en-US" sz="1000" dirty="0">
              <a:latin typeface="Book Antiqua" panose="02040602050305030304" pitchFamily="18" charset="0"/>
            </a:endParaRPr>
          </a:p>
        </p:txBody>
      </p:sp>
      <p:sp>
        <p:nvSpPr>
          <p:cNvPr id="14" name="TextBox 13">
            <a:extLst>
              <a:ext uri="{FF2B5EF4-FFF2-40B4-BE49-F238E27FC236}">
                <a16:creationId xmlns:a16="http://schemas.microsoft.com/office/drawing/2014/main" id="{24EE3164-36BE-1169-158F-AC5F91216B94}"/>
              </a:ext>
            </a:extLst>
          </p:cNvPr>
          <p:cNvSpPr txBox="1"/>
          <p:nvPr/>
        </p:nvSpPr>
        <p:spPr>
          <a:xfrm>
            <a:off x="331302" y="675740"/>
            <a:ext cx="11714923" cy="523220"/>
          </a:xfrm>
          <a:prstGeom prst="rect">
            <a:avLst/>
          </a:prstGeom>
          <a:noFill/>
        </p:spPr>
        <p:txBody>
          <a:bodyPr wrap="square">
            <a:spAutoFit/>
          </a:bodyPr>
          <a:lstStyle/>
          <a:p>
            <a:pPr lvl="0">
              <a:defRPr/>
            </a:pPr>
            <a:r>
              <a:rPr lang="en-US" sz="1400" b="1" dirty="0">
                <a:solidFill>
                  <a:srgbClr val="0070C0"/>
                </a:solidFill>
                <a:latin typeface="Book Antiqua" panose="02040602050305030304" pitchFamily="18" charset="0"/>
                <a:ea typeface="Arial Unicode MS"/>
              </a:rPr>
              <a:t>The overall rating of Nigeria’s progress toward gender-inclusive leadership is low, with a mean score of 2.35 out of 5. The rating is particularly poor in Edo, with a mean rating of 1.23. </a:t>
            </a:r>
          </a:p>
        </p:txBody>
      </p:sp>
      <p:sp>
        <p:nvSpPr>
          <p:cNvPr id="5" name="TextBox 4">
            <a:extLst>
              <a:ext uri="{FF2B5EF4-FFF2-40B4-BE49-F238E27FC236}">
                <a16:creationId xmlns:a16="http://schemas.microsoft.com/office/drawing/2014/main" id="{55F5642B-83A0-CD7B-E2BA-8E492D002397}"/>
              </a:ext>
            </a:extLst>
          </p:cNvPr>
          <p:cNvSpPr txBox="1"/>
          <p:nvPr/>
        </p:nvSpPr>
        <p:spPr>
          <a:xfrm>
            <a:off x="312990" y="119838"/>
            <a:ext cx="7258688" cy="369332"/>
          </a:xfrm>
          <a:prstGeom prst="rect">
            <a:avLst/>
          </a:prstGeom>
          <a:noFill/>
        </p:spPr>
        <p:txBody>
          <a:bodyPr wrap="square" rtlCol="0">
            <a:spAutoFit/>
          </a:bodyPr>
          <a:lstStyle/>
          <a:p>
            <a:pPr lvl="0">
              <a:defRPr/>
            </a:pPr>
            <a:r>
              <a:rPr lang="en-US" b="1" dirty="0">
                <a:solidFill>
                  <a:prstClr val="black"/>
                </a:solidFill>
                <a:latin typeface="Book Antiqua" panose="02040602050305030304" pitchFamily="18" charset="0"/>
                <a:ea typeface="Arial Unicode MS"/>
              </a:rPr>
              <a:t>Rating Nigeria’s progress toward gender-inclusive leadership</a:t>
            </a:r>
            <a:endParaRPr kumimoji="0" lang="en-US"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endParaRPr>
          </a:p>
        </p:txBody>
      </p:sp>
      <p:sp>
        <p:nvSpPr>
          <p:cNvPr id="12" name="Rectangle 11">
            <a:extLst>
              <a:ext uri="{FF2B5EF4-FFF2-40B4-BE49-F238E27FC236}">
                <a16:creationId xmlns:a16="http://schemas.microsoft.com/office/drawing/2014/main" id="{B04CE8E3-6477-4704-A018-FD65D74B66D3}"/>
              </a:ext>
            </a:extLst>
          </p:cNvPr>
          <p:cNvSpPr/>
          <p:nvPr/>
        </p:nvSpPr>
        <p:spPr>
          <a:xfrm>
            <a:off x="1743075" y="5695950"/>
            <a:ext cx="421910" cy="369332"/>
          </a:xfrm>
          <a:prstGeom prst="rect">
            <a:avLst/>
          </a:prstGeom>
        </p:spPr>
        <p:txBody>
          <a:bodyPr wrap="none">
            <a:spAutoFit/>
          </a:bodyPr>
          <a:lstStyle/>
          <a:p>
            <a:r>
              <a:rPr lang="en-GB" dirty="0">
                <a:solidFill>
                  <a:srgbClr val="000000"/>
                </a:solidFill>
                <a:latin typeface="Calibri" panose="020F0502020204030204" pitchFamily="34" charset="0"/>
              </a:rPr>
              <a:t>n=</a:t>
            </a:r>
            <a:endParaRPr lang="en-GB" dirty="0"/>
          </a:p>
        </p:txBody>
      </p:sp>
      <p:graphicFrame>
        <p:nvGraphicFramePr>
          <p:cNvPr id="15" name="Chart 14">
            <a:extLst>
              <a:ext uri="{FF2B5EF4-FFF2-40B4-BE49-F238E27FC236}">
                <a16:creationId xmlns:a16="http://schemas.microsoft.com/office/drawing/2014/main" id="{10C7777E-67E6-4555-A948-F505DD2B8009}"/>
              </a:ext>
            </a:extLst>
          </p:cNvPr>
          <p:cNvGraphicFramePr/>
          <p:nvPr>
            <p:extLst>
              <p:ext uri="{D42A27DB-BD31-4B8C-83A1-F6EECF244321}">
                <p14:modId xmlns:p14="http://schemas.microsoft.com/office/powerpoint/2010/main" val="990622219"/>
              </p:ext>
            </p:extLst>
          </p:nvPr>
        </p:nvGraphicFramePr>
        <p:xfrm>
          <a:off x="379413" y="1884346"/>
          <a:ext cx="11666812" cy="383241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Table 5">
            <a:extLst>
              <a:ext uri="{FF2B5EF4-FFF2-40B4-BE49-F238E27FC236}">
                <a16:creationId xmlns:a16="http://schemas.microsoft.com/office/drawing/2014/main" id="{C87DFAAA-4423-4344-BBCD-FF8051CEE04D}"/>
              </a:ext>
            </a:extLst>
          </p:cNvPr>
          <p:cNvGraphicFramePr>
            <a:graphicFrameLocks noGrp="1"/>
          </p:cNvGraphicFramePr>
          <p:nvPr>
            <p:extLst>
              <p:ext uri="{D42A27DB-BD31-4B8C-83A1-F6EECF244321}">
                <p14:modId xmlns:p14="http://schemas.microsoft.com/office/powerpoint/2010/main" val="526125668"/>
              </p:ext>
            </p:extLst>
          </p:nvPr>
        </p:nvGraphicFramePr>
        <p:xfrm>
          <a:off x="1565910" y="1508641"/>
          <a:ext cx="10252715" cy="253484"/>
        </p:xfrm>
        <a:graphic>
          <a:graphicData uri="http://schemas.openxmlformats.org/drawingml/2006/table">
            <a:tbl>
              <a:tblPr>
                <a:tableStyleId>{5C22544A-7EE6-4342-B048-85BDC9FD1C3A}</a:tableStyleId>
              </a:tblPr>
              <a:tblGrid>
                <a:gridCol w="1365485">
                  <a:extLst>
                    <a:ext uri="{9D8B030D-6E8A-4147-A177-3AD203B41FA5}">
                      <a16:colId xmlns:a16="http://schemas.microsoft.com/office/drawing/2014/main" val="1601231567"/>
                    </a:ext>
                  </a:extLst>
                </a:gridCol>
                <a:gridCol w="807930">
                  <a:extLst>
                    <a:ext uri="{9D8B030D-6E8A-4147-A177-3AD203B41FA5}">
                      <a16:colId xmlns:a16="http://schemas.microsoft.com/office/drawing/2014/main" val="2379250083"/>
                    </a:ext>
                  </a:extLst>
                </a:gridCol>
                <a:gridCol w="807930">
                  <a:extLst>
                    <a:ext uri="{9D8B030D-6E8A-4147-A177-3AD203B41FA5}">
                      <a16:colId xmlns:a16="http://schemas.microsoft.com/office/drawing/2014/main" val="3707767684"/>
                    </a:ext>
                  </a:extLst>
                </a:gridCol>
                <a:gridCol w="807930">
                  <a:extLst>
                    <a:ext uri="{9D8B030D-6E8A-4147-A177-3AD203B41FA5}">
                      <a16:colId xmlns:a16="http://schemas.microsoft.com/office/drawing/2014/main" val="2497172989"/>
                    </a:ext>
                  </a:extLst>
                </a:gridCol>
                <a:gridCol w="807930">
                  <a:extLst>
                    <a:ext uri="{9D8B030D-6E8A-4147-A177-3AD203B41FA5}">
                      <a16:colId xmlns:a16="http://schemas.microsoft.com/office/drawing/2014/main" val="848469032"/>
                    </a:ext>
                  </a:extLst>
                </a:gridCol>
                <a:gridCol w="807930">
                  <a:extLst>
                    <a:ext uri="{9D8B030D-6E8A-4147-A177-3AD203B41FA5}">
                      <a16:colId xmlns:a16="http://schemas.microsoft.com/office/drawing/2014/main" val="2303936815"/>
                    </a:ext>
                  </a:extLst>
                </a:gridCol>
                <a:gridCol w="807930">
                  <a:extLst>
                    <a:ext uri="{9D8B030D-6E8A-4147-A177-3AD203B41FA5}">
                      <a16:colId xmlns:a16="http://schemas.microsoft.com/office/drawing/2014/main" val="460349122"/>
                    </a:ext>
                  </a:extLst>
                </a:gridCol>
                <a:gridCol w="807930">
                  <a:extLst>
                    <a:ext uri="{9D8B030D-6E8A-4147-A177-3AD203B41FA5}">
                      <a16:colId xmlns:a16="http://schemas.microsoft.com/office/drawing/2014/main" val="704838673"/>
                    </a:ext>
                  </a:extLst>
                </a:gridCol>
                <a:gridCol w="807930">
                  <a:extLst>
                    <a:ext uri="{9D8B030D-6E8A-4147-A177-3AD203B41FA5}">
                      <a16:colId xmlns:a16="http://schemas.microsoft.com/office/drawing/2014/main" val="2575188808"/>
                    </a:ext>
                  </a:extLst>
                </a:gridCol>
                <a:gridCol w="807930">
                  <a:extLst>
                    <a:ext uri="{9D8B030D-6E8A-4147-A177-3AD203B41FA5}">
                      <a16:colId xmlns:a16="http://schemas.microsoft.com/office/drawing/2014/main" val="2501854814"/>
                    </a:ext>
                  </a:extLst>
                </a:gridCol>
                <a:gridCol w="807930">
                  <a:extLst>
                    <a:ext uri="{9D8B030D-6E8A-4147-A177-3AD203B41FA5}">
                      <a16:colId xmlns:a16="http://schemas.microsoft.com/office/drawing/2014/main" val="2179463999"/>
                    </a:ext>
                  </a:extLst>
                </a:gridCol>
                <a:gridCol w="807930">
                  <a:extLst>
                    <a:ext uri="{9D8B030D-6E8A-4147-A177-3AD203B41FA5}">
                      <a16:colId xmlns:a16="http://schemas.microsoft.com/office/drawing/2014/main" val="1997916844"/>
                    </a:ext>
                  </a:extLst>
                </a:gridCol>
              </a:tblGrid>
              <a:tr h="253484">
                <a:tc>
                  <a:txBody>
                    <a:bodyPr/>
                    <a:lstStyle/>
                    <a:p>
                      <a:pPr algn="l" fontAlgn="b"/>
                      <a:r>
                        <a:rPr lang="en-GB" sz="1400" b="1" u="none" strike="noStrike" dirty="0">
                          <a:solidFill>
                            <a:schemeClr val="accent4">
                              <a:lumMod val="75000"/>
                            </a:schemeClr>
                          </a:solidFill>
                          <a:effectLst/>
                        </a:rPr>
                        <a:t>Mean</a:t>
                      </a:r>
                      <a:endParaRPr lang="en-GB" sz="1400" b="1" i="0" u="none" strike="noStrike" dirty="0">
                        <a:solidFill>
                          <a:schemeClr val="accent4">
                            <a:lumMod val="75000"/>
                          </a:schemeClr>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a:solidFill>
                            <a:schemeClr val="accent4">
                              <a:lumMod val="75000"/>
                            </a:schemeClr>
                          </a:solidFill>
                          <a:effectLst/>
                          <a:latin typeface="Calibri" panose="020F0502020204030204" pitchFamily="34" charset="0"/>
                        </a:rPr>
                        <a:t>2.35</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a:solidFill>
                            <a:schemeClr val="accent4">
                              <a:lumMod val="75000"/>
                            </a:schemeClr>
                          </a:solidFill>
                          <a:effectLst/>
                          <a:latin typeface="Calibri" panose="020F0502020204030204" pitchFamily="34" charset="0"/>
                        </a:rPr>
                        <a:t>2.45</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a:solidFill>
                            <a:schemeClr val="accent4">
                              <a:lumMod val="75000"/>
                            </a:schemeClr>
                          </a:solidFill>
                          <a:effectLst/>
                          <a:latin typeface="Calibri" panose="020F0502020204030204" pitchFamily="34" charset="0"/>
                        </a:rPr>
                        <a:t>2.26</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a:solidFill>
                            <a:schemeClr val="accent4">
                              <a:lumMod val="75000"/>
                            </a:schemeClr>
                          </a:solidFill>
                          <a:effectLst/>
                          <a:latin typeface="Calibri" panose="020F0502020204030204" pitchFamily="34" charset="0"/>
                        </a:rPr>
                        <a:t>2.4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a:solidFill>
                            <a:schemeClr val="accent4">
                              <a:lumMod val="75000"/>
                            </a:schemeClr>
                          </a:solidFill>
                          <a:effectLst/>
                          <a:latin typeface="Calibri" panose="020F0502020204030204" pitchFamily="34" charset="0"/>
                        </a:rPr>
                        <a:t>2.69</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a:solidFill>
                            <a:schemeClr val="accent4">
                              <a:lumMod val="75000"/>
                            </a:schemeClr>
                          </a:solidFill>
                          <a:effectLst/>
                          <a:latin typeface="Calibri" panose="020F0502020204030204" pitchFamily="34" charset="0"/>
                        </a:rPr>
                        <a:t>2.57</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a:solidFill>
                            <a:schemeClr val="accent4">
                              <a:lumMod val="75000"/>
                            </a:schemeClr>
                          </a:solidFill>
                          <a:effectLst/>
                          <a:latin typeface="Calibri" panose="020F0502020204030204" pitchFamily="34" charset="0"/>
                        </a:rPr>
                        <a:t>2.13</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a:solidFill>
                            <a:schemeClr val="accent4">
                              <a:lumMod val="75000"/>
                            </a:schemeClr>
                          </a:solidFill>
                          <a:effectLst/>
                          <a:latin typeface="Calibri" panose="020F0502020204030204" pitchFamily="34" charset="0"/>
                        </a:rPr>
                        <a:t>1.23</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a:solidFill>
                            <a:schemeClr val="accent4">
                              <a:lumMod val="75000"/>
                            </a:schemeClr>
                          </a:solidFill>
                          <a:effectLst/>
                          <a:latin typeface="Calibri" panose="020F0502020204030204" pitchFamily="34" charset="0"/>
                        </a:rPr>
                        <a:t>2.5</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a:solidFill>
                            <a:schemeClr val="accent4">
                              <a:lumMod val="75000"/>
                            </a:schemeClr>
                          </a:solidFill>
                          <a:effectLst/>
                          <a:latin typeface="Calibri" panose="020F0502020204030204" pitchFamily="34" charset="0"/>
                        </a:rPr>
                        <a:t>2.35</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1" i="0" u="none" strike="noStrike" dirty="0">
                          <a:solidFill>
                            <a:schemeClr val="accent4">
                              <a:lumMod val="75000"/>
                            </a:schemeClr>
                          </a:solidFill>
                          <a:effectLst/>
                          <a:latin typeface="Calibri" panose="020F0502020204030204" pitchFamily="34" charset="0"/>
                        </a:rPr>
                        <a:t>2.35</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09280864"/>
                  </a:ext>
                </a:extLst>
              </a:tr>
            </a:tbl>
          </a:graphicData>
        </a:graphic>
      </p:graphicFrame>
      <p:graphicFrame>
        <p:nvGraphicFramePr>
          <p:cNvPr id="17" name="Table 16">
            <a:extLst>
              <a:ext uri="{FF2B5EF4-FFF2-40B4-BE49-F238E27FC236}">
                <a16:creationId xmlns:a16="http://schemas.microsoft.com/office/drawing/2014/main" id="{C60F3B62-80D0-4C26-AFC9-8E69CF4023B0}"/>
              </a:ext>
            </a:extLst>
          </p:cNvPr>
          <p:cNvGraphicFramePr>
            <a:graphicFrameLocks noGrp="1"/>
          </p:cNvGraphicFramePr>
          <p:nvPr/>
        </p:nvGraphicFramePr>
        <p:xfrm>
          <a:off x="2941320" y="5741551"/>
          <a:ext cx="8887230" cy="253484"/>
        </p:xfrm>
        <a:graphic>
          <a:graphicData uri="http://schemas.openxmlformats.org/drawingml/2006/table">
            <a:tbl>
              <a:tblPr>
                <a:tableStyleId>{5C22544A-7EE6-4342-B048-85BDC9FD1C3A}</a:tableStyleId>
              </a:tblPr>
              <a:tblGrid>
                <a:gridCol w="807930">
                  <a:extLst>
                    <a:ext uri="{9D8B030D-6E8A-4147-A177-3AD203B41FA5}">
                      <a16:colId xmlns:a16="http://schemas.microsoft.com/office/drawing/2014/main" val="2379250083"/>
                    </a:ext>
                  </a:extLst>
                </a:gridCol>
                <a:gridCol w="807930">
                  <a:extLst>
                    <a:ext uri="{9D8B030D-6E8A-4147-A177-3AD203B41FA5}">
                      <a16:colId xmlns:a16="http://schemas.microsoft.com/office/drawing/2014/main" val="3707767684"/>
                    </a:ext>
                  </a:extLst>
                </a:gridCol>
                <a:gridCol w="807930">
                  <a:extLst>
                    <a:ext uri="{9D8B030D-6E8A-4147-A177-3AD203B41FA5}">
                      <a16:colId xmlns:a16="http://schemas.microsoft.com/office/drawing/2014/main" val="2497172989"/>
                    </a:ext>
                  </a:extLst>
                </a:gridCol>
                <a:gridCol w="807930">
                  <a:extLst>
                    <a:ext uri="{9D8B030D-6E8A-4147-A177-3AD203B41FA5}">
                      <a16:colId xmlns:a16="http://schemas.microsoft.com/office/drawing/2014/main" val="848469032"/>
                    </a:ext>
                  </a:extLst>
                </a:gridCol>
                <a:gridCol w="807930">
                  <a:extLst>
                    <a:ext uri="{9D8B030D-6E8A-4147-A177-3AD203B41FA5}">
                      <a16:colId xmlns:a16="http://schemas.microsoft.com/office/drawing/2014/main" val="2303936815"/>
                    </a:ext>
                  </a:extLst>
                </a:gridCol>
                <a:gridCol w="807930">
                  <a:extLst>
                    <a:ext uri="{9D8B030D-6E8A-4147-A177-3AD203B41FA5}">
                      <a16:colId xmlns:a16="http://schemas.microsoft.com/office/drawing/2014/main" val="460349122"/>
                    </a:ext>
                  </a:extLst>
                </a:gridCol>
                <a:gridCol w="807930">
                  <a:extLst>
                    <a:ext uri="{9D8B030D-6E8A-4147-A177-3AD203B41FA5}">
                      <a16:colId xmlns:a16="http://schemas.microsoft.com/office/drawing/2014/main" val="704838673"/>
                    </a:ext>
                  </a:extLst>
                </a:gridCol>
                <a:gridCol w="807930">
                  <a:extLst>
                    <a:ext uri="{9D8B030D-6E8A-4147-A177-3AD203B41FA5}">
                      <a16:colId xmlns:a16="http://schemas.microsoft.com/office/drawing/2014/main" val="2575188808"/>
                    </a:ext>
                  </a:extLst>
                </a:gridCol>
                <a:gridCol w="807930">
                  <a:extLst>
                    <a:ext uri="{9D8B030D-6E8A-4147-A177-3AD203B41FA5}">
                      <a16:colId xmlns:a16="http://schemas.microsoft.com/office/drawing/2014/main" val="2501854814"/>
                    </a:ext>
                  </a:extLst>
                </a:gridCol>
                <a:gridCol w="807930">
                  <a:extLst>
                    <a:ext uri="{9D8B030D-6E8A-4147-A177-3AD203B41FA5}">
                      <a16:colId xmlns:a16="http://schemas.microsoft.com/office/drawing/2014/main" val="2179463999"/>
                    </a:ext>
                  </a:extLst>
                </a:gridCol>
                <a:gridCol w="807930">
                  <a:extLst>
                    <a:ext uri="{9D8B030D-6E8A-4147-A177-3AD203B41FA5}">
                      <a16:colId xmlns:a16="http://schemas.microsoft.com/office/drawing/2014/main" val="1997916844"/>
                    </a:ext>
                  </a:extLst>
                </a:gridCol>
              </a:tblGrid>
              <a:tr h="253484">
                <a:tc>
                  <a:txBody>
                    <a:bodyPr/>
                    <a:lstStyle/>
                    <a:p>
                      <a:pPr algn="ctr" fontAlgn="b"/>
                      <a:r>
                        <a:rPr lang="en-GB" sz="1400" b="0" i="0" u="none" strike="noStrike" dirty="0">
                          <a:solidFill>
                            <a:schemeClr val="bg1">
                              <a:lumMod val="65000"/>
                            </a:schemeClr>
                          </a:solidFill>
                          <a:effectLst/>
                          <a:latin typeface="Calibri" panose="020F0502020204030204" pitchFamily="34" charset="0"/>
                        </a:rPr>
                        <a:t>1456</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681</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775</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170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290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284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210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158</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344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937</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dirty="0">
                          <a:solidFill>
                            <a:schemeClr val="bg1">
                              <a:lumMod val="65000"/>
                            </a:schemeClr>
                          </a:solidFill>
                          <a:effectLst/>
                          <a:latin typeface="Calibri" panose="020F0502020204030204" pitchFamily="34" charset="0"/>
                        </a:rPr>
                        <a:t>519</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09280864"/>
                  </a:ext>
                </a:extLst>
              </a:tr>
            </a:tbl>
          </a:graphicData>
        </a:graphic>
      </p:graphicFrame>
    </p:spTree>
    <p:extLst>
      <p:ext uri="{BB962C8B-B14F-4D97-AF65-F5344CB8AC3E}">
        <p14:creationId xmlns:p14="http://schemas.microsoft.com/office/powerpoint/2010/main" val="383980642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Q56. What policies should be prioritized to promote gender equality in leadership?</a:t>
            </a:r>
            <a:endParaRPr lang="en-US" sz="1000" dirty="0">
              <a:latin typeface="Book Antiqua" panose="02040602050305030304" pitchFamily="18" charset="0"/>
            </a:endParaRPr>
          </a:p>
        </p:txBody>
      </p:sp>
      <p:sp>
        <p:nvSpPr>
          <p:cNvPr id="5" name="TextBox 4">
            <a:extLst>
              <a:ext uri="{FF2B5EF4-FFF2-40B4-BE49-F238E27FC236}">
                <a16:creationId xmlns:a16="http://schemas.microsoft.com/office/drawing/2014/main" id="{55F5642B-83A0-CD7B-E2BA-8E492D002397}"/>
              </a:ext>
            </a:extLst>
          </p:cNvPr>
          <p:cNvSpPr txBox="1"/>
          <p:nvPr/>
        </p:nvSpPr>
        <p:spPr>
          <a:xfrm>
            <a:off x="312990" y="119838"/>
            <a:ext cx="8619137"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Policies of priority to promote gender equality in leadership</a:t>
            </a:r>
            <a:endParaRPr kumimoji="0" lang="en-US" sz="2000"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endParaRPr>
          </a:p>
        </p:txBody>
      </p:sp>
      <p:sp>
        <p:nvSpPr>
          <p:cNvPr id="7" name="TextBox 6">
            <a:extLst>
              <a:ext uri="{FF2B5EF4-FFF2-40B4-BE49-F238E27FC236}">
                <a16:creationId xmlns:a16="http://schemas.microsoft.com/office/drawing/2014/main" id="{24EE3164-36BE-1169-158F-AC5F91216B94}"/>
              </a:ext>
            </a:extLst>
          </p:cNvPr>
          <p:cNvSpPr txBox="1"/>
          <p:nvPr/>
        </p:nvSpPr>
        <p:spPr>
          <a:xfrm>
            <a:off x="331302" y="675740"/>
            <a:ext cx="11714923" cy="738664"/>
          </a:xfrm>
          <a:prstGeom prst="rect">
            <a:avLst/>
          </a:prstGeom>
          <a:noFill/>
        </p:spPr>
        <p:txBody>
          <a:bodyPr wrap="square">
            <a:spAutoFit/>
          </a:bodyPr>
          <a:lstStyle/>
          <a:p>
            <a:pPr lvl="0">
              <a:defRPr/>
            </a:pPr>
            <a:r>
              <a:rPr lang="en-US" sz="1400" b="1" dirty="0">
                <a:solidFill>
                  <a:srgbClr val="0070C0"/>
                </a:solidFill>
                <a:latin typeface="Book Antiqua" panose="02040602050305030304" pitchFamily="18" charset="0"/>
                <a:ea typeface="Arial Unicode MS"/>
              </a:rPr>
              <a:t>Mentioned policies of priority to promote gender equality in leadership are mentorship and capacity-building programs for women (55%), stronger anti-discrimination laws and enforcement (44%), gender quotas in government and corporate boards (42%), equal pay policies for leadership positions (41%), and increased political financing for female candidates (23%).</a:t>
            </a:r>
          </a:p>
        </p:txBody>
      </p:sp>
      <p:graphicFrame>
        <p:nvGraphicFramePr>
          <p:cNvPr id="9" name="Table 8">
            <a:extLst>
              <a:ext uri="{FF2B5EF4-FFF2-40B4-BE49-F238E27FC236}">
                <a16:creationId xmlns:a16="http://schemas.microsoft.com/office/drawing/2014/main" id="{3E390FF0-39FC-4DA4-B151-BD1CE7D5240C}"/>
              </a:ext>
            </a:extLst>
          </p:cNvPr>
          <p:cNvGraphicFramePr>
            <a:graphicFrameLocks noGrp="1"/>
          </p:cNvGraphicFramePr>
          <p:nvPr>
            <p:extLst>
              <p:ext uri="{D42A27DB-BD31-4B8C-83A1-F6EECF244321}">
                <p14:modId xmlns:p14="http://schemas.microsoft.com/office/powerpoint/2010/main" val="3749139835"/>
              </p:ext>
            </p:extLst>
          </p:nvPr>
        </p:nvGraphicFramePr>
        <p:xfrm>
          <a:off x="434898" y="1587295"/>
          <a:ext cx="11273880" cy="3321163"/>
        </p:xfrm>
        <a:graphic>
          <a:graphicData uri="http://schemas.openxmlformats.org/drawingml/2006/table">
            <a:tbl>
              <a:tblPr>
                <a:tableStyleId>{5A111915-BE36-4E01-A7E5-04B1672EAD32}</a:tableStyleId>
              </a:tblPr>
              <a:tblGrid>
                <a:gridCol w="3256156">
                  <a:extLst>
                    <a:ext uri="{9D8B030D-6E8A-4147-A177-3AD203B41FA5}">
                      <a16:colId xmlns:a16="http://schemas.microsoft.com/office/drawing/2014/main" val="2939921072"/>
                    </a:ext>
                  </a:extLst>
                </a:gridCol>
                <a:gridCol w="728884">
                  <a:extLst>
                    <a:ext uri="{9D8B030D-6E8A-4147-A177-3AD203B41FA5}">
                      <a16:colId xmlns:a16="http://schemas.microsoft.com/office/drawing/2014/main" val="240042294"/>
                    </a:ext>
                  </a:extLst>
                </a:gridCol>
                <a:gridCol w="728884">
                  <a:extLst>
                    <a:ext uri="{9D8B030D-6E8A-4147-A177-3AD203B41FA5}">
                      <a16:colId xmlns:a16="http://schemas.microsoft.com/office/drawing/2014/main" val="1471018050"/>
                    </a:ext>
                  </a:extLst>
                </a:gridCol>
                <a:gridCol w="728884">
                  <a:extLst>
                    <a:ext uri="{9D8B030D-6E8A-4147-A177-3AD203B41FA5}">
                      <a16:colId xmlns:a16="http://schemas.microsoft.com/office/drawing/2014/main" val="2631900519"/>
                    </a:ext>
                  </a:extLst>
                </a:gridCol>
                <a:gridCol w="728884">
                  <a:extLst>
                    <a:ext uri="{9D8B030D-6E8A-4147-A177-3AD203B41FA5}">
                      <a16:colId xmlns:a16="http://schemas.microsoft.com/office/drawing/2014/main" val="3445961416"/>
                    </a:ext>
                  </a:extLst>
                </a:gridCol>
                <a:gridCol w="728884">
                  <a:extLst>
                    <a:ext uri="{9D8B030D-6E8A-4147-A177-3AD203B41FA5}">
                      <a16:colId xmlns:a16="http://schemas.microsoft.com/office/drawing/2014/main" val="1157888105"/>
                    </a:ext>
                  </a:extLst>
                </a:gridCol>
                <a:gridCol w="728884">
                  <a:extLst>
                    <a:ext uri="{9D8B030D-6E8A-4147-A177-3AD203B41FA5}">
                      <a16:colId xmlns:a16="http://schemas.microsoft.com/office/drawing/2014/main" val="542496135"/>
                    </a:ext>
                  </a:extLst>
                </a:gridCol>
                <a:gridCol w="728884">
                  <a:extLst>
                    <a:ext uri="{9D8B030D-6E8A-4147-A177-3AD203B41FA5}">
                      <a16:colId xmlns:a16="http://schemas.microsoft.com/office/drawing/2014/main" val="2908582105"/>
                    </a:ext>
                  </a:extLst>
                </a:gridCol>
                <a:gridCol w="728884">
                  <a:extLst>
                    <a:ext uri="{9D8B030D-6E8A-4147-A177-3AD203B41FA5}">
                      <a16:colId xmlns:a16="http://schemas.microsoft.com/office/drawing/2014/main" val="1141895410"/>
                    </a:ext>
                  </a:extLst>
                </a:gridCol>
                <a:gridCol w="728884">
                  <a:extLst>
                    <a:ext uri="{9D8B030D-6E8A-4147-A177-3AD203B41FA5}">
                      <a16:colId xmlns:a16="http://schemas.microsoft.com/office/drawing/2014/main" val="2088834717"/>
                    </a:ext>
                  </a:extLst>
                </a:gridCol>
                <a:gridCol w="728884">
                  <a:extLst>
                    <a:ext uri="{9D8B030D-6E8A-4147-A177-3AD203B41FA5}">
                      <a16:colId xmlns:a16="http://schemas.microsoft.com/office/drawing/2014/main" val="2450593191"/>
                    </a:ext>
                  </a:extLst>
                </a:gridCol>
                <a:gridCol w="728884">
                  <a:extLst>
                    <a:ext uri="{9D8B030D-6E8A-4147-A177-3AD203B41FA5}">
                      <a16:colId xmlns:a16="http://schemas.microsoft.com/office/drawing/2014/main" val="1571396105"/>
                    </a:ext>
                  </a:extLst>
                </a:gridCol>
              </a:tblGrid>
              <a:tr h="278205">
                <a:tc>
                  <a:txBody>
                    <a:bodyPr/>
                    <a:lstStyle/>
                    <a:p>
                      <a:pPr algn="ctr" fontAlgn="b"/>
                      <a:endParaRPr lang="en-GB" sz="14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chemeClr val="bg1"/>
                      </a:solidFill>
                      <a:prstDash val="solid"/>
                      <a:round/>
                      <a:headEnd type="none" w="med" len="med"/>
                      <a:tailEnd type="none" w="med" len="med"/>
                    </a:lnL>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dirty="0">
                          <a:solidFill>
                            <a:schemeClr val="bg1"/>
                          </a:solidFill>
                          <a:effectLst/>
                          <a:latin typeface="Calibri" panose="020F0502020204030204" pitchFamily="34" charset="0"/>
                        </a:rPr>
                        <a:t>Total</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Male</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Female</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FCT</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Bauchi</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Kano</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Enugu</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Edo</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Lagos</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Urban</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Rural</a:t>
                      </a:r>
                    </a:p>
                  </a:txBody>
                  <a:tcPr marL="9525" marR="9525" marT="9525" marB="0" anchor="ctr">
                    <a:lnR w="127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1524205756"/>
                  </a:ext>
                </a:extLst>
              </a:tr>
              <a:tr h="278205">
                <a:tc>
                  <a:txBody>
                    <a:bodyPr/>
                    <a:lstStyle/>
                    <a:p>
                      <a:pPr algn="ctr" fontAlgn="b"/>
                      <a:r>
                        <a:rPr lang="en-GB" sz="1400" b="1" i="0" u="none" strike="noStrike" dirty="0">
                          <a:solidFill>
                            <a:srgbClr val="000000"/>
                          </a:solidFill>
                          <a:effectLst/>
                          <a:latin typeface="Calibri" panose="020F0502020204030204" pitchFamily="34" charset="0"/>
                        </a:rPr>
                        <a:t>Total</a:t>
                      </a:r>
                    </a:p>
                  </a:txBody>
                  <a:tcPr marL="9525" marR="9525" marT="9525" marB="0" anchor="ctr">
                    <a:lnL w="38100" cap="flat" cmpd="sng" algn="ctr">
                      <a:solidFill>
                        <a:schemeClr val="bg1"/>
                      </a:solidFill>
                      <a:prstDash val="solid"/>
                      <a:round/>
                      <a:headEnd type="none" w="med" len="med"/>
                      <a:tailEnd type="none" w="med" len="med"/>
                    </a:lnL>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dirty="0">
                          <a:solidFill>
                            <a:schemeClr val="bg1"/>
                          </a:solidFill>
                          <a:effectLst/>
                          <a:latin typeface="Calibri" panose="020F0502020204030204" pitchFamily="34" charset="0"/>
                        </a:rPr>
                        <a:t>1456</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681</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775</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170</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290</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284</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210</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158</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344</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937</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519</a:t>
                      </a:r>
                    </a:p>
                  </a:txBody>
                  <a:tcPr marL="9525" marR="9525" marT="9525" marB="0" anchor="ctr">
                    <a:lnR w="127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3795218639"/>
                  </a:ext>
                </a:extLst>
              </a:tr>
              <a:tr h="278205">
                <a:tc>
                  <a:txBody>
                    <a:bodyPr/>
                    <a:lstStyle/>
                    <a:p>
                      <a:pPr algn="l" fontAlgn="b"/>
                      <a:r>
                        <a:rPr lang="en-US" sz="1400" b="0" i="0" u="none" strike="noStrike" dirty="0">
                          <a:solidFill>
                            <a:srgbClr val="000000"/>
                          </a:solidFill>
                          <a:effectLst/>
                          <a:latin typeface="Calibri" panose="020F0502020204030204" pitchFamily="34" charset="0"/>
                        </a:rPr>
                        <a:t>Mentorship and capacity-building programs for women</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chemeClr val="bg1"/>
                          </a:solidFill>
                          <a:effectLst/>
                          <a:latin typeface="Calibri" panose="020F0502020204030204" pitchFamily="34" charset="0"/>
                        </a:rPr>
                        <a:t>55%</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57%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53%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75%</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68%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58%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52%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61%</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363113347"/>
                  </a:ext>
                </a:extLst>
              </a:tr>
              <a:tr h="582127">
                <a:tc>
                  <a:txBody>
                    <a:bodyPr/>
                    <a:lstStyle/>
                    <a:p>
                      <a:pPr algn="l" fontAlgn="b"/>
                      <a:r>
                        <a:rPr lang="en-US" sz="1400" b="0" i="0" u="none" strike="noStrike">
                          <a:solidFill>
                            <a:srgbClr val="000000"/>
                          </a:solidFill>
                          <a:effectLst/>
                          <a:latin typeface="Calibri" panose="020F0502020204030204" pitchFamily="34" charset="0"/>
                        </a:rPr>
                        <a:t>Stronger anti-discrimination laws and enforcement</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44%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44%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44%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65%</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15%</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50%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55%</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46%</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3480748542"/>
                  </a:ext>
                </a:extLst>
              </a:tr>
              <a:tr h="582127">
                <a:tc>
                  <a:txBody>
                    <a:bodyPr/>
                    <a:lstStyle/>
                    <a:p>
                      <a:pPr algn="l" fontAlgn="b"/>
                      <a:r>
                        <a:rPr lang="en-US" sz="1400" b="0" i="0" u="none" strike="noStrike">
                          <a:solidFill>
                            <a:srgbClr val="000000"/>
                          </a:solidFill>
                          <a:effectLst/>
                          <a:latin typeface="Calibri" panose="020F0502020204030204" pitchFamily="34" charset="0"/>
                        </a:rPr>
                        <a:t>Gender quotas in government and corporate boards</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42%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31%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31%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50%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70%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39%</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47%</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621086869"/>
                  </a:ext>
                </a:extLst>
              </a:tr>
              <a:tr h="582127">
                <a:tc>
                  <a:txBody>
                    <a:bodyPr/>
                    <a:lstStyle/>
                    <a:p>
                      <a:pPr algn="l" fontAlgn="b"/>
                      <a:r>
                        <a:rPr lang="en-US" sz="1400" b="0" i="0" u="none" strike="noStrike">
                          <a:solidFill>
                            <a:srgbClr val="000000"/>
                          </a:solidFill>
                          <a:effectLst/>
                          <a:latin typeface="Calibri" panose="020F0502020204030204" pitchFamily="34" charset="0"/>
                        </a:rPr>
                        <a:t>Equal pay policies for leadership positions</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41%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39%</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56%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69%</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50%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44%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36%</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226683108"/>
                  </a:ext>
                </a:extLst>
              </a:tr>
              <a:tr h="582127">
                <a:tc>
                  <a:txBody>
                    <a:bodyPr/>
                    <a:lstStyle/>
                    <a:p>
                      <a:pPr algn="l" fontAlgn="b"/>
                      <a:r>
                        <a:rPr lang="en-US" sz="1400" b="0" i="0" u="none" strike="noStrike">
                          <a:solidFill>
                            <a:srgbClr val="000000"/>
                          </a:solidFill>
                          <a:effectLst/>
                          <a:latin typeface="Calibri" panose="020F0502020204030204" pitchFamily="34" charset="0"/>
                        </a:rPr>
                        <a:t>Increased political financing for female candidates</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23%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19%</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9%</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25%</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22%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24%</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107245604"/>
                  </a:ext>
                </a:extLst>
              </a:tr>
            </a:tbl>
          </a:graphicData>
        </a:graphic>
      </p:graphicFrame>
    </p:spTree>
    <p:extLst>
      <p:ext uri="{BB962C8B-B14F-4D97-AF65-F5344CB8AC3E}">
        <p14:creationId xmlns:p14="http://schemas.microsoft.com/office/powerpoint/2010/main" val="284269592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Q57. How does gender representation in leadership impact national development?</a:t>
            </a:r>
            <a:endParaRPr lang="en-US" sz="1000" dirty="0">
              <a:latin typeface="Book Antiqua" panose="02040602050305030304" pitchFamily="18" charset="0"/>
            </a:endParaRPr>
          </a:p>
        </p:txBody>
      </p:sp>
      <p:sp>
        <p:nvSpPr>
          <p:cNvPr id="5" name="TextBox 4">
            <a:extLst>
              <a:ext uri="{FF2B5EF4-FFF2-40B4-BE49-F238E27FC236}">
                <a16:creationId xmlns:a16="http://schemas.microsoft.com/office/drawing/2014/main" id="{55F5642B-83A0-CD7B-E2BA-8E492D002397}"/>
              </a:ext>
            </a:extLst>
          </p:cNvPr>
          <p:cNvSpPr txBox="1"/>
          <p:nvPr/>
        </p:nvSpPr>
        <p:spPr>
          <a:xfrm>
            <a:off x="312990" y="119838"/>
            <a:ext cx="8619137"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Impact of gender representation in leadership in national development</a:t>
            </a:r>
            <a:endParaRPr kumimoji="0" lang="en-US" sz="2000"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endParaRPr>
          </a:p>
        </p:txBody>
      </p:sp>
      <p:sp>
        <p:nvSpPr>
          <p:cNvPr id="7" name="TextBox 6">
            <a:extLst>
              <a:ext uri="{FF2B5EF4-FFF2-40B4-BE49-F238E27FC236}">
                <a16:creationId xmlns:a16="http://schemas.microsoft.com/office/drawing/2014/main" id="{24EE3164-36BE-1169-158F-AC5F91216B94}"/>
              </a:ext>
            </a:extLst>
          </p:cNvPr>
          <p:cNvSpPr txBox="1"/>
          <p:nvPr/>
        </p:nvSpPr>
        <p:spPr>
          <a:xfrm>
            <a:off x="331302" y="675740"/>
            <a:ext cx="11714923" cy="738664"/>
          </a:xfrm>
          <a:prstGeom prst="rect">
            <a:avLst/>
          </a:prstGeom>
          <a:noFill/>
        </p:spPr>
        <p:txBody>
          <a:bodyPr wrap="square">
            <a:spAutoFit/>
          </a:bodyPr>
          <a:lstStyle/>
          <a:p>
            <a:pPr>
              <a:defRPr/>
            </a:pPr>
            <a:r>
              <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rPr>
              <a:t>Overall, the majority (54%) believed that </a:t>
            </a:r>
            <a:r>
              <a:rPr lang="en-US" sz="1400" b="1" dirty="0">
                <a:solidFill>
                  <a:srgbClr val="0070C0"/>
                </a:solidFill>
                <a:latin typeface="Book Antiqua" panose="02040602050305030304" pitchFamily="18" charset="0"/>
                <a:ea typeface="Arial Unicode MS"/>
              </a:rPr>
              <a:t>gender representation in leadership in national development promotes economic growth by ensuring diversity in decision-making,  25% believed that it leads to more inclusive and people-centred policies, and 18% said it has minimal impact on national development.</a:t>
            </a:r>
          </a:p>
        </p:txBody>
      </p:sp>
      <p:graphicFrame>
        <p:nvGraphicFramePr>
          <p:cNvPr id="8" name="Chart 7">
            <a:extLst>
              <a:ext uri="{FF2B5EF4-FFF2-40B4-BE49-F238E27FC236}">
                <a16:creationId xmlns:a16="http://schemas.microsoft.com/office/drawing/2014/main" id="{37185882-AD21-4D95-BD3C-7EAEACA184AD}"/>
              </a:ext>
            </a:extLst>
          </p:cNvPr>
          <p:cNvGraphicFramePr/>
          <p:nvPr>
            <p:extLst>
              <p:ext uri="{D42A27DB-BD31-4B8C-83A1-F6EECF244321}">
                <p14:modId xmlns:p14="http://schemas.microsoft.com/office/powerpoint/2010/main" val="2481866486"/>
              </p:ext>
            </p:extLst>
          </p:nvPr>
        </p:nvGraphicFramePr>
        <p:xfrm>
          <a:off x="379413" y="2073913"/>
          <a:ext cx="11435200" cy="383241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Table 5">
            <a:extLst>
              <a:ext uri="{FF2B5EF4-FFF2-40B4-BE49-F238E27FC236}">
                <a16:creationId xmlns:a16="http://schemas.microsoft.com/office/drawing/2014/main" id="{6984E0B6-13BB-4F21-9374-0EBD0BED7F11}"/>
              </a:ext>
            </a:extLst>
          </p:cNvPr>
          <p:cNvGraphicFramePr>
            <a:graphicFrameLocks noGrp="1"/>
          </p:cNvGraphicFramePr>
          <p:nvPr/>
        </p:nvGraphicFramePr>
        <p:xfrm>
          <a:off x="2921621" y="5830759"/>
          <a:ext cx="8776009" cy="253484"/>
        </p:xfrm>
        <a:graphic>
          <a:graphicData uri="http://schemas.openxmlformats.org/drawingml/2006/table">
            <a:tbl>
              <a:tblPr>
                <a:tableStyleId>{5C22544A-7EE6-4342-B048-85BDC9FD1C3A}</a:tableStyleId>
              </a:tblPr>
              <a:tblGrid>
                <a:gridCol w="797819">
                  <a:extLst>
                    <a:ext uri="{9D8B030D-6E8A-4147-A177-3AD203B41FA5}">
                      <a16:colId xmlns:a16="http://schemas.microsoft.com/office/drawing/2014/main" val="2379250083"/>
                    </a:ext>
                  </a:extLst>
                </a:gridCol>
                <a:gridCol w="797819">
                  <a:extLst>
                    <a:ext uri="{9D8B030D-6E8A-4147-A177-3AD203B41FA5}">
                      <a16:colId xmlns:a16="http://schemas.microsoft.com/office/drawing/2014/main" val="3707767684"/>
                    </a:ext>
                  </a:extLst>
                </a:gridCol>
                <a:gridCol w="797819">
                  <a:extLst>
                    <a:ext uri="{9D8B030D-6E8A-4147-A177-3AD203B41FA5}">
                      <a16:colId xmlns:a16="http://schemas.microsoft.com/office/drawing/2014/main" val="2497172989"/>
                    </a:ext>
                  </a:extLst>
                </a:gridCol>
                <a:gridCol w="797819">
                  <a:extLst>
                    <a:ext uri="{9D8B030D-6E8A-4147-A177-3AD203B41FA5}">
                      <a16:colId xmlns:a16="http://schemas.microsoft.com/office/drawing/2014/main" val="848469032"/>
                    </a:ext>
                  </a:extLst>
                </a:gridCol>
                <a:gridCol w="797819">
                  <a:extLst>
                    <a:ext uri="{9D8B030D-6E8A-4147-A177-3AD203B41FA5}">
                      <a16:colId xmlns:a16="http://schemas.microsoft.com/office/drawing/2014/main" val="2303936815"/>
                    </a:ext>
                  </a:extLst>
                </a:gridCol>
                <a:gridCol w="797819">
                  <a:extLst>
                    <a:ext uri="{9D8B030D-6E8A-4147-A177-3AD203B41FA5}">
                      <a16:colId xmlns:a16="http://schemas.microsoft.com/office/drawing/2014/main" val="460349122"/>
                    </a:ext>
                  </a:extLst>
                </a:gridCol>
                <a:gridCol w="797819">
                  <a:extLst>
                    <a:ext uri="{9D8B030D-6E8A-4147-A177-3AD203B41FA5}">
                      <a16:colId xmlns:a16="http://schemas.microsoft.com/office/drawing/2014/main" val="704838673"/>
                    </a:ext>
                  </a:extLst>
                </a:gridCol>
                <a:gridCol w="797819">
                  <a:extLst>
                    <a:ext uri="{9D8B030D-6E8A-4147-A177-3AD203B41FA5}">
                      <a16:colId xmlns:a16="http://schemas.microsoft.com/office/drawing/2014/main" val="2575188808"/>
                    </a:ext>
                  </a:extLst>
                </a:gridCol>
                <a:gridCol w="797819">
                  <a:extLst>
                    <a:ext uri="{9D8B030D-6E8A-4147-A177-3AD203B41FA5}">
                      <a16:colId xmlns:a16="http://schemas.microsoft.com/office/drawing/2014/main" val="2501854814"/>
                    </a:ext>
                  </a:extLst>
                </a:gridCol>
                <a:gridCol w="797819">
                  <a:extLst>
                    <a:ext uri="{9D8B030D-6E8A-4147-A177-3AD203B41FA5}">
                      <a16:colId xmlns:a16="http://schemas.microsoft.com/office/drawing/2014/main" val="2179463999"/>
                    </a:ext>
                  </a:extLst>
                </a:gridCol>
                <a:gridCol w="797819">
                  <a:extLst>
                    <a:ext uri="{9D8B030D-6E8A-4147-A177-3AD203B41FA5}">
                      <a16:colId xmlns:a16="http://schemas.microsoft.com/office/drawing/2014/main" val="1997916844"/>
                    </a:ext>
                  </a:extLst>
                </a:gridCol>
              </a:tblGrid>
              <a:tr h="253484">
                <a:tc>
                  <a:txBody>
                    <a:bodyPr/>
                    <a:lstStyle/>
                    <a:p>
                      <a:pPr algn="ctr" fontAlgn="b"/>
                      <a:r>
                        <a:rPr lang="en-GB" sz="1400" b="0" i="0" u="none" strike="noStrike" dirty="0">
                          <a:solidFill>
                            <a:schemeClr val="bg1">
                              <a:lumMod val="65000"/>
                            </a:schemeClr>
                          </a:solidFill>
                          <a:effectLst/>
                          <a:latin typeface="Calibri" panose="020F0502020204030204" pitchFamily="34" charset="0"/>
                        </a:rPr>
                        <a:t>1456</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681</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775</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170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290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284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210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158</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344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937</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dirty="0">
                          <a:solidFill>
                            <a:schemeClr val="bg1">
                              <a:lumMod val="65000"/>
                            </a:schemeClr>
                          </a:solidFill>
                          <a:effectLst/>
                          <a:latin typeface="Calibri" panose="020F0502020204030204" pitchFamily="34" charset="0"/>
                        </a:rPr>
                        <a:t>519</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09280864"/>
                  </a:ext>
                </a:extLst>
              </a:tr>
            </a:tbl>
          </a:graphicData>
        </a:graphic>
      </p:graphicFrame>
    </p:spTree>
    <p:extLst>
      <p:ext uri="{BB962C8B-B14F-4D97-AF65-F5344CB8AC3E}">
        <p14:creationId xmlns:p14="http://schemas.microsoft.com/office/powerpoint/2010/main" val="406149739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Q58. Do you think gender-balanced leadership would reduce corruption in governance?</a:t>
            </a:r>
            <a:endParaRPr lang="en-US" sz="1000" dirty="0">
              <a:latin typeface="Book Antiqua" panose="02040602050305030304" pitchFamily="18" charset="0"/>
            </a:endParaRPr>
          </a:p>
        </p:txBody>
      </p:sp>
      <p:sp>
        <p:nvSpPr>
          <p:cNvPr id="5" name="TextBox 4">
            <a:extLst>
              <a:ext uri="{FF2B5EF4-FFF2-40B4-BE49-F238E27FC236}">
                <a16:creationId xmlns:a16="http://schemas.microsoft.com/office/drawing/2014/main" id="{55F5642B-83A0-CD7B-E2BA-8E492D002397}"/>
              </a:ext>
            </a:extLst>
          </p:cNvPr>
          <p:cNvSpPr txBox="1"/>
          <p:nvPr/>
        </p:nvSpPr>
        <p:spPr>
          <a:xfrm>
            <a:off x="312990" y="119838"/>
            <a:ext cx="9143244" cy="400110"/>
          </a:xfrm>
          <a:prstGeom prst="rect">
            <a:avLst/>
          </a:prstGeom>
          <a:noFill/>
        </p:spPr>
        <p:txBody>
          <a:bodyPr wrap="square" rtlCol="0">
            <a:spAutoFit/>
          </a:bodyPr>
          <a:lstStyle/>
          <a:p>
            <a:pPr lvl="0">
              <a:defRPr/>
            </a:pPr>
            <a:r>
              <a:rPr lang="en-US" sz="2000" b="1" dirty="0">
                <a:solidFill>
                  <a:srgbClr val="000000"/>
                </a:solidFill>
                <a:latin typeface="Book Antiqua" panose="02040602050305030304" pitchFamily="18" charset="0"/>
              </a:rPr>
              <a:t>Gender-balanced leadership and the reduction in corruption in governance</a:t>
            </a:r>
            <a:endParaRPr kumimoji="0" lang="en-US" sz="2000"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endParaRPr>
          </a:p>
        </p:txBody>
      </p:sp>
      <p:sp>
        <p:nvSpPr>
          <p:cNvPr id="8" name="TextBox 7"/>
          <p:cNvSpPr txBox="1"/>
          <p:nvPr/>
        </p:nvSpPr>
        <p:spPr>
          <a:xfrm>
            <a:off x="143691" y="3592286"/>
            <a:ext cx="535578" cy="369332"/>
          </a:xfrm>
          <a:prstGeom prst="rect">
            <a:avLst/>
          </a:prstGeom>
          <a:noFill/>
        </p:spPr>
        <p:txBody>
          <a:bodyPr wrap="square" rtlCol="0">
            <a:spAutoFit/>
          </a:bodyPr>
          <a:lstStyle/>
          <a:p>
            <a:r>
              <a:rPr lang="en-US" dirty="0"/>
              <a:t>%</a:t>
            </a:r>
          </a:p>
        </p:txBody>
      </p:sp>
      <p:sp>
        <p:nvSpPr>
          <p:cNvPr id="7" name="TextBox 6">
            <a:extLst>
              <a:ext uri="{FF2B5EF4-FFF2-40B4-BE49-F238E27FC236}">
                <a16:creationId xmlns:a16="http://schemas.microsoft.com/office/drawing/2014/main" id="{24EE3164-36BE-1169-158F-AC5F91216B94}"/>
              </a:ext>
            </a:extLst>
          </p:cNvPr>
          <p:cNvSpPr txBox="1"/>
          <p:nvPr/>
        </p:nvSpPr>
        <p:spPr>
          <a:xfrm>
            <a:off x="331302" y="675740"/>
            <a:ext cx="11714923" cy="523220"/>
          </a:xfrm>
          <a:prstGeom prst="rect">
            <a:avLst/>
          </a:prstGeom>
          <a:noFill/>
        </p:spPr>
        <p:txBody>
          <a:bodyPr wrap="square">
            <a:spAutoFit/>
          </a:bodyPr>
          <a:lstStyle/>
          <a:p>
            <a:pPr lvl="0" algn="just">
              <a:defRPr/>
            </a:pPr>
            <a:r>
              <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rPr>
              <a:t>Overall, 52%, especially in FCT (77%), thought </a:t>
            </a:r>
            <a:r>
              <a:rPr lang="en-US" sz="1400" b="1" dirty="0">
                <a:solidFill>
                  <a:srgbClr val="0070C0"/>
                </a:solidFill>
                <a:latin typeface="Book Antiqua" panose="02040602050305030304" pitchFamily="18" charset="0"/>
                <a:ea typeface="Arial Unicode MS"/>
              </a:rPr>
              <a:t>that gender-balanced leadership would reduce corruption in governance because diversity leads to better accountability and ethical leadership. However, 41% felt that corruption is not influenced by gender balance.</a:t>
            </a:r>
          </a:p>
        </p:txBody>
      </p:sp>
      <p:graphicFrame>
        <p:nvGraphicFramePr>
          <p:cNvPr id="10" name="Chart 9">
            <a:extLst>
              <a:ext uri="{FF2B5EF4-FFF2-40B4-BE49-F238E27FC236}">
                <a16:creationId xmlns:a16="http://schemas.microsoft.com/office/drawing/2014/main" id="{8FE322D5-99B6-487C-B2DD-8D56D25FF0AD}"/>
              </a:ext>
            </a:extLst>
          </p:cNvPr>
          <p:cNvGraphicFramePr/>
          <p:nvPr>
            <p:extLst>
              <p:ext uri="{D42A27DB-BD31-4B8C-83A1-F6EECF244321}">
                <p14:modId xmlns:p14="http://schemas.microsoft.com/office/powerpoint/2010/main" val="4214451866"/>
              </p:ext>
            </p:extLst>
          </p:nvPr>
        </p:nvGraphicFramePr>
        <p:xfrm>
          <a:off x="679269" y="1514700"/>
          <a:ext cx="11051813" cy="360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Table 8">
            <a:extLst>
              <a:ext uri="{FF2B5EF4-FFF2-40B4-BE49-F238E27FC236}">
                <a16:creationId xmlns:a16="http://schemas.microsoft.com/office/drawing/2014/main" id="{452544F1-8E00-474D-A528-2EBD7D2F9035}"/>
              </a:ext>
            </a:extLst>
          </p:cNvPr>
          <p:cNvGraphicFramePr>
            <a:graphicFrameLocks noGrp="1"/>
          </p:cNvGraphicFramePr>
          <p:nvPr/>
        </p:nvGraphicFramePr>
        <p:xfrm>
          <a:off x="2261099" y="5652343"/>
          <a:ext cx="9302722" cy="253484"/>
        </p:xfrm>
        <a:graphic>
          <a:graphicData uri="http://schemas.openxmlformats.org/drawingml/2006/table">
            <a:tbl>
              <a:tblPr>
                <a:tableStyleId>{5C22544A-7EE6-4342-B048-85BDC9FD1C3A}</a:tableStyleId>
              </a:tblPr>
              <a:tblGrid>
                <a:gridCol w="845702">
                  <a:extLst>
                    <a:ext uri="{9D8B030D-6E8A-4147-A177-3AD203B41FA5}">
                      <a16:colId xmlns:a16="http://schemas.microsoft.com/office/drawing/2014/main" val="2379250083"/>
                    </a:ext>
                  </a:extLst>
                </a:gridCol>
                <a:gridCol w="845702">
                  <a:extLst>
                    <a:ext uri="{9D8B030D-6E8A-4147-A177-3AD203B41FA5}">
                      <a16:colId xmlns:a16="http://schemas.microsoft.com/office/drawing/2014/main" val="3707767684"/>
                    </a:ext>
                  </a:extLst>
                </a:gridCol>
                <a:gridCol w="845702">
                  <a:extLst>
                    <a:ext uri="{9D8B030D-6E8A-4147-A177-3AD203B41FA5}">
                      <a16:colId xmlns:a16="http://schemas.microsoft.com/office/drawing/2014/main" val="2497172989"/>
                    </a:ext>
                  </a:extLst>
                </a:gridCol>
                <a:gridCol w="845702">
                  <a:extLst>
                    <a:ext uri="{9D8B030D-6E8A-4147-A177-3AD203B41FA5}">
                      <a16:colId xmlns:a16="http://schemas.microsoft.com/office/drawing/2014/main" val="848469032"/>
                    </a:ext>
                  </a:extLst>
                </a:gridCol>
                <a:gridCol w="845702">
                  <a:extLst>
                    <a:ext uri="{9D8B030D-6E8A-4147-A177-3AD203B41FA5}">
                      <a16:colId xmlns:a16="http://schemas.microsoft.com/office/drawing/2014/main" val="2303936815"/>
                    </a:ext>
                  </a:extLst>
                </a:gridCol>
                <a:gridCol w="845702">
                  <a:extLst>
                    <a:ext uri="{9D8B030D-6E8A-4147-A177-3AD203B41FA5}">
                      <a16:colId xmlns:a16="http://schemas.microsoft.com/office/drawing/2014/main" val="460349122"/>
                    </a:ext>
                  </a:extLst>
                </a:gridCol>
                <a:gridCol w="845702">
                  <a:extLst>
                    <a:ext uri="{9D8B030D-6E8A-4147-A177-3AD203B41FA5}">
                      <a16:colId xmlns:a16="http://schemas.microsoft.com/office/drawing/2014/main" val="704838673"/>
                    </a:ext>
                  </a:extLst>
                </a:gridCol>
                <a:gridCol w="845702">
                  <a:extLst>
                    <a:ext uri="{9D8B030D-6E8A-4147-A177-3AD203B41FA5}">
                      <a16:colId xmlns:a16="http://schemas.microsoft.com/office/drawing/2014/main" val="2575188808"/>
                    </a:ext>
                  </a:extLst>
                </a:gridCol>
                <a:gridCol w="845702">
                  <a:extLst>
                    <a:ext uri="{9D8B030D-6E8A-4147-A177-3AD203B41FA5}">
                      <a16:colId xmlns:a16="http://schemas.microsoft.com/office/drawing/2014/main" val="2501854814"/>
                    </a:ext>
                  </a:extLst>
                </a:gridCol>
                <a:gridCol w="845702">
                  <a:extLst>
                    <a:ext uri="{9D8B030D-6E8A-4147-A177-3AD203B41FA5}">
                      <a16:colId xmlns:a16="http://schemas.microsoft.com/office/drawing/2014/main" val="2179463999"/>
                    </a:ext>
                  </a:extLst>
                </a:gridCol>
                <a:gridCol w="845702">
                  <a:extLst>
                    <a:ext uri="{9D8B030D-6E8A-4147-A177-3AD203B41FA5}">
                      <a16:colId xmlns:a16="http://schemas.microsoft.com/office/drawing/2014/main" val="1997916844"/>
                    </a:ext>
                  </a:extLst>
                </a:gridCol>
              </a:tblGrid>
              <a:tr h="253484">
                <a:tc>
                  <a:txBody>
                    <a:bodyPr/>
                    <a:lstStyle/>
                    <a:p>
                      <a:pPr algn="ctr" fontAlgn="b"/>
                      <a:r>
                        <a:rPr lang="en-GB" sz="1400" b="0" i="0" u="none" strike="noStrike" dirty="0">
                          <a:solidFill>
                            <a:schemeClr val="bg1">
                              <a:lumMod val="65000"/>
                            </a:schemeClr>
                          </a:solidFill>
                          <a:effectLst/>
                          <a:latin typeface="Calibri" panose="020F0502020204030204" pitchFamily="34" charset="0"/>
                        </a:rPr>
                        <a:t>1456</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681</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775</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170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290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284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210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158</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344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937</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dirty="0">
                          <a:solidFill>
                            <a:schemeClr val="bg1">
                              <a:lumMod val="65000"/>
                            </a:schemeClr>
                          </a:solidFill>
                          <a:effectLst/>
                          <a:latin typeface="Calibri" panose="020F0502020204030204" pitchFamily="34" charset="0"/>
                        </a:rPr>
                        <a:t>519</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09280864"/>
                  </a:ext>
                </a:extLst>
              </a:tr>
            </a:tbl>
          </a:graphicData>
        </a:graphic>
      </p:graphicFrame>
    </p:spTree>
    <p:extLst>
      <p:ext uri="{BB962C8B-B14F-4D97-AF65-F5344CB8AC3E}">
        <p14:creationId xmlns:p14="http://schemas.microsoft.com/office/powerpoint/2010/main" val="11853524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Q59. What role should men play in promoting gender equality in leadership?</a:t>
            </a:r>
            <a:endParaRPr lang="en-US" sz="1000" dirty="0">
              <a:latin typeface="Book Antiqua" panose="02040602050305030304" pitchFamily="18" charset="0"/>
            </a:endParaRPr>
          </a:p>
        </p:txBody>
      </p:sp>
      <p:sp>
        <p:nvSpPr>
          <p:cNvPr id="5" name="TextBox 4">
            <a:extLst>
              <a:ext uri="{FF2B5EF4-FFF2-40B4-BE49-F238E27FC236}">
                <a16:creationId xmlns:a16="http://schemas.microsoft.com/office/drawing/2014/main" id="{55F5642B-83A0-CD7B-E2BA-8E492D002397}"/>
              </a:ext>
            </a:extLst>
          </p:cNvPr>
          <p:cNvSpPr txBox="1"/>
          <p:nvPr/>
        </p:nvSpPr>
        <p:spPr>
          <a:xfrm>
            <a:off x="312990" y="119838"/>
            <a:ext cx="8619137" cy="400110"/>
          </a:xfrm>
          <a:prstGeom prst="rect">
            <a:avLst/>
          </a:prstGeom>
          <a:noFill/>
        </p:spPr>
        <p:txBody>
          <a:bodyPr wrap="square" rtlCol="0">
            <a:spAutoFit/>
          </a:bodyPr>
          <a:lstStyle/>
          <a:p>
            <a:pPr lvl="0">
              <a:defRPr/>
            </a:pPr>
            <a:r>
              <a:rPr lang="en-US" sz="2000" b="1" dirty="0">
                <a:solidFill>
                  <a:srgbClr val="000000"/>
                </a:solidFill>
                <a:latin typeface="Book Antiqua" panose="02040602050305030304" pitchFamily="18" charset="0"/>
              </a:rPr>
              <a:t>Men’s roles in promoting gender equality in leadership</a:t>
            </a:r>
            <a:endParaRPr kumimoji="0" lang="en-US" sz="2000"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endParaRPr>
          </a:p>
        </p:txBody>
      </p:sp>
      <p:sp>
        <p:nvSpPr>
          <p:cNvPr id="7" name="TextBox 6">
            <a:extLst>
              <a:ext uri="{FF2B5EF4-FFF2-40B4-BE49-F238E27FC236}">
                <a16:creationId xmlns:a16="http://schemas.microsoft.com/office/drawing/2014/main" id="{24EE3164-36BE-1169-158F-AC5F91216B94}"/>
              </a:ext>
            </a:extLst>
          </p:cNvPr>
          <p:cNvSpPr txBox="1"/>
          <p:nvPr/>
        </p:nvSpPr>
        <p:spPr>
          <a:xfrm>
            <a:off x="331302" y="675740"/>
            <a:ext cx="11714923" cy="738664"/>
          </a:xfrm>
          <a:prstGeom prst="rect">
            <a:avLst/>
          </a:prstGeom>
          <a:noFill/>
        </p:spPr>
        <p:txBody>
          <a:bodyPr wrap="square">
            <a:spAutoFit/>
          </a:bodyPr>
          <a:lstStyle/>
          <a:p>
            <a:pPr lvl="0" algn="just">
              <a:defRPr/>
            </a:pPr>
            <a:r>
              <a:rPr lang="en-US" sz="1400" b="1" dirty="0">
                <a:solidFill>
                  <a:srgbClr val="0070C0"/>
                </a:solidFill>
                <a:latin typeface="Book Antiqua" panose="02040602050305030304" pitchFamily="18" charset="0"/>
                <a:ea typeface="Arial Unicode MS"/>
              </a:rPr>
              <a:t>Suggested men’s roles in promoting gender equality in leadership are: mentoring and supporting female leaders in political and professional spaces (61%), advocating for policies that promote women’s leadership (52%), challenging gender stereotypes in leadership roles (46%), and encouraging equal participation at home and in decision-making (44%).</a:t>
            </a:r>
          </a:p>
        </p:txBody>
      </p:sp>
      <p:graphicFrame>
        <p:nvGraphicFramePr>
          <p:cNvPr id="9" name="Chart 8">
            <a:extLst>
              <a:ext uri="{FF2B5EF4-FFF2-40B4-BE49-F238E27FC236}">
                <a16:creationId xmlns:a16="http://schemas.microsoft.com/office/drawing/2014/main" id="{F90D2156-8571-44C8-9EC7-938FF15D699E}"/>
              </a:ext>
            </a:extLst>
          </p:cNvPr>
          <p:cNvGraphicFramePr/>
          <p:nvPr>
            <p:custDataLst>
              <p:tags r:id="rId1"/>
            </p:custDataLst>
            <p:extLst>
              <p:ext uri="{D42A27DB-BD31-4B8C-83A1-F6EECF244321}">
                <p14:modId xmlns:p14="http://schemas.microsoft.com/office/powerpoint/2010/main" val="3292043366"/>
              </p:ext>
            </p:extLst>
          </p:nvPr>
        </p:nvGraphicFramePr>
        <p:xfrm>
          <a:off x="391161" y="1592982"/>
          <a:ext cx="11414032" cy="403691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Table 9">
            <a:extLst>
              <a:ext uri="{FF2B5EF4-FFF2-40B4-BE49-F238E27FC236}">
                <a16:creationId xmlns:a16="http://schemas.microsoft.com/office/drawing/2014/main" id="{BE20651D-F259-4994-BE92-52F9E51B10EE}"/>
              </a:ext>
            </a:extLst>
          </p:cNvPr>
          <p:cNvGraphicFramePr>
            <a:graphicFrameLocks noGrp="1"/>
          </p:cNvGraphicFramePr>
          <p:nvPr/>
        </p:nvGraphicFramePr>
        <p:xfrm>
          <a:off x="391160" y="5786155"/>
          <a:ext cx="11414029" cy="253484"/>
        </p:xfrm>
        <a:graphic>
          <a:graphicData uri="http://schemas.openxmlformats.org/drawingml/2006/table">
            <a:tbl>
              <a:tblPr>
                <a:tableStyleId>{5C22544A-7EE6-4342-B048-85BDC9FD1C3A}</a:tableStyleId>
              </a:tblPr>
              <a:tblGrid>
                <a:gridCol w="1037639">
                  <a:extLst>
                    <a:ext uri="{9D8B030D-6E8A-4147-A177-3AD203B41FA5}">
                      <a16:colId xmlns:a16="http://schemas.microsoft.com/office/drawing/2014/main" val="2379250083"/>
                    </a:ext>
                  </a:extLst>
                </a:gridCol>
                <a:gridCol w="1037639">
                  <a:extLst>
                    <a:ext uri="{9D8B030D-6E8A-4147-A177-3AD203B41FA5}">
                      <a16:colId xmlns:a16="http://schemas.microsoft.com/office/drawing/2014/main" val="3707767684"/>
                    </a:ext>
                  </a:extLst>
                </a:gridCol>
                <a:gridCol w="1037639">
                  <a:extLst>
                    <a:ext uri="{9D8B030D-6E8A-4147-A177-3AD203B41FA5}">
                      <a16:colId xmlns:a16="http://schemas.microsoft.com/office/drawing/2014/main" val="2497172989"/>
                    </a:ext>
                  </a:extLst>
                </a:gridCol>
                <a:gridCol w="1037639">
                  <a:extLst>
                    <a:ext uri="{9D8B030D-6E8A-4147-A177-3AD203B41FA5}">
                      <a16:colId xmlns:a16="http://schemas.microsoft.com/office/drawing/2014/main" val="848469032"/>
                    </a:ext>
                  </a:extLst>
                </a:gridCol>
                <a:gridCol w="1037639">
                  <a:extLst>
                    <a:ext uri="{9D8B030D-6E8A-4147-A177-3AD203B41FA5}">
                      <a16:colId xmlns:a16="http://schemas.microsoft.com/office/drawing/2014/main" val="2303936815"/>
                    </a:ext>
                  </a:extLst>
                </a:gridCol>
                <a:gridCol w="1037639">
                  <a:extLst>
                    <a:ext uri="{9D8B030D-6E8A-4147-A177-3AD203B41FA5}">
                      <a16:colId xmlns:a16="http://schemas.microsoft.com/office/drawing/2014/main" val="460349122"/>
                    </a:ext>
                  </a:extLst>
                </a:gridCol>
                <a:gridCol w="1037639">
                  <a:extLst>
                    <a:ext uri="{9D8B030D-6E8A-4147-A177-3AD203B41FA5}">
                      <a16:colId xmlns:a16="http://schemas.microsoft.com/office/drawing/2014/main" val="704838673"/>
                    </a:ext>
                  </a:extLst>
                </a:gridCol>
                <a:gridCol w="1037639">
                  <a:extLst>
                    <a:ext uri="{9D8B030D-6E8A-4147-A177-3AD203B41FA5}">
                      <a16:colId xmlns:a16="http://schemas.microsoft.com/office/drawing/2014/main" val="2575188808"/>
                    </a:ext>
                  </a:extLst>
                </a:gridCol>
                <a:gridCol w="1037639">
                  <a:extLst>
                    <a:ext uri="{9D8B030D-6E8A-4147-A177-3AD203B41FA5}">
                      <a16:colId xmlns:a16="http://schemas.microsoft.com/office/drawing/2014/main" val="2501854814"/>
                    </a:ext>
                  </a:extLst>
                </a:gridCol>
                <a:gridCol w="1037639">
                  <a:extLst>
                    <a:ext uri="{9D8B030D-6E8A-4147-A177-3AD203B41FA5}">
                      <a16:colId xmlns:a16="http://schemas.microsoft.com/office/drawing/2014/main" val="2179463999"/>
                    </a:ext>
                  </a:extLst>
                </a:gridCol>
                <a:gridCol w="1037639">
                  <a:extLst>
                    <a:ext uri="{9D8B030D-6E8A-4147-A177-3AD203B41FA5}">
                      <a16:colId xmlns:a16="http://schemas.microsoft.com/office/drawing/2014/main" val="1997916844"/>
                    </a:ext>
                  </a:extLst>
                </a:gridCol>
              </a:tblGrid>
              <a:tr h="253484">
                <a:tc>
                  <a:txBody>
                    <a:bodyPr/>
                    <a:lstStyle/>
                    <a:p>
                      <a:pPr algn="ctr" fontAlgn="b"/>
                      <a:r>
                        <a:rPr lang="en-GB" sz="1400" b="0" i="0" u="none" strike="noStrike" dirty="0">
                          <a:solidFill>
                            <a:schemeClr val="bg1">
                              <a:lumMod val="65000"/>
                            </a:schemeClr>
                          </a:solidFill>
                          <a:effectLst/>
                          <a:latin typeface="Calibri" panose="020F0502020204030204" pitchFamily="34" charset="0"/>
                        </a:rPr>
                        <a:t>1456</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681</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775</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170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290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284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210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158</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344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937</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dirty="0">
                          <a:solidFill>
                            <a:schemeClr val="bg1">
                              <a:lumMod val="65000"/>
                            </a:schemeClr>
                          </a:solidFill>
                          <a:effectLst/>
                          <a:latin typeface="Calibri" panose="020F0502020204030204" pitchFamily="34" charset="0"/>
                        </a:rPr>
                        <a:t>519</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09280864"/>
                  </a:ext>
                </a:extLst>
              </a:tr>
            </a:tbl>
          </a:graphicData>
        </a:graphic>
      </p:graphicFrame>
    </p:spTree>
    <p:extLst>
      <p:ext uri="{BB962C8B-B14F-4D97-AF65-F5344CB8AC3E}">
        <p14:creationId xmlns:p14="http://schemas.microsoft.com/office/powerpoint/2010/main" val="332250217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Q601 In your opinion, what is the main challenge facing this LGA?</a:t>
            </a:r>
            <a:endParaRPr lang="en-US" sz="1000" dirty="0">
              <a:latin typeface="Book Antiqua" panose="02040602050305030304" pitchFamily="18" charset="0"/>
            </a:endParaRPr>
          </a:p>
        </p:txBody>
      </p:sp>
      <p:sp>
        <p:nvSpPr>
          <p:cNvPr id="5" name="TextBox 4">
            <a:extLst>
              <a:ext uri="{FF2B5EF4-FFF2-40B4-BE49-F238E27FC236}">
                <a16:creationId xmlns:a16="http://schemas.microsoft.com/office/drawing/2014/main" id="{55F5642B-83A0-CD7B-E2BA-8E492D002397}"/>
              </a:ext>
            </a:extLst>
          </p:cNvPr>
          <p:cNvSpPr txBox="1"/>
          <p:nvPr/>
        </p:nvSpPr>
        <p:spPr>
          <a:xfrm>
            <a:off x="312990" y="119838"/>
            <a:ext cx="8619137"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Challenges facing the LGA</a:t>
            </a:r>
            <a:endParaRPr kumimoji="0" lang="en-US" sz="2000"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endParaRPr>
          </a:p>
        </p:txBody>
      </p:sp>
      <p:sp>
        <p:nvSpPr>
          <p:cNvPr id="7" name="TextBox 6">
            <a:extLst>
              <a:ext uri="{FF2B5EF4-FFF2-40B4-BE49-F238E27FC236}">
                <a16:creationId xmlns:a16="http://schemas.microsoft.com/office/drawing/2014/main" id="{24EE3164-36BE-1169-158F-AC5F91216B94}"/>
              </a:ext>
            </a:extLst>
          </p:cNvPr>
          <p:cNvSpPr txBox="1"/>
          <p:nvPr/>
        </p:nvSpPr>
        <p:spPr>
          <a:xfrm>
            <a:off x="331302" y="675740"/>
            <a:ext cx="11714923" cy="523220"/>
          </a:xfrm>
          <a:prstGeom prst="rect">
            <a:avLst/>
          </a:prstGeom>
          <a:noFill/>
        </p:spPr>
        <p:txBody>
          <a:bodyPr wrap="square">
            <a:spAutoFit/>
          </a:bodyPr>
          <a:lstStyle/>
          <a:p>
            <a:pPr lvl="0" algn="just">
              <a:defRPr/>
            </a:pPr>
            <a:r>
              <a:rPr lang="en-US" sz="1400" b="1" dirty="0">
                <a:solidFill>
                  <a:srgbClr val="0070C0"/>
                </a:solidFill>
                <a:latin typeface="Book Antiqua" panose="02040602050305030304" pitchFamily="18" charset="0"/>
                <a:ea typeface="Arial Unicode MS"/>
              </a:rPr>
              <a:t>Mentioned challenges facing LGAs include: Lack of adequate infrastructure (15%), Insecurity (12%), Poor electricity (11%), Unemployment (11%), Bad roads (9%), and Bad Government (7%).</a:t>
            </a:r>
          </a:p>
        </p:txBody>
      </p:sp>
      <p:graphicFrame>
        <p:nvGraphicFramePr>
          <p:cNvPr id="9" name="Table 8">
            <a:extLst>
              <a:ext uri="{FF2B5EF4-FFF2-40B4-BE49-F238E27FC236}">
                <a16:creationId xmlns:a16="http://schemas.microsoft.com/office/drawing/2014/main" id="{3E390FF0-39FC-4DA4-B151-BD1CE7D5240C}"/>
              </a:ext>
            </a:extLst>
          </p:cNvPr>
          <p:cNvGraphicFramePr>
            <a:graphicFrameLocks noGrp="1"/>
          </p:cNvGraphicFramePr>
          <p:nvPr>
            <p:extLst>
              <p:ext uri="{D42A27DB-BD31-4B8C-83A1-F6EECF244321}">
                <p14:modId xmlns:p14="http://schemas.microsoft.com/office/powerpoint/2010/main" val="2102360168"/>
              </p:ext>
            </p:extLst>
          </p:nvPr>
        </p:nvGraphicFramePr>
        <p:xfrm>
          <a:off x="434898" y="1587295"/>
          <a:ext cx="11273880" cy="4162056"/>
        </p:xfrm>
        <a:graphic>
          <a:graphicData uri="http://schemas.openxmlformats.org/drawingml/2006/table">
            <a:tbl>
              <a:tblPr>
                <a:tableStyleId>{5A111915-BE36-4E01-A7E5-04B1672EAD32}</a:tableStyleId>
              </a:tblPr>
              <a:tblGrid>
                <a:gridCol w="3256156">
                  <a:extLst>
                    <a:ext uri="{9D8B030D-6E8A-4147-A177-3AD203B41FA5}">
                      <a16:colId xmlns:a16="http://schemas.microsoft.com/office/drawing/2014/main" val="2939921072"/>
                    </a:ext>
                  </a:extLst>
                </a:gridCol>
                <a:gridCol w="728884">
                  <a:extLst>
                    <a:ext uri="{9D8B030D-6E8A-4147-A177-3AD203B41FA5}">
                      <a16:colId xmlns:a16="http://schemas.microsoft.com/office/drawing/2014/main" val="240042294"/>
                    </a:ext>
                  </a:extLst>
                </a:gridCol>
                <a:gridCol w="728884">
                  <a:extLst>
                    <a:ext uri="{9D8B030D-6E8A-4147-A177-3AD203B41FA5}">
                      <a16:colId xmlns:a16="http://schemas.microsoft.com/office/drawing/2014/main" val="1471018050"/>
                    </a:ext>
                  </a:extLst>
                </a:gridCol>
                <a:gridCol w="728884">
                  <a:extLst>
                    <a:ext uri="{9D8B030D-6E8A-4147-A177-3AD203B41FA5}">
                      <a16:colId xmlns:a16="http://schemas.microsoft.com/office/drawing/2014/main" val="2631900519"/>
                    </a:ext>
                  </a:extLst>
                </a:gridCol>
                <a:gridCol w="728884">
                  <a:extLst>
                    <a:ext uri="{9D8B030D-6E8A-4147-A177-3AD203B41FA5}">
                      <a16:colId xmlns:a16="http://schemas.microsoft.com/office/drawing/2014/main" val="3445961416"/>
                    </a:ext>
                  </a:extLst>
                </a:gridCol>
                <a:gridCol w="728884">
                  <a:extLst>
                    <a:ext uri="{9D8B030D-6E8A-4147-A177-3AD203B41FA5}">
                      <a16:colId xmlns:a16="http://schemas.microsoft.com/office/drawing/2014/main" val="1157888105"/>
                    </a:ext>
                  </a:extLst>
                </a:gridCol>
                <a:gridCol w="728884">
                  <a:extLst>
                    <a:ext uri="{9D8B030D-6E8A-4147-A177-3AD203B41FA5}">
                      <a16:colId xmlns:a16="http://schemas.microsoft.com/office/drawing/2014/main" val="542496135"/>
                    </a:ext>
                  </a:extLst>
                </a:gridCol>
                <a:gridCol w="728884">
                  <a:extLst>
                    <a:ext uri="{9D8B030D-6E8A-4147-A177-3AD203B41FA5}">
                      <a16:colId xmlns:a16="http://schemas.microsoft.com/office/drawing/2014/main" val="2908582105"/>
                    </a:ext>
                  </a:extLst>
                </a:gridCol>
                <a:gridCol w="728884">
                  <a:extLst>
                    <a:ext uri="{9D8B030D-6E8A-4147-A177-3AD203B41FA5}">
                      <a16:colId xmlns:a16="http://schemas.microsoft.com/office/drawing/2014/main" val="1141895410"/>
                    </a:ext>
                  </a:extLst>
                </a:gridCol>
                <a:gridCol w="728884">
                  <a:extLst>
                    <a:ext uri="{9D8B030D-6E8A-4147-A177-3AD203B41FA5}">
                      <a16:colId xmlns:a16="http://schemas.microsoft.com/office/drawing/2014/main" val="2088834717"/>
                    </a:ext>
                  </a:extLst>
                </a:gridCol>
                <a:gridCol w="728884">
                  <a:extLst>
                    <a:ext uri="{9D8B030D-6E8A-4147-A177-3AD203B41FA5}">
                      <a16:colId xmlns:a16="http://schemas.microsoft.com/office/drawing/2014/main" val="2450593191"/>
                    </a:ext>
                  </a:extLst>
                </a:gridCol>
                <a:gridCol w="728884">
                  <a:extLst>
                    <a:ext uri="{9D8B030D-6E8A-4147-A177-3AD203B41FA5}">
                      <a16:colId xmlns:a16="http://schemas.microsoft.com/office/drawing/2014/main" val="1571396105"/>
                    </a:ext>
                  </a:extLst>
                </a:gridCol>
              </a:tblGrid>
              <a:tr h="192609">
                <a:tc>
                  <a:txBody>
                    <a:bodyPr/>
                    <a:lstStyle/>
                    <a:p>
                      <a:pPr algn="ctr" fontAlgn="b"/>
                      <a:endParaRPr lang="en-GB" sz="14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chemeClr val="bg1"/>
                      </a:solidFill>
                      <a:prstDash val="solid"/>
                      <a:round/>
                      <a:headEnd type="none" w="med" len="med"/>
                      <a:tailEnd type="none" w="med" len="med"/>
                    </a:lnL>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dirty="0">
                          <a:solidFill>
                            <a:schemeClr val="bg1"/>
                          </a:solidFill>
                          <a:effectLst/>
                          <a:latin typeface="Calibri" panose="020F0502020204030204" pitchFamily="34" charset="0"/>
                        </a:rPr>
                        <a:t>Total</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Male</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Female</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FCT</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Bauchi</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Kano</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Enugu</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Edo</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Lagos</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Urban</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Rural</a:t>
                      </a:r>
                    </a:p>
                  </a:txBody>
                  <a:tcPr marL="9525" marR="9525" marT="9525" marB="0" anchor="ctr">
                    <a:lnR w="127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1524205756"/>
                  </a:ext>
                </a:extLst>
              </a:tr>
              <a:tr h="192609">
                <a:tc>
                  <a:txBody>
                    <a:bodyPr/>
                    <a:lstStyle/>
                    <a:p>
                      <a:pPr algn="ctr" fontAlgn="b"/>
                      <a:r>
                        <a:rPr lang="en-GB" sz="1400" b="1" i="0" u="none" strike="noStrike" dirty="0">
                          <a:solidFill>
                            <a:srgbClr val="000000"/>
                          </a:solidFill>
                          <a:effectLst/>
                          <a:latin typeface="Calibri" panose="020F0502020204030204" pitchFamily="34" charset="0"/>
                        </a:rPr>
                        <a:t>Total</a:t>
                      </a:r>
                    </a:p>
                  </a:txBody>
                  <a:tcPr marL="9525" marR="9525" marT="9525" marB="0" anchor="ctr">
                    <a:lnL w="38100" cap="flat" cmpd="sng" algn="ctr">
                      <a:solidFill>
                        <a:schemeClr val="bg1"/>
                      </a:solidFill>
                      <a:prstDash val="solid"/>
                      <a:round/>
                      <a:headEnd type="none" w="med" len="med"/>
                      <a:tailEnd type="none" w="med" len="med"/>
                    </a:lnL>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dirty="0">
                          <a:solidFill>
                            <a:schemeClr val="bg1"/>
                          </a:solidFill>
                          <a:effectLst/>
                          <a:latin typeface="Calibri" panose="020F0502020204030204" pitchFamily="34" charset="0"/>
                        </a:rPr>
                        <a:t>1456</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681</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775</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170</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290</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284</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210</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158</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344</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937</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519</a:t>
                      </a:r>
                    </a:p>
                  </a:txBody>
                  <a:tcPr marL="9525" marR="9525" marT="9525" marB="0" anchor="ctr">
                    <a:lnR w="127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3795218639"/>
                  </a:ext>
                </a:extLst>
              </a:tr>
              <a:tr h="265449">
                <a:tc>
                  <a:txBody>
                    <a:bodyPr/>
                    <a:lstStyle/>
                    <a:p>
                      <a:pPr algn="l" fontAlgn="b"/>
                      <a:r>
                        <a:rPr lang="en-GB" sz="1400" b="0" i="0" u="none" strike="noStrike" dirty="0">
                          <a:solidFill>
                            <a:srgbClr val="000000"/>
                          </a:solidFill>
                          <a:effectLst/>
                          <a:latin typeface="Calibri" panose="020F0502020204030204" pitchFamily="34" charset="0"/>
                        </a:rPr>
                        <a:t>Lack of adequate infrastructure</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chemeClr val="bg1"/>
                          </a:solidFill>
                          <a:effectLst/>
                          <a:latin typeface="Calibri" panose="020F0502020204030204" pitchFamily="34" charset="0"/>
                        </a:rPr>
                        <a:t>15%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16%</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26%</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18%</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11%</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363113347"/>
                  </a:ext>
                </a:extLst>
              </a:tr>
              <a:tr h="265449">
                <a:tc>
                  <a:txBody>
                    <a:bodyPr/>
                    <a:lstStyle/>
                    <a:p>
                      <a:pPr algn="l" fontAlgn="b"/>
                      <a:r>
                        <a:rPr lang="en-GB" sz="1400" b="0" i="0" u="none" strike="noStrike" dirty="0">
                          <a:solidFill>
                            <a:srgbClr val="000000"/>
                          </a:solidFill>
                          <a:effectLst/>
                          <a:latin typeface="Calibri" panose="020F0502020204030204" pitchFamily="34" charset="0"/>
                        </a:rPr>
                        <a:t>Insecurity</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chemeClr val="bg1"/>
                          </a:solidFill>
                          <a:effectLst/>
                          <a:latin typeface="Calibri" panose="020F0502020204030204" pitchFamily="34" charset="0"/>
                        </a:rPr>
                        <a:t>12%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6%</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9%</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11%</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3682100894"/>
                  </a:ext>
                </a:extLst>
              </a:tr>
              <a:tr h="265449">
                <a:tc>
                  <a:txBody>
                    <a:bodyPr/>
                    <a:lstStyle/>
                    <a:p>
                      <a:pPr algn="l" fontAlgn="b"/>
                      <a:r>
                        <a:rPr lang="en-GB" sz="1400" b="0" i="0" u="none" strike="noStrike">
                          <a:solidFill>
                            <a:srgbClr val="000000"/>
                          </a:solidFill>
                          <a:effectLst/>
                          <a:latin typeface="Calibri" panose="020F0502020204030204" pitchFamily="34" charset="0"/>
                        </a:rPr>
                        <a:t>Poor electricity</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11%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18%</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4177927266"/>
                  </a:ext>
                </a:extLst>
              </a:tr>
              <a:tr h="265449">
                <a:tc>
                  <a:txBody>
                    <a:bodyPr/>
                    <a:lstStyle/>
                    <a:p>
                      <a:pPr algn="l" fontAlgn="b"/>
                      <a:r>
                        <a:rPr lang="en-GB" sz="1400" b="0" i="0" u="none" strike="noStrike" dirty="0">
                          <a:solidFill>
                            <a:srgbClr val="000000"/>
                          </a:solidFill>
                          <a:effectLst/>
                          <a:latin typeface="Calibri" panose="020F0502020204030204" pitchFamily="34" charset="0"/>
                        </a:rPr>
                        <a:t>Unemployment</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11%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8%</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18%</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8%</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9%</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13%</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1131871430"/>
                  </a:ext>
                </a:extLst>
              </a:tr>
              <a:tr h="265449">
                <a:tc>
                  <a:txBody>
                    <a:bodyPr/>
                    <a:lstStyle/>
                    <a:p>
                      <a:pPr algn="l" fontAlgn="b"/>
                      <a:r>
                        <a:rPr lang="en-GB" sz="1400" b="0" i="0" u="none" strike="noStrike">
                          <a:solidFill>
                            <a:srgbClr val="000000"/>
                          </a:solidFill>
                          <a:effectLst/>
                          <a:latin typeface="Calibri" panose="020F0502020204030204" pitchFamily="34" charset="0"/>
                        </a:rPr>
                        <a:t>Bad road</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chemeClr val="bg1"/>
                          </a:solidFill>
                          <a:effectLst/>
                          <a:latin typeface="Calibri" panose="020F0502020204030204" pitchFamily="34" charset="0"/>
                        </a:rPr>
                        <a:t>9%</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8%</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11%</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1026452769"/>
                  </a:ext>
                </a:extLst>
              </a:tr>
              <a:tr h="265449">
                <a:tc>
                  <a:txBody>
                    <a:bodyPr/>
                    <a:lstStyle/>
                    <a:p>
                      <a:pPr algn="l" fontAlgn="b"/>
                      <a:r>
                        <a:rPr lang="en-GB" sz="1400" b="0" i="0" u="none" strike="noStrike">
                          <a:solidFill>
                            <a:srgbClr val="000000"/>
                          </a:solidFill>
                          <a:effectLst/>
                          <a:latin typeface="Calibri" panose="020F0502020204030204" pitchFamily="34" charset="0"/>
                        </a:rPr>
                        <a:t>Bad Government</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8%</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18%</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9%</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721812460"/>
                  </a:ext>
                </a:extLst>
              </a:tr>
              <a:tr h="265449">
                <a:tc>
                  <a:txBody>
                    <a:bodyPr/>
                    <a:lstStyle/>
                    <a:p>
                      <a:pPr algn="l" fontAlgn="b"/>
                      <a:r>
                        <a:rPr lang="en-GB" sz="1400" b="0" i="0" u="none" strike="noStrike">
                          <a:solidFill>
                            <a:srgbClr val="000000"/>
                          </a:solidFill>
                          <a:effectLst/>
                          <a:latin typeface="Calibri" panose="020F0502020204030204" pitchFamily="34" charset="0"/>
                        </a:rPr>
                        <a:t>Corruption</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6%</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8%</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3892419785"/>
                  </a:ext>
                </a:extLst>
              </a:tr>
              <a:tr h="265449">
                <a:tc>
                  <a:txBody>
                    <a:bodyPr/>
                    <a:lstStyle/>
                    <a:p>
                      <a:pPr algn="l" fontAlgn="b"/>
                      <a:r>
                        <a:rPr lang="en-GB" sz="1400" b="0" i="0" u="none" strike="noStrike">
                          <a:solidFill>
                            <a:srgbClr val="000000"/>
                          </a:solidFill>
                          <a:effectLst/>
                          <a:latin typeface="Calibri" panose="020F0502020204030204" pitchFamily="34" charset="0"/>
                        </a:rPr>
                        <a:t>Poverty/Hardship</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798974195"/>
                  </a:ext>
                </a:extLst>
              </a:tr>
              <a:tr h="265449">
                <a:tc>
                  <a:txBody>
                    <a:bodyPr/>
                    <a:lstStyle/>
                    <a:p>
                      <a:pPr algn="l" fontAlgn="b"/>
                      <a:r>
                        <a:rPr lang="en-GB" sz="1400" b="0" i="0" u="none" strike="noStrike">
                          <a:solidFill>
                            <a:srgbClr val="000000"/>
                          </a:solidFill>
                          <a:effectLst/>
                          <a:latin typeface="Calibri" panose="020F0502020204030204" pitchFamily="34" charset="0"/>
                        </a:rPr>
                        <a:t>Inflation</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1978354940"/>
                  </a:ext>
                </a:extLst>
              </a:tr>
              <a:tr h="265449">
                <a:tc>
                  <a:txBody>
                    <a:bodyPr/>
                    <a:lstStyle/>
                    <a:p>
                      <a:pPr algn="l" fontAlgn="b"/>
                      <a:r>
                        <a:rPr lang="en-GB" sz="1400" b="0" i="0" u="none" strike="noStrike">
                          <a:solidFill>
                            <a:srgbClr val="000000"/>
                          </a:solidFill>
                          <a:effectLst/>
                          <a:latin typeface="Calibri" panose="020F0502020204030204" pitchFamily="34" charset="0"/>
                        </a:rPr>
                        <a:t>Poor educational system</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2642635573"/>
                  </a:ext>
                </a:extLst>
              </a:tr>
              <a:tr h="265449">
                <a:tc>
                  <a:txBody>
                    <a:bodyPr/>
                    <a:lstStyle/>
                    <a:p>
                      <a:pPr algn="l" fontAlgn="b"/>
                      <a:r>
                        <a:rPr lang="en-GB" sz="1400" b="0" i="0" u="none" strike="noStrike">
                          <a:solidFill>
                            <a:srgbClr val="000000"/>
                          </a:solidFill>
                          <a:effectLst/>
                          <a:latin typeface="Calibri" panose="020F0502020204030204" pitchFamily="34" charset="0"/>
                        </a:rPr>
                        <a:t>Poor health care</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6%</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3480748542"/>
                  </a:ext>
                </a:extLst>
              </a:tr>
              <a:tr h="265449">
                <a:tc>
                  <a:txBody>
                    <a:bodyPr/>
                    <a:lstStyle/>
                    <a:p>
                      <a:pPr algn="l" fontAlgn="b"/>
                      <a:r>
                        <a:rPr lang="en-GB" sz="1400" b="0" i="0" u="none" strike="noStrike">
                          <a:solidFill>
                            <a:srgbClr val="000000"/>
                          </a:solidFill>
                          <a:effectLst/>
                          <a:latin typeface="Calibri" panose="020F0502020204030204" pitchFamily="34" charset="0"/>
                        </a:rPr>
                        <a:t>Bad Economic</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6%</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9%</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621086869"/>
                  </a:ext>
                </a:extLst>
              </a:tr>
              <a:tr h="265449">
                <a:tc>
                  <a:txBody>
                    <a:bodyPr/>
                    <a:lstStyle/>
                    <a:p>
                      <a:pPr algn="l" fontAlgn="b"/>
                      <a:r>
                        <a:rPr lang="en-GB" sz="1400" b="0" i="0" u="none" strike="noStrike">
                          <a:solidFill>
                            <a:srgbClr val="000000"/>
                          </a:solidFill>
                          <a:effectLst/>
                          <a:latin typeface="Calibri" panose="020F0502020204030204" pitchFamily="34" charset="0"/>
                        </a:rPr>
                        <a:t>Discrimination/self interest</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8%</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2%</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226683108"/>
                  </a:ext>
                </a:extLst>
              </a:tr>
              <a:tr h="265449">
                <a:tc>
                  <a:txBody>
                    <a:bodyPr/>
                    <a:lstStyle/>
                    <a:p>
                      <a:pPr algn="l" fontAlgn="b"/>
                      <a:r>
                        <a:rPr lang="en-GB" sz="1400" b="0" i="0" u="none" strike="noStrike">
                          <a:solidFill>
                            <a:srgbClr val="000000"/>
                          </a:solidFill>
                          <a:effectLst/>
                          <a:latin typeface="Calibri" panose="020F0502020204030204" pitchFamily="34" charset="0"/>
                        </a:rPr>
                        <a:t>Starvation/Hunger</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1%</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107245604"/>
                  </a:ext>
                </a:extLst>
              </a:tr>
            </a:tbl>
          </a:graphicData>
        </a:graphic>
      </p:graphicFrame>
    </p:spTree>
    <p:extLst>
      <p:ext uri="{BB962C8B-B14F-4D97-AF65-F5344CB8AC3E}">
        <p14:creationId xmlns:p14="http://schemas.microsoft.com/office/powerpoint/2010/main" val="422121024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Q602 In your opinion, what is the main challenge facing this state?</a:t>
            </a:r>
            <a:endParaRPr lang="en-US" sz="1000" dirty="0">
              <a:latin typeface="Book Antiqua" panose="02040602050305030304" pitchFamily="18" charset="0"/>
            </a:endParaRPr>
          </a:p>
        </p:txBody>
      </p:sp>
      <p:sp>
        <p:nvSpPr>
          <p:cNvPr id="5" name="TextBox 4">
            <a:extLst>
              <a:ext uri="{FF2B5EF4-FFF2-40B4-BE49-F238E27FC236}">
                <a16:creationId xmlns:a16="http://schemas.microsoft.com/office/drawing/2014/main" id="{55F5642B-83A0-CD7B-E2BA-8E492D002397}"/>
              </a:ext>
            </a:extLst>
          </p:cNvPr>
          <p:cNvSpPr txBox="1"/>
          <p:nvPr/>
        </p:nvSpPr>
        <p:spPr>
          <a:xfrm>
            <a:off x="312990" y="119838"/>
            <a:ext cx="8619137"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Challenges facing the State</a:t>
            </a:r>
            <a:endParaRPr kumimoji="0" lang="en-US" sz="2000"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endParaRPr>
          </a:p>
        </p:txBody>
      </p:sp>
      <p:graphicFrame>
        <p:nvGraphicFramePr>
          <p:cNvPr id="9" name="Table 8">
            <a:extLst>
              <a:ext uri="{FF2B5EF4-FFF2-40B4-BE49-F238E27FC236}">
                <a16:creationId xmlns:a16="http://schemas.microsoft.com/office/drawing/2014/main" id="{3E390FF0-39FC-4DA4-B151-BD1CE7D5240C}"/>
              </a:ext>
            </a:extLst>
          </p:cNvPr>
          <p:cNvGraphicFramePr>
            <a:graphicFrameLocks noGrp="1"/>
          </p:cNvGraphicFramePr>
          <p:nvPr>
            <p:extLst>
              <p:ext uri="{D42A27DB-BD31-4B8C-83A1-F6EECF244321}">
                <p14:modId xmlns:p14="http://schemas.microsoft.com/office/powerpoint/2010/main" val="2967850323"/>
              </p:ext>
            </p:extLst>
          </p:nvPr>
        </p:nvGraphicFramePr>
        <p:xfrm>
          <a:off x="434898" y="1587295"/>
          <a:ext cx="11273880" cy="4329250"/>
        </p:xfrm>
        <a:graphic>
          <a:graphicData uri="http://schemas.openxmlformats.org/drawingml/2006/table">
            <a:tbl>
              <a:tblPr>
                <a:tableStyleId>{5A111915-BE36-4E01-A7E5-04B1672EAD32}</a:tableStyleId>
              </a:tblPr>
              <a:tblGrid>
                <a:gridCol w="3256156">
                  <a:extLst>
                    <a:ext uri="{9D8B030D-6E8A-4147-A177-3AD203B41FA5}">
                      <a16:colId xmlns:a16="http://schemas.microsoft.com/office/drawing/2014/main" val="2939921072"/>
                    </a:ext>
                  </a:extLst>
                </a:gridCol>
                <a:gridCol w="728884">
                  <a:extLst>
                    <a:ext uri="{9D8B030D-6E8A-4147-A177-3AD203B41FA5}">
                      <a16:colId xmlns:a16="http://schemas.microsoft.com/office/drawing/2014/main" val="240042294"/>
                    </a:ext>
                  </a:extLst>
                </a:gridCol>
                <a:gridCol w="728884">
                  <a:extLst>
                    <a:ext uri="{9D8B030D-6E8A-4147-A177-3AD203B41FA5}">
                      <a16:colId xmlns:a16="http://schemas.microsoft.com/office/drawing/2014/main" val="1471018050"/>
                    </a:ext>
                  </a:extLst>
                </a:gridCol>
                <a:gridCol w="728884">
                  <a:extLst>
                    <a:ext uri="{9D8B030D-6E8A-4147-A177-3AD203B41FA5}">
                      <a16:colId xmlns:a16="http://schemas.microsoft.com/office/drawing/2014/main" val="2631900519"/>
                    </a:ext>
                  </a:extLst>
                </a:gridCol>
                <a:gridCol w="728884">
                  <a:extLst>
                    <a:ext uri="{9D8B030D-6E8A-4147-A177-3AD203B41FA5}">
                      <a16:colId xmlns:a16="http://schemas.microsoft.com/office/drawing/2014/main" val="3445961416"/>
                    </a:ext>
                  </a:extLst>
                </a:gridCol>
                <a:gridCol w="728884">
                  <a:extLst>
                    <a:ext uri="{9D8B030D-6E8A-4147-A177-3AD203B41FA5}">
                      <a16:colId xmlns:a16="http://schemas.microsoft.com/office/drawing/2014/main" val="1157888105"/>
                    </a:ext>
                  </a:extLst>
                </a:gridCol>
                <a:gridCol w="728884">
                  <a:extLst>
                    <a:ext uri="{9D8B030D-6E8A-4147-A177-3AD203B41FA5}">
                      <a16:colId xmlns:a16="http://schemas.microsoft.com/office/drawing/2014/main" val="542496135"/>
                    </a:ext>
                  </a:extLst>
                </a:gridCol>
                <a:gridCol w="728884">
                  <a:extLst>
                    <a:ext uri="{9D8B030D-6E8A-4147-A177-3AD203B41FA5}">
                      <a16:colId xmlns:a16="http://schemas.microsoft.com/office/drawing/2014/main" val="2908582105"/>
                    </a:ext>
                  </a:extLst>
                </a:gridCol>
                <a:gridCol w="728884">
                  <a:extLst>
                    <a:ext uri="{9D8B030D-6E8A-4147-A177-3AD203B41FA5}">
                      <a16:colId xmlns:a16="http://schemas.microsoft.com/office/drawing/2014/main" val="1141895410"/>
                    </a:ext>
                  </a:extLst>
                </a:gridCol>
                <a:gridCol w="728884">
                  <a:extLst>
                    <a:ext uri="{9D8B030D-6E8A-4147-A177-3AD203B41FA5}">
                      <a16:colId xmlns:a16="http://schemas.microsoft.com/office/drawing/2014/main" val="2088834717"/>
                    </a:ext>
                  </a:extLst>
                </a:gridCol>
                <a:gridCol w="728884">
                  <a:extLst>
                    <a:ext uri="{9D8B030D-6E8A-4147-A177-3AD203B41FA5}">
                      <a16:colId xmlns:a16="http://schemas.microsoft.com/office/drawing/2014/main" val="2450593191"/>
                    </a:ext>
                  </a:extLst>
                </a:gridCol>
                <a:gridCol w="728884">
                  <a:extLst>
                    <a:ext uri="{9D8B030D-6E8A-4147-A177-3AD203B41FA5}">
                      <a16:colId xmlns:a16="http://schemas.microsoft.com/office/drawing/2014/main" val="1571396105"/>
                    </a:ext>
                  </a:extLst>
                </a:gridCol>
              </a:tblGrid>
              <a:tr h="191810">
                <a:tc>
                  <a:txBody>
                    <a:bodyPr/>
                    <a:lstStyle/>
                    <a:p>
                      <a:pPr algn="ctr" fontAlgn="b"/>
                      <a:endParaRPr lang="en-GB" sz="14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chemeClr val="bg1"/>
                      </a:solidFill>
                      <a:prstDash val="solid"/>
                      <a:round/>
                      <a:headEnd type="none" w="med" len="med"/>
                      <a:tailEnd type="none" w="med" len="med"/>
                    </a:lnL>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dirty="0">
                          <a:solidFill>
                            <a:schemeClr val="bg1"/>
                          </a:solidFill>
                          <a:effectLst/>
                          <a:latin typeface="Calibri" panose="020F0502020204030204" pitchFamily="34" charset="0"/>
                        </a:rPr>
                        <a:t>Total</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Male</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Female</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FCT</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Bauchi</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Kano</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Enugu</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Edo</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Lagos</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Urban</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Rural</a:t>
                      </a:r>
                    </a:p>
                  </a:txBody>
                  <a:tcPr marL="9525" marR="9525" marT="9525" marB="0" anchor="ctr">
                    <a:lnR w="127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1524205756"/>
                  </a:ext>
                </a:extLst>
              </a:tr>
              <a:tr h="191810">
                <a:tc>
                  <a:txBody>
                    <a:bodyPr/>
                    <a:lstStyle/>
                    <a:p>
                      <a:pPr algn="ctr" fontAlgn="b"/>
                      <a:r>
                        <a:rPr lang="en-GB" sz="1400" b="1" i="0" u="none" strike="noStrike" dirty="0">
                          <a:solidFill>
                            <a:srgbClr val="000000"/>
                          </a:solidFill>
                          <a:effectLst/>
                          <a:latin typeface="Calibri" panose="020F0502020204030204" pitchFamily="34" charset="0"/>
                        </a:rPr>
                        <a:t>Total</a:t>
                      </a:r>
                    </a:p>
                  </a:txBody>
                  <a:tcPr marL="9525" marR="9525" marT="9525" marB="0" anchor="ctr">
                    <a:lnL w="38100" cap="flat" cmpd="sng" algn="ctr">
                      <a:solidFill>
                        <a:schemeClr val="bg1"/>
                      </a:solidFill>
                      <a:prstDash val="solid"/>
                      <a:round/>
                      <a:headEnd type="none" w="med" len="med"/>
                      <a:tailEnd type="none" w="med" len="med"/>
                    </a:lnL>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dirty="0">
                          <a:solidFill>
                            <a:schemeClr val="bg1"/>
                          </a:solidFill>
                          <a:effectLst/>
                          <a:latin typeface="Calibri" panose="020F0502020204030204" pitchFamily="34" charset="0"/>
                        </a:rPr>
                        <a:t>1456</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681</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775</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170</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290</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284</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210</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158</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344</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937</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519</a:t>
                      </a:r>
                    </a:p>
                  </a:txBody>
                  <a:tcPr marL="9525" marR="9525" marT="9525" marB="0" anchor="ctr">
                    <a:lnR w="127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3795218639"/>
                  </a:ext>
                </a:extLst>
              </a:tr>
              <a:tr h="228440">
                <a:tc>
                  <a:txBody>
                    <a:bodyPr/>
                    <a:lstStyle/>
                    <a:p>
                      <a:pPr algn="l" fontAlgn="b"/>
                      <a:r>
                        <a:rPr lang="en-GB" sz="1400" b="0" i="0" u="none" strike="noStrike" dirty="0">
                          <a:solidFill>
                            <a:srgbClr val="000000"/>
                          </a:solidFill>
                          <a:effectLst/>
                          <a:latin typeface="Calibri" panose="020F0502020204030204" pitchFamily="34" charset="0"/>
                        </a:rPr>
                        <a:t>Unemployment</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chemeClr val="bg1"/>
                          </a:solidFill>
                          <a:effectLst/>
                          <a:latin typeface="Calibri" panose="020F0502020204030204" pitchFamily="34" charset="0"/>
                        </a:rPr>
                        <a:t>18%</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16%</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16%</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20%</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363113347"/>
                  </a:ext>
                </a:extLst>
              </a:tr>
              <a:tr h="228440">
                <a:tc>
                  <a:txBody>
                    <a:bodyPr/>
                    <a:lstStyle/>
                    <a:p>
                      <a:pPr algn="l" fontAlgn="b"/>
                      <a:r>
                        <a:rPr lang="en-GB" sz="1400" b="0" i="0" u="none" strike="noStrike">
                          <a:solidFill>
                            <a:srgbClr val="000000"/>
                          </a:solidFill>
                          <a:effectLst/>
                          <a:latin typeface="Calibri" panose="020F0502020204030204" pitchFamily="34" charset="0"/>
                        </a:rPr>
                        <a:t>Insecurity</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chemeClr val="bg1"/>
                          </a:solidFill>
                          <a:effectLst/>
                          <a:latin typeface="Calibri" panose="020F0502020204030204" pitchFamily="34" charset="0"/>
                        </a:rPr>
                        <a:t>13%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6%</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6%</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13%</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2056368829"/>
                  </a:ext>
                </a:extLst>
              </a:tr>
              <a:tr h="228440">
                <a:tc>
                  <a:txBody>
                    <a:bodyPr/>
                    <a:lstStyle/>
                    <a:p>
                      <a:pPr algn="l" fontAlgn="b"/>
                      <a:r>
                        <a:rPr lang="en-GB" sz="1400" b="0" i="0" u="none" strike="noStrike">
                          <a:solidFill>
                            <a:srgbClr val="000000"/>
                          </a:solidFill>
                          <a:effectLst/>
                          <a:latin typeface="Calibri" panose="020F0502020204030204" pitchFamily="34" charset="0"/>
                        </a:rPr>
                        <a:t>Corruption</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9%</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9%</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9%</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6%</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8%</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19%</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9%</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8%</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2578956404"/>
                  </a:ext>
                </a:extLst>
              </a:tr>
              <a:tr h="228440">
                <a:tc>
                  <a:txBody>
                    <a:bodyPr/>
                    <a:lstStyle/>
                    <a:p>
                      <a:pPr algn="l" fontAlgn="b"/>
                      <a:r>
                        <a:rPr lang="en-GB" sz="1400" b="0" i="0" u="none" strike="noStrike">
                          <a:solidFill>
                            <a:srgbClr val="000000"/>
                          </a:solidFill>
                          <a:effectLst/>
                          <a:latin typeface="Calibri" panose="020F0502020204030204" pitchFamily="34" charset="0"/>
                        </a:rPr>
                        <a:t>Inflation</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9%</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9%</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8%</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18%</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1537374605"/>
                  </a:ext>
                </a:extLst>
              </a:tr>
              <a:tr h="228440">
                <a:tc>
                  <a:txBody>
                    <a:bodyPr/>
                    <a:lstStyle/>
                    <a:p>
                      <a:pPr algn="l" fontAlgn="b"/>
                      <a:r>
                        <a:rPr lang="en-GB" sz="1400" b="0" i="0" u="none" strike="noStrike">
                          <a:solidFill>
                            <a:srgbClr val="000000"/>
                          </a:solidFill>
                          <a:effectLst/>
                          <a:latin typeface="Calibri" panose="020F0502020204030204" pitchFamily="34" charset="0"/>
                        </a:rPr>
                        <a:t>Bad Government</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6%</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8%</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18%</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8%</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3682100894"/>
                  </a:ext>
                </a:extLst>
              </a:tr>
              <a:tr h="228440">
                <a:tc>
                  <a:txBody>
                    <a:bodyPr/>
                    <a:lstStyle/>
                    <a:p>
                      <a:pPr algn="l" fontAlgn="b"/>
                      <a:r>
                        <a:rPr lang="en-GB" sz="1400" b="0" i="0" u="none" strike="noStrike">
                          <a:solidFill>
                            <a:srgbClr val="000000"/>
                          </a:solidFill>
                          <a:effectLst/>
                          <a:latin typeface="Calibri" panose="020F0502020204030204" pitchFamily="34" charset="0"/>
                        </a:rPr>
                        <a:t>Poor electricity</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8%</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4177927266"/>
                  </a:ext>
                </a:extLst>
              </a:tr>
              <a:tr h="228440">
                <a:tc>
                  <a:txBody>
                    <a:bodyPr/>
                    <a:lstStyle/>
                    <a:p>
                      <a:pPr algn="l" fontAlgn="b"/>
                      <a:r>
                        <a:rPr lang="en-GB" sz="1400" b="0" i="0" u="none" strike="noStrike">
                          <a:solidFill>
                            <a:srgbClr val="000000"/>
                          </a:solidFill>
                          <a:effectLst/>
                          <a:latin typeface="Calibri" panose="020F0502020204030204" pitchFamily="34" charset="0"/>
                        </a:rPr>
                        <a:t>Poverty/Hardship</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6%</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18%</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8%</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1131871430"/>
                  </a:ext>
                </a:extLst>
              </a:tr>
              <a:tr h="228440">
                <a:tc>
                  <a:txBody>
                    <a:bodyPr/>
                    <a:lstStyle/>
                    <a:p>
                      <a:pPr algn="l" fontAlgn="b"/>
                      <a:r>
                        <a:rPr lang="en-GB" sz="1400" b="0" i="0" u="none" strike="noStrike">
                          <a:solidFill>
                            <a:srgbClr val="000000"/>
                          </a:solidFill>
                          <a:effectLst/>
                          <a:latin typeface="Calibri" panose="020F0502020204030204" pitchFamily="34" charset="0"/>
                        </a:rPr>
                        <a:t>Lack of adequate infrastrure</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8%</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11%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9%</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1026452769"/>
                  </a:ext>
                </a:extLst>
              </a:tr>
              <a:tr h="228440">
                <a:tc>
                  <a:txBody>
                    <a:bodyPr/>
                    <a:lstStyle/>
                    <a:p>
                      <a:pPr algn="l" fontAlgn="b"/>
                      <a:r>
                        <a:rPr lang="en-GB" sz="1400" b="0" i="0" u="none" strike="noStrike">
                          <a:solidFill>
                            <a:srgbClr val="000000"/>
                          </a:solidFill>
                          <a:effectLst/>
                          <a:latin typeface="Calibri" panose="020F0502020204030204" pitchFamily="34" charset="0"/>
                        </a:rPr>
                        <a:t>Bad road</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6%</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6%</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721812460"/>
                  </a:ext>
                </a:extLst>
              </a:tr>
              <a:tr h="228440">
                <a:tc>
                  <a:txBody>
                    <a:bodyPr/>
                    <a:lstStyle/>
                    <a:p>
                      <a:pPr algn="l" fontAlgn="b"/>
                      <a:r>
                        <a:rPr lang="en-GB" sz="1400" b="0" i="0" u="none" strike="noStrike">
                          <a:solidFill>
                            <a:srgbClr val="000000"/>
                          </a:solidFill>
                          <a:effectLst/>
                          <a:latin typeface="Calibri" panose="020F0502020204030204" pitchFamily="34" charset="0"/>
                        </a:rPr>
                        <a:t>Traffic congestion</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3892419785"/>
                  </a:ext>
                </a:extLst>
              </a:tr>
              <a:tr h="228440">
                <a:tc>
                  <a:txBody>
                    <a:bodyPr/>
                    <a:lstStyle/>
                    <a:p>
                      <a:pPr algn="l" fontAlgn="b"/>
                      <a:r>
                        <a:rPr lang="en-GB" sz="1400" b="0" i="0" u="none" strike="noStrike">
                          <a:solidFill>
                            <a:srgbClr val="000000"/>
                          </a:solidFill>
                          <a:effectLst/>
                          <a:latin typeface="Calibri" panose="020F0502020204030204" pitchFamily="34" charset="0"/>
                        </a:rPr>
                        <a:t>Poor management</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798974195"/>
                  </a:ext>
                </a:extLst>
              </a:tr>
              <a:tr h="228440">
                <a:tc>
                  <a:txBody>
                    <a:bodyPr/>
                    <a:lstStyle/>
                    <a:p>
                      <a:pPr algn="l" fontAlgn="b"/>
                      <a:r>
                        <a:rPr lang="en-GB" sz="1400" b="0" i="0" u="none" strike="noStrike">
                          <a:solidFill>
                            <a:srgbClr val="000000"/>
                          </a:solidFill>
                          <a:effectLst/>
                          <a:latin typeface="Calibri" panose="020F0502020204030204" pitchFamily="34" charset="0"/>
                        </a:rPr>
                        <a:t>Bad Economic</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1978354940"/>
                  </a:ext>
                </a:extLst>
              </a:tr>
              <a:tr h="228440">
                <a:tc>
                  <a:txBody>
                    <a:bodyPr/>
                    <a:lstStyle/>
                    <a:p>
                      <a:pPr algn="l" fontAlgn="b"/>
                      <a:r>
                        <a:rPr lang="en-GB" sz="1400" b="0" i="0" u="none" strike="noStrike">
                          <a:solidFill>
                            <a:srgbClr val="000000"/>
                          </a:solidFill>
                          <a:effectLst/>
                          <a:latin typeface="Calibri" panose="020F0502020204030204" pitchFamily="34" charset="0"/>
                        </a:rPr>
                        <a:t>Discrimination/self interest</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2642635573"/>
                  </a:ext>
                </a:extLst>
              </a:tr>
              <a:tr h="228440">
                <a:tc>
                  <a:txBody>
                    <a:bodyPr/>
                    <a:lstStyle/>
                    <a:p>
                      <a:pPr algn="l" fontAlgn="b"/>
                      <a:r>
                        <a:rPr lang="en-GB" sz="1400" b="0" i="0" u="none" strike="noStrike">
                          <a:solidFill>
                            <a:srgbClr val="000000"/>
                          </a:solidFill>
                          <a:effectLst/>
                          <a:latin typeface="Calibri" panose="020F0502020204030204" pitchFamily="34" charset="0"/>
                        </a:rPr>
                        <a:t>Poor educational system</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2%</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3480748542"/>
                  </a:ext>
                </a:extLst>
              </a:tr>
              <a:tr h="228440">
                <a:tc>
                  <a:txBody>
                    <a:bodyPr/>
                    <a:lstStyle/>
                    <a:p>
                      <a:pPr algn="l" fontAlgn="b"/>
                      <a:r>
                        <a:rPr lang="en-GB" sz="1400" b="0" i="0" u="none" strike="noStrike">
                          <a:solidFill>
                            <a:srgbClr val="000000"/>
                          </a:solidFill>
                          <a:effectLst/>
                          <a:latin typeface="Calibri" panose="020F0502020204030204" pitchFamily="34" charset="0"/>
                        </a:rPr>
                        <a:t>Starvation/Hunger</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2%</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621086869"/>
                  </a:ext>
                </a:extLst>
              </a:tr>
              <a:tr h="228440">
                <a:tc>
                  <a:txBody>
                    <a:bodyPr/>
                    <a:lstStyle/>
                    <a:p>
                      <a:pPr algn="l" fontAlgn="b"/>
                      <a:r>
                        <a:rPr lang="en-GB" sz="1400" b="0" i="0" u="none" strike="noStrike">
                          <a:solidFill>
                            <a:srgbClr val="000000"/>
                          </a:solidFill>
                          <a:effectLst/>
                          <a:latin typeface="Calibri" panose="020F0502020204030204" pitchFamily="34" charset="0"/>
                        </a:rPr>
                        <a:t>Poor health care</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6%</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1%</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226683108"/>
                  </a:ext>
                </a:extLst>
              </a:tr>
              <a:tr h="228440">
                <a:tc>
                  <a:txBody>
                    <a:bodyPr/>
                    <a:lstStyle/>
                    <a:p>
                      <a:pPr algn="l" fontAlgn="b"/>
                      <a:r>
                        <a:rPr lang="en-GB" sz="1400" b="0" i="0" u="none" strike="noStrike" dirty="0">
                          <a:solidFill>
                            <a:srgbClr val="000000"/>
                          </a:solidFill>
                          <a:effectLst/>
                          <a:latin typeface="Calibri" panose="020F0502020204030204" pitchFamily="34" charset="0"/>
                        </a:rPr>
                        <a:t>Housing</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0%</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107245604"/>
                  </a:ext>
                </a:extLst>
              </a:tr>
            </a:tbl>
          </a:graphicData>
        </a:graphic>
      </p:graphicFrame>
      <p:sp>
        <p:nvSpPr>
          <p:cNvPr id="6" name="TextBox 5">
            <a:extLst>
              <a:ext uri="{FF2B5EF4-FFF2-40B4-BE49-F238E27FC236}">
                <a16:creationId xmlns:a16="http://schemas.microsoft.com/office/drawing/2014/main" id="{0C0FA70F-2150-4936-94B6-8BABE2474BC5}"/>
              </a:ext>
            </a:extLst>
          </p:cNvPr>
          <p:cNvSpPr txBox="1"/>
          <p:nvPr/>
        </p:nvSpPr>
        <p:spPr>
          <a:xfrm>
            <a:off x="331302" y="675740"/>
            <a:ext cx="11714923" cy="523220"/>
          </a:xfrm>
          <a:prstGeom prst="rect">
            <a:avLst/>
          </a:prstGeom>
          <a:noFill/>
        </p:spPr>
        <p:txBody>
          <a:bodyPr wrap="square">
            <a:spAutoFit/>
          </a:bodyPr>
          <a:lstStyle/>
          <a:p>
            <a:pPr lvl="0" algn="just">
              <a:defRPr/>
            </a:pPr>
            <a:r>
              <a:rPr lang="en-US" sz="1400" b="1" dirty="0">
                <a:solidFill>
                  <a:srgbClr val="0070C0"/>
                </a:solidFill>
                <a:latin typeface="Book Antiqua" panose="02040602050305030304" pitchFamily="18" charset="0"/>
                <a:ea typeface="Arial Unicode MS"/>
              </a:rPr>
              <a:t>Mentioned challenges facing States are Unemployment (18%) and Insecurity (13%). Others include: Corruption (9%), Inflation (9%), Bad Government (7%), Poor electricity (7%), Poverty/Hardship (7%), and inadequate infrastructure (7%).</a:t>
            </a:r>
          </a:p>
        </p:txBody>
      </p:sp>
    </p:spTree>
    <p:extLst>
      <p:ext uri="{BB962C8B-B14F-4D97-AF65-F5344CB8AC3E}">
        <p14:creationId xmlns:p14="http://schemas.microsoft.com/office/powerpoint/2010/main" val="333618293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Q603 In your opinion, what is the main challenge facing this country?</a:t>
            </a:r>
            <a:endParaRPr lang="en-US" sz="1000" dirty="0">
              <a:latin typeface="Book Antiqua" panose="02040602050305030304" pitchFamily="18" charset="0"/>
            </a:endParaRPr>
          </a:p>
        </p:txBody>
      </p:sp>
      <p:sp>
        <p:nvSpPr>
          <p:cNvPr id="5" name="TextBox 4">
            <a:extLst>
              <a:ext uri="{FF2B5EF4-FFF2-40B4-BE49-F238E27FC236}">
                <a16:creationId xmlns:a16="http://schemas.microsoft.com/office/drawing/2014/main" id="{55F5642B-83A0-CD7B-E2BA-8E492D002397}"/>
              </a:ext>
            </a:extLst>
          </p:cNvPr>
          <p:cNvSpPr txBox="1"/>
          <p:nvPr/>
        </p:nvSpPr>
        <p:spPr>
          <a:xfrm>
            <a:off x="312990" y="119838"/>
            <a:ext cx="8619137"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Challenges facing the Country</a:t>
            </a:r>
            <a:endParaRPr kumimoji="0" lang="en-US" sz="2000"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endParaRPr>
          </a:p>
        </p:txBody>
      </p:sp>
      <p:graphicFrame>
        <p:nvGraphicFramePr>
          <p:cNvPr id="9" name="Table 8">
            <a:extLst>
              <a:ext uri="{FF2B5EF4-FFF2-40B4-BE49-F238E27FC236}">
                <a16:creationId xmlns:a16="http://schemas.microsoft.com/office/drawing/2014/main" id="{3E390FF0-39FC-4DA4-B151-BD1CE7D5240C}"/>
              </a:ext>
            </a:extLst>
          </p:cNvPr>
          <p:cNvGraphicFramePr>
            <a:graphicFrameLocks noGrp="1"/>
          </p:cNvGraphicFramePr>
          <p:nvPr>
            <p:extLst>
              <p:ext uri="{D42A27DB-BD31-4B8C-83A1-F6EECF244321}">
                <p14:modId xmlns:p14="http://schemas.microsoft.com/office/powerpoint/2010/main" val="139718617"/>
              </p:ext>
            </p:extLst>
          </p:nvPr>
        </p:nvGraphicFramePr>
        <p:xfrm>
          <a:off x="434898" y="1587295"/>
          <a:ext cx="11273880" cy="3872370"/>
        </p:xfrm>
        <a:graphic>
          <a:graphicData uri="http://schemas.openxmlformats.org/drawingml/2006/table">
            <a:tbl>
              <a:tblPr>
                <a:tableStyleId>{5A111915-BE36-4E01-A7E5-04B1672EAD32}</a:tableStyleId>
              </a:tblPr>
              <a:tblGrid>
                <a:gridCol w="3256156">
                  <a:extLst>
                    <a:ext uri="{9D8B030D-6E8A-4147-A177-3AD203B41FA5}">
                      <a16:colId xmlns:a16="http://schemas.microsoft.com/office/drawing/2014/main" val="2939921072"/>
                    </a:ext>
                  </a:extLst>
                </a:gridCol>
                <a:gridCol w="728884">
                  <a:extLst>
                    <a:ext uri="{9D8B030D-6E8A-4147-A177-3AD203B41FA5}">
                      <a16:colId xmlns:a16="http://schemas.microsoft.com/office/drawing/2014/main" val="240042294"/>
                    </a:ext>
                  </a:extLst>
                </a:gridCol>
                <a:gridCol w="728884">
                  <a:extLst>
                    <a:ext uri="{9D8B030D-6E8A-4147-A177-3AD203B41FA5}">
                      <a16:colId xmlns:a16="http://schemas.microsoft.com/office/drawing/2014/main" val="1471018050"/>
                    </a:ext>
                  </a:extLst>
                </a:gridCol>
                <a:gridCol w="728884">
                  <a:extLst>
                    <a:ext uri="{9D8B030D-6E8A-4147-A177-3AD203B41FA5}">
                      <a16:colId xmlns:a16="http://schemas.microsoft.com/office/drawing/2014/main" val="2631900519"/>
                    </a:ext>
                  </a:extLst>
                </a:gridCol>
                <a:gridCol w="728884">
                  <a:extLst>
                    <a:ext uri="{9D8B030D-6E8A-4147-A177-3AD203B41FA5}">
                      <a16:colId xmlns:a16="http://schemas.microsoft.com/office/drawing/2014/main" val="3445961416"/>
                    </a:ext>
                  </a:extLst>
                </a:gridCol>
                <a:gridCol w="728884">
                  <a:extLst>
                    <a:ext uri="{9D8B030D-6E8A-4147-A177-3AD203B41FA5}">
                      <a16:colId xmlns:a16="http://schemas.microsoft.com/office/drawing/2014/main" val="1157888105"/>
                    </a:ext>
                  </a:extLst>
                </a:gridCol>
                <a:gridCol w="728884">
                  <a:extLst>
                    <a:ext uri="{9D8B030D-6E8A-4147-A177-3AD203B41FA5}">
                      <a16:colId xmlns:a16="http://schemas.microsoft.com/office/drawing/2014/main" val="542496135"/>
                    </a:ext>
                  </a:extLst>
                </a:gridCol>
                <a:gridCol w="728884">
                  <a:extLst>
                    <a:ext uri="{9D8B030D-6E8A-4147-A177-3AD203B41FA5}">
                      <a16:colId xmlns:a16="http://schemas.microsoft.com/office/drawing/2014/main" val="2908582105"/>
                    </a:ext>
                  </a:extLst>
                </a:gridCol>
                <a:gridCol w="728884">
                  <a:extLst>
                    <a:ext uri="{9D8B030D-6E8A-4147-A177-3AD203B41FA5}">
                      <a16:colId xmlns:a16="http://schemas.microsoft.com/office/drawing/2014/main" val="1141895410"/>
                    </a:ext>
                  </a:extLst>
                </a:gridCol>
                <a:gridCol w="728884">
                  <a:extLst>
                    <a:ext uri="{9D8B030D-6E8A-4147-A177-3AD203B41FA5}">
                      <a16:colId xmlns:a16="http://schemas.microsoft.com/office/drawing/2014/main" val="2088834717"/>
                    </a:ext>
                  </a:extLst>
                </a:gridCol>
                <a:gridCol w="728884">
                  <a:extLst>
                    <a:ext uri="{9D8B030D-6E8A-4147-A177-3AD203B41FA5}">
                      <a16:colId xmlns:a16="http://schemas.microsoft.com/office/drawing/2014/main" val="2450593191"/>
                    </a:ext>
                  </a:extLst>
                </a:gridCol>
                <a:gridCol w="728884">
                  <a:extLst>
                    <a:ext uri="{9D8B030D-6E8A-4147-A177-3AD203B41FA5}">
                      <a16:colId xmlns:a16="http://schemas.microsoft.com/office/drawing/2014/main" val="1571396105"/>
                    </a:ext>
                  </a:extLst>
                </a:gridCol>
              </a:tblGrid>
              <a:tr h="191810">
                <a:tc>
                  <a:txBody>
                    <a:bodyPr/>
                    <a:lstStyle/>
                    <a:p>
                      <a:pPr algn="ctr" fontAlgn="b"/>
                      <a:endParaRPr lang="en-GB" sz="14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chemeClr val="bg1"/>
                      </a:solidFill>
                      <a:prstDash val="solid"/>
                      <a:round/>
                      <a:headEnd type="none" w="med" len="med"/>
                      <a:tailEnd type="none" w="med" len="med"/>
                    </a:lnL>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dirty="0">
                          <a:solidFill>
                            <a:schemeClr val="bg1"/>
                          </a:solidFill>
                          <a:effectLst/>
                          <a:latin typeface="Calibri" panose="020F0502020204030204" pitchFamily="34" charset="0"/>
                        </a:rPr>
                        <a:t>Total</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Male</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Female</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FCT</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Bauchi</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Kano</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Enugu</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Edo</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Lagos</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Urban</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Rural</a:t>
                      </a:r>
                    </a:p>
                  </a:txBody>
                  <a:tcPr marL="9525" marR="9525" marT="9525" marB="0" anchor="ctr">
                    <a:lnR w="127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1524205756"/>
                  </a:ext>
                </a:extLst>
              </a:tr>
              <a:tr h="191810">
                <a:tc>
                  <a:txBody>
                    <a:bodyPr/>
                    <a:lstStyle/>
                    <a:p>
                      <a:pPr algn="ctr" fontAlgn="b"/>
                      <a:r>
                        <a:rPr lang="en-GB" sz="1400" b="1" i="0" u="none" strike="noStrike" dirty="0">
                          <a:solidFill>
                            <a:srgbClr val="000000"/>
                          </a:solidFill>
                          <a:effectLst/>
                          <a:latin typeface="Calibri" panose="020F0502020204030204" pitchFamily="34" charset="0"/>
                        </a:rPr>
                        <a:t>Total</a:t>
                      </a:r>
                    </a:p>
                  </a:txBody>
                  <a:tcPr marL="9525" marR="9525" marT="9525" marB="0" anchor="ctr">
                    <a:lnL w="38100" cap="flat" cmpd="sng" algn="ctr">
                      <a:solidFill>
                        <a:schemeClr val="bg1"/>
                      </a:solidFill>
                      <a:prstDash val="solid"/>
                      <a:round/>
                      <a:headEnd type="none" w="med" len="med"/>
                      <a:tailEnd type="none" w="med" len="med"/>
                    </a:lnL>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dirty="0">
                          <a:solidFill>
                            <a:schemeClr val="bg1"/>
                          </a:solidFill>
                          <a:effectLst/>
                          <a:latin typeface="Calibri" panose="020F0502020204030204" pitchFamily="34" charset="0"/>
                        </a:rPr>
                        <a:t>1456</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681</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775</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170</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290</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284</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210</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158</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a:solidFill>
                            <a:schemeClr val="bg1"/>
                          </a:solidFill>
                          <a:effectLst/>
                          <a:latin typeface="Calibri" panose="020F0502020204030204" pitchFamily="34" charset="0"/>
                        </a:rPr>
                        <a:t>344</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937</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1" i="0" u="none" strike="noStrike" dirty="0">
                          <a:solidFill>
                            <a:schemeClr val="bg1"/>
                          </a:solidFill>
                          <a:effectLst/>
                          <a:latin typeface="Calibri" panose="020F0502020204030204" pitchFamily="34" charset="0"/>
                        </a:rPr>
                        <a:t>519</a:t>
                      </a:r>
                    </a:p>
                  </a:txBody>
                  <a:tcPr marL="9525" marR="9525" marT="9525" marB="0" anchor="ctr">
                    <a:lnR w="127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3795218639"/>
                  </a:ext>
                </a:extLst>
              </a:tr>
              <a:tr h="228440">
                <a:tc>
                  <a:txBody>
                    <a:bodyPr/>
                    <a:lstStyle/>
                    <a:p>
                      <a:pPr algn="l" fontAlgn="b"/>
                      <a:r>
                        <a:rPr lang="en-GB" sz="1400" b="0" i="0" u="none" strike="noStrike" dirty="0">
                          <a:solidFill>
                            <a:srgbClr val="000000"/>
                          </a:solidFill>
                          <a:effectLst/>
                          <a:latin typeface="Calibri" panose="020F0502020204030204" pitchFamily="34" charset="0"/>
                        </a:rPr>
                        <a:t>Insecurity</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chemeClr val="bg1"/>
                          </a:solidFill>
                          <a:effectLst/>
                          <a:latin typeface="Calibri" panose="020F0502020204030204" pitchFamily="34" charset="0"/>
                        </a:rPr>
                        <a:t>24%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24%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49%</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38%</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29%</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26%</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19%</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363113347"/>
                  </a:ext>
                </a:extLst>
              </a:tr>
              <a:tr h="228440">
                <a:tc>
                  <a:txBody>
                    <a:bodyPr/>
                    <a:lstStyle/>
                    <a:p>
                      <a:pPr algn="l" fontAlgn="b"/>
                      <a:r>
                        <a:rPr lang="en-GB" sz="1400" b="0" i="0" u="none" strike="noStrike">
                          <a:solidFill>
                            <a:srgbClr val="000000"/>
                          </a:solidFill>
                          <a:effectLst/>
                          <a:latin typeface="Calibri" panose="020F0502020204030204" pitchFamily="34" charset="0"/>
                        </a:rPr>
                        <a:t>Poverty/Hardship</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18%</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18%</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17%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29%</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16%</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13%</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2056368829"/>
                  </a:ext>
                </a:extLst>
              </a:tr>
              <a:tr h="228440">
                <a:tc>
                  <a:txBody>
                    <a:bodyPr/>
                    <a:lstStyle/>
                    <a:p>
                      <a:pPr algn="l" fontAlgn="b"/>
                      <a:r>
                        <a:rPr lang="en-GB" sz="1400" b="0" i="0" u="none" strike="noStrike">
                          <a:solidFill>
                            <a:srgbClr val="000000"/>
                          </a:solidFill>
                          <a:effectLst/>
                          <a:latin typeface="Calibri" panose="020F0502020204030204" pitchFamily="34" charset="0"/>
                        </a:rPr>
                        <a:t>Unemployment</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18%</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19%</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18%</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36%</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22%</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2578956404"/>
                  </a:ext>
                </a:extLst>
              </a:tr>
              <a:tr h="228440">
                <a:tc>
                  <a:txBody>
                    <a:bodyPr/>
                    <a:lstStyle/>
                    <a:p>
                      <a:pPr algn="l" fontAlgn="b"/>
                      <a:r>
                        <a:rPr lang="en-GB" sz="1400" b="0" i="0" u="none" strike="noStrike">
                          <a:solidFill>
                            <a:srgbClr val="000000"/>
                          </a:solidFill>
                          <a:effectLst/>
                          <a:latin typeface="Calibri" panose="020F0502020204030204" pitchFamily="34" charset="0"/>
                        </a:rPr>
                        <a:t>Inflation</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14%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18%</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12%</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1537374605"/>
                  </a:ext>
                </a:extLst>
              </a:tr>
              <a:tr h="228440">
                <a:tc>
                  <a:txBody>
                    <a:bodyPr/>
                    <a:lstStyle/>
                    <a:p>
                      <a:pPr algn="l" fontAlgn="b"/>
                      <a:r>
                        <a:rPr lang="en-GB" sz="1400" b="0" i="0" u="none" strike="noStrike">
                          <a:solidFill>
                            <a:srgbClr val="000000"/>
                          </a:solidFill>
                          <a:effectLst/>
                          <a:latin typeface="Calibri" panose="020F0502020204030204" pitchFamily="34" charset="0"/>
                        </a:rPr>
                        <a:t>Corruption</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13%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18%</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8%</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11%</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3682100894"/>
                  </a:ext>
                </a:extLst>
              </a:tr>
              <a:tr h="228440">
                <a:tc>
                  <a:txBody>
                    <a:bodyPr/>
                    <a:lstStyle/>
                    <a:p>
                      <a:pPr algn="l" fontAlgn="b"/>
                      <a:r>
                        <a:rPr lang="en-GB" sz="1400" b="0" i="0" u="none" strike="noStrike">
                          <a:solidFill>
                            <a:srgbClr val="000000"/>
                          </a:solidFill>
                          <a:effectLst/>
                          <a:latin typeface="Calibri" panose="020F0502020204030204" pitchFamily="34" charset="0"/>
                        </a:rPr>
                        <a:t>Bad Government</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8%</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19%</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6%</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8%</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8%</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4177927266"/>
                  </a:ext>
                </a:extLst>
              </a:tr>
              <a:tr h="228440">
                <a:tc>
                  <a:txBody>
                    <a:bodyPr/>
                    <a:lstStyle/>
                    <a:p>
                      <a:pPr algn="l" fontAlgn="b"/>
                      <a:r>
                        <a:rPr lang="en-GB" sz="1400" b="0" i="0" u="none" strike="noStrike">
                          <a:solidFill>
                            <a:srgbClr val="000000"/>
                          </a:solidFill>
                          <a:effectLst/>
                          <a:latin typeface="Calibri" panose="020F0502020204030204" pitchFamily="34" charset="0"/>
                        </a:rPr>
                        <a:t>Starvation/Hunger</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1131871430"/>
                  </a:ext>
                </a:extLst>
              </a:tr>
              <a:tr h="228440">
                <a:tc>
                  <a:txBody>
                    <a:bodyPr/>
                    <a:lstStyle/>
                    <a:p>
                      <a:pPr algn="l" fontAlgn="b"/>
                      <a:r>
                        <a:rPr lang="en-GB" sz="1400" b="0" i="0" u="none" strike="noStrike">
                          <a:solidFill>
                            <a:srgbClr val="000000"/>
                          </a:solidFill>
                          <a:effectLst/>
                          <a:latin typeface="Calibri" panose="020F0502020204030204" pitchFamily="34" charset="0"/>
                        </a:rPr>
                        <a:t>Bad Economic</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6%</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10%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1026452769"/>
                  </a:ext>
                </a:extLst>
              </a:tr>
              <a:tr h="228440">
                <a:tc>
                  <a:txBody>
                    <a:bodyPr/>
                    <a:lstStyle/>
                    <a:p>
                      <a:pPr algn="l" fontAlgn="b"/>
                      <a:r>
                        <a:rPr lang="en-GB" sz="1400" b="0" i="0" u="none" strike="noStrike">
                          <a:solidFill>
                            <a:srgbClr val="000000"/>
                          </a:solidFill>
                          <a:effectLst/>
                          <a:latin typeface="Calibri" panose="020F0502020204030204" pitchFamily="34" charset="0"/>
                        </a:rPr>
                        <a:t>Bad road</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6%</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721812460"/>
                  </a:ext>
                </a:extLst>
              </a:tr>
              <a:tr h="228440">
                <a:tc>
                  <a:txBody>
                    <a:bodyPr/>
                    <a:lstStyle/>
                    <a:p>
                      <a:pPr algn="l" fontAlgn="b"/>
                      <a:r>
                        <a:rPr lang="en-GB" sz="1400" b="0" i="0" u="none" strike="noStrike">
                          <a:solidFill>
                            <a:srgbClr val="000000"/>
                          </a:solidFill>
                          <a:effectLst/>
                          <a:latin typeface="Calibri" panose="020F0502020204030204" pitchFamily="34" charset="0"/>
                        </a:rPr>
                        <a:t>Poor electricity</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3892419785"/>
                  </a:ext>
                </a:extLst>
              </a:tr>
              <a:tr h="228440">
                <a:tc>
                  <a:txBody>
                    <a:bodyPr/>
                    <a:lstStyle/>
                    <a:p>
                      <a:pPr algn="l" fontAlgn="b"/>
                      <a:r>
                        <a:rPr lang="en-GB" sz="1400" b="0" i="0" u="none" strike="noStrike">
                          <a:solidFill>
                            <a:srgbClr val="000000"/>
                          </a:solidFill>
                          <a:effectLst/>
                          <a:latin typeface="Calibri" panose="020F0502020204030204" pitchFamily="34" charset="0"/>
                        </a:rPr>
                        <a:t>Poor health care</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1%</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798974195"/>
                  </a:ext>
                </a:extLst>
              </a:tr>
              <a:tr h="228440">
                <a:tc>
                  <a:txBody>
                    <a:bodyPr/>
                    <a:lstStyle/>
                    <a:p>
                      <a:pPr algn="l" fontAlgn="b"/>
                      <a:r>
                        <a:rPr lang="en-US" sz="1400" b="0" i="0" u="none" strike="noStrike">
                          <a:solidFill>
                            <a:srgbClr val="000000"/>
                          </a:solidFill>
                          <a:effectLst/>
                          <a:latin typeface="Calibri" panose="020F0502020204030204" pitchFamily="34" charset="0"/>
                        </a:rPr>
                        <a:t>High cost of petroleum and diesel</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5%</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1978354940"/>
                  </a:ext>
                </a:extLst>
              </a:tr>
              <a:tr h="228440">
                <a:tc>
                  <a:txBody>
                    <a:bodyPr/>
                    <a:lstStyle/>
                    <a:p>
                      <a:pPr algn="l" fontAlgn="b"/>
                      <a:r>
                        <a:rPr lang="en-GB" sz="1400" b="0" i="0" u="none" strike="noStrike">
                          <a:solidFill>
                            <a:srgbClr val="000000"/>
                          </a:solidFill>
                          <a:effectLst/>
                          <a:latin typeface="Calibri" panose="020F0502020204030204" pitchFamily="34" charset="0"/>
                        </a:rPr>
                        <a:t>Lack of adequate infrastrure</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9%</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1%</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2642635573"/>
                  </a:ext>
                </a:extLst>
              </a:tr>
              <a:tr h="228440">
                <a:tc>
                  <a:txBody>
                    <a:bodyPr/>
                    <a:lstStyle/>
                    <a:p>
                      <a:pPr algn="l" fontAlgn="b"/>
                      <a:r>
                        <a:rPr lang="en-GB" sz="1400" b="0" i="0" u="none" strike="noStrike">
                          <a:solidFill>
                            <a:srgbClr val="000000"/>
                          </a:solidFill>
                          <a:effectLst/>
                          <a:latin typeface="Calibri" panose="020F0502020204030204" pitchFamily="34" charset="0"/>
                        </a:rPr>
                        <a:t>Discrimination/self interest</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12%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3%</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3480748542"/>
                  </a:ext>
                </a:extLst>
              </a:tr>
              <a:tr h="228440">
                <a:tc>
                  <a:txBody>
                    <a:bodyPr/>
                    <a:lstStyle/>
                    <a:p>
                      <a:pPr algn="l" fontAlgn="b"/>
                      <a:r>
                        <a:rPr lang="en-GB" sz="1400" b="0" i="0" u="none" strike="noStrike">
                          <a:solidFill>
                            <a:srgbClr val="000000"/>
                          </a:solidFill>
                          <a:effectLst/>
                          <a:latin typeface="Calibri" panose="020F0502020204030204" pitchFamily="34" charset="0"/>
                        </a:rPr>
                        <a:t>Poor educational system</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tc>
                  <a:txBody>
                    <a:bodyPr/>
                    <a:lstStyle/>
                    <a:p>
                      <a:pPr algn="ctr" fontAlgn="b"/>
                      <a:r>
                        <a:rPr lang="en-GB" sz="1400" b="0" i="0" u="none" strike="noStrike" dirty="0">
                          <a:solidFill>
                            <a:schemeClr val="bg1"/>
                          </a:solidFill>
                          <a:effectLst/>
                          <a:latin typeface="Calibri" panose="020F0502020204030204" pitchFamily="34" charset="0"/>
                        </a:rPr>
                        <a:t>2%</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002060"/>
                    </a:solidFill>
                  </a:tcPr>
                </a:tc>
                <a:extLst>
                  <a:ext uri="{0D108BD9-81ED-4DB2-BD59-A6C34878D82A}">
                    <a16:rowId xmlns:a16="http://schemas.microsoft.com/office/drawing/2014/main" val="621086869"/>
                  </a:ext>
                </a:extLst>
              </a:tr>
            </a:tbl>
          </a:graphicData>
        </a:graphic>
      </p:graphicFrame>
      <p:sp>
        <p:nvSpPr>
          <p:cNvPr id="6" name="TextBox 5">
            <a:extLst>
              <a:ext uri="{FF2B5EF4-FFF2-40B4-BE49-F238E27FC236}">
                <a16:creationId xmlns:a16="http://schemas.microsoft.com/office/drawing/2014/main" id="{FC65E00D-EE29-4DAF-82A2-3845EEE8ECA6}"/>
              </a:ext>
            </a:extLst>
          </p:cNvPr>
          <p:cNvSpPr txBox="1"/>
          <p:nvPr/>
        </p:nvSpPr>
        <p:spPr>
          <a:xfrm>
            <a:off x="331302" y="675740"/>
            <a:ext cx="11714923" cy="523220"/>
          </a:xfrm>
          <a:prstGeom prst="rect">
            <a:avLst/>
          </a:prstGeom>
          <a:noFill/>
        </p:spPr>
        <p:txBody>
          <a:bodyPr wrap="square">
            <a:spAutoFit/>
          </a:bodyPr>
          <a:lstStyle/>
          <a:p>
            <a:pPr lvl="0" algn="just">
              <a:defRPr/>
            </a:pPr>
            <a:r>
              <a:rPr lang="en-US" sz="1400" b="1" dirty="0">
                <a:solidFill>
                  <a:srgbClr val="0070C0"/>
                </a:solidFill>
                <a:latin typeface="Book Antiqua" panose="02040602050305030304" pitchFamily="18" charset="0"/>
                <a:ea typeface="Arial Unicode MS"/>
              </a:rPr>
              <a:t>Major challenges facing the country include: Insecurity (24%), Poverty/Hardship (18%), Unemployment (18%), Inflation (14%), and Corruption (13%).</a:t>
            </a:r>
          </a:p>
        </p:txBody>
      </p:sp>
    </p:spTree>
    <p:extLst>
      <p:ext uri="{BB962C8B-B14F-4D97-AF65-F5344CB8AC3E}">
        <p14:creationId xmlns:p14="http://schemas.microsoft.com/office/powerpoint/2010/main" val="27440819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Q611 What’s the most effective way to address the challenges facing this LGA?</a:t>
            </a:r>
            <a:endParaRPr lang="en-US" sz="1000" dirty="0">
              <a:latin typeface="Book Antiqua" panose="02040602050305030304" pitchFamily="18" charset="0"/>
            </a:endParaRPr>
          </a:p>
        </p:txBody>
      </p:sp>
      <p:sp>
        <p:nvSpPr>
          <p:cNvPr id="5" name="TextBox 4">
            <a:extLst>
              <a:ext uri="{FF2B5EF4-FFF2-40B4-BE49-F238E27FC236}">
                <a16:creationId xmlns:a16="http://schemas.microsoft.com/office/drawing/2014/main" id="{55F5642B-83A0-CD7B-E2BA-8E492D002397}"/>
              </a:ext>
            </a:extLst>
          </p:cNvPr>
          <p:cNvSpPr txBox="1"/>
          <p:nvPr/>
        </p:nvSpPr>
        <p:spPr>
          <a:xfrm>
            <a:off x="312990" y="119838"/>
            <a:ext cx="8619137"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Addressing the challenges facing the LGA</a:t>
            </a:r>
            <a:endParaRPr kumimoji="0" lang="en-US" sz="2000"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endParaRPr>
          </a:p>
        </p:txBody>
      </p:sp>
      <p:sp>
        <p:nvSpPr>
          <p:cNvPr id="7" name="TextBox 6">
            <a:extLst>
              <a:ext uri="{FF2B5EF4-FFF2-40B4-BE49-F238E27FC236}">
                <a16:creationId xmlns:a16="http://schemas.microsoft.com/office/drawing/2014/main" id="{24EE3164-36BE-1169-158F-AC5F91216B94}"/>
              </a:ext>
            </a:extLst>
          </p:cNvPr>
          <p:cNvSpPr txBox="1"/>
          <p:nvPr/>
        </p:nvSpPr>
        <p:spPr>
          <a:xfrm>
            <a:off x="331302" y="642287"/>
            <a:ext cx="11714923" cy="738664"/>
          </a:xfrm>
          <a:prstGeom prst="rect">
            <a:avLst/>
          </a:prstGeom>
          <a:noFill/>
        </p:spPr>
        <p:txBody>
          <a:bodyPr wrap="square">
            <a:spAutoFit/>
          </a:bodyPr>
          <a:lstStyle/>
          <a:p>
            <a:pPr lvl="0" algn="just">
              <a:defRPr/>
            </a:pPr>
            <a:r>
              <a:rPr lang="en-US" sz="1400" b="1" dirty="0">
                <a:solidFill>
                  <a:srgbClr val="0070C0"/>
                </a:solidFill>
                <a:latin typeface="Book Antiqua" panose="02040602050305030304" pitchFamily="18" charset="0"/>
                <a:ea typeface="Arial Unicode MS"/>
              </a:rPr>
              <a:t>Suggested solutions to addressing the myriad menace facing the LGA include: Provision of adequate amenities (15%), improving the security (12%), improving the power sector (11%), creating opportunities (11%), build good roads (9%), helping the poor (7%), and good leadership (7%).</a:t>
            </a:r>
          </a:p>
        </p:txBody>
      </p:sp>
      <p:graphicFrame>
        <p:nvGraphicFramePr>
          <p:cNvPr id="9" name="Table 8">
            <a:extLst>
              <a:ext uri="{FF2B5EF4-FFF2-40B4-BE49-F238E27FC236}">
                <a16:creationId xmlns:a16="http://schemas.microsoft.com/office/drawing/2014/main" id="{3E390FF0-39FC-4DA4-B151-BD1CE7D5240C}"/>
              </a:ext>
            </a:extLst>
          </p:cNvPr>
          <p:cNvGraphicFramePr>
            <a:graphicFrameLocks noGrp="1"/>
          </p:cNvGraphicFramePr>
          <p:nvPr>
            <p:extLst>
              <p:ext uri="{D42A27DB-BD31-4B8C-83A1-F6EECF244321}">
                <p14:modId xmlns:p14="http://schemas.microsoft.com/office/powerpoint/2010/main" val="2535791780"/>
              </p:ext>
            </p:extLst>
          </p:nvPr>
        </p:nvGraphicFramePr>
        <p:xfrm>
          <a:off x="434898" y="1319671"/>
          <a:ext cx="11273880" cy="4632960"/>
        </p:xfrm>
        <a:graphic>
          <a:graphicData uri="http://schemas.openxmlformats.org/drawingml/2006/table">
            <a:tbl>
              <a:tblPr>
                <a:tableStyleId>{5A111915-BE36-4E01-A7E5-04B1672EAD32}</a:tableStyleId>
              </a:tblPr>
              <a:tblGrid>
                <a:gridCol w="3256156">
                  <a:extLst>
                    <a:ext uri="{9D8B030D-6E8A-4147-A177-3AD203B41FA5}">
                      <a16:colId xmlns:a16="http://schemas.microsoft.com/office/drawing/2014/main" val="2939921072"/>
                    </a:ext>
                  </a:extLst>
                </a:gridCol>
                <a:gridCol w="728884">
                  <a:extLst>
                    <a:ext uri="{9D8B030D-6E8A-4147-A177-3AD203B41FA5}">
                      <a16:colId xmlns:a16="http://schemas.microsoft.com/office/drawing/2014/main" val="240042294"/>
                    </a:ext>
                  </a:extLst>
                </a:gridCol>
                <a:gridCol w="728884">
                  <a:extLst>
                    <a:ext uri="{9D8B030D-6E8A-4147-A177-3AD203B41FA5}">
                      <a16:colId xmlns:a16="http://schemas.microsoft.com/office/drawing/2014/main" val="1471018050"/>
                    </a:ext>
                  </a:extLst>
                </a:gridCol>
                <a:gridCol w="728884">
                  <a:extLst>
                    <a:ext uri="{9D8B030D-6E8A-4147-A177-3AD203B41FA5}">
                      <a16:colId xmlns:a16="http://schemas.microsoft.com/office/drawing/2014/main" val="2631900519"/>
                    </a:ext>
                  </a:extLst>
                </a:gridCol>
                <a:gridCol w="728884">
                  <a:extLst>
                    <a:ext uri="{9D8B030D-6E8A-4147-A177-3AD203B41FA5}">
                      <a16:colId xmlns:a16="http://schemas.microsoft.com/office/drawing/2014/main" val="3445961416"/>
                    </a:ext>
                  </a:extLst>
                </a:gridCol>
                <a:gridCol w="728884">
                  <a:extLst>
                    <a:ext uri="{9D8B030D-6E8A-4147-A177-3AD203B41FA5}">
                      <a16:colId xmlns:a16="http://schemas.microsoft.com/office/drawing/2014/main" val="1157888105"/>
                    </a:ext>
                  </a:extLst>
                </a:gridCol>
                <a:gridCol w="728884">
                  <a:extLst>
                    <a:ext uri="{9D8B030D-6E8A-4147-A177-3AD203B41FA5}">
                      <a16:colId xmlns:a16="http://schemas.microsoft.com/office/drawing/2014/main" val="542496135"/>
                    </a:ext>
                  </a:extLst>
                </a:gridCol>
                <a:gridCol w="728884">
                  <a:extLst>
                    <a:ext uri="{9D8B030D-6E8A-4147-A177-3AD203B41FA5}">
                      <a16:colId xmlns:a16="http://schemas.microsoft.com/office/drawing/2014/main" val="2908582105"/>
                    </a:ext>
                  </a:extLst>
                </a:gridCol>
                <a:gridCol w="728884">
                  <a:extLst>
                    <a:ext uri="{9D8B030D-6E8A-4147-A177-3AD203B41FA5}">
                      <a16:colId xmlns:a16="http://schemas.microsoft.com/office/drawing/2014/main" val="1141895410"/>
                    </a:ext>
                  </a:extLst>
                </a:gridCol>
                <a:gridCol w="728884">
                  <a:extLst>
                    <a:ext uri="{9D8B030D-6E8A-4147-A177-3AD203B41FA5}">
                      <a16:colId xmlns:a16="http://schemas.microsoft.com/office/drawing/2014/main" val="2088834717"/>
                    </a:ext>
                  </a:extLst>
                </a:gridCol>
                <a:gridCol w="728884">
                  <a:extLst>
                    <a:ext uri="{9D8B030D-6E8A-4147-A177-3AD203B41FA5}">
                      <a16:colId xmlns:a16="http://schemas.microsoft.com/office/drawing/2014/main" val="2450593191"/>
                    </a:ext>
                  </a:extLst>
                </a:gridCol>
                <a:gridCol w="728884">
                  <a:extLst>
                    <a:ext uri="{9D8B030D-6E8A-4147-A177-3AD203B41FA5}">
                      <a16:colId xmlns:a16="http://schemas.microsoft.com/office/drawing/2014/main" val="1571396105"/>
                    </a:ext>
                  </a:extLst>
                </a:gridCol>
              </a:tblGrid>
              <a:tr h="196164">
                <a:tc>
                  <a:txBody>
                    <a:bodyPr/>
                    <a:lstStyle/>
                    <a:p>
                      <a:pPr algn="ctr" fontAlgn="b"/>
                      <a:endParaRPr lang="en-GB" sz="14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chemeClr val="bg1"/>
                      </a:solidFill>
                      <a:prstDash val="solid"/>
                      <a:round/>
                      <a:headEnd type="none" w="med" len="med"/>
                      <a:tailEnd type="none" w="med" len="med"/>
                    </a:lnL>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dirty="0">
                          <a:solidFill>
                            <a:schemeClr val="bg1"/>
                          </a:solidFill>
                          <a:effectLst/>
                          <a:latin typeface="Calibri" panose="020F0502020204030204" pitchFamily="34" charset="0"/>
                        </a:rPr>
                        <a:t>Total</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Male</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Female</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FCT</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Bauchi</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D9286C"/>
                    </a:solidFill>
                  </a:tcPr>
                </a:tc>
                <a:tc>
                  <a:txBody>
                    <a:bodyPr/>
                    <a:lstStyle/>
                    <a:p>
                      <a:pPr algn="ctr" fontAlgn="b"/>
                      <a:r>
                        <a:rPr lang="en-GB" sz="1400" b="1" i="0" u="none" strike="noStrike">
                          <a:solidFill>
                            <a:schemeClr val="bg1"/>
                          </a:solidFill>
                          <a:effectLst/>
                          <a:latin typeface="Calibri" panose="020F0502020204030204" pitchFamily="34" charset="0"/>
                        </a:rPr>
                        <a:t>Kano</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Enugu</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Edo</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Lagos</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Urban</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Rural</a:t>
                      </a:r>
                    </a:p>
                  </a:txBody>
                  <a:tcPr marL="9525" marR="9525" marT="9525" marB="0" anchor="ctr">
                    <a:lnR w="127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D9286C"/>
                    </a:solidFill>
                  </a:tcPr>
                </a:tc>
                <a:extLst>
                  <a:ext uri="{0D108BD9-81ED-4DB2-BD59-A6C34878D82A}">
                    <a16:rowId xmlns:a16="http://schemas.microsoft.com/office/drawing/2014/main" val="1524205756"/>
                  </a:ext>
                </a:extLst>
              </a:tr>
              <a:tr h="196164">
                <a:tc>
                  <a:txBody>
                    <a:bodyPr/>
                    <a:lstStyle/>
                    <a:p>
                      <a:pPr algn="ctr" fontAlgn="b"/>
                      <a:r>
                        <a:rPr lang="en-GB" sz="1400" b="1" i="0" u="none" strike="noStrike" dirty="0">
                          <a:solidFill>
                            <a:srgbClr val="000000"/>
                          </a:solidFill>
                          <a:effectLst/>
                          <a:latin typeface="Calibri" panose="020F0502020204030204" pitchFamily="34" charset="0"/>
                        </a:rPr>
                        <a:t>Total</a:t>
                      </a:r>
                    </a:p>
                  </a:txBody>
                  <a:tcPr marL="9525" marR="9525" marT="9525" marB="0" anchor="ctr">
                    <a:lnL w="38100" cap="flat" cmpd="sng" algn="ctr">
                      <a:solidFill>
                        <a:schemeClr val="bg1"/>
                      </a:solidFill>
                      <a:prstDash val="solid"/>
                      <a:round/>
                      <a:headEnd type="none" w="med" len="med"/>
                      <a:tailEnd type="none" w="med" len="med"/>
                    </a:lnL>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dirty="0">
                          <a:solidFill>
                            <a:schemeClr val="bg1"/>
                          </a:solidFill>
                          <a:effectLst/>
                          <a:latin typeface="Calibri" panose="020F0502020204030204" pitchFamily="34" charset="0"/>
                        </a:rPr>
                        <a:t>1456</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681</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775</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170</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290</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284</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1" i="0" u="none" strike="noStrike">
                          <a:solidFill>
                            <a:schemeClr val="bg1"/>
                          </a:solidFill>
                          <a:effectLst/>
                          <a:latin typeface="Calibri" panose="020F0502020204030204" pitchFamily="34" charset="0"/>
                        </a:rPr>
                        <a:t>210</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1" i="0" u="none" strike="noStrike">
                          <a:solidFill>
                            <a:schemeClr val="bg1"/>
                          </a:solidFill>
                          <a:effectLst/>
                          <a:latin typeface="Calibri" panose="020F0502020204030204" pitchFamily="34" charset="0"/>
                        </a:rPr>
                        <a:t>158</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1" i="0" u="none" strike="noStrike">
                          <a:solidFill>
                            <a:schemeClr val="bg1"/>
                          </a:solidFill>
                          <a:effectLst/>
                          <a:latin typeface="Calibri" panose="020F0502020204030204" pitchFamily="34" charset="0"/>
                        </a:rPr>
                        <a:t>344</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937</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519</a:t>
                      </a:r>
                    </a:p>
                  </a:txBody>
                  <a:tcPr marL="9525" marR="9525" marT="9525" marB="0" anchor="ctr">
                    <a:lnR w="127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3795218639"/>
                  </a:ext>
                </a:extLst>
              </a:tr>
              <a:tr h="196164">
                <a:tc>
                  <a:txBody>
                    <a:bodyPr/>
                    <a:lstStyle/>
                    <a:p>
                      <a:pPr algn="l" fontAlgn="b"/>
                      <a:r>
                        <a:rPr lang="en-GB" sz="1400" b="0" i="0" u="none" strike="noStrike" dirty="0">
                          <a:solidFill>
                            <a:srgbClr val="000000"/>
                          </a:solidFill>
                          <a:effectLst/>
                          <a:latin typeface="Calibri" panose="020F0502020204030204" pitchFamily="34" charset="0"/>
                        </a:rPr>
                        <a:t>Provide adequate amenities</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chemeClr val="bg1"/>
                          </a:solidFill>
                          <a:effectLst/>
                          <a:latin typeface="Calibri" panose="020F0502020204030204" pitchFamily="34" charset="0"/>
                        </a:rPr>
                        <a:t>15%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16%</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26%</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18%</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11%</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363113347"/>
                  </a:ext>
                </a:extLst>
              </a:tr>
              <a:tr h="383945">
                <a:tc>
                  <a:txBody>
                    <a:bodyPr/>
                    <a:lstStyle/>
                    <a:p>
                      <a:pPr algn="l" fontAlgn="b"/>
                      <a:r>
                        <a:rPr lang="en-US" sz="1400" b="0" i="0" u="none" strike="noStrike">
                          <a:solidFill>
                            <a:srgbClr val="000000"/>
                          </a:solidFill>
                          <a:effectLst/>
                          <a:latin typeface="Calibri" panose="020F0502020204030204" pitchFamily="34" charset="0"/>
                        </a:rPr>
                        <a:t>The government should make security better</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12%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12%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11%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6%</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9%</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11%</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2056368829"/>
                  </a:ext>
                </a:extLst>
              </a:tr>
              <a:tr h="196164">
                <a:tc>
                  <a:txBody>
                    <a:bodyPr/>
                    <a:lstStyle/>
                    <a:p>
                      <a:pPr algn="l" fontAlgn="b"/>
                      <a:r>
                        <a:rPr lang="en-US" sz="1400" b="0" i="0" u="none" strike="noStrike">
                          <a:solidFill>
                            <a:srgbClr val="000000"/>
                          </a:solidFill>
                          <a:effectLst/>
                          <a:latin typeface="Calibri" panose="020F0502020204030204" pitchFamily="34" charset="0"/>
                        </a:rPr>
                        <a:t>They should improve on the light issues</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11%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10%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18%</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2578956404"/>
                  </a:ext>
                </a:extLst>
              </a:tr>
              <a:tr h="196164">
                <a:tc>
                  <a:txBody>
                    <a:bodyPr/>
                    <a:lstStyle/>
                    <a:p>
                      <a:pPr algn="l" fontAlgn="b"/>
                      <a:r>
                        <a:rPr lang="en-GB" sz="1400" b="0" i="0" u="none" strike="noStrike">
                          <a:solidFill>
                            <a:srgbClr val="000000"/>
                          </a:solidFill>
                          <a:effectLst/>
                          <a:latin typeface="Calibri" panose="020F0502020204030204" pitchFamily="34" charset="0"/>
                        </a:rPr>
                        <a:t>Create job opportunities</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11%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8%</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18%</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8%</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9%</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13%</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1537374605"/>
                  </a:ext>
                </a:extLst>
              </a:tr>
              <a:tr h="196164">
                <a:tc>
                  <a:txBody>
                    <a:bodyPr/>
                    <a:lstStyle/>
                    <a:p>
                      <a:pPr algn="l" fontAlgn="b"/>
                      <a:r>
                        <a:rPr lang="en-GB" sz="1400" b="0" i="0" u="none" strike="noStrike">
                          <a:solidFill>
                            <a:srgbClr val="000000"/>
                          </a:solidFill>
                          <a:effectLst/>
                          <a:latin typeface="Calibri" panose="020F0502020204030204" pitchFamily="34" charset="0"/>
                        </a:rPr>
                        <a:t>Build Good Roads</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9%</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8%</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11%</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3682100894"/>
                  </a:ext>
                </a:extLst>
              </a:tr>
              <a:tr h="383945">
                <a:tc>
                  <a:txBody>
                    <a:bodyPr/>
                    <a:lstStyle/>
                    <a:p>
                      <a:pPr algn="l" fontAlgn="b"/>
                      <a:r>
                        <a:rPr lang="en-US" sz="1400" b="0" i="0" u="none" strike="noStrike">
                          <a:solidFill>
                            <a:srgbClr val="000000"/>
                          </a:solidFill>
                          <a:effectLst/>
                          <a:latin typeface="Calibri" panose="020F0502020204030204" pitchFamily="34" charset="0"/>
                        </a:rPr>
                        <a:t>Let have good government that will help the poor</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8%</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18%</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9%</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4177927266"/>
                  </a:ext>
                </a:extLst>
              </a:tr>
              <a:tr h="196164">
                <a:tc>
                  <a:txBody>
                    <a:bodyPr/>
                    <a:lstStyle/>
                    <a:p>
                      <a:pPr algn="l" fontAlgn="b"/>
                      <a:r>
                        <a:rPr lang="en-GB" sz="1400" b="0" i="0" u="none" strike="noStrike">
                          <a:solidFill>
                            <a:srgbClr val="000000"/>
                          </a:solidFill>
                          <a:effectLst/>
                          <a:latin typeface="Calibri" panose="020F0502020204030204" pitchFamily="34" charset="0"/>
                        </a:rPr>
                        <a:t>Good leadership</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6%</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8%</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1131871430"/>
                  </a:ext>
                </a:extLst>
              </a:tr>
              <a:tr h="196164">
                <a:tc>
                  <a:txBody>
                    <a:bodyPr/>
                    <a:lstStyle/>
                    <a:p>
                      <a:pPr algn="l" fontAlgn="b"/>
                      <a:r>
                        <a:rPr lang="en-US" sz="1400" b="0" i="0" u="none" strike="noStrike">
                          <a:solidFill>
                            <a:srgbClr val="000000"/>
                          </a:solidFill>
                          <a:effectLst/>
                          <a:latin typeface="Calibri" panose="020F0502020204030204" pitchFamily="34" charset="0"/>
                        </a:rPr>
                        <a:t>Reduce the price of foodstuff</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10%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1026452769"/>
                  </a:ext>
                </a:extLst>
              </a:tr>
              <a:tr h="196164">
                <a:tc>
                  <a:txBody>
                    <a:bodyPr/>
                    <a:lstStyle/>
                    <a:p>
                      <a:pPr algn="l" fontAlgn="b"/>
                      <a:r>
                        <a:rPr lang="en-US" sz="1400" b="0" i="0" u="none" strike="noStrike">
                          <a:solidFill>
                            <a:srgbClr val="000000"/>
                          </a:solidFill>
                          <a:effectLst/>
                          <a:latin typeface="Calibri" panose="020F0502020204030204" pitchFamily="34" charset="0"/>
                        </a:rPr>
                        <a:t>By decreasing the cost of food items</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721812460"/>
                  </a:ext>
                </a:extLst>
              </a:tr>
              <a:tr h="383945">
                <a:tc>
                  <a:txBody>
                    <a:bodyPr/>
                    <a:lstStyle/>
                    <a:p>
                      <a:pPr algn="l" fontAlgn="b"/>
                      <a:r>
                        <a:rPr lang="en-US" sz="1400" b="0" i="0" u="none" strike="noStrike" dirty="0">
                          <a:solidFill>
                            <a:srgbClr val="000000"/>
                          </a:solidFill>
                          <a:effectLst/>
                          <a:latin typeface="Calibri" panose="020F0502020204030204" pitchFamily="34" charset="0"/>
                        </a:rPr>
                        <a:t>The government should look into building more schools</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3892419785"/>
                  </a:ext>
                </a:extLst>
              </a:tr>
              <a:tr h="383945">
                <a:tc>
                  <a:txBody>
                    <a:bodyPr/>
                    <a:lstStyle/>
                    <a:p>
                      <a:pPr algn="l" fontAlgn="b"/>
                      <a:r>
                        <a:rPr lang="en-US" sz="1400" b="0" i="0" u="none" strike="noStrike">
                          <a:solidFill>
                            <a:srgbClr val="000000"/>
                          </a:solidFill>
                          <a:effectLst/>
                          <a:latin typeface="Calibri" panose="020F0502020204030204" pitchFamily="34" charset="0"/>
                        </a:rPr>
                        <a:t>Invest more in the health care sector of this country</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6%</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798974195"/>
                  </a:ext>
                </a:extLst>
              </a:tr>
              <a:tr h="196164">
                <a:tc>
                  <a:txBody>
                    <a:bodyPr/>
                    <a:lstStyle/>
                    <a:p>
                      <a:pPr algn="l" fontAlgn="b"/>
                      <a:r>
                        <a:rPr lang="en-GB" sz="1400" b="0" i="0" u="none" strike="noStrike">
                          <a:solidFill>
                            <a:srgbClr val="000000"/>
                          </a:solidFill>
                          <a:effectLst/>
                          <a:latin typeface="Calibri" panose="020F0502020204030204" pitchFamily="34" charset="0"/>
                        </a:rPr>
                        <a:t>Provide jobs</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6%</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9%</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4%</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1978354940"/>
                  </a:ext>
                </a:extLst>
              </a:tr>
              <a:tr h="383945">
                <a:tc>
                  <a:txBody>
                    <a:bodyPr/>
                    <a:lstStyle/>
                    <a:p>
                      <a:pPr algn="l" fontAlgn="b"/>
                      <a:r>
                        <a:rPr lang="en-US" sz="1400" b="0" i="0" u="none" strike="noStrike">
                          <a:solidFill>
                            <a:srgbClr val="000000"/>
                          </a:solidFill>
                          <a:effectLst/>
                          <a:latin typeface="Calibri" panose="020F0502020204030204" pitchFamily="34" charset="0"/>
                        </a:rPr>
                        <a:t>They should  have  compassion for one another</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8%</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2%</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2642635573"/>
                  </a:ext>
                </a:extLst>
              </a:tr>
              <a:tr h="196164">
                <a:tc>
                  <a:txBody>
                    <a:bodyPr/>
                    <a:lstStyle/>
                    <a:p>
                      <a:pPr algn="l" fontAlgn="b"/>
                      <a:r>
                        <a:rPr lang="en-US" sz="1400" b="0" i="0" u="none" strike="noStrike">
                          <a:solidFill>
                            <a:srgbClr val="000000"/>
                          </a:solidFill>
                          <a:effectLst/>
                          <a:latin typeface="Calibri" panose="020F0502020204030204" pitchFamily="34" charset="0"/>
                        </a:rPr>
                        <a:t>They should reduce the price of food stuff</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b">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1%</a:t>
                      </a:r>
                    </a:p>
                  </a:txBody>
                  <a:tcPr marL="9525" marR="9525" marT="9525" marB="0" anchor="b">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3480748542"/>
                  </a:ext>
                </a:extLst>
              </a:tr>
            </a:tbl>
          </a:graphicData>
        </a:graphic>
      </p:graphicFrame>
    </p:spTree>
    <p:extLst>
      <p:ext uri="{BB962C8B-B14F-4D97-AF65-F5344CB8AC3E}">
        <p14:creationId xmlns:p14="http://schemas.microsoft.com/office/powerpoint/2010/main" val="136186098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Q612 What’s the most effective way to address the challenges facing this State?</a:t>
            </a:r>
            <a:endParaRPr lang="en-US" sz="1000" dirty="0">
              <a:latin typeface="Book Antiqua" panose="02040602050305030304" pitchFamily="18" charset="0"/>
            </a:endParaRPr>
          </a:p>
        </p:txBody>
      </p:sp>
      <p:sp>
        <p:nvSpPr>
          <p:cNvPr id="5" name="TextBox 4">
            <a:extLst>
              <a:ext uri="{FF2B5EF4-FFF2-40B4-BE49-F238E27FC236}">
                <a16:creationId xmlns:a16="http://schemas.microsoft.com/office/drawing/2014/main" id="{55F5642B-83A0-CD7B-E2BA-8E492D002397}"/>
              </a:ext>
            </a:extLst>
          </p:cNvPr>
          <p:cNvSpPr txBox="1"/>
          <p:nvPr/>
        </p:nvSpPr>
        <p:spPr>
          <a:xfrm>
            <a:off x="312990" y="119838"/>
            <a:ext cx="8619137"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Addressing the challenges facing the State</a:t>
            </a:r>
            <a:endParaRPr kumimoji="0" lang="en-US" sz="2000"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endParaRPr>
          </a:p>
        </p:txBody>
      </p:sp>
      <p:sp>
        <p:nvSpPr>
          <p:cNvPr id="7" name="TextBox 6">
            <a:extLst>
              <a:ext uri="{FF2B5EF4-FFF2-40B4-BE49-F238E27FC236}">
                <a16:creationId xmlns:a16="http://schemas.microsoft.com/office/drawing/2014/main" id="{24EE3164-36BE-1169-158F-AC5F91216B94}"/>
              </a:ext>
            </a:extLst>
          </p:cNvPr>
          <p:cNvSpPr txBox="1"/>
          <p:nvPr/>
        </p:nvSpPr>
        <p:spPr>
          <a:xfrm>
            <a:off x="331302" y="564230"/>
            <a:ext cx="11714923" cy="738664"/>
          </a:xfrm>
          <a:prstGeom prst="rect">
            <a:avLst/>
          </a:prstGeom>
          <a:noFill/>
        </p:spPr>
        <p:txBody>
          <a:bodyPr wrap="square">
            <a:spAutoFit/>
          </a:bodyPr>
          <a:lstStyle/>
          <a:p>
            <a:pPr lvl="0" algn="just">
              <a:defRPr/>
            </a:pPr>
            <a:r>
              <a:rPr lang="en-US" sz="1400" b="1" dirty="0">
                <a:solidFill>
                  <a:srgbClr val="0070C0"/>
                </a:solidFill>
                <a:latin typeface="Book Antiqua" panose="02040602050305030304" pitchFamily="18" charset="0"/>
                <a:ea typeface="Arial Unicode MS"/>
              </a:rPr>
              <a:t>Creating job opportunities (18%) and security improvement (13%) are the main solutions to addressing the challenges facing the state. Others include: Good leadership (9%), decreasing the cost of food items (9%), good government that will help the poor (7%), improve on the light issues (7%), and Reduce the price of foodstuff (7%).</a:t>
            </a:r>
          </a:p>
        </p:txBody>
      </p:sp>
      <p:graphicFrame>
        <p:nvGraphicFramePr>
          <p:cNvPr id="9" name="Table 8">
            <a:extLst>
              <a:ext uri="{FF2B5EF4-FFF2-40B4-BE49-F238E27FC236}">
                <a16:creationId xmlns:a16="http://schemas.microsoft.com/office/drawing/2014/main" id="{3E390FF0-39FC-4DA4-B151-BD1CE7D5240C}"/>
              </a:ext>
            </a:extLst>
          </p:cNvPr>
          <p:cNvGraphicFramePr>
            <a:graphicFrameLocks noGrp="1"/>
          </p:cNvGraphicFramePr>
          <p:nvPr>
            <p:extLst>
              <p:ext uri="{D42A27DB-BD31-4B8C-83A1-F6EECF244321}">
                <p14:modId xmlns:p14="http://schemas.microsoft.com/office/powerpoint/2010/main" val="1043760004"/>
              </p:ext>
            </p:extLst>
          </p:nvPr>
        </p:nvGraphicFramePr>
        <p:xfrm>
          <a:off x="434898" y="1319674"/>
          <a:ext cx="11273885" cy="4652010"/>
        </p:xfrm>
        <a:graphic>
          <a:graphicData uri="http://schemas.openxmlformats.org/drawingml/2006/table">
            <a:tbl>
              <a:tblPr>
                <a:tableStyleId>{5A111915-BE36-4E01-A7E5-04B1672EAD32}</a:tableStyleId>
              </a:tblPr>
              <a:tblGrid>
                <a:gridCol w="3456878">
                  <a:extLst>
                    <a:ext uri="{9D8B030D-6E8A-4147-A177-3AD203B41FA5}">
                      <a16:colId xmlns:a16="http://schemas.microsoft.com/office/drawing/2014/main" val="2939921072"/>
                    </a:ext>
                  </a:extLst>
                </a:gridCol>
                <a:gridCol w="710637">
                  <a:extLst>
                    <a:ext uri="{9D8B030D-6E8A-4147-A177-3AD203B41FA5}">
                      <a16:colId xmlns:a16="http://schemas.microsoft.com/office/drawing/2014/main" val="240042294"/>
                    </a:ext>
                  </a:extLst>
                </a:gridCol>
                <a:gridCol w="710637">
                  <a:extLst>
                    <a:ext uri="{9D8B030D-6E8A-4147-A177-3AD203B41FA5}">
                      <a16:colId xmlns:a16="http://schemas.microsoft.com/office/drawing/2014/main" val="1471018050"/>
                    </a:ext>
                  </a:extLst>
                </a:gridCol>
                <a:gridCol w="710637">
                  <a:extLst>
                    <a:ext uri="{9D8B030D-6E8A-4147-A177-3AD203B41FA5}">
                      <a16:colId xmlns:a16="http://schemas.microsoft.com/office/drawing/2014/main" val="2631900519"/>
                    </a:ext>
                  </a:extLst>
                </a:gridCol>
                <a:gridCol w="710637">
                  <a:extLst>
                    <a:ext uri="{9D8B030D-6E8A-4147-A177-3AD203B41FA5}">
                      <a16:colId xmlns:a16="http://schemas.microsoft.com/office/drawing/2014/main" val="3445961416"/>
                    </a:ext>
                  </a:extLst>
                </a:gridCol>
                <a:gridCol w="710637">
                  <a:extLst>
                    <a:ext uri="{9D8B030D-6E8A-4147-A177-3AD203B41FA5}">
                      <a16:colId xmlns:a16="http://schemas.microsoft.com/office/drawing/2014/main" val="1157888105"/>
                    </a:ext>
                  </a:extLst>
                </a:gridCol>
                <a:gridCol w="710637">
                  <a:extLst>
                    <a:ext uri="{9D8B030D-6E8A-4147-A177-3AD203B41FA5}">
                      <a16:colId xmlns:a16="http://schemas.microsoft.com/office/drawing/2014/main" val="542496135"/>
                    </a:ext>
                  </a:extLst>
                </a:gridCol>
                <a:gridCol w="710637">
                  <a:extLst>
                    <a:ext uri="{9D8B030D-6E8A-4147-A177-3AD203B41FA5}">
                      <a16:colId xmlns:a16="http://schemas.microsoft.com/office/drawing/2014/main" val="2908582105"/>
                    </a:ext>
                  </a:extLst>
                </a:gridCol>
                <a:gridCol w="710637">
                  <a:extLst>
                    <a:ext uri="{9D8B030D-6E8A-4147-A177-3AD203B41FA5}">
                      <a16:colId xmlns:a16="http://schemas.microsoft.com/office/drawing/2014/main" val="1141895410"/>
                    </a:ext>
                  </a:extLst>
                </a:gridCol>
                <a:gridCol w="710637">
                  <a:extLst>
                    <a:ext uri="{9D8B030D-6E8A-4147-A177-3AD203B41FA5}">
                      <a16:colId xmlns:a16="http://schemas.microsoft.com/office/drawing/2014/main" val="2088834717"/>
                    </a:ext>
                  </a:extLst>
                </a:gridCol>
                <a:gridCol w="710637">
                  <a:extLst>
                    <a:ext uri="{9D8B030D-6E8A-4147-A177-3AD203B41FA5}">
                      <a16:colId xmlns:a16="http://schemas.microsoft.com/office/drawing/2014/main" val="2450593191"/>
                    </a:ext>
                  </a:extLst>
                </a:gridCol>
                <a:gridCol w="710637">
                  <a:extLst>
                    <a:ext uri="{9D8B030D-6E8A-4147-A177-3AD203B41FA5}">
                      <a16:colId xmlns:a16="http://schemas.microsoft.com/office/drawing/2014/main" val="1571396105"/>
                    </a:ext>
                  </a:extLst>
                </a:gridCol>
              </a:tblGrid>
              <a:tr h="197645">
                <a:tc>
                  <a:txBody>
                    <a:bodyPr/>
                    <a:lstStyle/>
                    <a:p>
                      <a:pPr algn="ctr" fontAlgn="b"/>
                      <a:endParaRPr lang="en-GB" sz="14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chemeClr val="bg1"/>
                      </a:solidFill>
                      <a:prstDash val="solid"/>
                      <a:round/>
                      <a:headEnd type="none" w="med" len="med"/>
                      <a:tailEnd type="none" w="med" len="med"/>
                    </a:lnL>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dirty="0">
                          <a:solidFill>
                            <a:schemeClr val="bg1"/>
                          </a:solidFill>
                          <a:effectLst/>
                          <a:latin typeface="Calibri" panose="020F0502020204030204" pitchFamily="34" charset="0"/>
                        </a:rPr>
                        <a:t>Total</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Male</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Female</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FCT</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Bauchi</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D9286C"/>
                    </a:solidFill>
                  </a:tcPr>
                </a:tc>
                <a:tc>
                  <a:txBody>
                    <a:bodyPr/>
                    <a:lstStyle/>
                    <a:p>
                      <a:pPr algn="ctr" fontAlgn="b"/>
                      <a:r>
                        <a:rPr lang="en-GB" sz="1400" b="1" i="0" u="none" strike="noStrike">
                          <a:solidFill>
                            <a:schemeClr val="bg1"/>
                          </a:solidFill>
                          <a:effectLst/>
                          <a:latin typeface="Calibri" panose="020F0502020204030204" pitchFamily="34" charset="0"/>
                        </a:rPr>
                        <a:t>Kano</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Enugu</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Edo</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Lagos</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Urban</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Rural</a:t>
                      </a:r>
                    </a:p>
                  </a:txBody>
                  <a:tcPr marL="9525" marR="9525" marT="9525" marB="0" anchor="ctr">
                    <a:lnR w="127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D9286C"/>
                    </a:solidFill>
                  </a:tcPr>
                </a:tc>
                <a:extLst>
                  <a:ext uri="{0D108BD9-81ED-4DB2-BD59-A6C34878D82A}">
                    <a16:rowId xmlns:a16="http://schemas.microsoft.com/office/drawing/2014/main" val="1524205756"/>
                  </a:ext>
                </a:extLst>
              </a:tr>
              <a:tr h="197645">
                <a:tc>
                  <a:txBody>
                    <a:bodyPr/>
                    <a:lstStyle/>
                    <a:p>
                      <a:pPr algn="ctr" fontAlgn="b"/>
                      <a:r>
                        <a:rPr lang="en-GB" sz="1400" b="1" i="0" u="none" strike="noStrike" dirty="0">
                          <a:solidFill>
                            <a:srgbClr val="000000"/>
                          </a:solidFill>
                          <a:effectLst/>
                          <a:latin typeface="Calibri" panose="020F0502020204030204" pitchFamily="34" charset="0"/>
                        </a:rPr>
                        <a:t>Total</a:t>
                      </a:r>
                    </a:p>
                  </a:txBody>
                  <a:tcPr marL="9525" marR="9525" marT="9525" marB="0" anchor="ctr">
                    <a:lnL w="38100" cap="flat" cmpd="sng" algn="ctr">
                      <a:solidFill>
                        <a:schemeClr val="bg1"/>
                      </a:solidFill>
                      <a:prstDash val="solid"/>
                      <a:round/>
                      <a:headEnd type="none" w="med" len="med"/>
                      <a:tailEnd type="none" w="med" len="med"/>
                    </a:lnL>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dirty="0">
                          <a:solidFill>
                            <a:schemeClr val="bg1"/>
                          </a:solidFill>
                          <a:effectLst/>
                          <a:latin typeface="Calibri" panose="020F0502020204030204" pitchFamily="34" charset="0"/>
                        </a:rPr>
                        <a:t>1456</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681</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775</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170</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290</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284</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1" i="0" u="none" strike="noStrike">
                          <a:solidFill>
                            <a:schemeClr val="bg1"/>
                          </a:solidFill>
                          <a:effectLst/>
                          <a:latin typeface="Calibri" panose="020F0502020204030204" pitchFamily="34" charset="0"/>
                        </a:rPr>
                        <a:t>210</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1" i="0" u="none" strike="noStrike">
                          <a:solidFill>
                            <a:schemeClr val="bg1"/>
                          </a:solidFill>
                          <a:effectLst/>
                          <a:latin typeface="Calibri" panose="020F0502020204030204" pitchFamily="34" charset="0"/>
                        </a:rPr>
                        <a:t>158</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1" i="0" u="none" strike="noStrike">
                          <a:solidFill>
                            <a:schemeClr val="bg1"/>
                          </a:solidFill>
                          <a:effectLst/>
                          <a:latin typeface="Calibri" panose="020F0502020204030204" pitchFamily="34" charset="0"/>
                        </a:rPr>
                        <a:t>344</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937</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519</a:t>
                      </a:r>
                    </a:p>
                  </a:txBody>
                  <a:tcPr marL="9525" marR="9525" marT="9525" marB="0" anchor="ctr">
                    <a:lnR w="127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3795218639"/>
                  </a:ext>
                </a:extLst>
              </a:tr>
              <a:tr h="197645">
                <a:tc>
                  <a:txBody>
                    <a:bodyPr/>
                    <a:lstStyle/>
                    <a:p>
                      <a:pPr algn="l" fontAlgn="b"/>
                      <a:r>
                        <a:rPr lang="en-GB" sz="1400" b="0" i="0" u="none" strike="noStrike" dirty="0">
                          <a:solidFill>
                            <a:srgbClr val="000000"/>
                          </a:solidFill>
                          <a:effectLst/>
                          <a:latin typeface="Calibri" panose="020F0502020204030204" pitchFamily="34" charset="0"/>
                        </a:rPr>
                        <a:t>Create job opportunities</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chemeClr val="bg1"/>
                          </a:solidFill>
                          <a:effectLst/>
                          <a:latin typeface="Calibri" panose="020F0502020204030204" pitchFamily="34" charset="0"/>
                        </a:rPr>
                        <a:t>18%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20%</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363113347"/>
                  </a:ext>
                </a:extLst>
              </a:tr>
              <a:tr h="197645">
                <a:tc>
                  <a:txBody>
                    <a:bodyPr/>
                    <a:lstStyle/>
                    <a:p>
                      <a:pPr algn="l" fontAlgn="b"/>
                      <a:r>
                        <a:rPr lang="en-US" sz="1400" b="0" i="0" u="none" strike="noStrike">
                          <a:solidFill>
                            <a:srgbClr val="000000"/>
                          </a:solidFill>
                          <a:effectLst/>
                          <a:latin typeface="Calibri" panose="020F0502020204030204" pitchFamily="34" charset="0"/>
                        </a:rPr>
                        <a:t>The government should make security better</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chemeClr val="bg1"/>
                          </a:solidFill>
                          <a:effectLst/>
                          <a:latin typeface="Calibri" panose="020F0502020204030204" pitchFamily="34" charset="0"/>
                        </a:rPr>
                        <a:t>13%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15%</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13%</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961129753"/>
                  </a:ext>
                </a:extLst>
              </a:tr>
              <a:tr h="197645">
                <a:tc>
                  <a:txBody>
                    <a:bodyPr/>
                    <a:lstStyle/>
                    <a:p>
                      <a:pPr algn="l" fontAlgn="b"/>
                      <a:r>
                        <a:rPr lang="en-GB" sz="1400" b="0" i="0" u="none" strike="noStrike" dirty="0">
                          <a:solidFill>
                            <a:srgbClr val="000000"/>
                          </a:solidFill>
                          <a:effectLst/>
                          <a:latin typeface="Calibri" panose="020F0502020204030204" pitchFamily="34" charset="0"/>
                        </a:rPr>
                        <a:t>Good leadership</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9%</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9%</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9%</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19%</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9%</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8%</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1633909250"/>
                  </a:ext>
                </a:extLst>
              </a:tr>
              <a:tr h="197645">
                <a:tc>
                  <a:txBody>
                    <a:bodyPr/>
                    <a:lstStyle/>
                    <a:p>
                      <a:pPr algn="l" fontAlgn="b"/>
                      <a:r>
                        <a:rPr lang="en-US" sz="1400" b="0" i="0" u="none" strike="noStrike">
                          <a:solidFill>
                            <a:srgbClr val="000000"/>
                          </a:solidFill>
                          <a:effectLst/>
                          <a:latin typeface="Calibri" panose="020F0502020204030204" pitchFamily="34" charset="0"/>
                        </a:rPr>
                        <a:t>By decreasing the cost of food items</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9%</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9%</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2056368829"/>
                  </a:ext>
                </a:extLst>
              </a:tr>
              <a:tr h="386843">
                <a:tc>
                  <a:txBody>
                    <a:bodyPr/>
                    <a:lstStyle/>
                    <a:p>
                      <a:pPr algn="l" fontAlgn="b"/>
                      <a:r>
                        <a:rPr lang="en-US" sz="1400" b="0" i="0" u="none" strike="noStrike" dirty="0">
                          <a:solidFill>
                            <a:srgbClr val="000000"/>
                          </a:solidFill>
                          <a:effectLst/>
                          <a:latin typeface="Calibri" panose="020F0502020204030204" pitchFamily="34" charset="0"/>
                        </a:rPr>
                        <a:t>Let have good government that will help the poor</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chemeClr val="bg1"/>
                          </a:solidFill>
                          <a:effectLst/>
                          <a:latin typeface="Calibri" panose="020F0502020204030204" pitchFamily="34" charset="0"/>
                        </a:rPr>
                        <a:t>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27%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8%</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2578956404"/>
                  </a:ext>
                </a:extLst>
              </a:tr>
              <a:tr h="197645">
                <a:tc>
                  <a:txBody>
                    <a:bodyPr/>
                    <a:lstStyle/>
                    <a:p>
                      <a:pPr algn="l" fontAlgn="b"/>
                      <a:r>
                        <a:rPr lang="en-US" sz="1400" b="0" i="0" u="none" strike="noStrike">
                          <a:solidFill>
                            <a:srgbClr val="000000"/>
                          </a:solidFill>
                          <a:effectLst/>
                          <a:latin typeface="Calibri" panose="020F0502020204030204" pitchFamily="34" charset="0"/>
                        </a:rPr>
                        <a:t>They should improve on the light issues</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1537374605"/>
                  </a:ext>
                </a:extLst>
              </a:tr>
              <a:tr h="197645">
                <a:tc>
                  <a:txBody>
                    <a:bodyPr/>
                    <a:lstStyle/>
                    <a:p>
                      <a:pPr algn="l" fontAlgn="b"/>
                      <a:r>
                        <a:rPr lang="en-US" sz="1400" b="0" i="0" u="none" strike="noStrike">
                          <a:solidFill>
                            <a:srgbClr val="000000"/>
                          </a:solidFill>
                          <a:effectLst/>
                          <a:latin typeface="Calibri" panose="020F0502020204030204" pitchFamily="34" charset="0"/>
                        </a:rPr>
                        <a:t>Reduce the price of foodstuff</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3682100894"/>
                  </a:ext>
                </a:extLst>
              </a:tr>
              <a:tr h="197645">
                <a:tc>
                  <a:txBody>
                    <a:bodyPr/>
                    <a:lstStyle/>
                    <a:p>
                      <a:pPr algn="l" fontAlgn="b"/>
                      <a:r>
                        <a:rPr lang="en-GB" sz="1400" b="0" i="0" u="none" strike="noStrike">
                          <a:solidFill>
                            <a:srgbClr val="000000"/>
                          </a:solidFill>
                          <a:effectLst/>
                          <a:latin typeface="Calibri" panose="020F0502020204030204" pitchFamily="34" charset="0"/>
                        </a:rPr>
                        <a:t>Provide adequate amenities</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17%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9%</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4177927266"/>
                  </a:ext>
                </a:extLst>
              </a:tr>
              <a:tr h="197645">
                <a:tc>
                  <a:txBody>
                    <a:bodyPr/>
                    <a:lstStyle/>
                    <a:p>
                      <a:pPr algn="l" fontAlgn="b"/>
                      <a:r>
                        <a:rPr lang="en-GB" sz="1400" b="0" i="0" u="none" strike="noStrike">
                          <a:solidFill>
                            <a:srgbClr val="000000"/>
                          </a:solidFill>
                          <a:effectLst/>
                          <a:latin typeface="Calibri" panose="020F0502020204030204" pitchFamily="34" charset="0"/>
                        </a:rPr>
                        <a:t>Build Good Roads</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1131871430"/>
                  </a:ext>
                </a:extLst>
              </a:tr>
              <a:tr h="197645">
                <a:tc>
                  <a:txBody>
                    <a:bodyPr/>
                    <a:lstStyle/>
                    <a:p>
                      <a:pPr algn="l" fontAlgn="b"/>
                      <a:r>
                        <a:rPr lang="en-GB" sz="1400" b="0" i="0" u="none" strike="noStrike">
                          <a:solidFill>
                            <a:srgbClr val="000000"/>
                          </a:solidFill>
                          <a:effectLst/>
                          <a:latin typeface="Calibri" panose="020F0502020204030204" pitchFamily="34" charset="0"/>
                        </a:rPr>
                        <a:t>Build Good Roads</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1026452769"/>
                  </a:ext>
                </a:extLst>
              </a:tr>
              <a:tr h="197645">
                <a:tc>
                  <a:txBody>
                    <a:bodyPr/>
                    <a:lstStyle/>
                    <a:p>
                      <a:pPr algn="l" fontAlgn="b"/>
                      <a:r>
                        <a:rPr lang="en-US" sz="1400" b="0" i="0" u="none" strike="noStrike">
                          <a:solidFill>
                            <a:srgbClr val="000000"/>
                          </a:solidFill>
                          <a:effectLst/>
                          <a:latin typeface="Calibri" panose="020F0502020204030204" pitchFamily="34" charset="0"/>
                        </a:rPr>
                        <a:t>Let them make right decision</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721812460"/>
                  </a:ext>
                </a:extLst>
              </a:tr>
              <a:tr h="197645">
                <a:tc>
                  <a:txBody>
                    <a:bodyPr/>
                    <a:lstStyle/>
                    <a:p>
                      <a:pPr algn="l" fontAlgn="b"/>
                      <a:r>
                        <a:rPr lang="en-GB" sz="1400" b="0" i="0" u="none" strike="noStrike">
                          <a:solidFill>
                            <a:srgbClr val="000000"/>
                          </a:solidFill>
                          <a:effectLst/>
                          <a:latin typeface="Calibri" panose="020F0502020204030204" pitchFamily="34" charset="0"/>
                        </a:rPr>
                        <a:t>Provide jobs</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5%</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3892419785"/>
                  </a:ext>
                </a:extLst>
              </a:tr>
              <a:tr h="197645">
                <a:tc>
                  <a:txBody>
                    <a:bodyPr/>
                    <a:lstStyle/>
                    <a:p>
                      <a:pPr algn="l" fontAlgn="b"/>
                      <a:r>
                        <a:rPr lang="en-US" sz="1400" b="0" i="0" u="none" strike="noStrike">
                          <a:solidFill>
                            <a:srgbClr val="000000"/>
                          </a:solidFill>
                          <a:effectLst/>
                          <a:latin typeface="Calibri" panose="020F0502020204030204" pitchFamily="34" charset="0"/>
                        </a:rPr>
                        <a:t>They should  have  compassion for one another</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11%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798974195"/>
                  </a:ext>
                </a:extLst>
              </a:tr>
              <a:tr h="386843">
                <a:tc>
                  <a:txBody>
                    <a:bodyPr/>
                    <a:lstStyle/>
                    <a:p>
                      <a:pPr algn="l" fontAlgn="b"/>
                      <a:r>
                        <a:rPr lang="en-US" sz="1400" b="0" i="0" u="none" strike="noStrike">
                          <a:solidFill>
                            <a:srgbClr val="000000"/>
                          </a:solidFill>
                          <a:effectLst/>
                          <a:latin typeface="Calibri" panose="020F0502020204030204" pitchFamily="34" charset="0"/>
                        </a:rPr>
                        <a:t>The government should look into building more schools</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2%</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1978354940"/>
                  </a:ext>
                </a:extLst>
              </a:tr>
              <a:tr h="197645">
                <a:tc>
                  <a:txBody>
                    <a:bodyPr/>
                    <a:lstStyle/>
                    <a:p>
                      <a:pPr algn="l" fontAlgn="b"/>
                      <a:r>
                        <a:rPr lang="en-US" sz="1400" b="0" i="0" u="none" strike="noStrike">
                          <a:solidFill>
                            <a:srgbClr val="000000"/>
                          </a:solidFill>
                          <a:effectLst/>
                          <a:latin typeface="Calibri" panose="020F0502020204030204" pitchFamily="34" charset="0"/>
                        </a:rPr>
                        <a:t>They should reduce the price of food stuff</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2%</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2642635573"/>
                  </a:ext>
                </a:extLst>
              </a:tr>
              <a:tr h="386843">
                <a:tc>
                  <a:txBody>
                    <a:bodyPr/>
                    <a:lstStyle/>
                    <a:p>
                      <a:pPr algn="l" fontAlgn="b"/>
                      <a:r>
                        <a:rPr lang="en-US" sz="1400" b="0" i="0" u="none" strike="noStrike">
                          <a:solidFill>
                            <a:srgbClr val="000000"/>
                          </a:solidFill>
                          <a:effectLst/>
                          <a:latin typeface="Calibri" panose="020F0502020204030204" pitchFamily="34" charset="0"/>
                        </a:rPr>
                        <a:t>Invest more in the health care sector of this country</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1%</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3480748542"/>
                  </a:ext>
                </a:extLst>
              </a:tr>
            </a:tbl>
          </a:graphicData>
        </a:graphic>
      </p:graphicFrame>
    </p:spTree>
    <p:extLst>
      <p:ext uri="{BB962C8B-B14F-4D97-AF65-F5344CB8AC3E}">
        <p14:creationId xmlns:p14="http://schemas.microsoft.com/office/powerpoint/2010/main" val="399631043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Q613 What’s the most effective way to address the challenges facing this Country?</a:t>
            </a:r>
            <a:endParaRPr lang="en-US" sz="1000" dirty="0">
              <a:latin typeface="Book Antiqua" panose="02040602050305030304" pitchFamily="18" charset="0"/>
            </a:endParaRPr>
          </a:p>
        </p:txBody>
      </p:sp>
      <p:sp>
        <p:nvSpPr>
          <p:cNvPr id="5" name="TextBox 4">
            <a:extLst>
              <a:ext uri="{FF2B5EF4-FFF2-40B4-BE49-F238E27FC236}">
                <a16:creationId xmlns:a16="http://schemas.microsoft.com/office/drawing/2014/main" id="{55F5642B-83A0-CD7B-E2BA-8E492D002397}"/>
              </a:ext>
            </a:extLst>
          </p:cNvPr>
          <p:cNvSpPr txBox="1"/>
          <p:nvPr/>
        </p:nvSpPr>
        <p:spPr>
          <a:xfrm>
            <a:off x="312990" y="119838"/>
            <a:ext cx="8619137"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Addressing the challenges facing the Country</a:t>
            </a:r>
            <a:endParaRPr kumimoji="0" lang="en-US" sz="2000"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endParaRPr>
          </a:p>
        </p:txBody>
      </p:sp>
      <p:sp>
        <p:nvSpPr>
          <p:cNvPr id="7" name="TextBox 6">
            <a:extLst>
              <a:ext uri="{FF2B5EF4-FFF2-40B4-BE49-F238E27FC236}">
                <a16:creationId xmlns:a16="http://schemas.microsoft.com/office/drawing/2014/main" id="{24EE3164-36BE-1169-158F-AC5F91216B94}"/>
              </a:ext>
            </a:extLst>
          </p:cNvPr>
          <p:cNvSpPr txBox="1"/>
          <p:nvPr/>
        </p:nvSpPr>
        <p:spPr>
          <a:xfrm>
            <a:off x="331302" y="642287"/>
            <a:ext cx="11714923" cy="523220"/>
          </a:xfrm>
          <a:prstGeom prst="rect">
            <a:avLst/>
          </a:prstGeom>
          <a:noFill/>
        </p:spPr>
        <p:txBody>
          <a:bodyPr wrap="square">
            <a:spAutoFit/>
          </a:bodyPr>
          <a:lstStyle/>
          <a:p>
            <a:pPr lvl="0">
              <a:defRPr/>
            </a:pPr>
            <a:r>
              <a:rPr lang="en-US" sz="1400" b="1" dirty="0">
                <a:solidFill>
                  <a:srgbClr val="0070C0"/>
                </a:solidFill>
                <a:latin typeface="Book Antiqua" panose="02040602050305030304" pitchFamily="18" charset="0"/>
                <a:ea typeface="Arial Unicode MS"/>
              </a:rPr>
              <a:t>Suggested solutions to addressing the myriad of menaces facing the country include: improvement in security (24%), reducing the price of foodstuffs (18%), creating job opportunities (18%), and good leadership (13%).</a:t>
            </a:r>
          </a:p>
        </p:txBody>
      </p:sp>
      <p:graphicFrame>
        <p:nvGraphicFramePr>
          <p:cNvPr id="9" name="Table 8">
            <a:extLst>
              <a:ext uri="{FF2B5EF4-FFF2-40B4-BE49-F238E27FC236}">
                <a16:creationId xmlns:a16="http://schemas.microsoft.com/office/drawing/2014/main" id="{3E390FF0-39FC-4DA4-B151-BD1CE7D5240C}"/>
              </a:ext>
            </a:extLst>
          </p:cNvPr>
          <p:cNvGraphicFramePr>
            <a:graphicFrameLocks noGrp="1"/>
          </p:cNvGraphicFramePr>
          <p:nvPr>
            <p:extLst>
              <p:ext uri="{D42A27DB-BD31-4B8C-83A1-F6EECF244321}">
                <p14:modId xmlns:p14="http://schemas.microsoft.com/office/powerpoint/2010/main" val="2443902415"/>
              </p:ext>
            </p:extLst>
          </p:nvPr>
        </p:nvGraphicFramePr>
        <p:xfrm>
          <a:off x="434898" y="1319676"/>
          <a:ext cx="11273885" cy="4655893"/>
        </p:xfrm>
        <a:graphic>
          <a:graphicData uri="http://schemas.openxmlformats.org/drawingml/2006/table">
            <a:tbl>
              <a:tblPr>
                <a:tableStyleId>{5A111915-BE36-4E01-A7E5-04B1672EAD32}</a:tableStyleId>
              </a:tblPr>
              <a:tblGrid>
                <a:gridCol w="3456878">
                  <a:extLst>
                    <a:ext uri="{9D8B030D-6E8A-4147-A177-3AD203B41FA5}">
                      <a16:colId xmlns:a16="http://schemas.microsoft.com/office/drawing/2014/main" val="2939921072"/>
                    </a:ext>
                  </a:extLst>
                </a:gridCol>
                <a:gridCol w="710637">
                  <a:extLst>
                    <a:ext uri="{9D8B030D-6E8A-4147-A177-3AD203B41FA5}">
                      <a16:colId xmlns:a16="http://schemas.microsoft.com/office/drawing/2014/main" val="240042294"/>
                    </a:ext>
                  </a:extLst>
                </a:gridCol>
                <a:gridCol w="710637">
                  <a:extLst>
                    <a:ext uri="{9D8B030D-6E8A-4147-A177-3AD203B41FA5}">
                      <a16:colId xmlns:a16="http://schemas.microsoft.com/office/drawing/2014/main" val="1471018050"/>
                    </a:ext>
                  </a:extLst>
                </a:gridCol>
                <a:gridCol w="710637">
                  <a:extLst>
                    <a:ext uri="{9D8B030D-6E8A-4147-A177-3AD203B41FA5}">
                      <a16:colId xmlns:a16="http://schemas.microsoft.com/office/drawing/2014/main" val="2631900519"/>
                    </a:ext>
                  </a:extLst>
                </a:gridCol>
                <a:gridCol w="710637">
                  <a:extLst>
                    <a:ext uri="{9D8B030D-6E8A-4147-A177-3AD203B41FA5}">
                      <a16:colId xmlns:a16="http://schemas.microsoft.com/office/drawing/2014/main" val="3445961416"/>
                    </a:ext>
                  </a:extLst>
                </a:gridCol>
                <a:gridCol w="710637">
                  <a:extLst>
                    <a:ext uri="{9D8B030D-6E8A-4147-A177-3AD203B41FA5}">
                      <a16:colId xmlns:a16="http://schemas.microsoft.com/office/drawing/2014/main" val="1157888105"/>
                    </a:ext>
                  </a:extLst>
                </a:gridCol>
                <a:gridCol w="710637">
                  <a:extLst>
                    <a:ext uri="{9D8B030D-6E8A-4147-A177-3AD203B41FA5}">
                      <a16:colId xmlns:a16="http://schemas.microsoft.com/office/drawing/2014/main" val="542496135"/>
                    </a:ext>
                  </a:extLst>
                </a:gridCol>
                <a:gridCol w="710637">
                  <a:extLst>
                    <a:ext uri="{9D8B030D-6E8A-4147-A177-3AD203B41FA5}">
                      <a16:colId xmlns:a16="http://schemas.microsoft.com/office/drawing/2014/main" val="2908582105"/>
                    </a:ext>
                  </a:extLst>
                </a:gridCol>
                <a:gridCol w="710637">
                  <a:extLst>
                    <a:ext uri="{9D8B030D-6E8A-4147-A177-3AD203B41FA5}">
                      <a16:colId xmlns:a16="http://schemas.microsoft.com/office/drawing/2014/main" val="1141895410"/>
                    </a:ext>
                  </a:extLst>
                </a:gridCol>
                <a:gridCol w="710637">
                  <a:extLst>
                    <a:ext uri="{9D8B030D-6E8A-4147-A177-3AD203B41FA5}">
                      <a16:colId xmlns:a16="http://schemas.microsoft.com/office/drawing/2014/main" val="2088834717"/>
                    </a:ext>
                  </a:extLst>
                </a:gridCol>
                <a:gridCol w="710637">
                  <a:extLst>
                    <a:ext uri="{9D8B030D-6E8A-4147-A177-3AD203B41FA5}">
                      <a16:colId xmlns:a16="http://schemas.microsoft.com/office/drawing/2014/main" val="2450593191"/>
                    </a:ext>
                  </a:extLst>
                </a:gridCol>
                <a:gridCol w="710637">
                  <a:extLst>
                    <a:ext uri="{9D8B030D-6E8A-4147-A177-3AD203B41FA5}">
                      <a16:colId xmlns:a16="http://schemas.microsoft.com/office/drawing/2014/main" val="1571396105"/>
                    </a:ext>
                  </a:extLst>
                </a:gridCol>
              </a:tblGrid>
              <a:tr h="204249">
                <a:tc>
                  <a:txBody>
                    <a:bodyPr/>
                    <a:lstStyle/>
                    <a:p>
                      <a:pPr algn="ctr" fontAlgn="b"/>
                      <a:endParaRPr lang="en-GB" sz="14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chemeClr val="bg1"/>
                      </a:solidFill>
                      <a:prstDash val="solid"/>
                      <a:round/>
                      <a:headEnd type="none" w="med" len="med"/>
                      <a:tailEnd type="none" w="med" len="med"/>
                    </a:lnL>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dirty="0">
                          <a:solidFill>
                            <a:schemeClr val="bg1"/>
                          </a:solidFill>
                          <a:effectLst/>
                          <a:latin typeface="Calibri" panose="020F0502020204030204" pitchFamily="34" charset="0"/>
                        </a:rPr>
                        <a:t>Total</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Male</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Female</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FCT</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Bauchi</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D9286C"/>
                    </a:solidFill>
                  </a:tcPr>
                </a:tc>
                <a:tc>
                  <a:txBody>
                    <a:bodyPr/>
                    <a:lstStyle/>
                    <a:p>
                      <a:pPr algn="ctr" fontAlgn="b"/>
                      <a:r>
                        <a:rPr lang="en-GB" sz="1400" b="1" i="0" u="none" strike="noStrike">
                          <a:solidFill>
                            <a:schemeClr val="bg1"/>
                          </a:solidFill>
                          <a:effectLst/>
                          <a:latin typeface="Calibri" panose="020F0502020204030204" pitchFamily="34" charset="0"/>
                        </a:rPr>
                        <a:t>Kano</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Enugu</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Edo</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Lagos</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Urban</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Rural</a:t>
                      </a:r>
                    </a:p>
                  </a:txBody>
                  <a:tcPr marL="9525" marR="9525" marT="9525" marB="0" anchor="ctr">
                    <a:lnR w="127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rgbClr val="D9286C"/>
                    </a:solidFill>
                  </a:tcPr>
                </a:tc>
                <a:extLst>
                  <a:ext uri="{0D108BD9-81ED-4DB2-BD59-A6C34878D82A}">
                    <a16:rowId xmlns:a16="http://schemas.microsoft.com/office/drawing/2014/main" val="1524205756"/>
                  </a:ext>
                </a:extLst>
              </a:tr>
              <a:tr h="204249">
                <a:tc>
                  <a:txBody>
                    <a:bodyPr/>
                    <a:lstStyle/>
                    <a:p>
                      <a:pPr algn="ctr" fontAlgn="b"/>
                      <a:r>
                        <a:rPr lang="en-GB" sz="1400" b="1" i="0" u="none" strike="noStrike" dirty="0">
                          <a:solidFill>
                            <a:srgbClr val="000000"/>
                          </a:solidFill>
                          <a:effectLst/>
                          <a:latin typeface="Calibri" panose="020F0502020204030204" pitchFamily="34" charset="0"/>
                        </a:rPr>
                        <a:t>Total</a:t>
                      </a:r>
                    </a:p>
                  </a:txBody>
                  <a:tcPr marL="9525" marR="9525" marT="9525" marB="0" anchor="ctr">
                    <a:lnL w="38100" cap="flat" cmpd="sng" algn="ctr">
                      <a:solidFill>
                        <a:schemeClr val="bg1"/>
                      </a:solidFill>
                      <a:prstDash val="solid"/>
                      <a:round/>
                      <a:headEnd type="none" w="med" len="med"/>
                      <a:tailEnd type="none" w="med" len="med"/>
                    </a:lnL>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dirty="0">
                          <a:solidFill>
                            <a:schemeClr val="bg1"/>
                          </a:solidFill>
                          <a:effectLst/>
                          <a:latin typeface="Calibri" panose="020F0502020204030204" pitchFamily="34" charset="0"/>
                        </a:rPr>
                        <a:t>1456</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681</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775</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170</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290</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284</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1" i="0" u="none" strike="noStrike">
                          <a:solidFill>
                            <a:schemeClr val="bg1"/>
                          </a:solidFill>
                          <a:effectLst/>
                          <a:latin typeface="Calibri" panose="020F0502020204030204" pitchFamily="34" charset="0"/>
                        </a:rPr>
                        <a:t>210</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1" i="0" u="none" strike="noStrike">
                          <a:solidFill>
                            <a:schemeClr val="bg1"/>
                          </a:solidFill>
                          <a:effectLst/>
                          <a:latin typeface="Calibri" panose="020F0502020204030204" pitchFamily="34" charset="0"/>
                        </a:rPr>
                        <a:t>158</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1" i="0" u="none" strike="noStrike">
                          <a:solidFill>
                            <a:schemeClr val="bg1"/>
                          </a:solidFill>
                          <a:effectLst/>
                          <a:latin typeface="Calibri" panose="020F0502020204030204" pitchFamily="34" charset="0"/>
                        </a:rPr>
                        <a:t>344</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937</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1" i="0" u="none" strike="noStrike" dirty="0">
                          <a:solidFill>
                            <a:schemeClr val="bg1"/>
                          </a:solidFill>
                          <a:effectLst/>
                          <a:latin typeface="Calibri" panose="020F0502020204030204" pitchFamily="34" charset="0"/>
                        </a:rPr>
                        <a:t>519</a:t>
                      </a:r>
                    </a:p>
                  </a:txBody>
                  <a:tcPr marL="9525" marR="9525" marT="9525" marB="0" anchor="ctr">
                    <a:lnR w="127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3795218639"/>
                  </a:ext>
                </a:extLst>
              </a:tr>
              <a:tr h="204249">
                <a:tc>
                  <a:txBody>
                    <a:bodyPr/>
                    <a:lstStyle/>
                    <a:p>
                      <a:pPr algn="l" fontAlgn="b"/>
                      <a:r>
                        <a:rPr lang="en-US" sz="1400" b="0" i="0" u="none" strike="noStrike" dirty="0">
                          <a:solidFill>
                            <a:srgbClr val="000000"/>
                          </a:solidFill>
                          <a:effectLst/>
                          <a:latin typeface="Calibri" panose="020F0502020204030204" pitchFamily="34" charset="0"/>
                        </a:rPr>
                        <a:t>The government should make security better</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chemeClr val="bg1"/>
                          </a:solidFill>
                          <a:effectLst/>
                          <a:latin typeface="Calibri" panose="020F0502020204030204" pitchFamily="34" charset="0"/>
                        </a:rPr>
                        <a:t>24%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49%</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29%</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19%</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363113347"/>
                  </a:ext>
                </a:extLst>
              </a:tr>
              <a:tr h="204249">
                <a:tc>
                  <a:txBody>
                    <a:bodyPr/>
                    <a:lstStyle/>
                    <a:p>
                      <a:pPr algn="l" fontAlgn="b"/>
                      <a:r>
                        <a:rPr lang="en-US" sz="1400" b="0" i="0" u="none" strike="noStrike">
                          <a:solidFill>
                            <a:srgbClr val="000000"/>
                          </a:solidFill>
                          <a:effectLst/>
                          <a:latin typeface="Calibri" panose="020F0502020204030204" pitchFamily="34" charset="0"/>
                        </a:rPr>
                        <a:t>Reduce the price of foodstuff</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18%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29%</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25%</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13%</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961129753"/>
                  </a:ext>
                </a:extLst>
              </a:tr>
              <a:tr h="204249">
                <a:tc>
                  <a:txBody>
                    <a:bodyPr/>
                    <a:lstStyle/>
                    <a:p>
                      <a:pPr algn="l" fontAlgn="b"/>
                      <a:r>
                        <a:rPr lang="en-GB" sz="1400" b="0" i="0" u="none" strike="noStrike">
                          <a:solidFill>
                            <a:srgbClr val="000000"/>
                          </a:solidFill>
                          <a:effectLst/>
                          <a:latin typeface="Calibri" panose="020F0502020204030204" pitchFamily="34" charset="0"/>
                        </a:rPr>
                        <a:t>Create job opportunities</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18%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19%</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15%</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22%</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1633909250"/>
                  </a:ext>
                </a:extLst>
              </a:tr>
              <a:tr h="204249">
                <a:tc>
                  <a:txBody>
                    <a:bodyPr/>
                    <a:lstStyle/>
                    <a:p>
                      <a:pPr algn="l" fontAlgn="b"/>
                      <a:r>
                        <a:rPr lang="en-US" sz="1400" b="0" i="0" u="none" strike="noStrike">
                          <a:solidFill>
                            <a:srgbClr val="000000"/>
                          </a:solidFill>
                          <a:effectLst/>
                          <a:latin typeface="Calibri" panose="020F0502020204030204" pitchFamily="34" charset="0"/>
                        </a:rPr>
                        <a:t>By decreasing the cost of food items</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14%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13%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15%</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12%</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2056368829"/>
                  </a:ext>
                </a:extLst>
              </a:tr>
              <a:tr h="336269">
                <a:tc>
                  <a:txBody>
                    <a:bodyPr/>
                    <a:lstStyle/>
                    <a:p>
                      <a:pPr algn="l" fontAlgn="b"/>
                      <a:r>
                        <a:rPr lang="en-GB" sz="1400" b="0" i="0" u="none" strike="noStrike">
                          <a:solidFill>
                            <a:srgbClr val="000000"/>
                          </a:solidFill>
                          <a:effectLst/>
                          <a:latin typeface="Calibri" panose="020F0502020204030204" pitchFamily="34" charset="0"/>
                        </a:rPr>
                        <a:t>Good leadership</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13%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13%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11%</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2578956404"/>
                  </a:ext>
                </a:extLst>
              </a:tr>
              <a:tr h="399770">
                <a:tc>
                  <a:txBody>
                    <a:bodyPr/>
                    <a:lstStyle/>
                    <a:p>
                      <a:pPr algn="l" fontAlgn="b"/>
                      <a:r>
                        <a:rPr lang="en-US" sz="1400" b="0" i="0" u="none" strike="noStrike">
                          <a:solidFill>
                            <a:srgbClr val="000000"/>
                          </a:solidFill>
                          <a:effectLst/>
                          <a:latin typeface="Calibri" panose="020F0502020204030204" pitchFamily="34" charset="0"/>
                        </a:rPr>
                        <a:t>Let have good government that will help the poor</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19%</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8%</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1537374605"/>
                  </a:ext>
                </a:extLst>
              </a:tr>
              <a:tr h="204249">
                <a:tc>
                  <a:txBody>
                    <a:bodyPr/>
                    <a:lstStyle/>
                    <a:p>
                      <a:pPr algn="l" fontAlgn="b"/>
                      <a:r>
                        <a:rPr lang="en-US" sz="1400" b="0" i="0" u="none" strike="noStrike">
                          <a:solidFill>
                            <a:srgbClr val="000000"/>
                          </a:solidFill>
                          <a:effectLst/>
                          <a:latin typeface="Calibri" panose="020F0502020204030204" pitchFamily="34" charset="0"/>
                        </a:rPr>
                        <a:t>They should reduce the price of food stuff</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3682100894"/>
                  </a:ext>
                </a:extLst>
              </a:tr>
              <a:tr h="204249">
                <a:tc>
                  <a:txBody>
                    <a:bodyPr/>
                    <a:lstStyle/>
                    <a:p>
                      <a:pPr algn="l" fontAlgn="b"/>
                      <a:r>
                        <a:rPr lang="en-GB" sz="1400" b="0" i="0" u="none" strike="noStrike">
                          <a:solidFill>
                            <a:srgbClr val="000000"/>
                          </a:solidFill>
                          <a:effectLst/>
                          <a:latin typeface="Calibri" panose="020F0502020204030204" pitchFamily="34" charset="0"/>
                        </a:rPr>
                        <a:t>Provide jobs</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4177927266"/>
                  </a:ext>
                </a:extLst>
              </a:tr>
              <a:tr h="204249">
                <a:tc>
                  <a:txBody>
                    <a:bodyPr/>
                    <a:lstStyle/>
                    <a:p>
                      <a:pPr algn="l" fontAlgn="b"/>
                      <a:r>
                        <a:rPr lang="en-GB" sz="1400" b="0" i="0" u="none" strike="noStrike">
                          <a:solidFill>
                            <a:srgbClr val="000000"/>
                          </a:solidFill>
                          <a:effectLst/>
                          <a:latin typeface="Calibri" panose="020F0502020204030204" pitchFamily="34" charset="0"/>
                        </a:rPr>
                        <a:t>Build Good Roads</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chemeClr val="bg1"/>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1131871430"/>
                  </a:ext>
                </a:extLst>
              </a:tr>
              <a:tr h="204249">
                <a:tc>
                  <a:txBody>
                    <a:bodyPr/>
                    <a:lstStyle/>
                    <a:p>
                      <a:pPr algn="l" fontAlgn="b"/>
                      <a:r>
                        <a:rPr lang="en-US" sz="1400" b="0" i="0" u="none" strike="noStrike">
                          <a:solidFill>
                            <a:srgbClr val="000000"/>
                          </a:solidFill>
                          <a:effectLst/>
                          <a:latin typeface="Calibri" panose="020F0502020204030204" pitchFamily="34" charset="0"/>
                        </a:rPr>
                        <a:t>They should improve on the light issues</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1026452769"/>
                  </a:ext>
                </a:extLst>
              </a:tr>
              <a:tr h="399770">
                <a:tc>
                  <a:txBody>
                    <a:bodyPr/>
                    <a:lstStyle/>
                    <a:p>
                      <a:pPr algn="l" fontAlgn="b"/>
                      <a:r>
                        <a:rPr lang="en-US" sz="1400" b="0" i="0" u="none" strike="noStrike">
                          <a:solidFill>
                            <a:srgbClr val="000000"/>
                          </a:solidFill>
                          <a:effectLst/>
                          <a:latin typeface="Calibri" panose="020F0502020204030204" pitchFamily="34" charset="0"/>
                        </a:rPr>
                        <a:t>Invest more in the health care sector of this country</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721812460"/>
                  </a:ext>
                </a:extLst>
              </a:tr>
              <a:tr h="204249">
                <a:tc>
                  <a:txBody>
                    <a:bodyPr/>
                    <a:lstStyle/>
                    <a:p>
                      <a:pPr algn="l" fontAlgn="b"/>
                      <a:r>
                        <a:rPr lang="en-US" sz="1400" b="0" i="0" u="none" strike="noStrike">
                          <a:solidFill>
                            <a:srgbClr val="000000"/>
                          </a:solidFill>
                          <a:effectLst/>
                          <a:latin typeface="Calibri" panose="020F0502020204030204" pitchFamily="34" charset="0"/>
                        </a:rPr>
                        <a:t>They should reduce fuel prices</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3892419785"/>
                  </a:ext>
                </a:extLst>
              </a:tr>
              <a:tr h="204249">
                <a:tc>
                  <a:txBody>
                    <a:bodyPr/>
                    <a:lstStyle/>
                    <a:p>
                      <a:pPr algn="l" fontAlgn="b"/>
                      <a:r>
                        <a:rPr lang="en-GB" sz="1400" b="0" i="0" u="none" strike="noStrike">
                          <a:solidFill>
                            <a:srgbClr val="000000"/>
                          </a:solidFill>
                          <a:effectLst/>
                          <a:latin typeface="Calibri" panose="020F0502020204030204" pitchFamily="34" charset="0"/>
                        </a:rPr>
                        <a:t>Provide adequate amenities</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9%</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798974195"/>
                  </a:ext>
                </a:extLst>
              </a:tr>
              <a:tr h="336269">
                <a:tc>
                  <a:txBody>
                    <a:bodyPr/>
                    <a:lstStyle/>
                    <a:p>
                      <a:pPr algn="l" fontAlgn="b"/>
                      <a:r>
                        <a:rPr lang="en-US" sz="1400" b="0" i="0" u="none" strike="noStrike">
                          <a:solidFill>
                            <a:srgbClr val="000000"/>
                          </a:solidFill>
                          <a:effectLst/>
                          <a:latin typeface="Calibri" panose="020F0502020204030204" pitchFamily="34" charset="0"/>
                        </a:rPr>
                        <a:t>They should  have  compassion for one another</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12%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1978354940"/>
                  </a:ext>
                </a:extLst>
              </a:tr>
              <a:tr h="399770">
                <a:tc>
                  <a:txBody>
                    <a:bodyPr/>
                    <a:lstStyle/>
                    <a:p>
                      <a:pPr algn="l" fontAlgn="b"/>
                      <a:r>
                        <a:rPr lang="en-US" sz="1400" b="0" i="0" u="none" strike="noStrike">
                          <a:solidFill>
                            <a:srgbClr val="000000"/>
                          </a:solidFill>
                          <a:effectLst/>
                          <a:latin typeface="Calibri" panose="020F0502020204030204" pitchFamily="34" charset="0"/>
                        </a:rPr>
                        <a:t>The government should look into building more schools</a:t>
                      </a:r>
                    </a:p>
                  </a:txBody>
                  <a:tcPr marL="9525" marR="9525" marT="9525" marB="0" anchor="b">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5%</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a:solidFill>
                            <a:schemeClr val="bg1"/>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tc>
                  <a:txBody>
                    <a:bodyPr/>
                    <a:lstStyle/>
                    <a:p>
                      <a:pPr algn="ctr" fontAlgn="b"/>
                      <a:r>
                        <a:rPr lang="en-GB" sz="1400" b="0" i="0" u="none" strike="noStrike" dirty="0">
                          <a:solidFill>
                            <a:schemeClr val="bg1"/>
                          </a:solidFill>
                          <a:effectLst/>
                          <a:latin typeface="Calibri" panose="020F0502020204030204" pitchFamily="34" charset="0"/>
                        </a:rPr>
                        <a:t>2%</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D9286C"/>
                    </a:solidFill>
                  </a:tcPr>
                </a:tc>
                <a:extLst>
                  <a:ext uri="{0D108BD9-81ED-4DB2-BD59-A6C34878D82A}">
                    <a16:rowId xmlns:a16="http://schemas.microsoft.com/office/drawing/2014/main" val="2642635573"/>
                  </a:ext>
                </a:extLst>
              </a:tr>
            </a:tbl>
          </a:graphicData>
        </a:graphic>
      </p:graphicFrame>
    </p:spTree>
    <p:extLst>
      <p:ext uri="{BB962C8B-B14F-4D97-AF65-F5344CB8AC3E}">
        <p14:creationId xmlns:p14="http://schemas.microsoft.com/office/powerpoint/2010/main" val="3132980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754455" y="6104838"/>
            <a:ext cx="11414029"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Q621 Do you know of any credible individual(s) in this community or state who you believe possess strong leadership qualities to take up roles in this Community as Local Government Chairman?</a:t>
            </a:r>
            <a:endParaRPr lang="en-US" sz="1000" dirty="0">
              <a:latin typeface="Book Antiqua" panose="02040602050305030304" pitchFamily="18" charset="0"/>
            </a:endParaRPr>
          </a:p>
        </p:txBody>
      </p:sp>
      <p:sp>
        <p:nvSpPr>
          <p:cNvPr id="5" name="TextBox 4">
            <a:extLst>
              <a:ext uri="{FF2B5EF4-FFF2-40B4-BE49-F238E27FC236}">
                <a16:creationId xmlns:a16="http://schemas.microsoft.com/office/drawing/2014/main" id="{55F5642B-83A0-CD7B-E2BA-8E492D002397}"/>
              </a:ext>
            </a:extLst>
          </p:cNvPr>
          <p:cNvSpPr txBox="1"/>
          <p:nvPr/>
        </p:nvSpPr>
        <p:spPr>
          <a:xfrm>
            <a:off x="312990" y="119838"/>
            <a:ext cx="10737869"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Credibility and leadership qualities of community members to take up elective positions</a:t>
            </a:r>
            <a:endParaRPr kumimoji="0" lang="en-US" sz="2000"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endParaRPr>
          </a:p>
        </p:txBody>
      </p:sp>
      <p:sp>
        <p:nvSpPr>
          <p:cNvPr id="7" name="TextBox 6">
            <a:extLst>
              <a:ext uri="{FF2B5EF4-FFF2-40B4-BE49-F238E27FC236}">
                <a16:creationId xmlns:a16="http://schemas.microsoft.com/office/drawing/2014/main" id="{24EE3164-36BE-1169-158F-AC5F91216B94}"/>
              </a:ext>
            </a:extLst>
          </p:cNvPr>
          <p:cNvSpPr txBox="1"/>
          <p:nvPr/>
        </p:nvSpPr>
        <p:spPr>
          <a:xfrm>
            <a:off x="331302" y="675740"/>
            <a:ext cx="11714923" cy="738664"/>
          </a:xfrm>
          <a:prstGeom prst="rect">
            <a:avLst/>
          </a:prstGeom>
          <a:noFill/>
        </p:spPr>
        <p:txBody>
          <a:bodyPr wrap="square">
            <a:spAutoFit/>
          </a:bodyPr>
          <a:lstStyle/>
          <a:p>
            <a:pPr lvl="0" algn="just">
              <a:defRPr/>
            </a:pPr>
            <a:r>
              <a:rPr lang="en-US" sz="1400" b="1" dirty="0">
                <a:solidFill>
                  <a:srgbClr val="0070C0"/>
                </a:solidFill>
                <a:latin typeface="Book Antiqua" panose="02040602050305030304" pitchFamily="18" charset="0"/>
                <a:ea typeface="Arial Unicode MS"/>
              </a:rPr>
              <a:t>Overall, across elected offices, the majority do not think of any individual’s credibility and leadership qualities in their communities to take up elective positions. However, in Kano, 17% and 26% claimed they have community members with credibility and leadership qualities to take up the governorship and House of Reps positions, respectively.</a:t>
            </a:r>
            <a:endParaRPr kumimoji="0" lang="en-US" sz="1400" b="1" i="0" u="none" strike="noStrike" kern="1200" cap="none" spc="0" normalizeH="0" baseline="0" noProof="0" dirty="0">
              <a:ln>
                <a:noFill/>
              </a:ln>
              <a:solidFill>
                <a:srgbClr val="0070C0"/>
              </a:solidFill>
              <a:effectLst/>
              <a:uLnTx/>
              <a:uFillTx/>
              <a:latin typeface="Book Antiqua" panose="02040602050305030304" pitchFamily="18" charset="0"/>
              <a:ea typeface="Arial Unicode MS"/>
              <a:cs typeface="+mn-cs"/>
            </a:endParaRPr>
          </a:p>
        </p:txBody>
      </p:sp>
      <p:graphicFrame>
        <p:nvGraphicFramePr>
          <p:cNvPr id="9" name="Chart 8">
            <a:extLst>
              <a:ext uri="{FF2B5EF4-FFF2-40B4-BE49-F238E27FC236}">
                <a16:creationId xmlns:a16="http://schemas.microsoft.com/office/drawing/2014/main" id="{F90D2156-8571-44C8-9EC7-938FF15D699E}"/>
              </a:ext>
            </a:extLst>
          </p:cNvPr>
          <p:cNvGraphicFramePr/>
          <p:nvPr>
            <p:custDataLst>
              <p:tags r:id="rId1"/>
            </p:custDataLst>
            <p:extLst>
              <p:ext uri="{D42A27DB-BD31-4B8C-83A1-F6EECF244321}">
                <p14:modId xmlns:p14="http://schemas.microsoft.com/office/powerpoint/2010/main" val="329248439"/>
              </p:ext>
            </p:extLst>
          </p:nvPr>
        </p:nvGraphicFramePr>
        <p:xfrm>
          <a:off x="391161" y="1503774"/>
          <a:ext cx="11414032" cy="403691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Table 9">
            <a:extLst>
              <a:ext uri="{FF2B5EF4-FFF2-40B4-BE49-F238E27FC236}">
                <a16:creationId xmlns:a16="http://schemas.microsoft.com/office/drawing/2014/main" id="{BE20651D-F259-4994-BE92-52F9E51B10EE}"/>
              </a:ext>
            </a:extLst>
          </p:cNvPr>
          <p:cNvGraphicFramePr>
            <a:graphicFrameLocks noGrp="1"/>
          </p:cNvGraphicFramePr>
          <p:nvPr/>
        </p:nvGraphicFramePr>
        <p:xfrm>
          <a:off x="391160" y="5786155"/>
          <a:ext cx="11414029" cy="253484"/>
        </p:xfrm>
        <a:graphic>
          <a:graphicData uri="http://schemas.openxmlformats.org/drawingml/2006/table">
            <a:tbl>
              <a:tblPr>
                <a:tableStyleId>{5C22544A-7EE6-4342-B048-85BDC9FD1C3A}</a:tableStyleId>
              </a:tblPr>
              <a:tblGrid>
                <a:gridCol w="1037639">
                  <a:extLst>
                    <a:ext uri="{9D8B030D-6E8A-4147-A177-3AD203B41FA5}">
                      <a16:colId xmlns:a16="http://schemas.microsoft.com/office/drawing/2014/main" val="2379250083"/>
                    </a:ext>
                  </a:extLst>
                </a:gridCol>
                <a:gridCol w="1037639">
                  <a:extLst>
                    <a:ext uri="{9D8B030D-6E8A-4147-A177-3AD203B41FA5}">
                      <a16:colId xmlns:a16="http://schemas.microsoft.com/office/drawing/2014/main" val="3707767684"/>
                    </a:ext>
                  </a:extLst>
                </a:gridCol>
                <a:gridCol w="1037639">
                  <a:extLst>
                    <a:ext uri="{9D8B030D-6E8A-4147-A177-3AD203B41FA5}">
                      <a16:colId xmlns:a16="http://schemas.microsoft.com/office/drawing/2014/main" val="2497172989"/>
                    </a:ext>
                  </a:extLst>
                </a:gridCol>
                <a:gridCol w="1037639">
                  <a:extLst>
                    <a:ext uri="{9D8B030D-6E8A-4147-A177-3AD203B41FA5}">
                      <a16:colId xmlns:a16="http://schemas.microsoft.com/office/drawing/2014/main" val="848469032"/>
                    </a:ext>
                  </a:extLst>
                </a:gridCol>
                <a:gridCol w="1037639">
                  <a:extLst>
                    <a:ext uri="{9D8B030D-6E8A-4147-A177-3AD203B41FA5}">
                      <a16:colId xmlns:a16="http://schemas.microsoft.com/office/drawing/2014/main" val="2303936815"/>
                    </a:ext>
                  </a:extLst>
                </a:gridCol>
                <a:gridCol w="1037639">
                  <a:extLst>
                    <a:ext uri="{9D8B030D-6E8A-4147-A177-3AD203B41FA5}">
                      <a16:colId xmlns:a16="http://schemas.microsoft.com/office/drawing/2014/main" val="460349122"/>
                    </a:ext>
                  </a:extLst>
                </a:gridCol>
                <a:gridCol w="1037639">
                  <a:extLst>
                    <a:ext uri="{9D8B030D-6E8A-4147-A177-3AD203B41FA5}">
                      <a16:colId xmlns:a16="http://schemas.microsoft.com/office/drawing/2014/main" val="704838673"/>
                    </a:ext>
                  </a:extLst>
                </a:gridCol>
                <a:gridCol w="1037639">
                  <a:extLst>
                    <a:ext uri="{9D8B030D-6E8A-4147-A177-3AD203B41FA5}">
                      <a16:colId xmlns:a16="http://schemas.microsoft.com/office/drawing/2014/main" val="2575188808"/>
                    </a:ext>
                  </a:extLst>
                </a:gridCol>
                <a:gridCol w="1037639">
                  <a:extLst>
                    <a:ext uri="{9D8B030D-6E8A-4147-A177-3AD203B41FA5}">
                      <a16:colId xmlns:a16="http://schemas.microsoft.com/office/drawing/2014/main" val="2501854814"/>
                    </a:ext>
                  </a:extLst>
                </a:gridCol>
                <a:gridCol w="1037639">
                  <a:extLst>
                    <a:ext uri="{9D8B030D-6E8A-4147-A177-3AD203B41FA5}">
                      <a16:colId xmlns:a16="http://schemas.microsoft.com/office/drawing/2014/main" val="2179463999"/>
                    </a:ext>
                  </a:extLst>
                </a:gridCol>
                <a:gridCol w="1037639">
                  <a:extLst>
                    <a:ext uri="{9D8B030D-6E8A-4147-A177-3AD203B41FA5}">
                      <a16:colId xmlns:a16="http://schemas.microsoft.com/office/drawing/2014/main" val="1997916844"/>
                    </a:ext>
                  </a:extLst>
                </a:gridCol>
              </a:tblGrid>
              <a:tr h="253484">
                <a:tc>
                  <a:txBody>
                    <a:bodyPr/>
                    <a:lstStyle/>
                    <a:p>
                      <a:pPr algn="ctr" fontAlgn="b"/>
                      <a:r>
                        <a:rPr lang="en-GB" sz="1400" b="0" i="0" u="none" strike="noStrike" dirty="0">
                          <a:solidFill>
                            <a:schemeClr val="bg1">
                              <a:lumMod val="65000"/>
                            </a:schemeClr>
                          </a:solidFill>
                          <a:effectLst/>
                          <a:latin typeface="Calibri" panose="020F0502020204030204" pitchFamily="34" charset="0"/>
                        </a:rPr>
                        <a:t>1456</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681</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775</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170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290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284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210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158</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344</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a:solidFill>
                            <a:schemeClr val="bg1">
                              <a:lumMod val="65000"/>
                            </a:schemeClr>
                          </a:solidFill>
                          <a:effectLst/>
                          <a:latin typeface="Calibri" panose="020F0502020204030204" pitchFamily="34" charset="0"/>
                        </a:rPr>
                        <a:t>937</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GB" sz="1400" b="0" i="0" u="none" strike="noStrike" dirty="0">
                          <a:solidFill>
                            <a:schemeClr val="bg1">
                              <a:lumMod val="65000"/>
                            </a:schemeClr>
                          </a:solidFill>
                          <a:effectLst/>
                          <a:latin typeface="Calibri" panose="020F0502020204030204" pitchFamily="34" charset="0"/>
                        </a:rPr>
                        <a:t>519</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09280864"/>
                  </a:ext>
                </a:extLst>
              </a:tr>
            </a:tbl>
          </a:graphicData>
        </a:graphic>
      </p:graphicFrame>
    </p:spTree>
    <p:extLst>
      <p:ext uri="{BB962C8B-B14F-4D97-AF65-F5344CB8AC3E}">
        <p14:creationId xmlns:p14="http://schemas.microsoft.com/office/powerpoint/2010/main" val="35173385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Q65 What support or resources do you think aspiring leaders need to succeed in their roles?</a:t>
            </a:r>
            <a:endParaRPr lang="en-US" sz="1000" dirty="0">
              <a:latin typeface="Book Antiqua" panose="02040602050305030304" pitchFamily="18" charset="0"/>
            </a:endParaRPr>
          </a:p>
        </p:txBody>
      </p:sp>
      <p:sp>
        <p:nvSpPr>
          <p:cNvPr id="5" name="TextBox 4">
            <a:extLst>
              <a:ext uri="{FF2B5EF4-FFF2-40B4-BE49-F238E27FC236}">
                <a16:creationId xmlns:a16="http://schemas.microsoft.com/office/drawing/2014/main" id="{55F5642B-83A0-CD7B-E2BA-8E492D002397}"/>
              </a:ext>
            </a:extLst>
          </p:cNvPr>
          <p:cNvSpPr txBox="1"/>
          <p:nvPr/>
        </p:nvSpPr>
        <p:spPr>
          <a:xfrm>
            <a:off x="312990" y="119838"/>
            <a:ext cx="8619137"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Support or resources needed by aspiring leaders to succeed in their roles</a:t>
            </a:r>
            <a:endParaRPr kumimoji="0" lang="en-US" sz="2000"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endParaRPr>
          </a:p>
        </p:txBody>
      </p:sp>
      <p:sp>
        <p:nvSpPr>
          <p:cNvPr id="7" name="TextBox 6">
            <a:extLst>
              <a:ext uri="{FF2B5EF4-FFF2-40B4-BE49-F238E27FC236}">
                <a16:creationId xmlns:a16="http://schemas.microsoft.com/office/drawing/2014/main" id="{24EE3164-36BE-1169-158F-AC5F91216B94}"/>
              </a:ext>
            </a:extLst>
          </p:cNvPr>
          <p:cNvSpPr txBox="1"/>
          <p:nvPr/>
        </p:nvSpPr>
        <p:spPr>
          <a:xfrm>
            <a:off x="331302" y="675740"/>
            <a:ext cx="11714923" cy="738664"/>
          </a:xfrm>
          <a:prstGeom prst="rect">
            <a:avLst/>
          </a:prstGeom>
          <a:noFill/>
        </p:spPr>
        <p:txBody>
          <a:bodyPr wrap="square">
            <a:spAutoFit/>
          </a:bodyPr>
          <a:lstStyle/>
          <a:p>
            <a:pPr lvl="0" algn="just">
              <a:defRPr/>
            </a:pPr>
            <a:r>
              <a:rPr lang="en-US" sz="1400" b="1" dirty="0">
                <a:solidFill>
                  <a:srgbClr val="0070C0"/>
                </a:solidFill>
                <a:latin typeface="Book Antiqua" panose="02040602050305030304" pitchFamily="18" charset="0"/>
                <a:ea typeface="Arial Unicode MS"/>
              </a:rPr>
              <a:t>Guidance and counselling/Encouragement (11%), Mentorship (8%), Empowerment /Financial Support (8%), Religious  Help/Assistance (8%), Leadership training (6%), and Funding from the top (6%) are some of the support or resources mentioned, as needed by aspiring leaders to succeed in their roles.</a:t>
            </a:r>
          </a:p>
        </p:txBody>
      </p:sp>
      <p:graphicFrame>
        <p:nvGraphicFramePr>
          <p:cNvPr id="9" name="Table 8">
            <a:extLst>
              <a:ext uri="{FF2B5EF4-FFF2-40B4-BE49-F238E27FC236}">
                <a16:creationId xmlns:a16="http://schemas.microsoft.com/office/drawing/2014/main" id="{3E390FF0-39FC-4DA4-B151-BD1CE7D5240C}"/>
              </a:ext>
            </a:extLst>
          </p:cNvPr>
          <p:cNvGraphicFramePr>
            <a:graphicFrameLocks noGrp="1"/>
          </p:cNvGraphicFramePr>
          <p:nvPr>
            <p:extLst>
              <p:ext uri="{D42A27DB-BD31-4B8C-83A1-F6EECF244321}">
                <p14:modId xmlns:p14="http://schemas.microsoft.com/office/powerpoint/2010/main" val="3388420419"/>
              </p:ext>
            </p:extLst>
          </p:nvPr>
        </p:nvGraphicFramePr>
        <p:xfrm>
          <a:off x="434898" y="1587295"/>
          <a:ext cx="11273880" cy="4267090"/>
        </p:xfrm>
        <a:graphic>
          <a:graphicData uri="http://schemas.openxmlformats.org/drawingml/2006/table">
            <a:tbl>
              <a:tblPr>
                <a:tableStyleId>{5A111915-BE36-4E01-A7E5-04B1672EAD32}</a:tableStyleId>
              </a:tblPr>
              <a:tblGrid>
                <a:gridCol w="3256156">
                  <a:extLst>
                    <a:ext uri="{9D8B030D-6E8A-4147-A177-3AD203B41FA5}">
                      <a16:colId xmlns:a16="http://schemas.microsoft.com/office/drawing/2014/main" val="2939921072"/>
                    </a:ext>
                  </a:extLst>
                </a:gridCol>
                <a:gridCol w="728884">
                  <a:extLst>
                    <a:ext uri="{9D8B030D-6E8A-4147-A177-3AD203B41FA5}">
                      <a16:colId xmlns:a16="http://schemas.microsoft.com/office/drawing/2014/main" val="240042294"/>
                    </a:ext>
                  </a:extLst>
                </a:gridCol>
                <a:gridCol w="728884">
                  <a:extLst>
                    <a:ext uri="{9D8B030D-6E8A-4147-A177-3AD203B41FA5}">
                      <a16:colId xmlns:a16="http://schemas.microsoft.com/office/drawing/2014/main" val="1471018050"/>
                    </a:ext>
                  </a:extLst>
                </a:gridCol>
                <a:gridCol w="728884">
                  <a:extLst>
                    <a:ext uri="{9D8B030D-6E8A-4147-A177-3AD203B41FA5}">
                      <a16:colId xmlns:a16="http://schemas.microsoft.com/office/drawing/2014/main" val="2631900519"/>
                    </a:ext>
                  </a:extLst>
                </a:gridCol>
                <a:gridCol w="728884">
                  <a:extLst>
                    <a:ext uri="{9D8B030D-6E8A-4147-A177-3AD203B41FA5}">
                      <a16:colId xmlns:a16="http://schemas.microsoft.com/office/drawing/2014/main" val="3445961416"/>
                    </a:ext>
                  </a:extLst>
                </a:gridCol>
                <a:gridCol w="728884">
                  <a:extLst>
                    <a:ext uri="{9D8B030D-6E8A-4147-A177-3AD203B41FA5}">
                      <a16:colId xmlns:a16="http://schemas.microsoft.com/office/drawing/2014/main" val="1157888105"/>
                    </a:ext>
                  </a:extLst>
                </a:gridCol>
                <a:gridCol w="728884">
                  <a:extLst>
                    <a:ext uri="{9D8B030D-6E8A-4147-A177-3AD203B41FA5}">
                      <a16:colId xmlns:a16="http://schemas.microsoft.com/office/drawing/2014/main" val="542496135"/>
                    </a:ext>
                  </a:extLst>
                </a:gridCol>
                <a:gridCol w="728884">
                  <a:extLst>
                    <a:ext uri="{9D8B030D-6E8A-4147-A177-3AD203B41FA5}">
                      <a16:colId xmlns:a16="http://schemas.microsoft.com/office/drawing/2014/main" val="2908582105"/>
                    </a:ext>
                  </a:extLst>
                </a:gridCol>
                <a:gridCol w="728884">
                  <a:extLst>
                    <a:ext uri="{9D8B030D-6E8A-4147-A177-3AD203B41FA5}">
                      <a16:colId xmlns:a16="http://schemas.microsoft.com/office/drawing/2014/main" val="1141895410"/>
                    </a:ext>
                  </a:extLst>
                </a:gridCol>
                <a:gridCol w="728884">
                  <a:extLst>
                    <a:ext uri="{9D8B030D-6E8A-4147-A177-3AD203B41FA5}">
                      <a16:colId xmlns:a16="http://schemas.microsoft.com/office/drawing/2014/main" val="2088834717"/>
                    </a:ext>
                  </a:extLst>
                </a:gridCol>
                <a:gridCol w="728884">
                  <a:extLst>
                    <a:ext uri="{9D8B030D-6E8A-4147-A177-3AD203B41FA5}">
                      <a16:colId xmlns:a16="http://schemas.microsoft.com/office/drawing/2014/main" val="2450593191"/>
                    </a:ext>
                  </a:extLst>
                </a:gridCol>
                <a:gridCol w="728884">
                  <a:extLst>
                    <a:ext uri="{9D8B030D-6E8A-4147-A177-3AD203B41FA5}">
                      <a16:colId xmlns:a16="http://schemas.microsoft.com/office/drawing/2014/main" val="1571396105"/>
                    </a:ext>
                  </a:extLst>
                </a:gridCol>
              </a:tblGrid>
              <a:tr h="232289">
                <a:tc>
                  <a:txBody>
                    <a:bodyPr/>
                    <a:lstStyle/>
                    <a:p>
                      <a:pPr algn="ctr" fontAlgn="b"/>
                      <a:endParaRPr lang="en-GB" sz="14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chemeClr val="bg1"/>
                      </a:solidFill>
                      <a:prstDash val="solid"/>
                      <a:round/>
                      <a:headEnd type="none" w="med" len="med"/>
                      <a:tailEnd type="none" w="med" len="med"/>
                    </a:lnL>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Total</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Male</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Female</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FCT</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Bauchi</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Kano</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Enugu</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Edo</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Lagos</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Urban</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Rural</a:t>
                      </a:r>
                    </a:p>
                  </a:txBody>
                  <a:tcPr marL="9525" marR="9525" marT="9525" marB="0" anchor="ctr">
                    <a:lnR w="127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tcPr>
                </a:tc>
                <a:extLst>
                  <a:ext uri="{0D108BD9-81ED-4DB2-BD59-A6C34878D82A}">
                    <a16:rowId xmlns:a16="http://schemas.microsoft.com/office/drawing/2014/main" val="1524205756"/>
                  </a:ext>
                </a:extLst>
              </a:tr>
              <a:tr h="232289">
                <a:tc>
                  <a:txBody>
                    <a:bodyPr/>
                    <a:lstStyle/>
                    <a:p>
                      <a:pPr algn="ctr" fontAlgn="b"/>
                      <a:r>
                        <a:rPr lang="en-GB" sz="1400" b="1" i="0" u="none" strike="noStrike" dirty="0">
                          <a:solidFill>
                            <a:srgbClr val="000000"/>
                          </a:solidFill>
                          <a:effectLst/>
                          <a:latin typeface="Calibri" panose="020F0502020204030204" pitchFamily="34" charset="0"/>
                        </a:rPr>
                        <a:t>Total</a:t>
                      </a:r>
                    </a:p>
                  </a:txBody>
                  <a:tcPr marL="9525" marR="9525" marT="9525" marB="0" anchor="ctr">
                    <a:lnL w="38100" cap="flat" cmpd="sng" algn="ctr">
                      <a:solidFill>
                        <a:schemeClr val="bg1"/>
                      </a:solidFill>
                      <a:prstDash val="solid"/>
                      <a:round/>
                      <a:headEnd type="none" w="med" len="med"/>
                      <a:tailEnd type="none" w="med" len="med"/>
                    </a:lnL>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1456</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681</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775</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170</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290</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284</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210</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158</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a:solidFill>
                            <a:srgbClr val="000000"/>
                          </a:solidFill>
                          <a:effectLst/>
                          <a:latin typeface="Calibri" panose="020F0502020204030204" pitchFamily="34" charset="0"/>
                        </a:rPr>
                        <a:t>344</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937</a:t>
                      </a:r>
                    </a:p>
                  </a:txBody>
                  <a:tcPr marL="9525" marR="9525" marT="9525" marB="0" anchor="ct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1" i="0" u="none" strike="noStrike" dirty="0">
                          <a:solidFill>
                            <a:srgbClr val="000000"/>
                          </a:solidFill>
                          <a:effectLst/>
                          <a:latin typeface="Calibri" panose="020F0502020204030204" pitchFamily="34" charset="0"/>
                        </a:rPr>
                        <a:t>519</a:t>
                      </a:r>
                    </a:p>
                  </a:txBody>
                  <a:tcPr marL="9525" marR="9525" marT="9525" marB="0" anchor="ctr">
                    <a:lnR w="127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3795218639"/>
                  </a:ext>
                </a:extLst>
              </a:tr>
              <a:tr h="316876">
                <a:tc>
                  <a:txBody>
                    <a:bodyPr/>
                    <a:lstStyle/>
                    <a:p>
                      <a:pPr algn="l" fontAlgn="b"/>
                      <a:r>
                        <a:rPr lang="en-GB" sz="1400" b="0" i="0" u="none" strike="noStrike" dirty="0">
                          <a:solidFill>
                            <a:srgbClr val="000000"/>
                          </a:solidFill>
                          <a:effectLst/>
                          <a:latin typeface="Calibri" panose="020F0502020204030204" pitchFamily="34" charset="0"/>
                        </a:rPr>
                        <a:t>Guidance and counselling/Encouragement</a:t>
                      </a:r>
                    </a:p>
                  </a:txBody>
                  <a:tcPr marL="9525" marR="9525" marT="9525" marB="0" anchor="ctr">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11%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30%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10%</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363113347"/>
                  </a:ext>
                </a:extLst>
              </a:tr>
              <a:tr h="316876">
                <a:tc>
                  <a:txBody>
                    <a:bodyPr/>
                    <a:lstStyle/>
                    <a:p>
                      <a:pPr algn="l" fontAlgn="b"/>
                      <a:r>
                        <a:rPr lang="en-GB" sz="1400" b="0" i="0" u="none" strike="noStrike" dirty="0">
                          <a:solidFill>
                            <a:srgbClr val="000000"/>
                          </a:solidFill>
                          <a:effectLst/>
                          <a:latin typeface="Calibri" panose="020F0502020204030204" pitchFamily="34" charset="0"/>
                        </a:rPr>
                        <a:t>Mentorship</a:t>
                      </a:r>
                    </a:p>
                  </a:txBody>
                  <a:tcPr marL="9525" marR="9525" marT="9525" marB="0" anchor="ctr">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10%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5%</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4%</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1768450734"/>
                  </a:ext>
                </a:extLst>
              </a:tr>
              <a:tr h="316876">
                <a:tc>
                  <a:txBody>
                    <a:bodyPr/>
                    <a:lstStyle/>
                    <a:p>
                      <a:pPr algn="l" fontAlgn="b"/>
                      <a:r>
                        <a:rPr lang="en-GB" sz="1400" b="0" i="0" u="none" strike="noStrike">
                          <a:solidFill>
                            <a:srgbClr val="000000"/>
                          </a:solidFill>
                          <a:effectLst/>
                          <a:latin typeface="Calibri" panose="020F0502020204030204" pitchFamily="34" charset="0"/>
                        </a:rPr>
                        <a:t>Empowerment /Financial Surpport</a:t>
                      </a:r>
                    </a:p>
                  </a:txBody>
                  <a:tcPr marL="9525" marR="9525" marT="9525" marB="0" anchor="ctr">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10%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32%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10%</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3491246249"/>
                  </a:ext>
                </a:extLst>
              </a:tr>
              <a:tr h="316876">
                <a:tc>
                  <a:txBody>
                    <a:bodyPr/>
                    <a:lstStyle/>
                    <a:p>
                      <a:pPr algn="l" fontAlgn="b"/>
                      <a:r>
                        <a:rPr lang="en-GB" sz="1400" b="0" i="0" u="none" strike="noStrike">
                          <a:solidFill>
                            <a:srgbClr val="000000"/>
                          </a:solidFill>
                          <a:effectLst/>
                          <a:latin typeface="Calibri" panose="020F0502020204030204" pitchFamily="34" charset="0"/>
                        </a:rPr>
                        <a:t>Religious  Help/Asssistance</a:t>
                      </a:r>
                    </a:p>
                  </a:txBody>
                  <a:tcPr marL="9525" marR="9525" marT="9525" marB="0" anchor="ctr">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32%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8%</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3057472669"/>
                  </a:ext>
                </a:extLst>
              </a:tr>
              <a:tr h="316876">
                <a:tc>
                  <a:txBody>
                    <a:bodyPr/>
                    <a:lstStyle/>
                    <a:p>
                      <a:pPr algn="l" fontAlgn="b"/>
                      <a:r>
                        <a:rPr lang="en-GB" sz="1400" b="0" i="0" u="none" strike="noStrike">
                          <a:solidFill>
                            <a:srgbClr val="000000"/>
                          </a:solidFill>
                          <a:effectLst/>
                          <a:latin typeface="Calibri" panose="020F0502020204030204" pitchFamily="34" charset="0"/>
                        </a:rPr>
                        <a:t>Leadership training</a:t>
                      </a:r>
                    </a:p>
                  </a:txBody>
                  <a:tcPr marL="9525" marR="9525" marT="9525" marB="0" anchor="ctr">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4209809248"/>
                  </a:ext>
                </a:extLst>
              </a:tr>
              <a:tr h="316876">
                <a:tc>
                  <a:txBody>
                    <a:bodyPr/>
                    <a:lstStyle/>
                    <a:p>
                      <a:pPr algn="l" fontAlgn="b"/>
                      <a:r>
                        <a:rPr lang="en-GB" sz="1400" b="0" i="0" u="none" strike="noStrike">
                          <a:solidFill>
                            <a:srgbClr val="000000"/>
                          </a:solidFill>
                          <a:effectLst/>
                          <a:latin typeface="Calibri" panose="020F0502020204030204" pitchFamily="34" charset="0"/>
                        </a:rPr>
                        <a:t>Funding  from the top</a:t>
                      </a:r>
                    </a:p>
                  </a:txBody>
                  <a:tcPr marL="9525" marR="9525" marT="9525" marB="0" anchor="ctr">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10%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5%</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1747124583"/>
                  </a:ext>
                </a:extLst>
              </a:tr>
              <a:tr h="316876">
                <a:tc>
                  <a:txBody>
                    <a:bodyPr/>
                    <a:lstStyle/>
                    <a:p>
                      <a:pPr algn="l" fontAlgn="b"/>
                      <a:r>
                        <a:rPr lang="en-GB" sz="1400" b="0" i="0" u="none" strike="noStrike">
                          <a:solidFill>
                            <a:srgbClr val="000000"/>
                          </a:solidFill>
                          <a:effectLst/>
                          <a:latin typeface="Calibri" panose="020F0502020204030204" pitchFamily="34" charset="0"/>
                        </a:rPr>
                        <a:t>Loyalty/Honesty</a:t>
                      </a:r>
                    </a:p>
                  </a:txBody>
                  <a:tcPr marL="9525" marR="9525" marT="9525" marB="0" anchor="ctr">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5%</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5%</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5%</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6%</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3006616215"/>
                  </a:ext>
                </a:extLst>
              </a:tr>
              <a:tr h="316876">
                <a:tc>
                  <a:txBody>
                    <a:bodyPr/>
                    <a:lstStyle/>
                    <a:p>
                      <a:pPr algn="l" fontAlgn="b"/>
                      <a:r>
                        <a:rPr lang="en-GB" sz="1400" b="0" i="0" u="none" strike="noStrike">
                          <a:solidFill>
                            <a:srgbClr val="000000"/>
                          </a:solidFill>
                          <a:effectLst/>
                          <a:latin typeface="Calibri" panose="020F0502020204030204" pitchFamily="34" charset="0"/>
                        </a:rPr>
                        <a:t>Good   Government</a:t>
                      </a:r>
                    </a:p>
                  </a:txBody>
                  <a:tcPr marL="9525" marR="9525" marT="9525" marB="0" anchor="ctr">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4%</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3342341329"/>
                  </a:ext>
                </a:extLst>
              </a:tr>
              <a:tr h="316876">
                <a:tc>
                  <a:txBody>
                    <a:bodyPr/>
                    <a:lstStyle/>
                    <a:p>
                      <a:pPr algn="l" fontAlgn="b"/>
                      <a:r>
                        <a:rPr lang="en-US" sz="1400" b="0" i="0" u="none" strike="noStrike">
                          <a:solidFill>
                            <a:srgbClr val="000000"/>
                          </a:solidFill>
                          <a:effectLst/>
                          <a:latin typeface="Calibri" panose="020F0502020204030204" pitchFamily="34" charset="0"/>
                        </a:rPr>
                        <a:t>Taking care of the masses</a:t>
                      </a:r>
                    </a:p>
                  </a:txBody>
                  <a:tcPr marL="9525" marR="9525" marT="9525" marB="0" anchor="ctr">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5%</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8%</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20%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4%</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3480748542"/>
                  </a:ext>
                </a:extLst>
              </a:tr>
              <a:tr h="316876">
                <a:tc>
                  <a:txBody>
                    <a:bodyPr/>
                    <a:lstStyle/>
                    <a:p>
                      <a:pPr algn="l" fontAlgn="b"/>
                      <a:r>
                        <a:rPr lang="en-GB" sz="1400" b="0" i="0" u="none" strike="noStrike">
                          <a:solidFill>
                            <a:srgbClr val="000000"/>
                          </a:solidFill>
                          <a:effectLst/>
                          <a:latin typeface="Calibri" panose="020F0502020204030204" pitchFamily="34" charset="0"/>
                        </a:rPr>
                        <a:t>Support from citizen/Cabinet</a:t>
                      </a:r>
                    </a:p>
                  </a:txBody>
                  <a:tcPr marL="9525" marR="9525" marT="9525" marB="0" anchor="ctr">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6%</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2%</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621086869"/>
                  </a:ext>
                </a:extLst>
              </a:tr>
              <a:tr h="316876">
                <a:tc>
                  <a:txBody>
                    <a:bodyPr/>
                    <a:lstStyle/>
                    <a:p>
                      <a:pPr algn="l" fontAlgn="b"/>
                      <a:r>
                        <a:rPr lang="en-US" sz="1400" b="0" i="0" u="none" strike="noStrike">
                          <a:solidFill>
                            <a:srgbClr val="000000"/>
                          </a:solidFill>
                          <a:effectLst/>
                          <a:latin typeface="Calibri" panose="020F0502020204030204" pitchFamily="34" charset="0"/>
                        </a:rPr>
                        <a:t>Conducting a free and fair election</a:t>
                      </a:r>
                    </a:p>
                  </a:txBody>
                  <a:tcPr marL="9525" marR="9525" marT="9525" marB="0" anchor="ctr">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4%</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5%</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226683108"/>
                  </a:ext>
                </a:extLst>
              </a:tr>
              <a:tr h="316876">
                <a:tc>
                  <a:txBody>
                    <a:bodyPr/>
                    <a:lstStyle/>
                    <a:p>
                      <a:pPr algn="l" fontAlgn="b"/>
                      <a:r>
                        <a:rPr lang="en-GB" sz="1400" b="0" i="0" u="none" strike="noStrike">
                          <a:solidFill>
                            <a:srgbClr val="000000"/>
                          </a:solidFill>
                          <a:effectLst/>
                          <a:latin typeface="Calibri" panose="020F0502020204030204" pitchFamily="34" charset="0"/>
                        </a:rPr>
                        <a:t>More Employment Opportunity</a:t>
                      </a:r>
                    </a:p>
                  </a:txBody>
                  <a:tcPr marL="9525" marR="9525" marT="9525" marB="0" anchor="ctr">
                    <a:lnL w="38100" cap="flat" cmpd="sng" algn="ctr">
                      <a:solidFill>
                        <a:schemeClr val="bg1"/>
                      </a:solidFill>
                      <a:prstDash val="solid"/>
                      <a:round/>
                      <a:headEnd type="none" w="med" len="med"/>
                      <a:tailEnd type="none" w="med" len="med"/>
                    </a:lnL>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3%</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0%</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7%</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a:solidFill>
                            <a:srgbClr val="000000"/>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1%</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2%</a:t>
                      </a:r>
                    </a:p>
                  </a:txBody>
                  <a:tcPr marL="9525" marR="9525" marT="9525" marB="0" anchor="ct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fontAlgn="b"/>
                      <a:r>
                        <a:rPr lang="en-GB" sz="1400" b="0" i="0" u="none" strike="noStrike" dirty="0">
                          <a:solidFill>
                            <a:srgbClr val="000000"/>
                          </a:solidFill>
                          <a:effectLst/>
                          <a:latin typeface="Calibri" panose="020F0502020204030204" pitchFamily="34" charset="0"/>
                        </a:rPr>
                        <a:t>2%</a:t>
                      </a:r>
                    </a:p>
                  </a:txBody>
                  <a:tcPr marL="9525" marR="9525" marT="9525" marB="0" anchor="ctr">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107245604"/>
                  </a:ext>
                </a:extLst>
              </a:tr>
            </a:tbl>
          </a:graphicData>
        </a:graphic>
      </p:graphicFrame>
    </p:spTree>
    <p:extLst>
      <p:ext uri="{BB962C8B-B14F-4D97-AF65-F5344CB8AC3E}">
        <p14:creationId xmlns:p14="http://schemas.microsoft.com/office/powerpoint/2010/main" val="294770408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766E826-311A-9A1F-A6A0-AE81500AC62E}"/>
              </a:ext>
            </a:extLst>
          </p:cNvPr>
          <p:cNvSpPr txBox="1"/>
          <p:nvPr/>
        </p:nvSpPr>
        <p:spPr>
          <a:xfrm>
            <a:off x="832513" y="6171744"/>
            <a:ext cx="10645253" cy="246221"/>
          </a:xfrm>
          <a:prstGeom prst="rect">
            <a:avLst/>
          </a:prstGeom>
          <a:noFill/>
        </p:spPr>
        <p:txBody>
          <a:bodyPr wrap="square">
            <a:spAutoFit/>
          </a:bodyPr>
          <a:lstStyle/>
          <a:p>
            <a:r>
              <a:rPr lang="en-US" sz="1000" dirty="0">
                <a:solidFill>
                  <a:srgbClr val="000000"/>
                </a:solidFill>
                <a:latin typeface="Book Antiqua" panose="02040602050305030304" pitchFamily="18" charset="0"/>
              </a:rPr>
              <a:t>Q661. Vision and Strategic Thinking: The ability to articulate a clear vision for the future and develop strategic plans to achieve it.</a:t>
            </a:r>
            <a:endParaRPr lang="en-US" sz="1000" dirty="0">
              <a:latin typeface="Book Antiqua" panose="02040602050305030304" pitchFamily="18" charset="0"/>
            </a:endParaRPr>
          </a:p>
        </p:txBody>
      </p:sp>
      <p:sp>
        <p:nvSpPr>
          <p:cNvPr id="5" name="TextBox 4">
            <a:extLst>
              <a:ext uri="{FF2B5EF4-FFF2-40B4-BE49-F238E27FC236}">
                <a16:creationId xmlns:a16="http://schemas.microsoft.com/office/drawing/2014/main" id="{55F5642B-83A0-CD7B-E2BA-8E492D002397}"/>
              </a:ext>
            </a:extLst>
          </p:cNvPr>
          <p:cNvSpPr txBox="1"/>
          <p:nvPr/>
        </p:nvSpPr>
        <p:spPr>
          <a:xfrm>
            <a:off x="312990" y="119838"/>
            <a:ext cx="8619137" cy="400110"/>
          </a:xfrm>
          <a:prstGeom prst="rect">
            <a:avLst/>
          </a:prstGeom>
          <a:noFill/>
        </p:spPr>
        <p:txBody>
          <a:bodyPr wrap="square" rtlCol="0">
            <a:spAutoFit/>
          </a:bodyPr>
          <a:lstStyle/>
          <a:p>
            <a:pPr lvl="0">
              <a:defRPr/>
            </a:pPr>
            <a:r>
              <a:rPr lang="en-US" sz="2000" b="1" dirty="0">
                <a:solidFill>
                  <a:prstClr val="black"/>
                </a:solidFill>
                <a:latin typeface="Book Antiqua" panose="02040602050305030304" pitchFamily="18" charset="0"/>
                <a:ea typeface="Arial Unicode MS"/>
              </a:rPr>
              <a:t>Rating the importance of key attributes of leadership</a:t>
            </a:r>
            <a:endParaRPr kumimoji="0" lang="en-US" sz="2000" b="1" i="0" u="none" strike="noStrike" kern="1200" cap="none" spc="0" normalizeH="0" baseline="0" noProof="0" dirty="0">
              <a:ln>
                <a:noFill/>
              </a:ln>
              <a:solidFill>
                <a:prstClr val="black"/>
              </a:solidFill>
              <a:effectLst/>
              <a:uLnTx/>
              <a:uFillTx/>
              <a:latin typeface="Book Antiqua" panose="02040602050305030304" pitchFamily="18" charset="0"/>
              <a:ea typeface="Arial Unicode MS"/>
              <a:cs typeface="+mn-cs"/>
            </a:endParaRPr>
          </a:p>
        </p:txBody>
      </p:sp>
      <p:sp>
        <p:nvSpPr>
          <p:cNvPr id="8" name="Rectangle 7">
            <a:extLst>
              <a:ext uri="{FF2B5EF4-FFF2-40B4-BE49-F238E27FC236}">
                <a16:creationId xmlns:a16="http://schemas.microsoft.com/office/drawing/2014/main" id="{2C989976-D1AA-4537-A7FD-3D1685A5C6CF}"/>
              </a:ext>
            </a:extLst>
          </p:cNvPr>
          <p:cNvSpPr/>
          <p:nvPr/>
        </p:nvSpPr>
        <p:spPr>
          <a:xfrm rot="16200000">
            <a:off x="5702822" y="-2041934"/>
            <a:ext cx="66710" cy="7833804"/>
          </a:xfrm>
          <a:prstGeom prst="rect">
            <a:avLst/>
          </a:prstGeom>
          <a:gradFill flip="none" rotWithShape="1">
            <a:gsLst>
              <a:gs pos="0">
                <a:srgbClr val="00B050"/>
              </a:gs>
              <a:gs pos="50000">
                <a:srgbClr val="5BFFA5"/>
              </a:gs>
              <a:gs pos="98000">
                <a:srgbClr val="FFFF2F"/>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cs typeface="Arial" panose="020B0604020202020204" pitchFamily="34" charset="0"/>
            </a:endParaRPr>
          </a:p>
        </p:txBody>
      </p:sp>
      <p:sp>
        <p:nvSpPr>
          <p:cNvPr id="10" name="Rectangle 9">
            <a:extLst>
              <a:ext uri="{FF2B5EF4-FFF2-40B4-BE49-F238E27FC236}">
                <a16:creationId xmlns:a16="http://schemas.microsoft.com/office/drawing/2014/main" id="{40C5975E-9758-4BCC-959A-303AD02C7C09}"/>
              </a:ext>
            </a:extLst>
          </p:cNvPr>
          <p:cNvSpPr/>
          <p:nvPr/>
        </p:nvSpPr>
        <p:spPr>
          <a:xfrm>
            <a:off x="476250" y="1703112"/>
            <a:ext cx="1638267" cy="27699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0" cap="none" spc="0" normalizeH="0" baseline="0" noProof="0" dirty="0">
                <a:ln>
                  <a:noFill/>
                </a:ln>
                <a:solidFill>
                  <a:srgbClr val="000000"/>
                </a:solidFill>
                <a:effectLst/>
                <a:uLnTx/>
                <a:uFillTx/>
                <a:cs typeface="Arial" panose="020B0604020202020204" pitchFamily="34" charset="0"/>
              </a:rPr>
              <a:t>Very Important(5)</a:t>
            </a:r>
            <a:endParaRPr kumimoji="0" lang="en-US" sz="1200" b="0" i="1" u="none" strike="noStrike" kern="0" cap="none" spc="0" normalizeH="0" baseline="0" noProof="0" dirty="0">
              <a:ln>
                <a:noFill/>
              </a:ln>
              <a:solidFill>
                <a:prstClr val="black"/>
              </a:solidFill>
              <a:effectLst/>
              <a:uLnTx/>
              <a:uFillTx/>
              <a:cs typeface="Arial" panose="020B0604020202020204" pitchFamily="34" charset="0"/>
            </a:endParaRPr>
          </a:p>
        </p:txBody>
      </p:sp>
      <p:sp>
        <p:nvSpPr>
          <p:cNvPr id="11" name="Rectangle 10">
            <a:extLst>
              <a:ext uri="{FF2B5EF4-FFF2-40B4-BE49-F238E27FC236}">
                <a16:creationId xmlns:a16="http://schemas.microsoft.com/office/drawing/2014/main" id="{1C165F26-360F-4D60-BA8F-6E6800625D38}"/>
              </a:ext>
            </a:extLst>
          </p:cNvPr>
          <p:cNvSpPr/>
          <p:nvPr/>
        </p:nvSpPr>
        <p:spPr>
          <a:xfrm>
            <a:off x="9673656" y="1719075"/>
            <a:ext cx="1632178" cy="27699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0" cap="none" spc="0" normalizeH="0" baseline="0" noProof="0" dirty="0">
                <a:ln>
                  <a:noFill/>
                </a:ln>
                <a:solidFill>
                  <a:srgbClr val="000000"/>
                </a:solidFill>
                <a:effectLst/>
                <a:uLnTx/>
                <a:uFillTx/>
                <a:cs typeface="Arial" panose="020B0604020202020204" pitchFamily="34" charset="0"/>
              </a:rPr>
              <a:t>Not at all important (1)</a:t>
            </a:r>
            <a:endParaRPr kumimoji="0" lang="en-US" sz="1200" b="0" i="1" u="none" strike="noStrike" kern="0" cap="none" spc="0" normalizeH="0" baseline="0" noProof="0" dirty="0">
              <a:ln>
                <a:noFill/>
              </a:ln>
              <a:solidFill>
                <a:prstClr val="black"/>
              </a:solidFill>
              <a:effectLst/>
              <a:uLnTx/>
              <a:uFillTx/>
              <a:cs typeface="Arial" panose="020B0604020202020204" pitchFamily="34" charset="0"/>
            </a:endParaRPr>
          </a:p>
        </p:txBody>
      </p:sp>
      <p:sp>
        <p:nvSpPr>
          <p:cNvPr id="12" name="TextBox 11">
            <a:extLst>
              <a:ext uri="{FF2B5EF4-FFF2-40B4-BE49-F238E27FC236}">
                <a16:creationId xmlns:a16="http://schemas.microsoft.com/office/drawing/2014/main" id="{CDCB854C-7410-40F5-8398-50487438FCFE}"/>
              </a:ext>
            </a:extLst>
          </p:cNvPr>
          <p:cNvSpPr txBox="1"/>
          <p:nvPr/>
        </p:nvSpPr>
        <p:spPr>
          <a:xfrm>
            <a:off x="273326" y="632280"/>
            <a:ext cx="11547614" cy="307777"/>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2060"/>
                </a:solidFill>
                <a:effectLst/>
                <a:uLnTx/>
                <a:uFillTx/>
                <a:latin typeface="Book Antiqua" panose="02040602050305030304" pitchFamily="18" charset="0"/>
                <a:cs typeface="Arial" panose="020B0604020202020204" pitchFamily="34" charset="0"/>
              </a:rPr>
              <a:t>Across all demographics, all attributes are critical and important, apart from Edo, where inclusivity and diversity is rated below average.</a:t>
            </a:r>
            <a:endParaRPr kumimoji="0" lang="en-US" altLang="en-US" sz="1200" b="0" i="1" u="none" strike="noStrike" kern="1200" cap="none" spc="0" normalizeH="0" baseline="0" noProof="0" dirty="0">
              <a:ln>
                <a:noFill/>
              </a:ln>
              <a:solidFill>
                <a:srgbClr val="002060"/>
              </a:solidFill>
              <a:effectLst/>
              <a:uLnTx/>
              <a:uFillTx/>
              <a:latin typeface="Book Antiqua" panose="02040602050305030304" pitchFamily="18" charset="0"/>
              <a:cs typeface="Arial" panose="020B0604020202020204" pitchFamily="34" charset="0"/>
            </a:endParaRPr>
          </a:p>
        </p:txBody>
      </p:sp>
      <p:graphicFrame>
        <p:nvGraphicFramePr>
          <p:cNvPr id="13" name="Table 12">
            <a:extLst>
              <a:ext uri="{FF2B5EF4-FFF2-40B4-BE49-F238E27FC236}">
                <a16:creationId xmlns:a16="http://schemas.microsoft.com/office/drawing/2014/main" id="{58E1B3B3-24DF-427A-8EB1-84990E411F66}"/>
              </a:ext>
            </a:extLst>
          </p:cNvPr>
          <p:cNvGraphicFramePr>
            <a:graphicFrameLocks noGrp="1"/>
          </p:cNvGraphicFramePr>
          <p:nvPr>
            <p:extLst>
              <p:ext uri="{D42A27DB-BD31-4B8C-83A1-F6EECF244321}">
                <p14:modId xmlns:p14="http://schemas.microsoft.com/office/powerpoint/2010/main" val="3286756870"/>
              </p:ext>
            </p:extLst>
          </p:nvPr>
        </p:nvGraphicFramePr>
        <p:xfrm>
          <a:off x="476250" y="1941777"/>
          <a:ext cx="10447199" cy="3843312"/>
        </p:xfrm>
        <a:graphic>
          <a:graphicData uri="http://schemas.openxmlformats.org/drawingml/2006/table">
            <a:tbl>
              <a:tblPr/>
              <a:tblGrid>
                <a:gridCol w="3062833">
                  <a:extLst>
                    <a:ext uri="{9D8B030D-6E8A-4147-A177-3AD203B41FA5}">
                      <a16:colId xmlns:a16="http://schemas.microsoft.com/office/drawing/2014/main" val="2839206318"/>
                    </a:ext>
                  </a:extLst>
                </a:gridCol>
                <a:gridCol w="671306">
                  <a:extLst>
                    <a:ext uri="{9D8B030D-6E8A-4147-A177-3AD203B41FA5}">
                      <a16:colId xmlns:a16="http://schemas.microsoft.com/office/drawing/2014/main" val="4084287381"/>
                    </a:ext>
                  </a:extLst>
                </a:gridCol>
                <a:gridCol w="671306">
                  <a:extLst>
                    <a:ext uri="{9D8B030D-6E8A-4147-A177-3AD203B41FA5}">
                      <a16:colId xmlns:a16="http://schemas.microsoft.com/office/drawing/2014/main" val="823488056"/>
                    </a:ext>
                  </a:extLst>
                </a:gridCol>
                <a:gridCol w="671306">
                  <a:extLst>
                    <a:ext uri="{9D8B030D-6E8A-4147-A177-3AD203B41FA5}">
                      <a16:colId xmlns:a16="http://schemas.microsoft.com/office/drawing/2014/main" val="2784897661"/>
                    </a:ext>
                  </a:extLst>
                </a:gridCol>
                <a:gridCol w="671306">
                  <a:extLst>
                    <a:ext uri="{9D8B030D-6E8A-4147-A177-3AD203B41FA5}">
                      <a16:colId xmlns:a16="http://schemas.microsoft.com/office/drawing/2014/main" val="557932375"/>
                    </a:ext>
                  </a:extLst>
                </a:gridCol>
                <a:gridCol w="671306">
                  <a:extLst>
                    <a:ext uri="{9D8B030D-6E8A-4147-A177-3AD203B41FA5}">
                      <a16:colId xmlns:a16="http://schemas.microsoft.com/office/drawing/2014/main" val="1541018661"/>
                    </a:ext>
                  </a:extLst>
                </a:gridCol>
                <a:gridCol w="671306">
                  <a:extLst>
                    <a:ext uri="{9D8B030D-6E8A-4147-A177-3AD203B41FA5}">
                      <a16:colId xmlns:a16="http://schemas.microsoft.com/office/drawing/2014/main" val="3563305883"/>
                    </a:ext>
                  </a:extLst>
                </a:gridCol>
                <a:gridCol w="671306">
                  <a:extLst>
                    <a:ext uri="{9D8B030D-6E8A-4147-A177-3AD203B41FA5}">
                      <a16:colId xmlns:a16="http://schemas.microsoft.com/office/drawing/2014/main" val="1959013830"/>
                    </a:ext>
                  </a:extLst>
                </a:gridCol>
                <a:gridCol w="671306">
                  <a:extLst>
                    <a:ext uri="{9D8B030D-6E8A-4147-A177-3AD203B41FA5}">
                      <a16:colId xmlns:a16="http://schemas.microsoft.com/office/drawing/2014/main" val="286401859"/>
                    </a:ext>
                  </a:extLst>
                </a:gridCol>
                <a:gridCol w="671306">
                  <a:extLst>
                    <a:ext uri="{9D8B030D-6E8A-4147-A177-3AD203B41FA5}">
                      <a16:colId xmlns:a16="http://schemas.microsoft.com/office/drawing/2014/main" val="853664555"/>
                    </a:ext>
                  </a:extLst>
                </a:gridCol>
                <a:gridCol w="671306">
                  <a:extLst>
                    <a:ext uri="{9D8B030D-6E8A-4147-A177-3AD203B41FA5}">
                      <a16:colId xmlns:a16="http://schemas.microsoft.com/office/drawing/2014/main" val="841063320"/>
                    </a:ext>
                  </a:extLst>
                </a:gridCol>
                <a:gridCol w="671306">
                  <a:extLst>
                    <a:ext uri="{9D8B030D-6E8A-4147-A177-3AD203B41FA5}">
                      <a16:colId xmlns:a16="http://schemas.microsoft.com/office/drawing/2014/main" val="2675792142"/>
                    </a:ext>
                  </a:extLst>
                </a:gridCol>
              </a:tblGrid>
              <a:tr h="349392">
                <a:tc>
                  <a:txBody>
                    <a:bodyPr/>
                    <a:lstStyle/>
                    <a:p>
                      <a:pPr algn="ctr" rtl="0" fontAlgn="b"/>
                      <a:r>
                        <a:rPr lang="en-GB" sz="1200" b="1" i="0" u="none" strike="noStrike" dirty="0">
                          <a:solidFill>
                            <a:srgbClr val="000000"/>
                          </a:solidFill>
                          <a:effectLst/>
                          <a:latin typeface="Calibri" panose="020F0502020204030204" pitchFamily="34" charset="0"/>
                        </a:rPr>
                        <a:t> </a:t>
                      </a:r>
                    </a:p>
                  </a:txBody>
                  <a:tcPr marL="8257" marR="8257" marT="8257" marB="0" anchor="ctr">
                    <a:lnL w="6350" cap="flat" cmpd="sng" algn="ctr">
                      <a:solidFill>
                        <a:srgbClr val="FFFFFF"/>
                      </a:solidFill>
                      <a:prstDash val="solid"/>
                      <a:round/>
                      <a:headEnd type="none" w="med" len="med"/>
                      <a:tailEnd type="none" w="med" len="med"/>
                    </a:lnL>
                    <a:lnR w="19050" cap="flat" cmpd="sng" algn="ctr">
                      <a:solidFill>
                        <a:srgbClr val="993300"/>
                      </a:solidFill>
                      <a:prstDash val="solid"/>
                      <a:round/>
                      <a:headEnd type="none" w="med" len="med"/>
                      <a:tailEnd type="none" w="med" len="med"/>
                    </a:lnR>
                    <a:lnT w="6350" cap="flat" cmpd="sng" algn="ctr">
                      <a:solidFill>
                        <a:srgbClr val="FFFFFF"/>
                      </a:solidFill>
                      <a:prstDash val="solid"/>
                      <a:round/>
                      <a:headEnd type="none" w="med" len="med"/>
                      <a:tailEnd type="none" w="med" len="med"/>
                    </a:lnT>
                    <a:lnB w="19050" cap="flat" cmpd="sng" algn="ctr">
                      <a:solidFill>
                        <a:srgbClr val="993300"/>
                      </a:solidFill>
                      <a:prstDash val="solid"/>
                      <a:round/>
                      <a:headEnd type="none" w="med" len="med"/>
                      <a:tailEnd type="none" w="med" len="med"/>
                    </a:lnB>
                  </a:tcPr>
                </a:tc>
                <a:tc>
                  <a:txBody>
                    <a:bodyPr/>
                    <a:lstStyle/>
                    <a:p>
                      <a:pPr algn="ctr" rtl="0" fontAlgn="b"/>
                      <a:r>
                        <a:rPr lang="en-GB" sz="1200" b="1" i="0" u="none" strike="noStrike">
                          <a:solidFill>
                            <a:srgbClr val="000000"/>
                          </a:solidFill>
                          <a:effectLst/>
                          <a:latin typeface="Calibri" panose="020F0502020204030204" pitchFamily="34" charset="0"/>
                        </a:rPr>
                        <a:t>Total</a:t>
                      </a:r>
                    </a:p>
                  </a:txBody>
                  <a:tcPr marL="8257" marR="8257" marT="8257" marB="0" anchor="ctr">
                    <a:lnL w="190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FFFFFF"/>
                      </a:solidFill>
                      <a:prstDash val="solid"/>
                      <a:round/>
                      <a:headEnd type="none" w="med" len="med"/>
                      <a:tailEnd type="none" w="med" len="med"/>
                    </a:lnT>
                    <a:lnB w="19050" cap="flat" cmpd="sng" algn="ctr">
                      <a:solidFill>
                        <a:srgbClr val="993300"/>
                      </a:solidFill>
                      <a:prstDash val="solid"/>
                      <a:round/>
                      <a:headEnd type="none" w="med" len="med"/>
                      <a:tailEnd type="none" w="med" len="med"/>
                    </a:lnB>
                  </a:tcPr>
                </a:tc>
                <a:tc>
                  <a:txBody>
                    <a:bodyPr/>
                    <a:lstStyle/>
                    <a:p>
                      <a:pPr algn="ctr" rtl="0" fontAlgn="b"/>
                      <a:r>
                        <a:rPr lang="en-GB" sz="1200" b="1" i="0" u="none" strike="noStrike">
                          <a:solidFill>
                            <a:srgbClr val="000000"/>
                          </a:solidFill>
                          <a:effectLst/>
                          <a:latin typeface="Calibri" panose="020F0502020204030204" pitchFamily="34" charset="0"/>
                        </a:rPr>
                        <a:t>Male</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FFFFFF"/>
                      </a:solidFill>
                      <a:prstDash val="solid"/>
                      <a:round/>
                      <a:headEnd type="none" w="med" len="med"/>
                      <a:tailEnd type="none" w="med" len="med"/>
                    </a:lnT>
                    <a:lnB w="19050" cap="flat" cmpd="sng" algn="ctr">
                      <a:solidFill>
                        <a:srgbClr val="993300"/>
                      </a:solidFill>
                      <a:prstDash val="solid"/>
                      <a:round/>
                      <a:headEnd type="none" w="med" len="med"/>
                      <a:tailEnd type="none" w="med" len="med"/>
                    </a:lnB>
                  </a:tcPr>
                </a:tc>
                <a:tc>
                  <a:txBody>
                    <a:bodyPr/>
                    <a:lstStyle/>
                    <a:p>
                      <a:pPr algn="ctr" rtl="0" fontAlgn="b"/>
                      <a:r>
                        <a:rPr lang="en-GB" sz="1200" b="1" i="0" u="none" strike="noStrike">
                          <a:solidFill>
                            <a:srgbClr val="000000"/>
                          </a:solidFill>
                          <a:effectLst/>
                          <a:latin typeface="Calibri" panose="020F0502020204030204" pitchFamily="34" charset="0"/>
                        </a:rPr>
                        <a:t>Female</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FFFFFF"/>
                      </a:solidFill>
                      <a:prstDash val="solid"/>
                      <a:round/>
                      <a:headEnd type="none" w="med" len="med"/>
                      <a:tailEnd type="none" w="med" len="med"/>
                    </a:lnT>
                    <a:lnB w="19050" cap="flat" cmpd="sng" algn="ctr">
                      <a:solidFill>
                        <a:srgbClr val="993300"/>
                      </a:solidFill>
                      <a:prstDash val="solid"/>
                      <a:round/>
                      <a:headEnd type="none" w="med" len="med"/>
                      <a:tailEnd type="none" w="med" len="med"/>
                    </a:lnB>
                  </a:tcPr>
                </a:tc>
                <a:tc>
                  <a:txBody>
                    <a:bodyPr/>
                    <a:lstStyle/>
                    <a:p>
                      <a:pPr algn="ctr" rtl="0" fontAlgn="b"/>
                      <a:r>
                        <a:rPr lang="en-GB" sz="1200" b="1" i="0" u="none" strike="noStrike">
                          <a:solidFill>
                            <a:srgbClr val="000000"/>
                          </a:solidFill>
                          <a:effectLst/>
                          <a:latin typeface="Calibri" panose="020F0502020204030204" pitchFamily="34" charset="0"/>
                        </a:rPr>
                        <a:t>FCT</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FFFFFF"/>
                      </a:solidFill>
                      <a:prstDash val="solid"/>
                      <a:round/>
                      <a:headEnd type="none" w="med" len="med"/>
                      <a:tailEnd type="none" w="med" len="med"/>
                    </a:lnT>
                    <a:lnB w="19050" cap="flat" cmpd="sng" algn="ctr">
                      <a:solidFill>
                        <a:srgbClr val="993300"/>
                      </a:solidFill>
                      <a:prstDash val="solid"/>
                      <a:round/>
                      <a:headEnd type="none" w="med" len="med"/>
                      <a:tailEnd type="none" w="med" len="med"/>
                    </a:lnB>
                  </a:tcPr>
                </a:tc>
                <a:tc>
                  <a:txBody>
                    <a:bodyPr/>
                    <a:lstStyle/>
                    <a:p>
                      <a:pPr algn="ctr" rtl="0" fontAlgn="b"/>
                      <a:r>
                        <a:rPr lang="en-GB" sz="1200" b="1" i="0" u="none" strike="noStrike">
                          <a:solidFill>
                            <a:srgbClr val="000000"/>
                          </a:solidFill>
                          <a:effectLst/>
                          <a:latin typeface="Calibri" panose="020F0502020204030204" pitchFamily="34" charset="0"/>
                        </a:rPr>
                        <a:t>Bauchi</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FFFFFF"/>
                      </a:solidFill>
                      <a:prstDash val="solid"/>
                      <a:round/>
                      <a:headEnd type="none" w="med" len="med"/>
                      <a:tailEnd type="none" w="med" len="med"/>
                    </a:lnT>
                    <a:lnB w="19050" cap="flat" cmpd="sng" algn="ctr">
                      <a:solidFill>
                        <a:srgbClr val="993300"/>
                      </a:solidFill>
                      <a:prstDash val="solid"/>
                      <a:round/>
                      <a:headEnd type="none" w="med" len="med"/>
                      <a:tailEnd type="none" w="med" len="med"/>
                    </a:lnB>
                  </a:tcPr>
                </a:tc>
                <a:tc>
                  <a:txBody>
                    <a:bodyPr/>
                    <a:lstStyle/>
                    <a:p>
                      <a:pPr algn="ctr" rtl="0" fontAlgn="b"/>
                      <a:r>
                        <a:rPr lang="en-GB" sz="1200" b="1" i="0" u="none" strike="noStrike">
                          <a:solidFill>
                            <a:srgbClr val="000000"/>
                          </a:solidFill>
                          <a:effectLst/>
                          <a:latin typeface="Calibri" panose="020F0502020204030204" pitchFamily="34" charset="0"/>
                        </a:rPr>
                        <a:t>Kano</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FFFFFF"/>
                      </a:solidFill>
                      <a:prstDash val="solid"/>
                      <a:round/>
                      <a:headEnd type="none" w="med" len="med"/>
                      <a:tailEnd type="none" w="med" len="med"/>
                    </a:lnT>
                    <a:lnB w="19050" cap="flat" cmpd="sng" algn="ctr">
                      <a:solidFill>
                        <a:srgbClr val="993300"/>
                      </a:solidFill>
                      <a:prstDash val="solid"/>
                      <a:round/>
                      <a:headEnd type="none" w="med" len="med"/>
                      <a:tailEnd type="none" w="med" len="med"/>
                    </a:lnB>
                  </a:tcPr>
                </a:tc>
                <a:tc>
                  <a:txBody>
                    <a:bodyPr/>
                    <a:lstStyle/>
                    <a:p>
                      <a:pPr algn="ctr" rtl="0" fontAlgn="b"/>
                      <a:r>
                        <a:rPr lang="en-GB" sz="1200" b="1" i="0" u="none" strike="noStrike">
                          <a:solidFill>
                            <a:srgbClr val="000000"/>
                          </a:solidFill>
                          <a:effectLst/>
                          <a:latin typeface="Calibri" panose="020F0502020204030204" pitchFamily="34" charset="0"/>
                        </a:rPr>
                        <a:t>Enugu</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FFFFFF"/>
                      </a:solidFill>
                      <a:prstDash val="solid"/>
                      <a:round/>
                      <a:headEnd type="none" w="med" len="med"/>
                      <a:tailEnd type="none" w="med" len="med"/>
                    </a:lnT>
                    <a:lnB w="19050" cap="flat" cmpd="sng" algn="ctr">
                      <a:solidFill>
                        <a:srgbClr val="993300"/>
                      </a:solidFill>
                      <a:prstDash val="solid"/>
                      <a:round/>
                      <a:headEnd type="none" w="med" len="med"/>
                      <a:tailEnd type="none" w="med" len="med"/>
                    </a:lnB>
                  </a:tcPr>
                </a:tc>
                <a:tc>
                  <a:txBody>
                    <a:bodyPr/>
                    <a:lstStyle/>
                    <a:p>
                      <a:pPr algn="ctr" rtl="0" fontAlgn="b"/>
                      <a:r>
                        <a:rPr lang="en-GB" sz="1200" b="1" i="0" u="none" strike="noStrike">
                          <a:solidFill>
                            <a:srgbClr val="000000"/>
                          </a:solidFill>
                          <a:effectLst/>
                          <a:latin typeface="Calibri" panose="020F0502020204030204" pitchFamily="34" charset="0"/>
                        </a:rPr>
                        <a:t>Edo</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FFFFFF"/>
                      </a:solidFill>
                      <a:prstDash val="solid"/>
                      <a:round/>
                      <a:headEnd type="none" w="med" len="med"/>
                      <a:tailEnd type="none" w="med" len="med"/>
                    </a:lnT>
                    <a:lnB w="19050" cap="flat" cmpd="sng" algn="ctr">
                      <a:solidFill>
                        <a:srgbClr val="993300"/>
                      </a:solidFill>
                      <a:prstDash val="solid"/>
                      <a:round/>
                      <a:headEnd type="none" w="med" len="med"/>
                      <a:tailEnd type="none" w="med" len="med"/>
                    </a:lnB>
                  </a:tcPr>
                </a:tc>
                <a:tc>
                  <a:txBody>
                    <a:bodyPr/>
                    <a:lstStyle/>
                    <a:p>
                      <a:pPr algn="ctr" rtl="0" fontAlgn="b"/>
                      <a:r>
                        <a:rPr lang="en-GB" sz="1200" b="1" i="0" u="none" strike="noStrike">
                          <a:solidFill>
                            <a:srgbClr val="000000"/>
                          </a:solidFill>
                          <a:effectLst/>
                          <a:latin typeface="Calibri" panose="020F0502020204030204" pitchFamily="34" charset="0"/>
                        </a:rPr>
                        <a:t>Lagos</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FFFFFF"/>
                      </a:solidFill>
                      <a:prstDash val="solid"/>
                      <a:round/>
                      <a:headEnd type="none" w="med" len="med"/>
                      <a:tailEnd type="none" w="med" len="med"/>
                    </a:lnT>
                    <a:lnB w="19050" cap="flat" cmpd="sng" algn="ctr">
                      <a:solidFill>
                        <a:srgbClr val="993300"/>
                      </a:solidFill>
                      <a:prstDash val="solid"/>
                      <a:round/>
                      <a:headEnd type="none" w="med" len="med"/>
                      <a:tailEnd type="none" w="med" len="med"/>
                    </a:lnB>
                  </a:tcPr>
                </a:tc>
                <a:tc>
                  <a:txBody>
                    <a:bodyPr/>
                    <a:lstStyle/>
                    <a:p>
                      <a:pPr algn="ctr" rtl="0" fontAlgn="b"/>
                      <a:r>
                        <a:rPr lang="en-GB" sz="1200" b="1" i="0" u="none" strike="noStrike">
                          <a:solidFill>
                            <a:srgbClr val="000000"/>
                          </a:solidFill>
                          <a:effectLst/>
                          <a:latin typeface="Calibri" panose="020F0502020204030204" pitchFamily="34" charset="0"/>
                        </a:rPr>
                        <a:t>Urban</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FFFFFF"/>
                      </a:solidFill>
                      <a:prstDash val="solid"/>
                      <a:round/>
                      <a:headEnd type="none" w="med" len="med"/>
                      <a:tailEnd type="none" w="med" len="med"/>
                    </a:lnT>
                    <a:lnB w="19050" cap="flat" cmpd="sng" algn="ctr">
                      <a:solidFill>
                        <a:srgbClr val="993300"/>
                      </a:solidFill>
                      <a:prstDash val="solid"/>
                      <a:round/>
                      <a:headEnd type="none" w="med" len="med"/>
                      <a:tailEnd type="none" w="med" len="med"/>
                    </a:lnB>
                  </a:tcPr>
                </a:tc>
                <a:tc>
                  <a:txBody>
                    <a:bodyPr/>
                    <a:lstStyle/>
                    <a:p>
                      <a:pPr algn="ctr" rtl="0" fontAlgn="b"/>
                      <a:r>
                        <a:rPr lang="en-GB" sz="1200" b="1" i="0" u="none" strike="noStrike">
                          <a:solidFill>
                            <a:srgbClr val="000000"/>
                          </a:solidFill>
                          <a:effectLst/>
                          <a:latin typeface="Calibri" panose="020F0502020204030204" pitchFamily="34" charset="0"/>
                        </a:rPr>
                        <a:t>Rural</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FFFFFF"/>
                      </a:solidFill>
                      <a:prstDash val="solid"/>
                      <a:round/>
                      <a:headEnd type="none" w="med" len="med"/>
                      <a:tailEnd type="none" w="med" len="med"/>
                    </a:lnT>
                    <a:lnB w="19050" cap="flat" cmpd="sng" algn="ctr">
                      <a:solidFill>
                        <a:srgbClr val="993300"/>
                      </a:solidFill>
                      <a:prstDash val="solid"/>
                      <a:round/>
                      <a:headEnd type="none" w="med" len="med"/>
                      <a:tailEnd type="none" w="med" len="med"/>
                    </a:lnB>
                  </a:tcPr>
                </a:tc>
                <a:extLst>
                  <a:ext uri="{0D108BD9-81ED-4DB2-BD59-A6C34878D82A}">
                    <a16:rowId xmlns:a16="http://schemas.microsoft.com/office/drawing/2014/main" val="1180263575"/>
                  </a:ext>
                </a:extLst>
              </a:tr>
              <a:tr h="349392">
                <a:tc>
                  <a:txBody>
                    <a:bodyPr/>
                    <a:lstStyle/>
                    <a:p>
                      <a:pPr algn="l" rtl="0" fontAlgn="b"/>
                      <a:r>
                        <a:rPr lang="en-GB" sz="1200" b="0" i="0" u="none" strike="noStrike">
                          <a:solidFill>
                            <a:srgbClr val="000000"/>
                          </a:solidFill>
                          <a:effectLst/>
                          <a:latin typeface="Calibri" panose="020F0502020204030204" pitchFamily="34" charset="0"/>
                        </a:rPr>
                        <a:t>Vision and Strategic Thinking</a:t>
                      </a:r>
                    </a:p>
                  </a:txBody>
                  <a:tcPr marL="8257" marR="8257" marT="8257" marB="0" anchor="ctr">
                    <a:lnL w="6350" cap="flat" cmpd="sng" algn="ctr">
                      <a:solidFill>
                        <a:srgbClr val="FFFFFF"/>
                      </a:solidFill>
                      <a:prstDash val="solid"/>
                      <a:round/>
                      <a:headEnd type="none" w="med" len="med"/>
                      <a:tailEnd type="none" w="med" len="med"/>
                    </a:lnL>
                    <a:lnR w="19050" cap="flat" cmpd="sng" algn="ctr">
                      <a:solidFill>
                        <a:srgbClr val="993300"/>
                      </a:solidFill>
                      <a:prstDash val="solid"/>
                      <a:round/>
                      <a:headEnd type="none" w="med" len="med"/>
                      <a:tailEnd type="none" w="med" len="med"/>
                    </a:lnR>
                    <a:lnT w="190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tcPr>
                </a:tc>
                <a:tc>
                  <a:txBody>
                    <a:bodyPr/>
                    <a:lstStyle/>
                    <a:p>
                      <a:pPr algn="ctr" rtl="0" fontAlgn="b"/>
                      <a:r>
                        <a:rPr lang="en-GB" sz="1200" b="0" i="0" u="none" strike="noStrike" dirty="0">
                          <a:solidFill>
                            <a:srgbClr val="000000"/>
                          </a:solidFill>
                          <a:effectLst/>
                          <a:latin typeface="Calibri" panose="020F0502020204030204" pitchFamily="34" charset="0"/>
                        </a:rPr>
                        <a:t>4.6</a:t>
                      </a:r>
                    </a:p>
                  </a:txBody>
                  <a:tcPr marL="8257" marR="8257" marT="8257" marB="0" anchor="ctr">
                    <a:lnL w="190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190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AB848"/>
                    </a:solidFill>
                  </a:tcPr>
                </a:tc>
                <a:tc>
                  <a:txBody>
                    <a:bodyPr/>
                    <a:lstStyle/>
                    <a:p>
                      <a:pPr algn="ctr" rtl="0" fontAlgn="b"/>
                      <a:r>
                        <a:rPr lang="en-GB" sz="1200" b="0" i="0" u="none" strike="noStrike">
                          <a:solidFill>
                            <a:srgbClr val="000000"/>
                          </a:solidFill>
                          <a:effectLst/>
                          <a:latin typeface="Calibri" panose="020F0502020204030204" pitchFamily="34" charset="0"/>
                        </a:rPr>
                        <a:t>4.6</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190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AB848"/>
                    </a:solidFill>
                  </a:tcPr>
                </a:tc>
                <a:tc>
                  <a:txBody>
                    <a:bodyPr/>
                    <a:lstStyle/>
                    <a:p>
                      <a:pPr algn="ctr" rtl="0" fontAlgn="b"/>
                      <a:r>
                        <a:rPr lang="en-GB" sz="1200" b="0" i="0" u="none" strike="noStrike">
                          <a:solidFill>
                            <a:srgbClr val="000000"/>
                          </a:solidFill>
                          <a:effectLst/>
                          <a:latin typeface="Calibri" panose="020F0502020204030204" pitchFamily="34" charset="0"/>
                        </a:rPr>
                        <a:t>4.6</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190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AB848"/>
                    </a:solidFill>
                  </a:tcPr>
                </a:tc>
                <a:tc>
                  <a:txBody>
                    <a:bodyPr/>
                    <a:lstStyle/>
                    <a:p>
                      <a:pPr algn="ctr" rtl="0" fontAlgn="b"/>
                      <a:r>
                        <a:rPr lang="en-GB" sz="1200" b="0" i="0" u="none" strike="noStrike">
                          <a:solidFill>
                            <a:srgbClr val="000000"/>
                          </a:solidFill>
                          <a:effectLst/>
                          <a:latin typeface="Calibri" panose="020F0502020204030204" pitchFamily="34" charset="0"/>
                        </a:rPr>
                        <a:t>4.56</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190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DB947"/>
                    </a:solidFill>
                  </a:tcPr>
                </a:tc>
                <a:tc>
                  <a:txBody>
                    <a:bodyPr/>
                    <a:lstStyle/>
                    <a:p>
                      <a:pPr algn="ctr" rtl="0" fontAlgn="b"/>
                      <a:r>
                        <a:rPr lang="en-GB" sz="1200" b="0" i="0" u="none" strike="noStrike" dirty="0">
                          <a:solidFill>
                            <a:srgbClr val="000000"/>
                          </a:solidFill>
                          <a:effectLst/>
                          <a:latin typeface="Calibri" panose="020F0502020204030204" pitchFamily="34" charset="0"/>
                        </a:rPr>
                        <a:t>4.24</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190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31C040"/>
                    </a:solidFill>
                  </a:tcPr>
                </a:tc>
                <a:tc>
                  <a:txBody>
                    <a:bodyPr/>
                    <a:lstStyle/>
                    <a:p>
                      <a:pPr algn="ctr" rtl="0" fontAlgn="b"/>
                      <a:r>
                        <a:rPr lang="en-GB" sz="1200" b="0" i="0" u="none" strike="noStrike">
                          <a:solidFill>
                            <a:srgbClr val="000000"/>
                          </a:solidFill>
                          <a:effectLst/>
                          <a:latin typeface="Calibri" panose="020F0502020204030204" pitchFamily="34" charset="0"/>
                        </a:rPr>
                        <a:t>4.83</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190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0BB44C"/>
                    </a:solidFill>
                  </a:tcPr>
                </a:tc>
                <a:tc>
                  <a:txBody>
                    <a:bodyPr/>
                    <a:lstStyle/>
                    <a:p>
                      <a:pPr algn="ctr" rtl="0" fontAlgn="b"/>
                      <a:r>
                        <a:rPr lang="en-GB" sz="1200" b="0" i="0" u="none" strike="noStrike">
                          <a:solidFill>
                            <a:srgbClr val="000000"/>
                          </a:solidFill>
                          <a:effectLst/>
                          <a:latin typeface="Calibri" panose="020F0502020204030204" pitchFamily="34" charset="0"/>
                        </a:rPr>
                        <a:t>4.57</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190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CB947"/>
                    </a:solidFill>
                  </a:tcPr>
                </a:tc>
                <a:tc>
                  <a:txBody>
                    <a:bodyPr/>
                    <a:lstStyle/>
                    <a:p>
                      <a:pPr algn="ctr" rtl="0" fontAlgn="b"/>
                      <a:r>
                        <a:rPr lang="en-GB" sz="1200" b="0" i="0" u="none" strike="noStrike">
                          <a:solidFill>
                            <a:srgbClr val="000000"/>
                          </a:solidFill>
                          <a:effectLst/>
                          <a:latin typeface="Calibri" panose="020F0502020204030204" pitchFamily="34" charset="0"/>
                        </a:rPr>
                        <a:t>4.87</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190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09B34D"/>
                    </a:solidFill>
                  </a:tcPr>
                </a:tc>
                <a:tc>
                  <a:txBody>
                    <a:bodyPr/>
                    <a:lstStyle/>
                    <a:p>
                      <a:pPr algn="ctr" rtl="0" fontAlgn="b"/>
                      <a:r>
                        <a:rPr lang="en-GB" sz="1200" b="0" i="0" u="none" strike="noStrike">
                          <a:solidFill>
                            <a:srgbClr val="000000"/>
                          </a:solidFill>
                          <a:effectLst/>
                          <a:latin typeface="Calibri" panose="020F0502020204030204" pitchFamily="34" charset="0"/>
                        </a:rPr>
                        <a:t>4.62</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190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9B848"/>
                    </a:solidFill>
                  </a:tcPr>
                </a:tc>
                <a:tc>
                  <a:txBody>
                    <a:bodyPr/>
                    <a:lstStyle/>
                    <a:p>
                      <a:pPr algn="ctr" rtl="0" fontAlgn="b"/>
                      <a:r>
                        <a:rPr lang="en-GB" sz="1200" b="0" i="0" u="none" strike="noStrike">
                          <a:solidFill>
                            <a:srgbClr val="000000"/>
                          </a:solidFill>
                          <a:effectLst/>
                          <a:latin typeface="Calibri" panose="020F0502020204030204" pitchFamily="34" charset="0"/>
                        </a:rPr>
                        <a:t>4.61</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190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9B848"/>
                    </a:solidFill>
                  </a:tcPr>
                </a:tc>
                <a:tc>
                  <a:txBody>
                    <a:bodyPr/>
                    <a:lstStyle/>
                    <a:p>
                      <a:pPr algn="ctr" rtl="0" fontAlgn="b"/>
                      <a:r>
                        <a:rPr lang="en-GB" sz="1200" b="0" i="0" u="none" strike="noStrike">
                          <a:solidFill>
                            <a:srgbClr val="000000"/>
                          </a:solidFill>
                          <a:effectLst/>
                          <a:latin typeface="Calibri" panose="020F0502020204030204" pitchFamily="34" charset="0"/>
                        </a:rPr>
                        <a:t>4.58</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190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BB947"/>
                    </a:solidFill>
                  </a:tcPr>
                </a:tc>
                <a:extLst>
                  <a:ext uri="{0D108BD9-81ED-4DB2-BD59-A6C34878D82A}">
                    <a16:rowId xmlns:a16="http://schemas.microsoft.com/office/drawing/2014/main" val="3413963543"/>
                  </a:ext>
                </a:extLst>
              </a:tr>
              <a:tr h="349392">
                <a:tc>
                  <a:txBody>
                    <a:bodyPr/>
                    <a:lstStyle/>
                    <a:p>
                      <a:pPr algn="l" rtl="0" fontAlgn="b"/>
                      <a:r>
                        <a:rPr lang="en-GB" sz="1200" b="0" i="0" u="none" strike="noStrike" dirty="0">
                          <a:solidFill>
                            <a:srgbClr val="000000"/>
                          </a:solidFill>
                          <a:effectLst/>
                          <a:latin typeface="Calibri" panose="020F0502020204030204" pitchFamily="34" charset="0"/>
                        </a:rPr>
                        <a:t>Integrity and Ethics</a:t>
                      </a:r>
                    </a:p>
                  </a:txBody>
                  <a:tcPr marL="8257" marR="8257" marT="8257" marB="0" anchor="ctr">
                    <a:lnL w="6350" cap="flat" cmpd="sng" algn="ctr">
                      <a:solidFill>
                        <a:srgbClr val="FFFFFF"/>
                      </a:solidFill>
                      <a:prstDash val="solid"/>
                      <a:round/>
                      <a:headEnd type="none" w="med" len="med"/>
                      <a:tailEnd type="none" w="med" len="med"/>
                    </a:lnL>
                    <a:lnR w="190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tcPr>
                </a:tc>
                <a:tc>
                  <a:txBody>
                    <a:bodyPr/>
                    <a:lstStyle/>
                    <a:p>
                      <a:pPr algn="ctr" rtl="0" fontAlgn="b"/>
                      <a:r>
                        <a:rPr lang="en-GB" sz="1200" b="0" i="0" u="none" strike="noStrike">
                          <a:solidFill>
                            <a:srgbClr val="000000"/>
                          </a:solidFill>
                          <a:effectLst/>
                          <a:latin typeface="Calibri" panose="020F0502020204030204" pitchFamily="34" charset="0"/>
                        </a:rPr>
                        <a:t>4.59</a:t>
                      </a:r>
                    </a:p>
                  </a:txBody>
                  <a:tcPr marL="8257" marR="8257" marT="8257" marB="0" anchor="ctr">
                    <a:lnL w="190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BB947"/>
                    </a:solidFill>
                  </a:tcPr>
                </a:tc>
                <a:tc>
                  <a:txBody>
                    <a:bodyPr/>
                    <a:lstStyle/>
                    <a:p>
                      <a:pPr algn="ctr" rtl="0" fontAlgn="b"/>
                      <a:r>
                        <a:rPr lang="en-GB" sz="1200" b="0" i="0" u="none" strike="noStrike">
                          <a:solidFill>
                            <a:srgbClr val="000000"/>
                          </a:solidFill>
                          <a:effectLst/>
                          <a:latin typeface="Calibri" panose="020F0502020204030204" pitchFamily="34" charset="0"/>
                        </a:rPr>
                        <a:t>4.58</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BB947"/>
                    </a:solidFill>
                  </a:tcPr>
                </a:tc>
                <a:tc>
                  <a:txBody>
                    <a:bodyPr/>
                    <a:lstStyle/>
                    <a:p>
                      <a:pPr algn="ctr" rtl="0" fontAlgn="b"/>
                      <a:r>
                        <a:rPr lang="en-GB" sz="1200" b="0" i="0" u="none" strike="noStrike">
                          <a:solidFill>
                            <a:srgbClr val="000000"/>
                          </a:solidFill>
                          <a:effectLst/>
                          <a:latin typeface="Calibri" panose="020F0502020204030204" pitchFamily="34" charset="0"/>
                        </a:rPr>
                        <a:t>4.59</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BB947"/>
                    </a:solidFill>
                  </a:tcPr>
                </a:tc>
                <a:tc>
                  <a:txBody>
                    <a:bodyPr/>
                    <a:lstStyle/>
                    <a:p>
                      <a:pPr algn="ctr" rtl="0" fontAlgn="b"/>
                      <a:r>
                        <a:rPr lang="en-GB" sz="1200" b="0" i="0" u="none" strike="noStrike">
                          <a:solidFill>
                            <a:srgbClr val="000000"/>
                          </a:solidFill>
                          <a:effectLst/>
                          <a:latin typeface="Calibri" panose="020F0502020204030204" pitchFamily="34" charset="0"/>
                        </a:rPr>
                        <a:t>4.68</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5B749"/>
                    </a:solidFill>
                  </a:tcPr>
                </a:tc>
                <a:tc>
                  <a:txBody>
                    <a:bodyPr/>
                    <a:lstStyle/>
                    <a:p>
                      <a:pPr algn="ctr" rtl="0" fontAlgn="b"/>
                      <a:r>
                        <a:rPr lang="en-GB" sz="1200" b="0" i="0" u="none" strike="noStrike">
                          <a:solidFill>
                            <a:srgbClr val="000000"/>
                          </a:solidFill>
                          <a:effectLst/>
                          <a:latin typeface="Calibri" panose="020F0502020204030204" pitchFamily="34" charset="0"/>
                        </a:rPr>
                        <a:t>4.27</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2FBF41"/>
                    </a:solidFill>
                  </a:tcPr>
                </a:tc>
                <a:tc>
                  <a:txBody>
                    <a:bodyPr/>
                    <a:lstStyle/>
                    <a:p>
                      <a:pPr algn="ctr" rtl="0" fontAlgn="b"/>
                      <a:r>
                        <a:rPr lang="en-GB" sz="1200" b="0" i="0" u="none" strike="noStrike">
                          <a:solidFill>
                            <a:srgbClr val="000000"/>
                          </a:solidFill>
                          <a:effectLst/>
                          <a:latin typeface="Calibri" panose="020F0502020204030204" pitchFamily="34" charset="0"/>
                        </a:rPr>
                        <a:t>4.72</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2B64A"/>
                    </a:solidFill>
                  </a:tcPr>
                </a:tc>
                <a:tc>
                  <a:txBody>
                    <a:bodyPr/>
                    <a:lstStyle/>
                    <a:p>
                      <a:pPr algn="ctr" rtl="0" fontAlgn="b"/>
                      <a:r>
                        <a:rPr lang="en-GB" sz="1200" b="0" i="0" u="none" strike="noStrike">
                          <a:solidFill>
                            <a:srgbClr val="000000"/>
                          </a:solidFill>
                          <a:effectLst/>
                          <a:latin typeface="Calibri" panose="020F0502020204030204" pitchFamily="34" charset="0"/>
                        </a:rPr>
                        <a:t>4.58</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BB947"/>
                    </a:solidFill>
                  </a:tcPr>
                </a:tc>
                <a:tc>
                  <a:txBody>
                    <a:bodyPr/>
                    <a:lstStyle/>
                    <a:p>
                      <a:pPr algn="ctr" rtl="0" fontAlgn="b"/>
                      <a:r>
                        <a:rPr lang="en-GB" sz="1200" b="0" i="0" u="none" strike="noStrike">
                          <a:solidFill>
                            <a:srgbClr val="000000"/>
                          </a:solidFill>
                          <a:effectLst/>
                          <a:latin typeface="Calibri" panose="020F0502020204030204" pitchFamily="34" charset="0"/>
                        </a:rPr>
                        <a:t>4.91</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06B24E"/>
                    </a:solidFill>
                  </a:tcPr>
                </a:tc>
                <a:tc>
                  <a:txBody>
                    <a:bodyPr/>
                    <a:lstStyle/>
                    <a:p>
                      <a:pPr algn="ctr" rtl="0" fontAlgn="b"/>
                      <a:r>
                        <a:rPr lang="en-GB" sz="1200" b="0" i="0" u="none" strike="noStrike">
                          <a:solidFill>
                            <a:srgbClr val="000000"/>
                          </a:solidFill>
                          <a:effectLst/>
                          <a:latin typeface="Calibri" panose="020F0502020204030204" pitchFamily="34" charset="0"/>
                        </a:rPr>
                        <a:t>4.56</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DB947"/>
                    </a:solidFill>
                  </a:tcPr>
                </a:tc>
                <a:tc>
                  <a:txBody>
                    <a:bodyPr/>
                    <a:lstStyle/>
                    <a:p>
                      <a:pPr algn="ctr" rtl="0" fontAlgn="b"/>
                      <a:r>
                        <a:rPr lang="en-GB" sz="1200" b="0" i="0" u="none" strike="noStrike">
                          <a:solidFill>
                            <a:srgbClr val="000000"/>
                          </a:solidFill>
                          <a:effectLst/>
                          <a:latin typeface="Calibri" panose="020F0502020204030204" pitchFamily="34" charset="0"/>
                        </a:rPr>
                        <a:t>4.56</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DB947"/>
                    </a:solidFill>
                  </a:tcPr>
                </a:tc>
                <a:tc>
                  <a:txBody>
                    <a:bodyPr/>
                    <a:lstStyle/>
                    <a:p>
                      <a:pPr algn="ctr" rtl="0" fontAlgn="b"/>
                      <a:r>
                        <a:rPr lang="en-GB" sz="1200" b="0" i="0" u="none" strike="noStrike">
                          <a:solidFill>
                            <a:srgbClr val="000000"/>
                          </a:solidFill>
                          <a:effectLst/>
                          <a:latin typeface="Calibri" panose="020F0502020204030204" pitchFamily="34" charset="0"/>
                        </a:rPr>
                        <a:t>4.63</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8B848"/>
                    </a:solidFill>
                  </a:tcPr>
                </a:tc>
                <a:extLst>
                  <a:ext uri="{0D108BD9-81ED-4DB2-BD59-A6C34878D82A}">
                    <a16:rowId xmlns:a16="http://schemas.microsoft.com/office/drawing/2014/main" val="2430923315"/>
                  </a:ext>
                </a:extLst>
              </a:tr>
              <a:tr h="349392">
                <a:tc>
                  <a:txBody>
                    <a:bodyPr/>
                    <a:lstStyle/>
                    <a:p>
                      <a:pPr algn="l" rtl="0" fontAlgn="b"/>
                      <a:r>
                        <a:rPr lang="en-GB" sz="1200" b="0" i="0" u="none" strike="noStrike">
                          <a:solidFill>
                            <a:srgbClr val="000000"/>
                          </a:solidFill>
                          <a:effectLst/>
                          <a:latin typeface="Calibri" panose="020F0502020204030204" pitchFamily="34" charset="0"/>
                        </a:rPr>
                        <a:t>Communication Skills</a:t>
                      </a:r>
                    </a:p>
                  </a:txBody>
                  <a:tcPr marL="8257" marR="8257" marT="8257" marB="0" anchor="ctr">
                    <a:lnL w="6350" cap="flat" cmpd="sng" algn="ctr">
                      <a:solidFill>
                        <a:srgbClr val="FFFFFF"/>
                      </a:solidFill>
                      <a:prstDash val="solid"/>
                      <a:round/>
                      <a:headEnd type="none" w="med" len="med"/>
                      <a:tailEnd type="none" w="med" len="med"/>
                    </a:lnL>
                    <a:lnR w="190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tcPr>
                </a:tc>
                <a:tc>
                  <a:txBody>
                    <a:bodyPr/>
                    <a:lstStyle/>
                    <a:p>
                      <a:pPr algn="ctr" rtl="0" fontAlgn="b"/>
                      <a:r>
                        <a:rPr lang="en-GB" sz="1200" b="0" i="0" u="none" strike="noStrike" dirty="0">
                          <a:solidFill>
                            <a:srgbClr val="000000"/>
                          </a:solidFill>
                          <a:effectLst/>
                          <a:latin typeface="Calibri" panose="020F0502020204030204" pitchFamily="34" charset="0"/>
                        </a:rPr>
                        <a:t>4.57</a:t>
                      </a:r>
                    </a:p>
                  </a:txBody>
                  <a:tcPr marL="8257" marR="8257" marT="8257" marB="0" anchor="ctr">
                    <a:lnL w="190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CB947"/>
                    </a:solidFill>
                  </a:tcPr>
                </a:tc>
                <a:tc>
                  <a:txBody>
                    <a:bodyPr/>
                    <a:lstStyle/>
                    <a:p>
                      <a:pPr algn="ctr" rtl="0" fontAlgn="b"/>
                      <a:r>
                        <a:rPr lang="en-GB" sz="1200" b="0" i="0" u="none" strike="noStrike">
                          <a:solidFill>
                            <a:srgbClr val="000000"/>
                          </a:solidFill>
                          <a:effectLst/>
                          <a:latin typeface="Calibri" panose="020F0502020204030204" pitchFamily="34" charset="0"/>
                        </a:rPr>
                        <a:t>4.55</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DB947"/>
                    </a:solidFill>
                  </a:tcPr>
                </a:tc>
                <a:tc>
                  <a:txBody>
                    <a:bodyPr/>
                    <a:lstStyle/>
                    <a:p>
                      <a:pPr algn="ctr" rtl="0" fontAlgn="b"/>
                      <a:r>
                        <a:rPr lang="en-GB" sz="1200" b="0" i="0" u="none" strike="noStrike">
                          <a:solidFill>
                            <a:srgbClr val="000000"/>
                          </a:solidFill>
                          <a:effectLst/>
                          <a:latin typeface="Calibri" panose="020F0502020204030204" pitchFamily="34" charset="0"/>
                        </a:rPr>
                        <a:t>4.59</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BB947"/>
                    </a:solidFill>
                  </a:tcPr>
                </a:tc>
                <a:tc>
                  <a:txBody>
                    <a:bodyPr/>
                    <a:lstStyle/>
                    <a:p>
                      <a:pPr algn="ctr" rtl="0" fontAlgn="b"/>
                      <a:r>
                        <a:rPr lang="en-GB" sz="1200" b="0" i="0" u="none" strike="noStrike">
                          <a:solidFill>
                            <a:srgbClr val="000000"/>
                          </a:solidFill>
                          <a:effectLst/>
                          <a:latin typeface="Calibri" panose="020F0502020204030204" pitchFamily="34" charset="0"/>
                        </a:rPr>
                        <a:t>4.65</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7B749"/>
                    </a:solidFill>
                  </a:tcPr>
                </a:tc>
                <a:tc>
                  <a:txBody>
                    <a:bodyPr/>
                    <a:lstStyle/>
                    <a:p>
                      <a:pPr algn="ctr" rtl="0" fontAlgn="b"/>
                      <a:r>
                        <a:rPr lang="en-GB" sz="1200" b="0" i="0" u="none" strike="noStrike">
                          <a:solidFill>
                            <a:srgbClr val="000000"/>
                          </a:solidFill>
                          <a:effectLst/>
                          <a:latin typeface="Calibri" panose="020F0502020204030204" pitchFamily="34" charset="0"/>
                        </a:rPr>
                        <a:t>4.23</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32C040"/>
                    </a:solidFill>
                  </a:tcPr>
                </a:tc>
                <a:tc>
                  <a:txBody>
                    <a:bodyPr/>
                    <a:lstStyle/>
                    <a:p>
                      <a:pPr algn="ctr" rtl="0" fontAlgn="b"/>
                      <a:r>
                        <a:rPr lang="en-GB" sz="1200" b="0" i="0" u="none" strike="noStrike">
                          <a:solidFill>
                            <a:srgbClr val="000000"/>
                          </a:solidFill>
                          <a:effectLst/>
                          <a:latin typeface="Calibri" panose="020F0502020204030204" pitchFamily="34" charset="0"/>
                        </a:rPr>
                        <a:t>4.71</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3B64A"/>
                    </a:solidFill>
                  </a:tcPr>
                </a:tc>
                <a:tc>
                  <a:txBody>
                    <a:bodyPr/>
                    <a:lstStyle/>
                    <a:p>
                      <a:pPr algn="ctr" rtl="0" fontAlgn="b"/>
                      <a:r>
                        <a:rPr lang="en-GB" sz="1200" b="0" i="0" u="none" strike="noStrike">
                          <a:solidFill>
                            <a:srgbClr val="000000"/>
                          </a:solidFill>
                          <a:effectLst/>
                          <a:latin typeface="Calibri" panose="020F0502020204030204" pitchFamily="34" charset="0"/>
                        </a:rPr>
                        <a:t>4.57</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CB947"/>
                    </a:solidFill>
                  </a:tcPr>
                </a:tc>
                <a:tc>
                  <a:txBody>
                    <a:bodyPr/>
                    <a:lstStyle/>
                    <a:p>
                      <a:pPr algn="ctr" rtl="0" fontAlgn="b"/>
                      <a:r>
                        <a:rPr lang="en-GB" sz="1200" b="0" i="0" u="none" strike="noStrike">
                          <a:solidFill>
                            <a:srgbClr val="000000"/>
                          </a:solidFill>
                          <a:effectLst/>
                          <a:latin typeface="Calibri" panose="020F0502020204030204" pitchFamily="34" charset="0"/>
                        </a:rPr>
                        <a:t>4.89</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08B34D"/>
                    </a:solidFill>
                  </a:tcPr>
                </a:tc>
                <a:tc>
                  <a:txBody>
                    <a:bodyPr/>
                    <a:lstStyle/>
                    <a:p>
                      <a:pPr algn="ctr" rtl="0" fontAlgn="b"/>
                      <a:r>
                        <a:rPr lang="en-GB" sz="1200" b="0" i="0" u="none" strike="noStrike">
                          <a:solidFill>
                            <a:srgbClr val="000000"/>
                          </a:solidFill>
                          <a:effectLst/>
                          <a:latin typeface="Calibri" panose="020F0502020204030204" pitchFamily="34" charset="0"/>
                        </a:rPr>
                        <a:t>4.57</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CB947"/>
                    </a:solidFill>
                  </a:tcPr>
                </a:tc>
                <a:tc>
                  <a:txBody>
                    <a:bodyPr/>
                    <a:lstStyle/>
                    <a:p>
                      <a:pPr algn="ctr" rtl="0" fontAlgn="b"/>
                      <a:r>
                        <a:rPr lang="en-GB" sz="1200" b="0" i="0" u="none" strike="noStrike">
                          <a:solidFill>
                            <a:srgbClr val="000000"/>
                          </a:solidFill>
                          <a:effectLst/>
                          <a:latin typeface="Calibri" panose="020F0502020204030204" pitchFamily="34" charset="0"/>
                        </a:rPr>
                        <a:t>4.55</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DB947"/>
                    </a:solidFill>
                  </a:tcPr>
                </a:tc>
                <a:tc>
                  <a:txBody>
                    <a:bodyPr/>
                    <a:lstStyle/>
                    <a:p>
                      <a:pPr algn="ctr" rtl="0" fontAlgn="b"/>
                      <a:r>
                        <a:rPr lang="en-GB" sz="1200" b="0" i="0" u="none" strike="noStrike">
                          <a:solidFill>
                            <a:srgbClr val="000000"/>
                          </a:solidFill>
                          <a:effectLst/>
                          <a:latin typeface="Calibri" panose="020F0502020204030204" pitchFamily="34" charset="0"/>
                        </a:rPr>
                        <a:t>4.61</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9B848"/>
                    </a:solidFill>
                  </a:tcPr>
                </a:tc>
                <a:extLst>
                  <a:ext uri="{0D108BD9-81ED-4DB2-BD59-A6C34878D82A}">
                    <a16:rowId xmlns:a16="http://schemas.microsoft.com/office/drawing/2014/main" val="3880369180"/>
                  </a:ext>
                </a:extLst>
              </a:tr>
              <a:tr h="349392">
                <a:tc>
                  <a:txBody>
                    <a:bodyPr/>
                    <a:lstStyle/>
                    <a:p>
                      <a:pPr algn="l" rtl="0" fontAlgn="b"/>
                      <a:r>
                        <a:rPr lang="en-GB" sz="1200" b="0" i="0" u="none" strike="noStrike">
                          <a:solidFill>
                            <a:srgbClr val="000000"/>
                          </a:solidFill>
                          <a:effectLst/>
                          <a:latin typeface="Calibri" panose="020F0502020204030204" pitchFamily="34" charset="0"/>
                        </a:rPr>
                        <a:t>Collaboration and Teamwork</a:t>
                      </a:r>
                    </a:p>
                  </a:txBody>
                  <a:tcPr marL="8257" marR="8257" marT="8257" marB="0" anchor="ctr">
                    <a:lnL w="6350" cap="flat" cmpd="sng" algn="ctr">
                      <a:solidFill>
                        <a:srgbClr val="FFFFFF"/>
                      </a:solidFill>
                      <a:prstDash val="solid"/>
                      <a:round/>
                      <a:headEnd type="none" w="med" len="med"/>
                      <a:tailEnd type="none" w="med" len="med"/>
                    </a:lnL>
                    <a:lnR w="190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tcPr>
                </a:tc>
                <a:tc>
                  <a:txBody>
                    <a:bodyPr/>
                    <a:lstStyle/>
                    <a:p>
                      <a:pPr algn="ctr" rtl="0" fontAlgn="b"/>
                      <a:r>
                        <a:rPr lang="en-GB" sz="1200" b="0" i="0" u="none" strike="noStrike" dirty="0">
                          <a:solidFill>
                            <a:srgbClr val="000000"/>
                          </a:solidFill>
                          <a:effectLst/>
                          <a:latin typeface="Calibri" panose="020F0502020204030204" pitchFamily="34" charset="0"/>
                        </a:rPr>
                        <a:t>4.59</a:t>
                      </a:r>
                    </a:p>
                  </a:txBody>
                  <a:tcPr marL="8257" marR="8257" marT="8257" marB="0" anchor="ctr">
                    <a:lnL w="190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BB947"/>
                    </a:solidFill>
                  </a:tcPr>
                </a:tc>
                <a:tc>
                  <a:txBody>
                    <a:bodyPr/>
                    <a:lstStyle/>
                    <a:p>
                      <a:pPr algn="ctr" rtl="0" fontAlgn="b"/>
                      <a:r>
                        <a:rPr lang="en-GB" sz="1200" b="0" i="0" u="none" strike="noStrike">
                          <a:solidFill>
                            <a:srgbClr val="000000"/>
                          </a:solidFill>
                          <a:effectLst/>
                          <a:latin typeface="Calibri" panose="020F0502020204030204" pitchFamily="34" charset="0"/>
                        </a:rPr>
                        <a:t>4.57</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CB947"/>
                    </a:solidFill>
                  </a:tcPr>
                </a:tc>
                <a:tc>
                  <a:txBody>
                    <a:bodyPr/>
                    <a:lstStyle/>
                    <a:p>
                      <a:pPr algn="ctr" rtl="0" fontAlgn="b"/>
                      <a:r>
                        <a:rPr lang="en-GB" sz="1200" b="0" i="0" u="none" strike="noStrike">
                          <a:solidFill>
                            <a:srgbClr val="000000"/>
                          </a:solidFill>
                          <a:effectLst/>
                          <a:latin typeface="Calibri" panose="020F0502020204030204" pitchFamily="34" charset="0"/>
                        </a:rPr>
                        <a:t>4.61</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9B848"/>
                    </a:solidFill>
                  </a:tcPr>
                </a:tc>
                <a:tc>
                  <a:txBody>
                    <a:bodyPr/>
                    <a:lstStyle/>
                    <a:p>
                      <a:pPr algn="ctr" rtl="0" fontAlgn="b"/>
                      <a:r>
                        <a:rPr lang="en-GB" sz="1200" b="0" i="0" u="none" strike="noStrike">
                          <a:solidFill>
                            <a:srgbClr val="000000"/>
                          </a:solidFill>
                          <a:effectLst/>
                          <a:latin typeface="Calibri" panose="020F0502020204030204" pitchFamily="34" charset="0"/>
                        </a:rPr>
                        <a:t>4.65</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7B749"/>
                    </a:solidFill>
                  </a:tcPr>
                </a:tc>
                <a:tc>
                  <a:txBody>
                    <a:bodyPr/>
                    <a:lstStyle/>
                    <a:p>
                      <a:pPr algn="ctr" rtl="0" fontAlgn="b"/>
                      <a:r>
                        <a:rPr lang="en-GB" sz="1200" b="0" i="0" u="none" strike="noStrike">
                          <a:solidFill>
                            <a:srgbClr val="000000"/>
                          </a:solidFill>
                          <a:effectLst/>
                          <a:latin typeface="Calibri" panose="020F0502020204030204" pitchFamily="34" charset="0"/>
                        </a:rPr>
                        <a:t>4.31</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2CBE42"/>
                    </a:solidFill>
                  </a:tcPr>
                </a:tc>
                <a:tc>
                  <a:txBody>
                    <a:bodyPr/>
                    <a:lstStyle/>
                    <a:p>
                      <a:pPr algn="ctr" rtl="0" fontAlgn="b"/>
                      <a:r>
                        <a:rPr lang="en-GB" sz="1200" b="0" i="0" u="none" strike="noStrike">
                          <a:solidFill>
                            <a:srgbClr val="000000"/>
                          </a:solidFill>
                          <a:effectLst/>
                          <a:latin typeface="Calibri" panose="020F0502020204030204" pitchFamily="34" charset="0"/>
                        </a:rPr>
                        <a:t>4.74</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1B64A"/>
                    </a:solidFill>
                  </a:tcPr>
                </a:tc>
                <a:tc>
                  <a:txBody>
                    <a:bodyPr/>
                    <a:lstStyle/>
                    <a:p>
                      <a:pPr algn="ctr" rtl="0" fontAlgn="b"/>
                      <a:r>
                        <a:rPr lang="en-GB" sz="1200" b="0" i="0" u="none" strike="noStrike">
                          <a:solidFill>
                            <a:srgbClr val="000000"/>
                          </a:solidFill>
                          <a:effectLst/>
                          <a:latin typeface="Calibri" panose="020F0502020204030204" pitchFamily="34" charset="0"/>
                        </a:rPr>
                        <a:t>4.57</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CB947"/>
                    </a:solidFill>
                  </a:tcPr>
                </a:tc>
                <a:tc>
                  <a:txBody>
                    <a:bodyPr/>
                    <a:lstStyle/>
                    <a:p>
                      <a:pPr algn="ctr" rtl="0" fontAlgn="b"/>
                      <a:r>
                        <a:rPr lang="en-GB" sz="1200" b="0" i="0" u="none" strike="noStrike">
                          <a:solidFill>
                            <a:srgbClr val="000000"/>
                          </a:solidFill>
                          <a:effectLst/>
                          <a:latin typeface="Calibri" panose="020F0502020204030204" pitchFamily="34" charset="0"/>
                        </a:rPr>
                        <a:t>4.88</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08B34D"/>
                    </a:solidFill>
                  </a:tcPr>
                </a:tc>
                <a:tc>
                  <a:txBody>
                    <a:bodyPr/>
                    <a:lstStyle/>
                    <a:p>
                      <a:pPr algn="ctr" rtl="0" fontAlgn="b"/>
                      <a:r>
                        <a:rPr lang="en-GB" sz="1200" b="0" i="0" u="none" strike="noStrike">
                          <a:solidFill>
                            <a:srgbClr val="000000"/>
                          </a:solidFill>
                          <a:effectLst/>
                          <a:latin typeface="Calibri" panose="020F0502020204030204" pitchFamily="34" charset="0"/>
                        </a:rPr>
                        <a:t>4.55</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DB947"/>
                    </a:solidFill>
                  </a:tcPr>
                </a:tc>
                <a:tc>
                  <a:txBody>
                    <a:bodyPr/>
                    <a:lstStyle/>
                    <a:p>
                      <a:pPr algn="ctr" rtl="0" fontAlgn="b"/>
                      <a:r>
                        <a:rPr lang="en-GB" sz="1200" b="0" i="0" u="none" strike="noStrike">
                          <a:solidFill>
                            <a:srgbClr val="000000"/>
                          </a:solidFill>
                          <a:effectLst/>
                          <a:latin typeface="Calibri" panose="020F0502020204030204" pitchFamily="34" charset="0"/>
                        </a:rPr>
                        <a:t>4.58</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BB947"/>
                    </a:solidFill>
                  </a:tcPr>
                </a:tc>
                <a:tc>
                  <a:txBody>
                    <a:bodyPr/>
                    <a:lstStyle/>
                    <a:p>
                      <a:pPr algn="ctr" rtl="0" fontAlgn="b"/>
                      <a:r>
                        <a:rPr lang="en-GB" sz="1200" b="0" i="0" u="none" strike="noStrike">
                          <a:solidFill>
                            <a:srgbClr val="000000"/>
                          </a:solidFill>
                          <a:effectLst/>
                          <a:latin typeface="Calibri" panose="020F0502020204030204" pitchFamily="34" charset="0"/>
                        </a:rPr>
                        <a:t>4.62</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9B848"/>
                    </a:solidFill>
                  </a:tcPr>
                </a:tc>
                <a:extLst>
                  <a:ext uri="{0D108BD9-81ED-4DB2-BD59-A6C34878D82A}">
                    <a16:rowId xmlns:a16="http://schemas.microsoft.com/office/drawing/2014/main" val="3882141610"/>
                  </a:ext>
                </a:extLst>
              </a:tr>
              <a:tr h="349392">
                <a:tc>
                  <a:txBody>
                    <a:bodyPr/>
                    <a:lstStyle/>
                    <a:p>
                      <a:pPr algn="l" rtl="0" fontAlgn="b"/>
                      <a:r>
                        <a:rPr lang="en-GB" sz="1200" b="0" i="0" u="none" strike="noStrike">
                          <a:solidFill>
                            <a:srgbClr val="000000"/>
                          </a:solidFill>
                          <a:effectLst/>
                          <a:latin typeface="Calibri" panose="020F0502020204030204" pitchFamily="34" charset="0"/>
                        </a:rPr>
                        <a:t>Problem-Solving and Decision-Making</a:t>
                      </a:r>
                    </a:p>
                  </a:txBody>
                  <a:tcPr marL="8257" marR="8257" marT="8257" marB="0" anchor="ctr">
                    <a:lnL w="6350" cap="flat" cmpd="sng" algn="ctr">
                      <a:solidFill>
                        <a:srgbClr val="FFFFFF"/>
                      </a:solidFill>
                      <a:prstDash val="solid"/>
                      <a:round/>
                      <a:headEnd type="none" w="med" len="med"/>
                      <a:tailEnd type="none" w="med" len="med"/>
                    </a:lnL>
                    <a:lnR w="190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tcPr>
                </a:tc>
                <a:tc>
                  <a:txBody>
                    <a:bodyPr/>
                    <a:lstStyle/>
                    <a:p>
                      <a:pPr algn="ctr" rtl="0" fontAlgn="b"/>
                      <a:r>
                        <a:rPr lang="en-GB" sz="1200" b="0" i="0" u="none" strike="noStrike">
                          <a:solidFill>
                            <a:srgbClr val="000000"/>
                          </a:solidFill>
                          <a:effectLst/>
                          <a:latin typeface="Calibri" panose="020F0502020204030204" pitchFamily="34" charset="0"/>
                        </a:rPr>
                        <a:t>4.59</a:t>
                      </a:r>
                    </a:p>
                  </a:txBody>
                  <a:tcPr marL="8257" marR="8257" marT="8257" marB="0" anchor="ctr">
                    <a:lnL w="190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BB947"/>
                    </a:solidFill>
                  </a:tcPr>
                </a:tc>
                <a:tc>
                  <a:txBody>
                    <a:bodyPr/>
                    <a:lstStyle/>
                    <a:p>
                      <a:pPr algn="ctr" rtl="0" fontAlgn="b"/>
                      <a:r>
                        <a:rPr lang="en-GB" sz="1200" b="0" i="0" u="none" strike="noStrike">
                          <a:solidFill>
                            <a:srgbClr val="000000"/>
                          </a:solidFill>
                          <a:effectLst/>
                          <a:latin typeface="Calibri" panose="020F0502020204030204" pitchFamily="34" charset="0"/>
                        </a:rPr>
                        <a:t>4.58</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BB947"/>
                    </a:solidFill>
                  </a:tcPr>
                </a:tc>
                <a:tc>
                  <a:txBody>
                    <a:bodyPr/>
                    <a:lstStyle/>
                    <a:p>
                      <a:pPr algn="ctr" rtl="0" fontAlgn="b"/>
                      <a:r>
                        <a:rPr lang="en-GB" sz="1200" b="0" i="0" u="none" strike="noStrike">
                          <a:solidFill>
                            <a:srgbClr val="000000"/>
                          </a:solidFill>
                          <a:effectLst/>
                          <a:latin typeface="Calibri" panose="020F0502020204030204" pitchFamily="34" charset="0"/>
                        </a:rPr>
                        <a:t>4.59</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BB947"/>
                    </a:solidFill>
                  </a:tcPr>
                </a:tc>
                <a:tc>
                  <a:txBody>
                    <a:bodyPr/>
                    <a:lstStyle/>
                    <a:p>
                      <a:pPr algn="ctr" rtl="0" fontAlgn="b"/>
                      <a:r>
                        <a:rPr lang="en-GB" sz="1200" b="0" i="0" u="none" strike="noStrike">
                          <a:solidFill>
                            <a:srgbClr val="000000"/>
                          </a:solidFill>
                          <a:effectLst/>
                          <a:latin typeface="Calibri" panose="020F0502020204030204" pitchFamily="34" charset="0"/>
                        </a:rPr>
                        <a:t>4.55</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DB947"/>
                    </a:solidFill>
                  </a:tcPr>
                </a:tc>
                <a:tc>
                  <a:txBody>
                    <a:bodyPr/>
                    <a:lstStyle/>
                    <a:p>
                      <a:pPr algn="ctr" rtl="0" fontAlgn="b"/>
                      <a:r>
                        <a:rPr lang="en-GB" sz="1200" b="0" i="0" u="none" strike="noStrike">
                          <a:solidFill>
                            <a:srgbClr val="000000"/>
                          </a:solidFill>
                          <a:effectLst/>
                          <a:latin typeface="Calibri" panose="020F0502020204030204" pitchFamily="34" charset="0"/>
                        </a:rPr>
                        <a:t>4.32</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2CBE42"/>
                    </a:solidFill>
                  </a:tcPr>
                </a:tc>
                <a:tc>
                  <a:txBody>
                    <a:bodyPr/>
                    <a:lstStyle/>
                    <a:p>
                      <a:pPr algn="ctr" rtl="0" fontAlgn="b"/>
                      <a:r>
                        <a:rPr lang="en-GB" sz="1200" b="0" i="0" u="none" strike="noStrike">
                          <a:solidFill>
                            <a:srgbClr val="000000"/>
                          </a:solidFill>
                          <a:effectLst/>
                          <a:latin typeface="Calibri" panose="020F0502020204030204" pitchFamily="34" charset="0"/>
                        </a:rPr>
                        <a:t>4.76</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0B54B"/>
                    </a:solidFill>
                  </a:tcPr>
                </a:tc>
                <a:tc>
                  <a:txBody>
                    <a:bodyPr/>
                    <a:lstStyle/>
                    <a:p>
                      <a:pPr algn="ctr" rtl="0" fontAlgn="b"/>
                      <a:r>
                        <a:rPr lang="en-GB" sz="1200" b="0" i="0" u="none" strike="noStrike">
                          <a:solidFill>
                            <a:srgbClr val="000000"/>
                          </a:solidFill>
                          <a:effectLst/>
                          <a:latin typeface="Calibri" panose="020F0502020204030204" pitchFamily="34" charset="0"/>
                        </a:rPr>
                        <a:t>4.54</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EBA46"/>
                    </a:solidFill>
                  </a:tcPr>
                </a:tc>
                <a:tc>
                  <a:txBody>
                    <a:bodyPr/>
                    <a:lstStyle/>
                    <a:p>
                      <a:pPr algn="ctr" rtl="0" fontAlgn="b"/>
                      <a:r>
                        <a:rPr lang="en-GB" sz="1200" b="0" i="0" u="none" strike="noStrike">
                          <a:solidFill>
                            <a:srgbClr val="000000"/>
                          </a:solidFill>
                          <a:effectLst/>
                          <a:latin typeface="Calibri" panose="020F0502020204030204" pitchFamily="34" charset="0"/>
                        </a:rPr>
                        <a:t>4.9</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07B24E"/>
                    </a:solidFill>
                  </a:tcPr>
                </a:tc>
                <a:tc>
                  <a:txBody>
                    <a:bodyPr/>
                    <a:lstStyle/>
                    <a:p>
                      <a:pPr algn="ctr" rtl="0" fontAlgn="b"/>
                      <a:r>
                        <a:rPr lang="en-GB" sz="1200" b="0" i="0" u="none" strike="noStrike">
                          <a:solidFill>
                            <a:srgbClr val="000000"/>
                          </a:solidFill>
                          <a:effectLst/>
                          <a:latin typeface="Calibri" panose="020F0502020204030204" pitchFamily="34" charset="0"/>
                        </a:rPr>
                        <a:t>4.57</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CB947"/>
                    </a:solidFill>
                  </a:tcPr>
                </a:tc>
                <a:tc>
                  <a:txBody>
                    <a:bodyPr/>
                    <a:lstStyle/>
                    <a:p>
                      <a:pPr algn="ctr" rtl="0" fontAlgn="b"/>
                      <a:r>
                        <a:rPr lang="en-GB" sz="1200" b="0" i="0" u="none" strike="noStrike">
                          <a:solidFill>
                            <a:srgbClr val="000000"/>
                          </a:solidFill>
                          <a:effectLst/>
                          <a:latin typeface="Calibri" panose="020F0502020204030204" pitchFamily="34" charset="0"/>
                        </a:rPr>
                        <a:t>4.57</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CB947"/>
                    </a:solidFill>
                  </a:tcPr>
                </a:tc>
                <a:tc>
                  <a:txBody>
                    <a:bodyPr/>
                    <a:lstStyle/>
                    <a:p>
                      <a:pPr algn="ctr" rtl="0" fontAlgn="b"/>
                      <a:r>
                        <a:rPr lang="en-GB" sz="1200" b="0" i="0" u="none" strike="noStrike">
                          <a:solidFill>
                            <a:srgbClr val="000000"/>
                          </a:solidFill>
                          <a:effectLst/>
                          <a:latin typeface="Calibri" panose="020F0502020204030204" pitchFamily="34" charset="0"/>
                        </a:rPr>
                        <a:t>4.62</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9B848"/>
                    </a:solidFill>
                  </a:tcPr>
                </a:tc>
                <a:extLst>
                  <a:ext uri="{0D108BD9-81ED-4DB2-BD59-A6C34878D82A}">
                    <a16:rowId xmlns:a16="http://schemas.microsoft.com/office/drawing/2014/main" val="2270316730"/>
                  </a:ext>
                </a:extLst>
              </a:tr>
              <a:tr h="349392">
                <a:tc>
                  <a:txBody>
                    <a:bodyPr/>
                    <a:lstStyle/>
                    <a:p>
                      <a:pPr algn="l" rtl="0" fontAlgn="b"/>
                      <a:r>
                        <a:rPr lang="en-GB" sz="1200" b="0" i="0" u="none" strike="noStrike">
                          <a:solidFill>
                            <a:srgbClr val="000000"/>
                          </a:solidFill>
                          <a:effectLst/>
                          <a:latin typeface="Calibri" panose="020F0502020204030204" pitchFamily="34" charset="0"/>
                        </a:rPr>
                        <a:t>Empathy and Compassion</a:t>
                      </a:r>
                    </a:p>
                  </a:txBody>
                  <a:tcPr marL="8257" marR="8257" marT="8257" marB="0" anchor="ctr">
                    <a:lnL w="6350" cap="flat" cmpd="sng" algn="ctr">
                      <a:solidFill>
                        <a:srgbClr val="FFFFFF"/>
                      </a:solidFill>
                      <a:prstDash val="solid"/>
                      <a:round/>
                      <a:headEnd type="none" w="med" len="med"/>
                      <a:tailEnd type="none" w="med" len="med"/>
                    </a:lnL>
                    <a:lnR w="190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tcPr>
                </a:tc>
                <a:tc>
                  <a:txBody>
                    <a:bodyPr/>
                    <a:lstStyle/>
                    <a:p>
                      <a:pPr algn="ctr" rtl="0" fontAlgn="b"/>
                      <a:r>
                        <a:rPr lang="en-GB" sz="1200" b="0" i="0" u="none" strike="noStrike">
                          <a:solidFill>
                            <a:srgbClr val="000000"/>
                          </a:solidFill>
                          <a:effectLst/>
                          <a:latin typeface="Calibri" panose="020F0502020204030204" pitchFamily="34" charset="0"/>
                        </a:rPr>
                        <a:t>4.5</a:t>
                      </a:r>
                    </a:p>
                  </a:txBody>
                  <a:tcPr marL="8257" marR="8257" marT="8257" marB="0" anchor="ctr">
                    <a:lnL w="190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20BA46"/>
                    </a:solidFill>
                  </a:tcPr>
                </a:tc>
                <a:tc>
                  <a:txBody>
                    <a:bodyPr/>
                    <a:lstStyle/>
                    <a:p>
                      <a:pPr algn="ctr" rtl="0" fontAlgn="b"/>
                      <a:r>
                        <a:rPr lang="en-GB" sz="1200" b="0" i="0" u="none" strike="noStrike">
                          <a:solidFill>
                            <a:srgbClr val="000000"/>
                          </a:solidFill>
                          <a:effectLst/>
                          <a:latin typeface="Calibri" panose="020F0502020204030204" pitchFamily="34" charset="0"/>
                        </a:rPr>
                        <a:t>4.48</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22BB45"/>
                    </a:solidFill>
                  </a:tcPr>
                </a:tc>
                <a:tc>
                  <a:txBody>
                    <a:bodyPr/>
                    <a:lstStyle/>
                    <a:p>
                      <a:pPr algn="ctr" rtl="0" fontAlgn="b"/>
                      <a:r>
                        <a:rPr lang="en-GB" sz="1200" b="0" i="0" u="none" strike="noStrike" dirty="0">
                          <a:solidFill>
                            <a:srgbClr val="000000"/>
                          </a:solidFill>
                          <a:effectLst/>
                          <a:latin typeface="Calibri" panose="020F0502020204030204" pitchFamily="34" charset="0"/>
                        </a:rPr>
                        <a:t>4.52</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FBA46"/>
                    </a:solidFill>
                  </a:tcPr>
                </a:tc>
                <a:tc>
                  <a:txBody>
                    <a:bodyPr/>
                    <a:lstStyle/>
                    <a:p>
                      <a:pPr algn="ctr" rtl="0" fontAlgn="b"/>
                      <a:r>
                        <a:rPr lang="en-GB" sz="1200" b="0" i="0" u="none" strike="noStrike" dirty="0">
                          <a:solidFill>
                            <a:srgbClr val="000000"/>
                          </a:solidFill>
                          <a:effectLst/>
                          <a:latin typeface="Calibri" panose="020F0502020204030204" pitchFamily="34" charset="0"/>
                        </a:rPr>
                        <a:t>4.5</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20BA46"/>
                    </a:solidFill>
                  </a:tcPr>
                </a:tc>
                <a:tc>
                  <a:txBody>
                    <a:bodyPr/>
                    <a:lstStyle/>
                    <a:p>
                      <a:pPr algn="ctr" rtl="0" fontAlgn="b"/>
                      <a:r>
                        <a:rPr lang="en-GB" sz="1200" b="0" i="0" u="none" strike="noStrike">
                          <a:solidFill>
                            <a:srgbClr val="000000"/>
                          </a:solidFill>
                          <a:effectLst/>
                          <a:latin typeface="Calibri" panose="020F0502020204030204" pitchFamily="34" charset="0"/>
                        </a:rPr>
                        <a:t>3.85</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4AC739"/>
                    </a:solidFill>
                  </a:tcPr>
                </a:tc>
                <a:tc>
                  <a:txBody>
                    <a:bodyPr/>
                    <a:lstStyle/>
                    <a:p>
                      <a:pPr algn="ctr" rtl="0" fontAlgn="b"/>
                      <a:r>
                        <a:rPr lang="en-GB" sz="1200" b="0" i="0" u="none" strike="noStrike">
                          <a:solidFill>
                            <a:srgbClr val="000000"/>
                          </a:solidFill>
                          <a:effectLst/>
                          <a:latin typeface="Calibri" panose="020F0502020204030204" pitchFamily="34" charset="0"/>
                        </a:rPr>
                        <a:t>4.73</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2B64A"/>
                    </a:solidFill>
                  </a:tcPr>
                </a:tc>
                <a:tc>
                  <a:txBody>
                    <a:bodyPr/>
                    <a:lstStyle/>
                    <a:p>
                      <a:pPr algn="ctr" rtl="0" fontAlgn="b"/>
                      <a:r>
                        <a:rPr lang="en-GB" sz="1200" b="0" i="0" u="none" strike="noStrike">
                          <a:solidFill>
                            <a:srgbClr val="000000"/>
                          </a:solidFill>
                          <a:effectLst/>
                          <a:latin typeface="Calibri" panose="020F0502020204030204" pitchFamily="34" charset="0"/>
                        </a:rPr>
                        <a:t>4.6</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AB848"/>
                    </a:solidFill>
                  </a:tcPr>
                </a:tc>
                <a:tc>
                  <a:txBody>
                    <a:bodyPr/>
                    <a:lstStyle/>
                    <a:p>
                      <a:pPr algn="ctr" rtl="0" fontAlgn="b"/>
                      <a:r>
                        <a:rPr lang="en-GB" sz="1200" b="0" i="0" u="none" strike="noStrike">
                          <a:solidFill>
                            <a:srgbClr val="000000"/>
                          </a:solidFill>
                          <a:effectLst/>
                          <a:latin typeface="Calibri" panose="020F0502020204030204" pitchFamily="34" charset="0"/>
                        </a:rPr>
                        <a:t>4.89</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08B34D"/>
                    </a:solidFill>
                  </a:tcPr>
                </a:tc>
                <a:tc>
                  <a:txBody>
                    <a:bodyPr/>
                    <a:lstStyle/>
                    <a:p>
                      <a:pPr algn="ctr" rtl="0" fontAlgn="b"/>
                      <a:r>
                        <a:rPr lang="en-GB" sz="1200" b="0" i="0" u="none" strike="noStrike">
                          <a:solidFill>
                            <a:srgbClr val="000000"/>
                          </a:solidFill>
                          <a:effectLst/>
                          <a:latin typeface="Calibri" panose="020F0502020204030204" pitchFamily="34" charset="0"/>
                        </a:rPr>
                        <a:t>4.62</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9B848"/>
                    </a:solidFill>
                  </a:tcPr>
                </a:tc>
                <a:tc>
                  <a:txBody>
                    <a:bodyPr/>
                    <a:lstStyle/>
                    <a:p>
                      <a:pPr algn="ctr" rtl="0" fontAlgn="b"/>
                      <a:r>
                        <a:rPr lang="en-GB" sz="1200" b="0" i="0" u="none" strike="noStrike">
                          <a:solidFill>
                            <a:srgbClr val="000000"/>
                          </a:solidFill>
                          <a:effectLst/>
                          <a:latin typeface="Calibri" panose="020F0502020204030204" pitchFamily="34" charset="0"/>
                        </a:rPr>
                        <a:t>4.52</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FBA46"/>
                    </a:solidFill>
                  </a:tcPr>
                </a:tc>
                <a:tc>
                  <a:txBody>
                    <a:bodyPr/>
                    <a:lstStyle/>
                    <a:p>
                      <a:pPr algn="ctr" rtl="0" fontAlgn="b"/>
                      <a:r>
                        <a:rPr lang="en-GB" sz="1200" b="0" i="0" u="none" strike="noStrike">
                          <a:solidFill>
                            <a:srgbClr val="000000"/>
                          </a:solidFill>
                          <a:effectLst/>
                          <a:latin typeface="Calibri" panose="020F0502020204030204" pitchFamily="34" charset="0"/>
                        </a:rPr>
                        <a:t>4.46</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23BB45"/>
                    </a:solidFill>
                  </a:tcPr>
                </a:tc>
                <a:extLst>
                  <a:ext uri="{0D108BD9-81ED-4DB2-BD59-A6C34878D82A}">
                    <a16:rowId xmlns:a16="http://schemas.microsoft.com/office/drawing/2014/main" val="741557301"/>
                  </a:ext>
                </a:extLst>
              </a:tr>
              <a:tr h="349392">
                <a:tc>
                  <a:txBody>
                    <a:bodyPr/>
                    <a:lstStyle/>
                    <a:p>
                      <a:pPr algn="l" rtl="0" fontAlgn="b"/>
                      <a:r>
                        <a:rPr lang="en-GB" sz="1200" b="0" i="0" u="none" strike="noStrike">
                          <a:solidFill>
                            <a:srgbClr val="000000"/>
                          </a:solidFill>
                          <a:effectLst/>
                          <a:latin typeface="Calibri" panose="020F0502020204030204" pitchFamily="34" charset="0"/>
                        </a:rPr>
                        <a:t>Resilience and Adaptability</a:t>
                      </a:r>
                    </a:p>
                  </a:txBody>
                  <a:tcPr marL="8257" marR="8257" marT="8257" marB="0" anchor="ctr">
                    <a:lnL w="6350" cap="flat" cmpd="sng" algn="ctr">
                      <a:solidFill>
                        <a:srgbClr val="FFFFFF"/>
                      </a:solidFill>
                      <a:prstDash val="solid"/>
                      <a:round/>
                      <a:headEnd type="none" w="med" len="med"/>
                      <a:tailEnd type="none" w="med" len="med"/>
                    </a:lnL>
                    <a:lnR w="190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tcPr>
                </a:tc>
                <a:tc>
                  <a:txBody>
                    <a:bodyPr/>
                    <a:lstStyle/>
                    <a:p>
                      <a:pPr algn="ctr" rtl="0" fontAlgn="b"/>
                      <a:r>
                        <a:rPr lang="en-GB" sz="1200" b="0" i="0" u="none" strike="noStrike">
                          <a:solidFill>
                            <a:srgbClr val="000000"/>
                          </a:solidFill>
                          <a:effectLst/>
                          <a:latin typeface="Calibri" panose="020F0502020204030204" pitchFamily="34" charset="0"/>
                        </a:rPr>
                        <a:t>4.56</a:t>
                      </a:r>
                    </a:p>
                  </a:txBody>
                  <a:tcPr marL="8257" marR="8257" marT="8257" marB="0" anchor="ctr">
                    <a:lnL w="190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DB947"/>
                    </a:solidFill>
                  </a:tcPr>
                </a:tc>
                <a:tc>
                  <a:txBody>
                    <a:bodyPr/>
                    <a:lstStyle/>
                    <a:p>
                      <a:pPr algn="ctr" rtl="0" fontAlgn="b"/>
                      <a:r>
                        <a:rPr lang="en-GB" sz="1200" b="0" i="0" u="none" strike="noStrike">
                          <a:solidFill>
                            <a:srgbClr val="000000"/>
                          </a:solidFill>
                          <a:effectLst/>
                          <a:latin typeface="Calibri" panose="020F0502020204030204" pitchFamily="34" charset="0"/>
                        </a:rPr>
                        <a:t>4.59</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BB947"/>
                    </a:solidFill>
                  </a:tcPr>
                </a:tc>
                <a:tc>
                  <a:txBody>
                    <a:bodyPr/>
                    <a:lstStyle/>
                    <a:p>
                      <a:pPr algn="ctr" rtl="0" fontAlgn="b"/>
                      <a:r>
                        <a:rPr lang="en-GB" sz="1200" b="0" i="0" u="none" strike="noStrike">
                          <a:solidFill>
                            <a:srgbClr val="000000"/>
                          </a:solidFill>
                          <a:effectLst/>
                          <a:latin typeface="Calibri" panose="020F0502020204030204" pitchFamily="34" charset="0"/>
                        </a:rPr>
                        <a:t>4.53</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EBA46"/>
                    </a:solidFill>
                  </a:tcPr>
                </a:tc>
                <a:tc>
                  <a:txBody>
                    <a:bodyPr/>
                    <a:lstStyle/>
                    <a:p>
                      <a:pPr algn="ctr" rtl="0" fontAlgn="b"/>
                      <a:r>
                        <a:rPr lang="en-GB" sz="1200" b="0" i="0" u="none" strike="noStrike" dirty="0">
                          <a:solidFill>
                            <a:srgbClr val="000000"/>
                          </a:solidFill>
                          <a:effectLst/>
                          <a:latin typeface="Calibri" panose="020F0502020204030204" pitchFamily="34" charset="0"/>
                        </a:rPr>
                        <a:t>4.49</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21BB45"/>
                    </a:solidFill>
                  </a:tcPr>
                </a:tc>
                <a:tc>
                  <a:txBody>
                    <a:bodyPr/>
                    <a:lstStyle/>
                    <a:p>
                      <a:pPr algn="ctr" rtl="0" fontAlgn="b"/>
                      <a:r>
                        <a:rPr lang="en-GB" sz="1200" b="0" i="0" u="none" strike="noStrike" dirty="0">
                          <a:solidFill>
                            <a:srgbClr val="000000"/>
                          </a:solidFill>
                          <a:effectLst/>
                          <a:latin typeface="Calibri" panose="020F0502020204030204" pitchFamily="34" charset="0"/>
                        </a:rPr>
                        <a:t>4.13</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38C23E"/>
                    </a:solidFill>
                  </a:tcPr>
                </a:tc>
                <a:tc>
                  <a:txBody>
                    <a:bodyPr/>
                    <a:lstStyle/>
                    <a:p>
                      <a:pPr algn="ctr" rtl="0" fontAlgn="b"/>
                      <a:r>
                        <a:rPr lang="en-GB" sz="1200" b="0" i="0" u="none" strike="noStrike">
                          <a:solidFill>
                            <a:srgbClr val="000000"/>
                          </a:solidFill>
                          <a:effectLst/>
                          <a:latin typeface="Calibri" panose="020F0502020204030204" pitchFamily="34" charset="0"/>
                        </a:rPr>
                        <a:t>4.75</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0B54B"/>
                    </a:solidFill>
                  </a:tcPr>
                </a:tc>
                <a:tc>
                  <a:txBody>
                    <a:bodyPr/>
                    <a:lstStyle/>
                    <a:p>
                      <a:pPr algn="ctr" rtl="0" fontAlgn="b"/>
                      <a:r>
                        <a:rPr lang="en-GB" sz="1200" b="0" i="0" u="none" strike="noStrike">
                          <a:solidFill>
                            <a:srgbClr val="000000"/>
                          </a:solidFill>
                          <a:effectLst/>
                          <a:latin typeface="Calibri" panose="020F0502020204030204" pitchFamily="34" charset="0"/>
                        </a:rPr>
                        <a:t>4.58</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BB947"/>
                    </a:solidFill>
                  </a:tcPr>
                </a:tc>
                <a:tc>
                  <a:txBody>
                    <a:bodyPr/>
                    <a:lstStyle/>
                    <a:p>
                      <a:pPr algn="ctr" rtl="0" fontAlgn="b"/>
                      <a:r>
                        <a:rPr lang="en-GB" sz="1200" b="0" i="0" u="none" strike="noStrike">
                          <a:solidFill>
                            <a:srgbClr val="000000"/>
                          </a:solidFill>
                          <a:effectLst/>
                          <a:latin typeface="Calibri" panose="020F0502020204030204" pitchFamily="34" charset="0"/>
                        </a:rPr>
                        <a:t>4.86</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09B34D"/>
                    </a:solidFill>
                  </a:tcPr>
                </a:tc>
                <a:tc>
                  <a:txBody>
                    <a:bodyPr/>
                    <a:lstStyle/>
                    <a:p>
                      <a:pPr algn="ctr" rtl="0" fontAlgn="b"/>
                      <a:r>
                        <a:rPr lang="en-GB" sz="1200" b="0" i="0" u="none" strike="noStrike">
                          <a:solidFill>
                            <a:srgbClr val="000000"/>
                          </a:solidFill>
                          <a:effectLst/>
                          <a:latin typeface="Calibri" panose="020F0502020204030204" pitchFamily="34" charset="0"/>
                        </a:rPr>
                        <a:t>4.63</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8B848"/>
                    </a:solidFill>
                  </a:tcPr>
                </a:tc>
                <a:tc>
                  <a:txBody>
                    <a:bodyPr/>
                    <a:lstStyle/>
                    <a:p>
                      <a:pPr algn="ctr" rtl="0" fontAlgn="b"/>
                      <a:r>
                        <a:rPr lang="en-GB" sz="1200" b="0" i="0" u="none" strike="noStrike">
                          <a:solidFill>
                            <a:srgbClr val="000000"/>
                          </a:solidFill>
                          <a:effectLst/>
                          <a:latin typeface="Calibri" panose="020F0502020204030204" pitchFamily="34" charset="0"/>
                        </a:rPr>
                        <a:t>4.56</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DB947"/>
                    </a:solidFill>
                  </a:tcPr>
                </a:tc>
                <a:tc>
                  <a:txBody>
                    <a:bodyPr/>
                    <a:lstStyle/>
                    <a:p>
                      <a:pPr algn="ctr" rtl="0" fontAlgn="b"/>
                      <a:r>
                        <a:rPr lang="en-GB" sz="1200" b="0" i="0" u="none" strike="noStrike">
                          <a:solidFill>
                            <a:srgbClr val="000000"/>
                          </a:solidFill>
                          <a:effectLst/>
                          <a:latin typeface="Calibri" panose="020F0502020204030204" pitchFamily="34" charset="0"/>
                        </a:rPr>
                        <a:t>4.56</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DB947"/>
                    </a:solidFill>
                  </a:tcPr>
                </a:tc>
                <a:extLst>
                  <a:ext uri="{0D108BD9-81ED-4DB2-BD59-A6C34878D82A}">
                    <a16:rowId xmlns:a16="http://schemas.microsoft.com/office/drawing/2014/main" val="3564950161"/>
                  </a:ext>
                </a:extLst>
              </a:tr>
              <a:tr h="349392">
                <a:tc>
                  <a:txBody>
                    <a:bodyPr/>
                    <a:lstStyle/>
                    <a:p>
                      <a:pPr algn="l" rtl="0" fontAlgn="b"/>
                      <a:r>
                        <a:rPr lang="en-GB" sz="1200" b="0" i="0" u="none" strike="noStrike">
                          <a:solidFill>
                            <a:srgbClr val="000000"/>
                          </a:solidFill>
                          <a:effectLst/>
                          <a:latin typeface="Calibri" panose="020F0502020204030204" pitchFamily="34" charset="0"/>
                        </a:rPr>
                        <a:t>Accountability and Responsibility</a:t>
                      </a:r>
                    </a:p>
                  </a:txBody>
                  <a:tcPr marL="8257" marR="8257" marT="8257" marB="0" anchor="ctr">
                    <a:lnL w="6350" cap="flat" cmpd="sng" algn="ctr">
                      <a:solidFill>
                        <a:srgbClr val="FFFFFF"/>
                      </a:solidFill>
                      <a:prstDash val="solid"/>
                      <a:round/>
                      <a:headEnd type="none" w="med" len="med"/>
                      <a:tailEnd type="none" w="med" len="med"/>
                    </a:lnL>
                    <a:lnR w="190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tcPr>
                </a:tc>
                <a:tc>
                  <a:txBody>
                    <a:bodyPr/>
                    <a:lstStyle/>
                    <a:p>
                      <a:pPr algn="ctr" rtl="0" fontAlgn="b"/>
                      <a:r>
                        <a:rPr lang="en-GB" sz="1200" b="0" i="0" u="none" strike="noStrike">
                          <a:solidFill>
                            <a:srgbClr val="000000"/>
                          </a:solidFill>
                          <a:effectLst/>
                          <a:latin typeface="Calibri" panose="020F0502020204030204" pitchFamily="34" charset="0"/>
                        </a:rPr>
                        <a:t>4.6</a:t>
                      </a:r>
                    </a:p>
                  </a:txBody>
                  <a:tcPr marL="8257" marR="8257" marT="8257" marB="0" anchor="ctr">
                    <a:lnL w="190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AB848"/>
                    </a:solidFill>
                  </a:tcPr>
                </a:tc>
                <a:tc>
                  <a:txBody>
                    <a:bodyPr/>
                    <a:lstStyle/>
                    <a:p>
                      <a:pPr algn="ctr" rtl="0" fontAlgn="b"/>
                      <a:r>
                        <a:rPr lang="en-GB" sz="1200" b="0" i="0" u="none" strike="noStrike">
                          <a:solidFill>
                            <a:srgbClr val="000000"/>
                          </a:solidFill>
                          <a:effectLst/>
                          <a:latin typeface="Calibri" panose="020F0502020204030204" pitchFamily="34" charset="0"/>
                        </a:rPr>
                        <a:t>4.61</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9B848"/>
                    </a:solidFill>
                  </a:tcPr>
                </a:tc>
                <a:tc>
                  <a:txBody>
                    <a:bodyPr/>
                    <a:lstStyle/>
                    <a:p>
                      <a:pPr algn="ctr" rtl="0" fontAlgn="b"/>
                      <a:r>
                        <a:rPr lang="en-GB" sz="1200" b="0" i="0" u="none" strike="noStrike">
                          <a:solidFill>
                            <a:srgbClr val="000000"/>
                          </a:solidFill>
                          <a:effectLst/>
                          <a:latin typeface="Calibri" panose="020F0502020204030204" pitchFamily="34" charset="0"/>
                        </a:rPr>
                        <a:t>4.58</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BB947"/>
                    </a:solidFill>
                  </a:tcPr>
                </a:tc>
                <a:tc>
                  <a:txBody>
                    <a:bodyPr/>
                    <a:lstStyle/>
                    <a:p>
                      <a:pPr algn="ctr" rtl="0" fontAlgn="b"/>
                      <a:r>
                        <a:rPr lang="en-GB" sz="1200" b="0" i="0" u="none" strike="noStrike">
                          <a:solidFill>
                            <a:srgbClr val="000000"/>
                          </a:solidFill>
                          <a:effectLst/>
                          <a:latin typeface="Calibri" panose="020F0502020204030204" pitchFamily="34" charset="0"/>
                        </a:rPr>
                        <a:t>4.51</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20BA46"/>
                    </a:solidFill>
                  </a:tcPr>
                </a:tc>
                <a:tc>
                  <a:txBody>
                    <a:bodyPr/>
                    <a:lstStyle/>
                    <a:p>
                      <a:pPr algn="ctr" rtl="0" fontAlgn="b"/>
                      <a:r>
                        <a:rPr lang="en-GB" sz="1200" b="0" i="0" u="none" strike="noStrike" dirty="0">
                          <a:solidFill>
                            <a:srgbClr val="000000"/>
                          </a:solidFill>
                          <a:effectLst/>
                          <a:latin typeface="Calibri" panose="020F0502020204030204" pitchFamily="34" charset="0"/>
                        </a:rPr>
                        <a:t>4.3</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2DBE42"/>
                    </a:solidFill>
                  </a:tcPr>
                </a:tc>
                <a:tc>
                  <a:txBody>
                    <a:bodyPr/>
                    <a:lstStyle/>
                    <a:p>
                      <a:pPr algn="ctr" rtl="0" fontAlgn="b"/>
                      <a:r>
                        <a:rPr lang="en-GB" sz="1200" b="0" i="0" u="none" strike="noStrike">
                          <a:solidFill>
                            <a:srgbClr val="000000"/>
                          </a:solidFill>
                          <a:effectLst/>
                          <a:latin typeface="Calibri" panose="020F0502020204030204" pitchFamily="34" charset="0"/>
                        </a:rPr>
                        <a:t>4.72</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2B64A"/>
                    </a:solidFill>
                  </a:tcPr>
                </a:tc>
                <a:tc>
                  <a:txBody>
                    <a:bodyPr/>
                    <a:lstStyle/>
                    <a:p>
                      <a:pPr algn="ctr" rtl="0" fontAlgn="b"/>
                      <a:r>
                        <a:rPr lang="en-GB" sz="1200" b="0" i="0" u="none" strike="noStrike">
                          <a:solidFill>
                            <a:srgbClr val="000000"/>
                          </a:solidFill>
                          <a:effectLst/>
                          <a:latin typeface="Calibri" panose="020F0502020204030204" pitchFamily="34" charset="0"/>
                        </a:rPr>
                        <a:t>4.67</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6B749"/>
                    </a:solidFill>
                  </a:tcPr>
                </a:tc>
                <a:tc>
                  <a:txBody>
                    <a:bodyPr/>
                    <a:lstStyle/>
                    <a:p>
                      <a:pPr algn="ctr" rtl="0" fontAlgn="b"/>
                      <a:r>
                        <a:rPr lang="en-GB" sz="1200" b="0" i="0" u="none" strike="noStrike">
                          <a:solidFill>
                            <a:srgbClr val="000000"/>
                          </a:solidFill>
                          <a:effectLst/>
                          <a:latin typeface="Calibri" panose="020F0502020204030204" pitchFamily="34" charset="0"/>
                        </a:rPr>
                        <a:t>4.89</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08B34D"/>
                    </a:solidFill>
                  </a:tcPr>
                </a:tc>
                <a:tc>
                  <a:txBody>
                    <a:bodyPr/>
                    <a:lstStyle/>
                    <a:p>
                      <a:pPr algn="ctr" rtl="0" fontAlgn="b"/>
                      <a:r>
                        <a:rPr lang="en-GB" sz="1200" b="0" i="0" u="none" strike="noStrike">
                          <a:solidFill>
                            <a:srgbClr val="000000"/>
                          </a:solidFill>
                          <a:effectLst/>
                          <a:latin typeface="Calibri" panose="020F0502020204030204" pitchFamily="34" charset="0"/>
                        </a:rPr>
                        <a:t>4.61</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9B848"/>
                    </a:solidFill>
                  </a:tcPr>
                </a:tc>
                <a:tc>
                  <a:txBody>
                    <a:bodyPr/>
                    <a:lstStyle/>
                    <a:p>
                      <a:pPr algn="ctr" rtl="0" fontAlgn="b"/>
                      <a:r>
                        <a:rPr lang="en-GB" sz="1200" b="0" i="0" u="none" strike="noStrike">
                          <a:solidFill>
                            <a:srgbClr val="000000"/>
                          </a:solidFill>
                          <a:effectLst/>
                          <a:latin typeface="Calibri" panose="020F0502020204030204" pitchFamily="34" charset="0"/>
                        </a:rPr>
                        <a:t>4.6</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AB848"/>
                    </a:solidFill>
                  </a:tcPr>
                </a:tc>
                <a:tc>
                  <a:txBody>
                    <a:bodyPr/>
                    <a:lstStyle/>
                    <a:p>
                      <a:pPr algn="ctr" rtl="0" fontAlgn="b"/>
                      <a:r>
                        <a:rPr lang="en-GB" sz="1200" b="0" i="0" u="none" strike="noStrike">
                          <a:solidFill>
                            <a:srgbClr val="000000"/>
                          </a:solidFill>
                          <a:effectLst/>
                          <a:latin typeface="Calibri" panose="020F0502020204030204" pitchFamily="34" charset="0"/>
                        </a:rPr>
                        <a:t>4.58</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BB947"/>
                    </a:solidFill>
                  </a:tcPr>
                </a:tc>
                <a:extLst>
                  <a:ext uri="{0D108BD9-81ED-4DB2-BD59-A6C34878D82A}">
                    <a16:rowId xmlns:a16="http://schemas.microsoft.com/office/drawing/2014/main" val="2652815809"/>
                  </a:ext>
                </a:extLst>
              </a:tr>
              <a:tr h="349392">
                <a:tc>
                  <a:txBody>
                    <a:bodyPr/>
                    <a:lstStyle/>
                    <a:p>
                      <a:pPr algn="l" rtl="0" fontAlgn="b"/>
                      <a:r>
                        <a:rPr lang="en-GB" sz="1200" b="0" i="0" u="none" strike="noStrike">
                          <a:solidFill>
                            <a:srgbClr val="000000"/>
                          </a:solidFill>
                          <a:effectLst/>
                          <a:latin typeface="Calibri" panose="020F0502020204030204" pitchFamily="34" charset="0"/>
                        </a:rPr>
                        <a:t>Inclusivity and Diversity</a:t>
                      </a:r>
                    </a:p>
                  </a:txBody>
                  <a:tcPr marL="8257" marR="8257" marT="8257" marB="0" anchor="ctr">
                    <a:lnL w="6350" cap="flat" cmpd="sng" algn="ctr">
                      <a:solidFill>
                        <a:srgbClr val="FFFFFF"/>
                      </a:solidFill>
                      <a:prstDash val="solid"/>
                      <a:round/>
                      <a:headEnd type="none" w="med" len="med"/>
                      <a:tailEnd type="none" w="med" len="med"/>
                    </a:lnL>
                    <a:lnR w="190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tcPr>
                </a:tc>
                <a:tc>
                  <a:txBody>
                    <a:bodyPr/>
                    <a:lstStyle/>
                    <a:p>
                      <a:pPr algn="ctr" rtl="0" fontAlgn="b"/>
                      <a:r>
                        <a:rPr lang="en-GB" sz="1200" b="0" i="0" u="none" strike="noStrike">
                          <a:solidFill>
                            <a:srgbClr val="000000"/>
                          </a:solidFill>
                          <a:effectLst/>
                          <a:latin typeface="Calibri" panose="020F0502020204030204" pitchFamily="34" charset="0"/>
                        </a:rPr>
                        <a:t>4.31</a:t>
                      </a:r>
                    </a:p>
                  </a:txBody>
                  <a:tcPr marL="8257" marR="8257" marT="8257" marB="0" anchor="ctr">
                    <a:lnL w="190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2CBE42"/>
                    </a:solidFill>
                  </a:tcPr>
                </a:tc>
                <a:tc>
                  <a:txBody>
                    <a:bodyPr/>
                    <a:lstStyle/>
                    <a:p>
                      <a:pPr algn="ctr" rtl="0" fontAlgn="b"/>
                      <a:r>
                        <a:rPr lang="en-GB" sz="1200" b="0" i="0" u="none" strike="noStrike">
                          <a:solidFill>
                            <a:srgbClr val="000000"/>
                          </a:solidFill>
                          <a:effectLst/>
                          <a:latin typeface="Calibri" panose="020F0502020204030204" pitchFamily="34" charset="0"/>
                        </a:rPr>
                        <a:t>4.42</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25BC44"/>
                    </a:solidFill>
                  </a:tcPr>
                </a:tc>
                <a:tc>
                  <a:txBody>
                    <a:bodyPr/>
                    <a:lstStyle/>
                    <a:p>
                      <a:pPr algn="ctr" rtl="0" fontAlgn="b"/>
                      <a:r>
                        <a:rPr lang="en-GB" sz="1200" b="0" i="0" u="none" strike="noStrike">
                          <a:solidFill>
                            <a:srgbClr val="000000"/>
                          </a:solidFill>
                          <a:effectLst/>
                          <a:latin typeface="Calibri" panose="020F0502020204030204" pitchFamily="34" charset="0"/>
                        </a:rPr>
                        <a:t>4.21</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33C040"/>
                    </a:solidFill>
                  </a:tcPr>
                </a:tc>
                <a:tc>
                  <a:txBody>
                    <a:bodyPr/>
                    <a:lstStyle/>
                    <a:p>
                      <a:pPr algn="ctr" rtl="0" fontAlgn="b"/>
                      <a:r>
                        <a:rPr lang="en-GB" sz="1200" b="0" i="0" u="none" strike="noStrike">
                          <a:solidFill>
                            <a:srgbClr val="000000"/>
                          </a:solidFill>
                          <a:effectLst/>
                          <a:latin typeface="Calibri" panose="020F0502020204030204" pitchFamily="34" charset="0"/>
                        </a:rPr>
                        <a:t>4.49</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21BB45"/>
                    </a:solidFill>
                  </a:tcPr>
                </a:tc>
                <a:tc>
                  <a:txBody>
                    <a:bodyPr/>
                    <a:lstStyle/>
                    <a:p>
                      <a:pPr algn="ctr" rtl="0" fontAlgn="b"/>
                      <a:r>
                        <a:rPr lang="en-GB" sz="1200" b="0" i="0" u="none" strike="noStrike">
                          <a:solidFill>
                            <a:srgbClr val="000000"/>
                          </a:solidFill>
                          <a:effectLst/>
                          <a:latin typeface="Calibri" panose="020F0502020204030204" pitchFamily="34" charset="0"/>
                        </a:rPr>
                        <a:t>4.17</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35C13F"/>
                    </a:solidFill>
                  </a:tcPr>
                </a:tc>
                <a:tc>
                  <a:txBody>
                    <a:bodyPr/>
                    <a:lstStyle/>
                    <a:p>
                      <a:pPr algn="ctr" rtl="0" fontAlgn="b"/>
                      <a:r>
                        <a:rPr lang="en-GB" sz="1200" b="0" i="0" u="none" strike="noStrike">
                          <a:solidFill>
                            <a:srgbClr val="000000"/>
                          </a:solidFill>
                          <a:effectLst/>
                          <a:latin typeface="Calibri" panose="020F0502020204030204" pitchFamily="34" charset="0"/>
                        </a:rPr>
                        <a:t>4.7</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4B64A"/>
                    </a:solidFill>
                  </a:tcPr>
                </a:tc>
                <a:tc>
                  <a:txBody>
                    <a:bodyPr/>
                    <a:lstStyle/>
                    <a:p>
                      <a:pPr algn="ctr" rtl="0" fontAlgn="b"/>
                      <a:r>
                        <a:rPr lang="en-GB" sz="1200" b="0" i="0" u="none" strike="noStrike" dirty="0">
                          <a:solidFill>
                            <a:srgbClr val="000000"/>
                          </a:solidFill>
                          <a:effectLst/>
                          <a:latin typeface="Calibri" panose="020F0502020204030204" pitchFamily="34" charset="0"/>
                        </a:rPr>
                        <a:t>4.57</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CB947"/>
                    </a:solidFill>
                  </a:tcPr>
                </a:tc>
                <a:tc>
                  <a:txBody>
                    <a:bodyPr/>
                    <a:lstStyle/>
                    <a:p>
                      <a:pPr algn="ctr" rtl="0" fontAlgn="b"/>
                      <a:r>
                        <a:rPr lang="en-GB" sz="1200" b="0" i="0" u="none" strike="noStrike" dirty="0">
                          <a:solidFill>
                            <a:srgbClr val="000000"/>
                          </a:solidFill>
                          <a:effectLst/>
                          <a:latin typeface="Calibri" panose="020F0502020204030204" pitchFamily="34" charset="0"/>
                        </a:rPr>
                        <a:t>2.63</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98DF20"/>
                    </a:solidFill>
                  </a:tcPr>
                </a:tc>
                <a:tc>
                  <a:txBody>
                    <a:bodyPr/>
                    <a:lstStyle/>
                    <a:p>
                      <a:pPr algn="ctr" rtl="0" fontAlgn="b"/>
                      <a:r>
                        <a:rPr lang="en-GB" sz="1200" b="0" i="0" u="none" strike="noStrike" dirty="0">
                          <a:solidFill>
                            <a:srgbClr val="000000"/>
                          </a:solidFill>
                          <a:effectLst/>
                          <a:latin typeface="Calibri" panose="020F0502020204030204" pitchFamily="34" charset="0"/>
                        </a:rPr>
                        <a:t>4.62</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9B848"/>
                    </a:solidFill>
                  </a:tcPr>
                </a:tc>
                <a:tc>
                  <a:txBody>
                    <a:bodyPr/>
                    <a:lstStyle/>
                    <a:p>
                      <a:pPr algn="ctr" rtl="0" fontAlgn="b"/>
                      <a:r>
                        <a:rPr lang="en-GB" sz="1200" b="0" i="0" u="none" strike="noStrike">
                          <a:solidFill>
                            <a:srgbClr val="000000"/>
                          </a:solidFill>
                          <a:effectLst/>
                          <a:latin typeface="Calibri" panose="020F0502020204030204" pitchFamily="34" charset="0"/>
                        </a:rPr>
                        <a:t>4.3</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2DBE42"/>
                    </a:solidFill>
                  </a:tcPr>
                </a:tc>
                <a:tc>
                  <a:txBody>
                    <a:bodyPr/>
                    <a:lstStyle/>
                    <a:p>
                      <a:pPr algn="ctr" rtl="0" fontAlgn="b"/>
                      <a:r>
                        <a:rPr lang="en-GB" sz="1200" b="0" i="0" u="none" strike="noStrike">
                          <a:solidFill>
                            <a:srgbClr val="000000"/>
                          </a:solidFill>
                          <a:effectLst/>
                          <a:latin typeface="Calibri" panose="020F0502020204030204" pitchFamily="34" charset="0"/>
                        </a:rPr>
                        <a:t>4.31</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2CBE42"/>
                    </a:solidFill>
                  </a:tcPr>
                </a:tc>
                <a:extLst>
                  <a:ext uri="{0D108BD9-81ED-4DB2-BD59-A6C34878D82A}">
                    <a16:rowId xmlns:a16="http://schemas.microsoft.com/office/drawing/2014/main" val="1126381453"/>
                  </a:ext>
                </a:extLst>
              </a:tr>
              <a:tr h="349392">
                <a:tc>
                  <a:txBody>
                    <a:bodyPr/>
                    <a:lstStyle/>
                    <a:p>
                      <a:pPr algn="l" rtl="0" fontAlgn="b"/>
                      <a:r>
                        <a:rPr lang="en-GB" sz="1200" b="0" i="0" u="none" strike="noStrike">
                          <a:solidFill>
                            <a:srgbClr val="000000"/>
                          </a:solidFill>
                          <a:effectLst/>
                          <a:latin typeface="Calibri" panose="020F0502020204030204" pitchFamily="34" charset="0"/>
                        </a:rPr>
                        <a:t>Commitment and Dedication</a:t>
                      </a:r>
                    </a:p>
                  </a:txBody>
                  <a:tcPr marL="8257" marR="8257" marT="8257" marB="0" anchor="ctr">
                    <a:lnL w="6350" cap="flat" cmpd="sng" algn="ctr">
                      <a:solidFill>
                        <a:srgbClr val="FFFFFF"/>
                      </a:solidFill>
                      <a:prstDash val="solid"/>
                      <a:round/>
                      <a:headEnd type="none" w="med" len="med"/>
                      <a:tailEnd type="none" w="med" len="med"/>
                    </a:lnL>
                    <a:lnR w="190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tcPr>
                </a:tc>
                <a:tc>
                  <a:txBody>
                    <a:bodyPr/>
                    <a:lstStyle/>
                    <a:p>
                      <a:pPr algn="ctr" rtl="0" fontAlgn="b"/>
                      <a:r>
                        <a:rPr lang="en-GB" sz="1200" b="0" i="0" u="none" strike="noStrike">
                          <a:solidFill>
                            <a:srgbClr val="000000"/>
                          </a:solidFill>
                          <a:effectLst/>
                          <a:latin typeface="Calibri" panose="020F0502020204030204" pitchFamily="34" charset="0"/>
                        </a:rPr>
                        <a:t>4.56</a:t>
                      </a:r>
                    </a:p>
                  </a:txBody>
                  <a:tcPr marL="8257" marR="8257" marT="8257" marB="0" anchor="ctr">
                    <a:lnL w="190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DB947"/>
                    </a:solidFill>
                  </a:tcPr>
                </a:tc>
                <a:tc>
                  <a:txBody>
                    <a:bodyPr/>
                    <a:lstStyle/>
                    <a:p>
                      <a:pPr algn="ctr" rtl="0" fontAlgn="b"/>
                      <a:r>
                        <a:rPr lang="en-GB" sz="1200" b="0" i="0" u="none" strike="noStrike">
                          <a:solidFill>
                            <a:srgbClr val="000000"/>
                          </a:solidFill>
                          <a:effectLst/>
                          <a:latin typeface="Calibri" panose="020F0502020204030204" pitchFamily="34" charset="0"/>
                        </a:rPr>
                        <a:t>4.56</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DB947"/>
                    </a:solidFill>
                  </a:tcPr>
                </a:tc>
                <a:tc>
                  <a:txBody>
                    <a:bodyPr/>
                    <a:lstStyle/>
                    <a:p>
                      <a:pPr algn="ctr" rtl="0" fontAlgn="b"/>
                      <a:r>
                        <a:rPr lang="en-GB" sz="1200" b="0" i="0" u="none" strike="noStrike">
                          <a:solidFill>
                            <a:srgbClr val="000000"/>
                          </a:solidFill>
                          <a:effectLst/>
                          <a:latin typeface="Calibri" panose="020F0502020204030204" pitchFamily="34" charset="0"/>
                        </a:rPr>
                        <a:t>4.57</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CB947"/>
                    </a:solidFill>
                  </a:tcPr>
                </a:tc>
                <a:tc>
                  <a:txBody>
                    <a:bodyPr/>
                    <a:lstStyle/>
                    <a:p>
                      <a:pPr algn="ctr" rtl="0" fontAlgn="b"/>
                      <a:r>
                        <a:rPr lang="en-GB" sz="1200" b="0" i="0" u="none" strike="noStrike">
                          <a:solidFill>
                            <a:srgbClr val="000000"/>
                          </a:solidFill>
                          <a:effectLst/>
                          <a:latin typeface="Calibri" panose="020F0502020204030204" pitchFamily="34" charset="0"/>
                        </a:rPr>
                        <a:t>4.55</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DB947"/>
                    </a:solidFill>
                  </a:tcPr>
                </a:tc>
                <a:tc>
                  <a:txBody>
                    <a:bodyPr/>
                    <a:lstStyle/>
                    <a:p>
                      <a:pPr algn="ctr" rtl="0" fontAlgn="b"/>
                      <a:r>
                        <a:rPr lang="en-GB" sz="1200" b="0" i="0" u="none" strike="noStrike">
                          <a:solidFill>
                            <a:srgbClr val="000000"/>
                          </a:solidFill>
                          <a:effectLst/>
                          <a:latin typeface="Calibri" panose="020F0502020204030204" pitchFamily="34" charset="0"/>
                        </a:rPr>
                        <a:t>4.23</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32C040"/>
                    </a:solidFill>
                  </a:tcPr>
                </a:tc>
                <a:tc>
                  <a:txBody>
                    <a:bodyPr/>
                    <a:lstStyle/>
                    <a:p>
                      <a:pPr algn="ctr" rtl="0" fontAlgn="b"/>
                      <a:r>
                        <a:rPr lang="en-GB" sz="1200" b="0" i="0" u="none" strike="noStrike">
                          <a:solidFill>
                            <a:srgbClr val="000000"/>
                          </a:solidFill>
                          <a:effectLst/>
                          <a:latin typeface="Calibri" panose="020F0502020204030204" pitchFamily="34" charset="0"/>
                        </a:rPr>
                        <a:t>4.7</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4B64A"/>
                    </a:solidFill>
                  </a:tcPr>
                </a:tc>
                <a:tc>
                  <a:txBody>
                    <a:bodyPr/>
                    <a:lstStyle/>
                    <a:p>
                      <a:pPr algn="ctr" rtl="0" fontAlgn="b"/>
                      <a:r>
                        <a:rPr lang="en-GB" sz="1200" b="0" i="0" u="none" strike="noStrike">
                          <a:solidFill>
                            <a:srgbClr val="000000"/>
                          </a:solidFill>
                          <a:effectLst/>
                          <a:latin typeface="Calibri" panose="020F0502020204030204" pitchFamily="34" charset="0"/>
                        </a:rPr>
                        <a:t>4.49</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21BB45"/>
                    </a:solidFill>
                  </a:tcPr>
                </a:tc>
                <a:tc>
                  <a:txBody>
                    <a:bodyPr/>
                    <a:lstStyle/>
                    <a:p>
                      <a:pPr algn="ctr" rtl="0" fontAlgn="b"/>
                      <a:r>
                        <a:rPr lang="en-GB" sz="1200" b="0" i="0" u="none" strike="noStrike">
                          <a:solidFill>
                            <a:srgbClr val="000000"/>
                          </a:solidFill>
                          <a:effectLst/>
                          <a:latin typeface="Calibri" panose="020F0502020204030204" pitchFamily="34" charset="0"/>
                        </a:rPr>
                        <a:t>4.91</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06B24E"/>
                    </a:solidFill>
                  </a:tcPr>
                </a:tc>
                <a:tc>
                  <a:txBody>
                    <a:bodyPr/>
                    <a:lstStyle/>
                    <a:p>
                      <a:pPr algn="ctr" rtl="0" fontAlgn="b"/>
                      <a:r>
                        <a:rPr lang="en-GB" sz="1200" b="0" i="0" u="none" strike="noStrike" dirty="0">
                          <a:solidFill>
                            <a:srgbClr val="000000"/>
                          </a:solidFill>
                          <a:effectLst/>
                          <a:latin typeface="Calibri" panose="020F0502020204030204" pitchFamily="34" charset="0"/>
                        </a:rPr>
                        <a:t>4.62</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9B848"/>
                    </a:solidFill>
                  </a:tcPr>
                </a:tc>
                <a:tc>
                  <a:txBody>
                    <a:bodyPr/>
                    <a:lstStyle/>
                    <a:p>
                      <a:pPr algn="ctr" rtl="0" fontAlgn="b"/>
                      <a:r>
                        <a:rPr lang="en-GB" sz="1200" b="0" i="0" u="none" strike="noStrike" dirty="0">
                          <a:solidFill>
                            <a:srgbClr val="000000"/>
                          </a:solidFill>
                          <a:effectLst/>
                          <a:latin typeface="Calibri" panose="020F0502020204030204" pitchFamily="34" charset="0"/>
                        </a:rPr>
                        <a:t>4.54</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EBA46"/>
                    </a:solidFill>
                  </a:tcPr>
                </a:tc>
                <a:tc>
                  <a:txBody>
                    <a:bodyPr/>
                    <a:lstStyle/>
                    <a:p>
                      <a:pPr algn="ctr" rtl="0" fontAlgn="b"/>
                      <a:r>
                        <a:rPr lang="en-GB" sz="1200" b="0" i="0" u="none" strike="noStrike" dirty="0">
                          <a:solidFill>
                            <a:srgbClr val="000000"/>
                          </a:solidFill>
                          <a:effectLst/>
                          <a:latin typeface="Calibri" panose="020F0502020204030204" pitchFamily="34" charset="0"/>
                        </a:rPr>
                        <a:t>4.6</a:t>
                      </a:r>
                    </a:p>
                  </a:txBody>
                  <a:tcPr marL="8257" marR="8257" marT="8257" marB="0" anchor="ctr">
                    <a:lnL w="6350" cap="flat" cmpd="sng" algn="ctr">
                      <a:solidFill>
                        <a:srgbClr val="993300"/>
                      </a:solidFill>
                      <a:prstDash val="solid"/>
                      <a:round/>
                      <a:headEnd type="none" w="med" len="med"/>
                      <a:tailEnd type="none" w="med" len="med"/>
                    </a:lnL>
                    <a:lnR w="6350" cap="flat" cmpd="sng" algn="ctr">
                      <a:solidFill>
                        <a:srgbClr val="993300"/>
                      </a:solidFill>
                      <a:prstDash val="solid"/>
                      <a:round/>
                      <a:headEnd type="none" w="med" len="med"/>
                      <a:tailEnd type="none" w="med" len="med"/>
                    </a:lnR>
                    <a:lnT w="6350" cap="flat" cmpd="sng" algn="ctr">
                      <a:solidFill>
                        <a:srgbClr val="993300"/>
                      </a:solidFill>
                      <a:prstDash val="solid"/>
                      <a:round/>
                      <a:headEnd type="none" w="med" len="med"/>
                      <a:tailEnd type="none" w="med" len="med"/>
                    </a:lnT>
                    <a:lnB w="6350" cap="flat" cmpd="sng" algn="ctr">
                      <a:solidFill>
                        <a:srgbClr val="993300"/>
                      </a:solidFill>
                      <a:prstDash val="solid"/>
                      <a:round/>
                      <a:headEnd type="none" w="med" len="med"/>
                      <a:tailEnd type="none" w="med" len="med"/>
                    </a:lnB>
                    <a:solidFill>
                      <a:srgbClr val="1AB848"/>
                    </a:solidFill>
                  </a:tcPr>
                </a:tc>
                <a:extLst>
                  <a:ext uri="{0D108BD9-81ED-4DB2-BD59-A6C34878D82A}">
                    <a16:rowId xmlns:a16="http://schemas.microsoft.com/office/drawing/2014/main" val="758741721"/>
                  </a:ext>
                </a:extLst>
              </a:tr>
            </a:tbl>
          </a:graphicData>
        </a:graphic>
      </p:graphicFrame>
    </p:spTree>
    <p:extLst>
      <p:ext uri="{BB962C8B-B14F-4D97-AF65-F5344CB8AC3E}">
        <p14:creationId xmlns:p14="http://schemas.microsoft.com/office/powerpoint/2010/main" val="226851487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257366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MAGEDIMENSIONPROPERTIES" val="{&quot;height&quot;:&quot;317.8672&quot;,&quot;width&quot;:&quot;898.7427&quot;,&quot;top&quot;:&quot;135.09&quot;,&quot;left&quot;:&quot;30.80008&quot;}"/>
</p:tagLst>
</file>

<file path=ppt/tags/tag2.xml><?xml version="1.0" encoding="utf-8"?>
<p:tagLst xmlns:a="http://schemas.openxmlformats.org/drawingml/2006/main" xmlns:r="http://schemas.openxmlformats.org/officeDocument/2006/relationships" xmlns:p="http://schemas.openxmlformats.org/presentationml/2006/main">
  <p:tag name="IMAGEDIMENSIONPROPERTIES" val="{&quot;height&quot;:&quot;317.8672&quot;,&quot;width&quot;:&quot;898.7427&quot;,&quot;top&quot;:&quot;135.09&quot;,&quot;left&quot;:&quot;30.80008&quot;}"/>
</p:tagLst>
</file>

<file path=ppt/tags/tag3.xml><?xml version="1.0" encoding="utf-8"?>
<p:tagLst xmlns:a="http://schemas.openxmlformats.org/drawingml/2006/main" xmlns:r="http://schemas.openxmlformats.org/officeDocument/2006/relationships" xmlns:p="http://schemas.openxmlformats.org/presentationml/2006/main">
  <p:tag name="IMAGEDIMENSIONPROPERTIES" val="{&quot;height&quot;:&quot;317.8672&quot;,&quot;width&quot;:&quot;898.7427&quot;,&quot;top&quot;:&quot;135.09&quot;,&quot;left&quot;:&quot;30.80008&quot;}"/>
</p:tagLst>
</file>

<file path=ppt/tags/tag4.xml><?xml version="1.0" encoding="utf-8"?>
<p:tagLst xmlns:a="http://schemas.openxmlformats.org/drawingml/2006/main" xmlns:r="http://schemas.openxmlformats.org/officeDocument/2006/relationships" xmlns:p="http://schemas.openxmlformats.org/presentationml/2006/main">
  <p:tag name="IMAGEDIMENSIONPROPERTIES" val="{&quot;height&quot;:&quot;317.8672&quot;,&quot;width&quot;:&quot;898.7427&quot;,&quot;top&quot;:&quot;135.09&quot;,&quot;left&quot;:&quot;30.80008&quot;}"/>
</p:tagLst>
</file>

<file path=ppt/tags/tag5.xml><?xml version="1.0" encoding="utf-8"?>
<p:tagLst xmlns:a="http://schemas.openxmlformats.org/drawingml/2006/main" xmlns:r="http://schemas.openxmlformats.org/officeDocument/2006/relationships" xmlns:p="http://schemas.openxmlformats.org/presentationml/2006/main">
  <p:tag name="IMAGEDIMENSIONPROPERTIES" val="{&quot;height&quot;:&quot;317.8672&quot;,&quot;width&quot;:&quot;898.7427&quot;,&quot;top&quot;:&quot;135.09&quot;,&quot;left&quot;:&quot;30.80008&quot;}"/>
</p:tagLst>
</file>

<file path=ppt/theme/theme1.xml><?xml version="1.0" encoding="utf-8"?>
<a:theme xmlns:a="http://schemas.openxmlformats.org/drawingml/2006/main" name="3_Contents Slide Master">
  <a:themeElements>
    <a:clrScheme name="2019-Medical">
      <a:dk1>
        <a:sysClr val="windowText" lastClr="000000"/>
      </a:dk1>
      <a:lt1>
        <a:sysClr val="window" lastClr="FFFFFF"/>
      </a:lt1>
      <a:dk2>
        <a:srgbClr val="44546A"/>
      </a:dk2>
      <a:lt2>
        <a:srgbClr val="E7E6E6"/>
      </a:lt2>
      <a:accent1>
        <a:srgbClr val="60BED4"/>
      </a:accent1>
      <a:accent2>
        <a:srgbClr val="8EDADA"/>
      </a:accent2>
      <a:accent3>
        <a:srgbClr val="AAAAAA"/>
      </a:accent3>
      <a:accent4>
        <a:srgbClr val="D4D4D4"/>
      </a:accent4>
      <a:accent5>
        <a:srgbClr val="60BED4"/>
      </a:accent5>
      <a:accent6>
        <a:srgbClr val="8EDADA"/>
      </a:accent6>
      <a:hlink>
        <a:srgbClr val="FFFFFF"/>
      </a:hlink>
      <a:folHlink>
        <a:srgbClr val="FFFFFF"/>
      </a:folHlink>
    </a:clrScheme>
    <a:fontScheme name="MAX-THEME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4_Contents Slide Master">
  <a:themeElements>
    <a:clrScheme name="2019-Medical">
      <a:dk1>
        <a:sysClr val="windowText" lastClr="000000"/>
      </a:dk1>
      <a:lt1>
        <a:sysClr val="window" lastClr="FFFFFF"/>
      </a:lt1>
      <a:dk2>
        <a:srgbClr val="44546A"/>
      </a:dk2>
      <a:lt2>
        <a:srgbClr val="E7E6E6"/>
      </a:lt2>
      <a:accent1>
        <a:srgbClr val="60BED4"/>
      </a:accent1>
      <a:accent2>
        <a:srgbClr val="8EDADA"/>
      </a:accent2>
      <a:accent3>
        <a:srgbClr val="AAAAAA"/>
      </a:accent3>
      <a:accent4>
        <a:srgbClr val="D4D4D4"/>
      </a:accent4>
      <a:accent5>
        <a:srgbClr val="60BED4"/>
      </a:accent5>
      <a:accent6>
        <a:srgbClr val="8EDADA"/>
      </a:accent6>
      <a:hlink>
        <a:srgbClr val="FFFFFF"/>
      </a:hlink>
      <a:folHlink>
        <a:srgbClr val="FFFFFF"/>
      </a:folHlink>
    </a:clrScheme>
    <a:fontScheme name="MAX-THEME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5_Contents Slide Master">
  <a:themeElements>
    <a:clrScheme name="2019-Medical">
      <a:dk1>
        <a:sysClr val="windowText" lastClr="000000"/>
      </a:dk1>
      <a:lt1>
        <a:sysClr val="window" lastClr="FFFFFF"/>
      </a:lt1>
      <a:dk2>
        <a:srgbClr val="44546A"/>
      </a:dk2>
      <a:lt2>
        <a:srgbClr val="E7E6E6"/>
      </a:lt2>
      <a:accent1>
        <a:srgbClr val="60BED4"/>
      </a:accent1>
      <a:accent2>
        <a:srgbClr val="8EDADA"/>
      </a:accent2>
      <a:accent3>
        <a:srgbClr val="AAAAAA"/>
      </a:accent3>
      <a:accent4>
        <a:srgbClr val="D4D4D4"/>
      </a:accent4>
      <a:accent5>
        <a:srgbClr val="60BED4"/>
      </a:accent5>
      <a:accent6>
        <a:srgbClr val="8EDADA"/>
      </a:accent6>
      <a:hlink>
        <a:srgbClr val="FFFFFF"/>
      </a:hlink>
      <a:folHlink>
        <a:srgbClr val="FFFFFF"/>
      </a:folHlink>
    </a:clrScheme>
    <a:fontScheme name="MAX-THEME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Contents Slide Master">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7.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8.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9.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0.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1.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2.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3.xml><?xml version="1.0" encoding="utf-8"?>
<a:themeOverride xmlns:a="http://schemas.openxmlformats.org/drawingml/2006/main">
  <a:clrScheme name="MTN 8">
    <a:dk1>
      <a:srgbClr val="000000"/>
    </a:dk1>
    <a:lt1>
      <a:srgbClr val="FFFFFF"/>
    </a:lt1>
    <a:dk2>
      <a:srgbClr val="E6E6E6"/>
    </a:dk2>
    <a:lt2>
      <a:srgbClr val="969696"/>
    </a:lt2>
    <a:accent1>
      <a:srgbClr val="FFCB05"/>
    </a:accent1>
    <a:accent2>
      <a:srgbClr val="5A1E59"/>
    </a:accent2>
    <a:accent3>
      <a:srgbClr val="F5821D"/>
    </a:accent3>
    <a:accent4>
      <a:srgbClr val="0E6886"/>
    </a:accent4>
    <a:accent5>
      <a:srgbClr val="D72578"/>
    </a:accent5>
    <a:accent6>
      <a:srgbClr val="0EAF4B"/>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4.xml><?xml version="1.0" encoding="utf-8"?>
<a:themeOverride xmlns:a="http://schemas.openxmlformats.org/drawingml/2006/main">
  <a:clrScheme name="MTN 8">
    <a:dk1>
      <a:srgbClr val="000000"/>
    </a:dk1>
    <a:lt1>
      <a:srgbClr val="FFFFFF"/>
    </a:lt1>
    <a:dk2>
      <a:srgbClr val="E6E6E6"/>
    </a:dk2>
    <a:lt2>
      <a:srgbClr val="969696"/>
    </a:lt2>
    <a:accent1>
      <a:srgbClr val="FFCB05"/>
    </a:accent1>
    <a:accent2>
      <a:srgbClr val="5A1E59"/>
    </a:accent2>
    <a:accent3>
      <a:srgbClr val="F5821D"/>
    </a:accent3>
    <a:accent4>
      <a:srgbClr val="0E6886"/>
    </a:accent4>
    <a:accent5>
      <a:srgbClr val="D72578"/>
    </a:accent5>
    <a:accent6>
      <a:srgbClr val="0EAF4B"/>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5.xml><?xml version="1.0" encoding="utf-8"?>
<a:themeOverride xmlns:a="http://schemas.openxmlformats.org/drawingml/2006/main">
  <a:clrScheme name="MTN 8">
    <a:dk1>
      <a:srgbClr val="000000"/>
    </a:dk1>
    <a:lt1>
      <a:srgbClr val="FFFFFF"/>
    </a:lt1>
    <a:dk2>
      <a:srgbClr val="E6E6E6"/>
    </a:dk2>
    <a:lt2>
      <a:srgbClr val="969696"/>
    </a:lt2>
    <a:accent1>
      <a:srgbClr val="FFCB05"/>
    </a:accent1>
    <a:accent2>
      <a:srgbClr val="5A1E59"/>
    </a:accent2>
    <a:accent3>
      <a:srgbClr val="F5821D"/>
    </a:accent3>
    <a:accent4>
      <a:srgbClr val="0E6886"/>
    </a:accent4>
    <a:accent5>
      <a:srgbClr val="D72578"/>
    </a:accent5>
    <a:accent6>
      <a:srgbClr val="0EAF4B"/>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6.xml><?xml version="1.0" encoding="utf-8"?>
<a:themeOverride xmlns:a="http://schemas.openxmlformats.org/drawingml/2006/main">
  <a:clrScheme name="MTN 8">
    <a:dk1>
      <a:srgbClr val="000000"/>
    </a:dk1>
    <a:lt1>
      <a:srgbClr val="FFFFFF"/>
    </a:lt1>
    <a:dk2>
      <a:srgbClr val="E6E6E6"/>
    </a:dk2>
    <a:lt2>
      <a:srgbClr val="969696"/>
    </a:lt2>
    <a:accent1>
      <a:srgbClr val="FFCB05"/>
    </a:accent1>
    <a:accent2>
      <a:srgbClr val="5A1E59"/>
    </a:accent2>
    <a:accent3>
      <a:srgbClr val="F5821D"/>
    </a:accent3>
    <a:accent4>
      <a:srgbClr val="0E6886"/>
    </a:accent4>
    <a:accent5>
      <a:srgbClr val="D72578"/>
    </a:accent5>
    <a:accent6>
      <a:srgbClr val="0EAF4B"/>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7.xml><?xml version="1.0" encoding="utf-8"?>
<a:themeOverride xmlns:a="http://schemas.openxmlformats.org/drawingml/2006/main">
  <a:clrScheme name="MTN 8">
    <a:dk1>
      <a:srgbClr val="000000"/>
    </a:dk1>
    <a:lt1>
      <a:srgbClr val="FFFFFF"/>
    </a:lt1>
    <a:dk2>
      <a:srgbClr val="E6E6E6"/>
    </a:dk2>
    <a:lt2>
      <a:srgbClr val="969696"/>
    </a:lt2>
    <a:accent1>
      <a:srgbClr val="FFCB05"/>
    </a:accent1>
    <a:accent2>
      <a:srgbClr val="5A1E59"/>
    </a:accent2>
    <a:accent3>
      <a:srgbClr val="F5821D"/>
    </a:accent3>
    <a:accent4>
      <a:srgbClr val="0E6886"/>
    </a:accent4>
    <a:accent5>
      <a:srgbClr val="D72578"/>
    </a:accent5>
    <a:accent6>
      <a:srgbClr val="0EAF4B"/>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8.xml><?xml version="1.0" encoding="utf-8"?>
<a:themeOverride xmlns:a="http://schemas.openxmlformats.org/drawingml/2006/main">
  <a:clrScheme name="MTN 8">
    <a:dk1>
      <a:srgbClr val="000000"/>
    </a:dk1>
    <a:lt1>
      <a:srgbClr val="FFFFFF"/>
    </a:lt1>
    <a:dk2>
      <a:srgbClr val="E6E6E6"/>
    </a:dk2>
    <a:lt2>
      <a:srgbClr val="969696"/>
    </a:lt2>
    <a:accent1>
      <a:srgbClr val="FFCB05"/>
    </a:accent1>
    <a:accent2>
      <a:srgbClr val="5A1E59"/>
    </a:accent2>
    <a:accent3>
      <a:srgbClr val="F5821D"/>
    </a:accent3>
    <a:accent4>
      <a:srgbClr val="0E6886"/>
    </a:accent4>
    <a:accent5>
      <a:srgbClr val="D72578"/>
    </a:accent5>
    <a:accent6>
      <a:srgbClr val="0EAF4B"/>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9.xml><?xml version="1.0" encoding="utf-8"?>
<a:themeOverride xmlns:a="http://schemas.openxmlformats.org/drawingml/2006/main">
  <a:clrScheme name="MTN 8">
    <a:dk1>
      <a:srgbClr val="000000"/>
    </a:dk1>
    <a:lt1>
      <a:srgbClr val="FFFFFF"/>
    </a:lt1>
    <a:dk2>
      <a:srgbClr val="E6E6E6"/>
    </a:dk2>
    <a:lt2>
      <a:srgbClr val="969696"/>
    </a:lt2>
    <a:accent1>
      <a:srgbClr val="FFCB05"/>
    </a:accent1>
    <a:accent2>
      <a:srgbClr val="5A1E59"/>
    </a:accent2>
    <a:accent3>
      <a:srgbClr val="F5821D"/>
    </a:accent3>
    <a:accent4>
      <a:srgbClr val="0E6886"/>
    </a:accent4>
    <a:accent5>
      <a:srgbClr val="D72578"/>
    </a:accent5>
    <a:accent6>
      <a:srgbClr val="0EAF4B"/>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0.xml><?xml version="1.0" encoding="utf-8"?>
<a:themeOverride xmlns:a="http://schemas.openxmlformats.org/drawingml/2006/main">
  <a:clrScheme name="MTN 8">
    <a:dk1>
      <a:srgbClr val="000000"/>
    </a:dk1>
    <a:lt1>
      <a:srgbClr val="FFFFFF"/>
    </a:lt1>
    <a:dk2>
      <a:srgbClr val="E6E6E6"/>
    </a:dk2>
    <a:lt2>
      <a:srgbClr val="969696"/>
    </a:lt2>
    <a:accent1>
      <a:srgbClr val="FFCB05"/>
    </a:accent1>
    <a:accent2>
      <a:srgbClr val="5A1E59"/>
    </a:accent2>
    <a:accent3>
      <a:srgbClr val="F5821D"/>
    </a:accent3>
    <a:accent4>
      <a:srgbClr val="0E6886"/>
    </a:accent4>
    <a:accent5>
      <a:srgbClr val="D72578"/>
    </a:accent5>
    <a:accent6>
      <a:srgbClr val="0EAF4B"/>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1.xml><?xml version="1.0" encoding="utf-8"?>
<a:themeOverride xmlns:a="http://schemas.openxmlformats.org/drawingml/2006/main">
  <a:clrScheme name="MTN 8">
    <a:dk1>
      <a:srgbClr val="000000"/>
    </a:dk1>
    <a:lt1>
      <a:srgbClr val="FFFFFF"/>
    </a:lt1>
    <a:dk2>
      <a:srgbClr val="E6E6E6"/>
    </a:dk2>
    <a:lt2>
      <a:srgbClr val="969696"/>
    </a:lt2>
    <a:accent1>
      <a:srgbClr val="FFCB05"/>
    </a:accent1>
    <a:accent2>
      <a:srgbClr val="5A1E59"/>
    </a:accent2>
    <a:accent3>
      <a:srgbClr val="F5821D"/>
    </a:accent3>
    <a:accent4>
      <a:srgbClr val="0E6886"/>
    </a:accent4>
    <a:accent5>
      <a:srgbClr val="D72578"/>
    </a:accent5>
    <a:accent6>
      <a:srgbClr val="0EAF4B"/>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2.xml><?xml version="1.0" encoding="utf-8"?>
<a:themeOverride xmlns:a="http://schemas.openxmlformats.org/drawingml/2006/main">
  <a:clrScheme name="MTN 8">
    <a:dk1>
      <a:srgbClr val="000000"/>
    </a:dk1>
    <a:lt1>
      <a:srgbClr val="FFFFFF"/>
    </a:lt1>
    <a:dk2>
      <a:srgbClr val="E6E6E6"/>
    </a:dk2>
    <a:lt2>
      <a:srgbClr val="969696"/>
    </a:lt2>
    <a:accent1>
      <a:srgbClr val="FFCB05"/>
    </a:accent1>
    <a:accent2>
      <a:srgbClr val="5A1E59"/>
    </a:accent2>
    <a:accent3>
      <a:srgbClr val="F5821D"/>
    </a:accent3>
    <a:accent4>
      <a:srgbClr val="0E6886"/>
    </a:accent4>
    <a:accent5>
      <a:srgbClr val="D72578"/>
    </a:accent5>
    <a:accent6>
      <a:srgbClr val="0EAF4B"/>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3.xml><?xml version="1.0" encoding="utf-8"?>
<a:themeOverride xmlns:a="http://schemas.openxmlformats.org/drawingml/2006/main">
  <a:clrScheme name="MTN 8">
    <a:dk1>
      <a:srgbClr val="000000"/>
    </a:dk1>
    <a:lt1>
      <a:srgbClr val="FFFFFF"/>
    </a:lt1>
    <a:dk2>
      <a:srgbClr val="E6E6E6"/>
    </a:dk2>
    <a:lt2>
      <a:srgbClr val="969696"/>
    </a:lt2>
    <a:accent1>
      <a:srgbClr val="FFCB05"/>
    </a:accent1>
    <a:accent2>
      <a:srgbClr val="5A1E59"/>
    </a:accent2>
    <a:accent3>
      <a:srgbClr val="F5821D"/>
    </a:accent3>
    <a:accent4>
      <a:srgbClr val="0E6886"/>
    </a:accent4>
    <a:accent5>
      <a:srgbClr val="D72578"/>
    </a:accent5>
    <a:accent6>
      <a:srgbClr val="0EAF4B"/>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4.xml><?xml version="1.0" encoding="utf-8"?>
<a:themeOverride xmlns:a="http://schemas.openxmlformats.org/drawingml/2006/main">
  <a:clrScheme name="MTN 8">
    <a:dk1>
      <a:srgbClr val="000000"/>
    </a:dk1>
    <a:lt1>
      <a:srgbClr val="FFFFFF"/>
    </a:lt1>
    <a:dk2>
      <a:srgbClr val="E6E6E6"/>
    </a:dk2>
    <a:lt2>
      <a:srgbClr val="969696"/>
    </a:lt2>
    <a:accent1>
      <a:srgbClr val="FFCB05"/>
    </a:accent1>
    <a:accent2>
      <a:srgbClr val="5A1E59"/>
    </a:accent2>
    <a:accent3>
      <a:srgbClr val="F5821D"/>
    </a:accent3>
    <a:accent4>
      <a:srgbClr val="0E6886"/>
    </a:accent4>
    <a:accent5>
      <a:srgbClr val="D72578"/>
    </a:accent5>
    <a:accent6>
      <a:srgbClr val="0EAF4B"/>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5.xml><?xml version="1.0" encoding="utf-8"?>
<a:themeOverride xmlns:a="http://schemas.openxmlformats.org/drawingml/2006/main">
  <a:clrScheme name="MTN 8">
    <a:dk1>
      <a:srgbClr val="000000"/>
    </a:dk1>
    <a:lt1>
      <a:srgbClr val="FFFFFF"/>
    </a:lt1>
    <a:dk2>
      <a:srgbClr val="E6E6E6"/>
    </a:dk2>
    <a:lt2>
      <a:srgbClr val="969696"/>
    </a:lt2>
    <a:accent1>
      <a:srgbClr val="FFCB05"/>
    </a:accent1>
    <a:accent2>
      <a:srgbClr val="5A1E59"/>
    </a:accent2>
    <a:accent3>
      <a:srgbClr val="F5821D"/>
    </a:accent3>
    <a:accent4>
      <a:srgbClr val="0E6886"/>
    </a:accent4>
    <a:accent5>
      <a:srgbClr val="D72578"/>
    </a:accent5>
    <a:accent6>
      <a:srgbClr val="0EAF4B"/>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6.xml><?xml version="1.0" encoding="utf-8"?>
<a:themeOverride xmlns:a="http://schemas.openxmlformats.org/drawingml/2006/main">
  <a:clrScheme name="MTN 8">
    <a:dk1>
      <a:srgbClr val="000000"/>
    </a:dk1>
    <a:lt1>
      <a:srgbClr val="FFFFFF"/>
    </a:lt1>
    <a:dk2>
      <a:srgbClr val="E6E6E6"/>
    </a:dk2>
    <a:lt2>
      <a:srgbClr val="969696"/>
    </a:lt2>
    <a:accent1>
      <a:srgbClr val="FFCB05"/>
    </a:accent1>
    <a:accent2>
      <a:srgbClr val="5A1E59"/>
    </a:accent2>
    <a:accent3>
      <a:srgbClr val="F5821D"/>
    </a:accent3>
    <a:accent4>
      <a:srgbClr val="0E6886"/>
    </a:accent4>
    <a:accent5>
      <a:srgbClr val="D72578"/>
    </a:accent5>
    <a:accent6>
      <a:srgbClr val="0EAF4B"/>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7.xml><?xml version="1.0" encoding="utf-8"?>
<a:themeOverride xmlns:a="http://schemas.openxmlformats.org/drawingml/2006/main">
  <a:clrScheme name="MTN 8">
    <a:dk1>
      <a:srgbClr val="000000"/>
    </a:dk1>
    <a:lt1>
      <a:srgbClr val="FFFFFF"/>
    </a:lt1>
    <a:dk2>
      <a:srgbClr val="E6E6E6"/>
    </a:dk2>
    <a:lt2>
      <a:srgbClr val="969696"/>
    </a:lt2>
    <a:accent1>
      <a:srgbClr val="FFCB05"/>
    </a:accent1>
    <a:accent2>
      <a:srgbClr val="5A1E59"/>
    </a:accent2>
    <a:accent3>
      <a:srgbClr val="F5821D"/>
    </a:accent3>
    <a:accent4>
      <a:srgbClr val="0E6886"/>
    </a:accent4>
    <a:accent5>
      <a:srgbClr val="D72578"/>
    </a:accent5>
    <a:accent6>
      <a:srgbClr val="0EAF4B"/>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8.xml><?xml version="1.0" encoding="utf-8"?>
<a:themeOverride xmlns:a="http://schemas.openxmlformats.org/drawingml/2006/main">
  <a:clrScheme name="MTN 8">
    <a:dk1>
      <a:srgbClr val="000000"/>
    </a:dk1>
    <a:lt1>
      <a:srgbClr val="FFFFFF"/>
    </a:lt1>
    <a:dk2>
      <a:srgbClr val="E6E6E6"/>
    </a:dk2>
    <a:lt2>
      <a:srgbClr val="969696"/>
    </a:lt2>
    <a:accent1>
      <a:srgbClr val="FFCB05"/>
    </a:accent1>
    <a:accent2>
      <a:srgbClr val="5A1E59"/>
    </a:accent2>
    <a:accent3>
      <a:srgbClr val="F5821D"/>
    </a:accent3>
    <a:accent4>
      <a:srgbClr val="0E6886"/>
    </a:accent4>
    <a:accent5>
      <a:srgbClr val="D72578"/>
    </a:accent5>
    <a:accent6>
      <a:srgbClr val="0EAF4B"/>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25867</TotalTime>
  <Words>13473</Words>
  <Application>Microsoft Office PowerPoint</Application>
  <PresentationFormat>Widescreen</PresentationFormat>
  <Paragraphs>4187</Paragraphs>
  <Slides>80</Slides>
  <Notes>0</Notes>
  <HiddenSlides>0</HiddenSlides>
  <MMClips>0</MMClips>
  <ScaleCrop>false</ScaleCrop>
  <HeadingPairs>
    <vt:vector size="6" baseType="variant">
      <vt:variant>
        <vt:lpstr>Fonts Used</vt:lpstr>
      </vt:variant>
      <vt:variant>
        <vt:i4>7</vt:i4>
      </vt:variant>
      <vt:variant>
        <vt:lpstr>Theme</vt:lpstr>
      </vt:variant>
      <vt:variant>
        <vt:i4>5</vt:i4>
      </vt:variant>
      <vt:variant>
        <vt:lpstr>Slide Titles</vt:lpstr>
      </vt:variant>
      <vt:variant>
        <vt:i4>80</vt:i4>
      </vt:variant>
    </vt:vector>
  </HeadingPairs>
  <TitlesOfParts>
    <vt:vector size="92" baseType="lpstr">
      <vt:lpstr>Arial</vt:lpstr>
      <vt:lpstr>Arial Unicode MS</vt:lpstr>
      <vt:lpstr>Book Antiqua</vt:lpstr>
      <vt:lpstr>Calibri</vt:lpstr>
      <vt:lpstr>Calibri Light</vt:lpstr>
      <vt:lpstr>MTN Brighter Sans</vt:lpstr>
      <vt:lpstr>Wingdings</vt:lpstr>
      <vt:lpstr>3_Contents Slide Master</vt:lpstr>
      <vt:lpstr>4_Contents Slide Master</vt:lpstr>
      <vt:lpstr>5_Contents Slide Master</vt:lpstr>
      <vt:lpstr>2_Contents Slide Master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oyejokosammy@gmail.com</dc:creator>
  <cp:lastModifiedBy>PSI</cp:lastModifiedBy>
  <cp:revision>1030</cp:revision>
  <dcterms:created xsi:type="dcterms:W3CDTF">2022-09-03T13:01:24Z</dcterms:created>
  <dcterms:modified xsi:type="dcterms:W3CDTF">2025-07-28T10:18:04Z</dcterms:modified>
</cp:coreProperties>
</file>